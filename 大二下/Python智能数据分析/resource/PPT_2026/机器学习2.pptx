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494" r:id="rId2"/>
    <p:sldId id="691" r:id="rId3"/>
    <p:sldId id="692" r:id="rId4"/>
    <p:sldId id="693" r:id="rId5"/>
    <p:sldId id="695" r:id="rId6"/>
    <p:sldId id="714" r:id="rId7"/>
    <p:sldId id="704" r:id="rId8"/>
    <p:sldId id="707" r:id="rId9"/>
    <p:sldId id="708" r:id="rId10"/>
    <p:sldId id="709" r:id="rId11"/>
    <p:sldId id="710" r:id="rId12"/>
    <p:sldId id="696" r:id="rId13"/>
    <p:sldId id="698" r:id="rId14"/>
    <p:sldId id="699" r:id="rId15"/>
    <p:sldId id="700" r:id="rId16"/>
    <p:sldId id="701" r:id="rId17"/>
    <p:sldId id="711" r:id="rId18"/>
    <p:sldId id="713" r:id="rId19"/>
    <p:sldId id="712" r:id="rId20"/>
    <p:sldId id="703" r:id="rId21"/>
    <p:sldId id="53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CBCA495-067E-4E99-BB6C-9DD566A055AA}">
          <p14:sldIdLst>
            <p14:sldId id="494"/>
            <p14:sldId id="691"/>
            <p14:sldId id="692"/>
            <p14:sldId id="693"/>
            <p14:sldId id="695"/>
            <p14:sldId id="714"/>
            <p14:sldId id="704"/>
            <p14:sldId id="707"/>
            <p14:sldId id="708"/>
            <p14:sldId id="709"/>
            <p14:sldId id="710"/>
            <p14:sldId id="696"/>
            <p14:sldId id="698"/>
            <p14:sldId id="699"/>
            <p14:sldId id="700"/>
            <p14:sldId id="701"/>
            <p14:sldId id="711"/>
            <p14:sldId id="713"/>
            <p14:sldId id="712"/>
            <p14:sldId id="703"/>
            <p14:sldId id="5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0">
          <p15:clr>
            <a:srgbClr val="A4A3A4"/>
          </p15:clr>
        </p15:guide>
        <p15:guide id="2" pos="376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9708"/>
    <a:srgbClr val="064BB2"/>
    <a:srgbClr val="FFCB54"/>
    <a:srgbClr val="2B6EE1"/>
    <a:srgbClr val="FFBF2B"/>
    <a:srgbClr val="7624CC"/>
    <a:srgbClr val="CC8824"/>
    <a:srgbClr val="2165B6"/>
    <a:srgbClr val="C4C6C9"/>
    <a:srgbClr val="A5A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7" autoAdjust="0"/>
    <p:restoredTop sz="95659"/>
  </p:normalViewPr>
  <p:slideViewPr>
    <p:cSldViewPr snapToGrid="0">
      <p:cViewPr varScale="1">
        <p:scale>
          <a:sx n="98" d="100"/>
          <a:sy n="98" d="100"/>
        </p:scale>
        <p:origin x="880" y="184"/>
      </p:cViewPr>
      <p:guideLst>
        <p:guide orient="horz" pos="2210"/>
        <p:guide pos="37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77ADA9-9D0B-42DC-94FF-BBDB68110F2F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1B552-615F-42DA-85F2-80E7008928A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6307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0" y="1968500"/>
            <a:ext cx="12190413" cy="2168525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sz="950" baseline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394" y="2246810"/>
            <a:ext cx="4697018" cy="24781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5926234" y="2706149"/>
            <a:ext cx="5889861" cy="692150"/>
          </a:xfrm>
        </p:spPr>
        <p:txBody>
          <a:bodyPr/>
          <a:lstStyle>
            <a:lvl1pPr algn="ctr">
              <a:defRPr sz="3600" b="1" baseline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C5EFD6F6-2F20-4B1A-A667-B95C1338A7FC}" type="datetime5">
              <a:rPr lang="zh-CN" altLang="en-US" smtClean="0"/>
              <a:t>2025/11/16</a:t>
            </a:fld>
            <a:endParaRPr lang="zh-CN" altLang="en-US" dirty="0"/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7765BD0-8639-4309-B2A4-CEF6862AE3F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矩形 11"/>
          <p:cNvSpPr>
            <a:spLocks noChangeArrowheads="1"/>
          </p:cNvSpPr>
          <p:nvPr userDrawn="1"/>
        </p:nvSpPr>
        <p:spPr bwMode="auto">
          <a:xfrm>
            <a:off x="0" y="1967879"/>
            <a:ext cx="12189884" cy="2168691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950" baseline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 descr="AW视觉符号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02395" y="2246811"/>
            <a:ext cx="4697018" cy="24781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6E6BA67-25CD-415B-93EA-7C3BC2B427A2}"/>
              </a:ext>
            </a:extLst>
          </p:cNvPr>
          <p:cNvCxnSpPr>
            <a:cxnSpLocks/>
          </p:cNvCxnSpPr>
          <p:nvPr userDrawn="1"/>
        </p:nvCxnSpPr>
        <p:spPr>
          <a:xfrm>
            <a:off x="10529888" y="558800"/>
            <a:ext cx="1285875" cy="0"/>
          </a:xfrm>
          <a:prstGeom prst="line">
            <a:avLst/>
          </a:prstGeom>
          <a:ln w="12700">
            <a:solidFill>
              <a:srgbClr val="064BB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7FAB311-4715-403E-A379-D37EFFFF93F8}"/>
              </a:ext>
            </a:extLst>
          </p:cNvPr>
          <p:cNvCxnSpPr>
            <a:cxnSpLocks/>
          </p:cNvCxnSpPr>
          <p:nvPr userDrawn="1"/>
        </p:nvCxnSpPr>
        <p:spPr>
          <a:xfrm>
            <a:off x="6589713" y="558800"/>
            <a:ext cx="1285875" cy="0"/>
          </a:xfrm>
          <a:prstGeom prst="line">
            <a:avLst/>
          </a:prstGeom>
          <a:ln w="12700">
            <a:solidFill>
              <a:srgbClr val="064BB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246063" y="915988"/>
            <a:ext cx="9596437" cy="46037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950"/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9842500" y="915988"/>
            <a:ext cx="1989138" cy="46037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950"/>
          </a:p>
        </p:txBody>
      </p: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423819" y="1104181"/>
            <a:ext cx="11107601" cy="5052713"/>
          </a:xfrm>
        </p:spPr>
        <p:txBody>
          <a:bodyPr>
            <a:noAutofit/>
          </a:bodyPr>
          <a:lstStyle>
            <a:lvl1pPr marL="362585" indent="-362585">
              <a:lnSpc>
                <a:spcPct val="150000"/>
              </a:lnSpc>
              <a:buClr>
                <a:srgbClr val="032089"/>
              </a:buClr>
              <a:buFont typeface="Wingdings" panose="05000000000000000000" pitchFamily="2" charset="2"/>
              <a:buChar char="Ø"/>
              <a:defRPr sz="1800" b="0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2330" b="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905" b="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905" b="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905" b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单击此处编辑正文内容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54876" y="359079"/>
            <a:ext cx="10972801" cy="528176"/>
          </a:xfrm>
        </p:spPr>
        <p:txBody>
          <a:bodyPr/>
          <a:lstStyle>
            <a:lvl1pPr>
              <a:defRPr sz="2400" b="1" baseline="0">
                <a:solidFill>
                  <a:schemeClr val="tx1"/>
                </a:solidFill>
                <a:latin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678FC46D-9EA0-48CD-A13B-D1B709B226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37750" y="6392863"/>
            <a:ext cx="571500" cy="231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0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fld id="{524AD63B-5F2C-4628-8441-2A0E534DA5F7}" type="slidenum">
              <a:rPr lang="en-US" altLang="zh-CN" sz="1000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altLang="zh-C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连接符 19">
            <a:extLst>
              <a:ext uri="{FF2B5EF4-FFF2-40B4-BE49-F238E27FC236}">
                <a16:creationId xmlns:a16="http://schemas.microsoft.com/office/drawing/2014/main" id="{19591A44-FB7C-486C-A718-2AC7F7257BEC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509250" y="6508750"/>
            <a:ext cx="1019175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4">
            <a:extLst>
              <a:ext uri="{FF2B5EF4-FFF2-40B4-BE49-F238E27FC236}">
                <a16:creationId xmlns:a16="http://schemas.microsoft.com/office/drawing/2014/main" id="{28494446-DE8A-4998-9800-18BD14F0255A}"/>
              </a:ext>
            </a:extLst>
          </p:cNvPr>
          <p:cNvCxnSpPr>
            <a:endCxn id="14" idx="1"/>
          </p:cNvCxnSpPr>
          <p:nvPr userDrawn="1"/>
        </p:nvCxnSpPr>
        <p:spPr>
          <a:xfrm>
            <a:off x="5959475" y="6508750"/>
            <a:ext cx="3978275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标题+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3"/>
          <p:cNvSpPr>
            <a:spLocks noChangeArrowheads="1"/>
          </p:cNvSpPr>
          <p:nvPr userDrawn="1"/>
        </p:nvSpPr>
        <p:spPr bwMode="auto">
          <a:xfrm>
            <a:off x="246063" y="915988"/>
            <a:ext cx="9596437" cy="46037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95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AutoShape 23"/>
          <p:cNvSpPr>
            <a:spLocks noChangeArrowheads="1"/>
          </p:cNvSpPr>
          <p:nvPr userDrawn="1"/>
        </p:nvSpPr>
        <p:spPr bwMode="auto">
          <a:xfrm>
            <a:off x="9842500" y="915988"/>
            <a:ext cx="1989138" cy="46037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95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423819" y="1713662"/>
            <a:ext cx="11107601" cy="4339721"/>
          </a:xfrm>
        </p:spPr>
        <p:txBody>
          <a:bodyPr>
            <a:noAutofit/>
          </a:bodyPr>
          <a:lstStyle>
            <a:lvl1pPr marL="362585" indent="-362585">
              <a:lnSpc>
                <a:spcPct val="150000"/>
              </a:lnSpc>
              <a:buClr>
                <a:srgbClr val="032089"/>
              </a:buClr>
              <a:buFont typeface="Wingdings" panose="05000000000000000000" pitchFamily="2" charset="2"/>
              <a:buChar char="Ø"/>
              <a:defRPr sz="1800" b="0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2330" b="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905" b="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905" b="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905" b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单击此处编辑正文内容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54876" y="359079"/>
            <a:ext cx="10972801" cy="528176"/>
          </a:xfrm>
        </p:spPr>
        <p:txBody>
          <a:bodyPr/>
          <a:lstStyle>
            <a:lvl1pPr>
              <a:defRPr sz="2400" b="1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 hasCustomPrompt="1"/>
          </p:nvPr>
        </p:nvSpPr>
        <p:spPr>
          <a:xfrm>
            <a:off x="423819" y="1138980"/>
            <a:ext cx="11107601" cy="42646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2000" b="0" baseline="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13EF46-2D67-4441-9C64-603DD93916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37750" y="6392863"/>
            <a:ext cx="571500" cy="231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0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fld id="{524AD63B-5F2C-4628-8441-2A0E534DA5F7}" type="slidenum">
              <a:rPr lang="en-US" altLang="zh-CN" sz="1000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altLang="zh-C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连接符 19">
            <a:extLst>
              <a:ext uri="{FF2B5EF4-FFF2-40B4-BE49-F238E27FC236}">
                <a16:creationId xmlns:a16="http://schemas.microsoft.com/office/drawing/2014/main" id="{FC884136-A638-4140-9579-9B93C55A1F98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509250" y="6508750"/>
            <a:ext cx="1019175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4">
            <a:extLst>
              <a:ext uri="{FF2B5EF4-FFF2-40B4-BE49-F238E27FC236}">
                <a16:creationId xmlns:a16="http://schemas.microsoft.com/office/drawing/2014/main" id="{7037946A-BDE9-449A-B963-8EDEC8DDC195}"/>
              </a:ext>
            </a:extLst>
          </p:cNvPr>
          <p:cNvCxnSpPr>
            <a:endCxn id="13" idx="1"/>
          </p:cNvCxnSpPr>
          <p:nvPr userDrawn="1"/>
        </p:nvCxnSpPr>
        <p:spPr>
          <a:xfrm>
            <a:off x="5959475" y="6508750"/>
            <a:ext cx="3978275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0" y="1968500"/>
            <a:ext cx="12190413" cy="2168525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sz="950" baseline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5108398" y="2071633"/>
            <a:ext cx="7082050" cy="1653849"/>
          </a:xfrm>
          <a:prstGeom prst="rect">
            <a:avLst/>
          </a:prstGeom>
        </p:spPr>
        <p:txBody>
          <a:bodyPr anchor="b"/>
          <a:lstStyle>
            <a:lvl1pPr algn="ctr" defTabSz="1028700" rtl="0" eaLnBrk="1" fontAlgn="base" latinLnBrk="0" hangingPunct="1">
              <a:lnSpc>
                <a:spcPts val="3360"/>
              </a:lnSpc>
              <a:spcBef>
                <a:spcPts val="630"/>
              </a:spcBef>
              <a:spcAft>
                <a:spcPct val="0"/>
              </a:spcAft>
              <a:buNone/>
              <a:defRPr lang="en-US" sz="2940" b="1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>
              <a:defRPr/>
            </a:pPr>
            <a:r>
              <a:rPr altLang="zh-CN" sz="6600" baseline="0">
                <a:ln>
                  <a:solidFill>
                    <a:schemeClr val="bg1"/>
                  </a:solidFill>
                </a:ln>
                <a:effectLst>
                  <a:reflection blurRad="6350" stA="50000" endA="300" endPos="50000" dist="29997" dir="5400000" sy="-100000" algn="bl" rotWithShape="0"/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Thank you!</a:t>
            </a:r>
            <a:endParaRPr lang="zh-CN" altLang="en-US" sz="6600" baseline="0">
              <a:ln>
                <a:solidFill>
                  <a:schemeClr val="bg1"/>
                </a:solidFill>
              </a:ln>
              <a:effectLst>
                <a:reflection blurRad="6350" stA="50000" endA="300" endPos="50000" dist="29997" dir="5400000" sy="-100000" algn="bl" rotWithShape="0"/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394" y="2246810"/>
            <a:ext cx="4697018" cy="24781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0" y="1967879"/>
            <a:ext cx="12189884" cy="2168691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950" baseline="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itle 1"/>
          <p:cNvSpPr txBox="1"/>
          <p:nvPr userDrawn="1"/>
        </p:nvSpPr>
        <p:spPr>
          <a:xfrm>
            <a:off x="5003623" y="1657613"/>
            <a:ext cx="7082051" cy="16538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1028700" rtl="0" eaLnBrk="1" fontAlgn="base" latinLnBrk="0" hangingPunct="1">
              <a:lnSpc>
                <a:spcPts val="3360"/>
              </a:lnSpc>
              <a:spcBef>
                <a:spcPts val="630"/>
              </a:spcBef>
              <a:spcAft>
                <a:spcPct val="0"/>
              </a:spcAft>
              <a:buNone/>
              <a:defRPr lang="en-US" sz="2940" b="1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r>
              <a:rPr altLang="zh-CN" sz="6600" baseline="0" dirty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Thank you!</a:t>
            </a:r>
            <a:endParaRPr lang="zh-CN" altLang="en-US" sz="6600" baseline="0" dirty="0">
              <a:ln>
                <a:solidFill>
                  <a:srgbClr val="FFFFFF"/>
                </a:solidFill>
              </a:ln>
              <a:solidFill>
                <a:srgbClr val="FFFFFF"/>
              </a:solidFill>
              <a:effectLst>
                <a:reflection blurRad="6350" stA="50000" endA="300" endPos="50000" dist="29997" dir="5400000" sy="-100000" algn="bl" rotWithShape="0"/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 descr="AW视觉符号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02395" y="2246811"/>
            <a:ext cx="4697018" cy="24781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55588" y="195263"/>
            <a:ext cx="109728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422275" y="1187450"/>
            <a:ext cx="109728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8B362659-EDEF-4896-B44C-15816E2E4CD8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baseline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414597ED-A428-4847-8034-7A70C69917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cs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cs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cs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cs typeface="微软雅黑" panose="020B0503020204020204" charset="-122"/>
        </a:defRPr>
      </a:lvl5pPr>
      <a:lvl6pPr marL="483870" algn="l" rtl="0" eaLnBrk="1" fontAlgn="base" hangingPunct="1">
        <a:spcBef>
          <a:spcPct val="0"/>
        </a:spcBef>
        <a:spcAft>
          <a:spcPct val="0"/>
        </a:spcAft>
        <a:defRPr sz="2540">
          <a:solidFill>
            <a:schemeClr val="tx1"/>
          </a:solidFill>
          <a:latin typeface="Calibri" panose="020F0502020204030204" pitchFamily="34" charset="0"/>
          <a:ea typeface="黑体" panose="02010609060101010101" charset="-122"/>
        </a:defRPr>
      </a:lvl6pPr>
      <a:lvl7pPr marL="967740" algn="l" rtl="0" eaLnBrk="1" fontAlgn="base" hangingPunct="1">
        <a:spcBef>
          <a:spcPct val="0"/>
        </a:spcBef>
        <a:spcAft>
          <a:spcPct val="0"/>
        </a:spcAft>
        <a:defRPr sz="2540">
          <a:solidFill>
            <a:schemeClr val="tx1"/>
          </a:solidFill>
          <a:latin typeface="Calibri" panose="020F0502020204030204" pitchFamily="34" charset="0"/>
          <a:ea typeface="黑体" panose="02010609060101010101" charset="-122"/>
        </a:defRPr>
      </a:lvl7pPr>
      <a:lvl8pPr marL="1450975" algn="l" rtl="0" eaLnBrk="1" fontAlgn="base" hangingPunct="1">
        <a:spcBef>
          <a:spcPct val="0"/>
        </a:spcBef>
        <a:spcAft>
          <a:spcPct val="0"/>
        </a:spcAft>
        <a:defRPr sz="2540">
          <a:solidFill>
            <a:schemeClr val="tx1"/>
          </a:solidFill>
          <a:latin typeface="Calibri" panose="020F0502020204030204" pitchFamily="34" charset="0"/>
          <a:ea typeface="黑体" panose="02010609060101010101" charset="-122"/>
        </a:defRPr>
      </a:lvl8pPr>
      <a:lvl9pPr marL="1934845" algn="l" rtl="0" eaLnBrk="1" fontAlgn="base" hangingPunct="1">
        <a:spcBef>
          <a:spcPct val="0"/>
        </a:spcBef>
        <a:spcAft>
          <a:spcPct val="0"/>
        </a:spcAft>
        <a:defRPr sz="2540">
          <a:solidFill>
            <a:schemeClr val="tx1"/>
          </a:solidFill>
          <a:latin typeface="Calibri" panose="020F0502020204030204" pitchFamily="34" charset="0"/>
          <a:ea typeface="黑体" panose="02010609060101010101" charset="-122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21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宋体" panose="02010600030101010101" pitchFamily="2" charset="-122"/>
        </a:defRPr>
      </a:lvl1pPr>
      <a:lvl2pPr marL="786130" indent="-30162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900">
          <a:solidFill>
            <a:schemeClr val="tx1"/>
          </a:solidFill>
          <a:latin typeface="+mn-lt"/>
          <a:ea typeface="+mn-ea"/>
        </a:defRPr>
      </a:lvl2pPr>
      <a:lvl3pPr marL="1208405" indent="-2413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500">
          <a:solidFill>
            <a:schemeClr val="tx1"/>
          </a:solidFill>
          <a:latin typeface="+mn-lt"/>
          <a:ea typeface="+mn-ea"/>
        </a:defRPr>
      </a:lvl3pPr>
      <a:lvl4pPr marL="1692275" indent="-2413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4pPr>
      <a:lvl5pPr marL="2176780" indent="-2413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>
          <a:solidFill>
            <a:schemeClr val="tx1"/>
          </a:solidFill>
          <a:latin typeface="+mn-lt"/>
          <a:ea typeface="+mn-ea"/>
        </a:defRPr>
      </a:lvl5pPr>
      <a:lvl6pPr marL="2660650" indent="-2419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15">
          <a:solidFill>
            <a:schemeClr val="tx1"/>
          </a:solidFill>
          <a:latin typeface="+mn-lt"/>
          <a:ea typeface="+mn-ea"/>
        </a:defRPr>
      </a:lvl6pPr>
      <a:lvl7pPr marL="3144520" indent="-2419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15">
          <a:solidFill>
            <a:schemeClr val="tx1"/>
          </a:solidFill>
          <a:latin typeface="+mn-lt"/>
          <a:ea typeface="+mn-ea"/>
        </a:defRPr>
      </a:lvl7pPr>
      <a:lvl8pPr marL="3628390" indent="-2419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15">
          <a:solidFill>
            <a:schemeClr val="tx1"/>
          </a:solidFill>
          <a:latin typeface="+mn-lt"/>
          <a:ea typeface="+mn-ea"/>
        </a:defRPr>
      </a:lvl8pPr>
      <a:lvl9pPr marL="4112260" indent="-2419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1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097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484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871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258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45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32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88%86%E7%B1%BB%E5%99%A8/0?fromModule=lemma_inlink" TargetMode="External"/><Relationship Id="rId2" Type="http://schemas.openxmlformats.org/officeDocument/2006/relationships/hyperlink" Target="https://baike.baidu.com/item/%E5%86%B3%E7%AD%96%E6%A0%91/10377049?fromModule=lemma_inlink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jpeg"/><Relationship Id="rId4" Type="http://schemas.openxmlformats.org/officeDocument/2006/relationships/hyperlink" Target="https://baike.baidu.com/item/%E4%BC%97%E6%95%B0/44796?fromModule=lemma_inlink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351868" y="2448398"/>
            <a:ext cx="6544007" cy="1258297"/>
          </a:xfrm>
        </p:spPr>
        <p:txBody>
          <a:bodyPr/>
          <a:lstStyle/>
          <a:p>
            <a:r>
              <a:rPr lang="en-US" altLang="zh-CN" sz="4000" dirty="0">
                <a:cs typeface="Times New Roman" panose="02020603050405020304" pitchFamily="18" charset="0"/>
                <a:sym typeface="+mn-ea"/>
              </a:rPr>
              <a:t>scikit-learn</a:t>
            </a:r>
            <a:r>
              <a:rPr lang="zh-CN" altLang="en-US" sz="4000" dirty="0">
                <a:cs typeface="Times New Roman" panose="02020603050405020304" pitchFamily="18" charset="0"/>
                <a:sym typeface="+mn-ea"/>
              </a:rPr>
              <a:t>机器学习基础（</a:t>
            </a:r>
            <a:r>
              <a:rPr lang="en-US" altLang="zh-CN" sz="4000" dirty="0"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4000" dirty="0"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4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目录</a:t>
            </a:r>
          </a:p>
        </p:txBody>
      </p:sp>
      <p:cxnSp>
        <p:nvCxnSpPr>
          <p:cNvPr id="2" name="直接连接符 6"/>
          <p:cNvCxnSpPr/>
          <p:nvPr/>
        </p:nvCxnSpPr>
        <p:spPr>
          <a:xfrm>
            <a:off x="3264947" y="1348062"/>
            <a:ext cx="5910" cy="4354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2649786" y="4002873"/>
            <a:ext cx="66049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zh-CN" altLang="en-US" sz="2000" b="1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>
            <a:off x="2904947" y="1651743"/>
            <a:ext cx="684000" cy="648000"/>
          </a:xfrm>
          <a:prstGeom prst="ellipse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AutoShape 17"/>
          <p:cNvSpPr>
            <a:spLocks noChangeArrowheads="1"/>
          </p:cNvSpPr>
          <p:nvPr/>
        </p:nvSpPr>
        <p:spPr bwMode="auto">
          <a:xfrm>
            <a:off x="4000531" y="2608672"/>
            <a:ext cx="4859850" cy="684000"/>
          </a:xfrm>
          <a:prstGeom prst="actionButtonBlank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构建并评价聚类模型</a:t>
            </a:r>
          </a:p>
        </p:txBody>
      </p:sp>
      <p:sp>
        <p:nvSpPr>
          <p:cNvPr id="7" name="AutoShape 17"/>
          <p:cNvSpPr>
            <a:spLocks noChangeArrowheads="1"/>
          </p:cNvSpPr>
          <p:nvPr/>
        </p:nvSpPr>
        <p:spPr bwMode="auto">
          <a:xfrm>
            <a:off x="4000531" y="1579743"/>
            <a:ext cx="4859850" cy="684000"/>
          </a:xfrm>
          <a:prstGeom prst="actionButtonBlank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sklearn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转换器处理数据</a:t>
            </a:r>
          </a:p>
        </p:txBody>
      </p:sp>
      <p:sp>
        <p:nvSpPr>
          <p:cNvPr id="8" name="Oval 15"/>
          <p:cNvSpPr>
            <a:spLocks noChangeArrowheads="1"/>
          </p:cNvSpPr>
          <p:nvPr/>
        </p:nvSpPr>
        <p:spPr bwMode="auto">
          <a:xfrm>
            <a:off x="2928857" y="2626672"/>
            <a:ext cx="684000" cy="648000"/>
          </a:xfrm>
          <a:prstGeom prst="ellipse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4012450" y="3660873"/>
            <a:ext cx="4859850" cy="684000"/>
          </a:xfrm>
          <a:prstGeom prst="actionButtonBlank">
            <a:avLst/>
          </a:prstGeom>
          <a:solidFill>
            <a:srgbClr val="FB9708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构建并评价分类模型</a:t>
            </a:r>
          </a:p>
        </p:txBody>
      </p:sp>
      <p:sp>
        <p:nvSpPr>
          <p:cNvPr id="10" name="Oval 15"/>
          <p:cNvSpPr>
            <a:spLocks noChangeArrowheads="1"/>
          </p:cNvSpPr>
          <p:nvPr/>
        </p:nvSpPr>
        <p:spPr bwMode="auto">
          <a:xfrm>
            <a:off x="2928857" y="3678873"/>
            <a:ext cx="684000" cy="648000"/>
          </a:xfrm>
          <a:prstGeom prst="ellipse">
            <a:avLst/>
          </a:prstGeom>
          <a:solidFill>
            <a:srgbClr val="FB9708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4" name="AutoShape 17"/>
          <p:cNvSpPr>
            <a:spLocks noChangeArrowheads="1"/>
          </p:cNvSpPr>
          <p:nvPr/>
        </p:nvSpPr>
        <p:spPr bwMode="auto">
          <a:xfrm>
            <a:off x="4012450" y="4715497"/>
            <a:ext cx="4859850" cy="684000"/>
          </a:xfrm>
          <a:prstGeom prst="actionButtonBlank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构建并评价回归模型</a:t>
            </a: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2904947" y="4733497"/>
            <a:ext cx="684000" cy="648000"/>
          </a:xfrm>
          <a:prstGeom prst="ellipse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sklearn</a:t>
            </a:r>
            <a:r>
              <a:rPr lang="zh-CN" altLang="en-US" dirty="0"/>
              <a:t>估计器构建分类模型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54990" y="1259205"/>
            <a:ext cx="10379710" cy="433959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在数据分析领域，分类算法很多，其原理千差万别，常用算法如下。</a:t>
            </a:r>
            <a:endParaRPr lang="zh-CN" altLang="en-US" dirty="0"/>
          </a:p>
          <a:p>
            <a:pPr marL="72009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基于样本距离的最近邻算法</a:t>
            </a:r>
            <a:r>
              <a:rPr lang="en-US" altLang="zh-CN" dirty="0">
                <a:sym typeface="+mn-ea"/>
              </a:rPr>
              <a:t>KNN</a:t>
            </a:r>
            <a:endParaRPr lang="zh-CN" altLang="en-US" dirty="0"/>
          </a:p>
          <a:p>
            <a:pPr marL="72009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基于特征信息熵的决策树算法</a:t>
            </a:r>
            <a:endParaRPr lang="zh-CN" altLang="en-US" dirty="0"/>
          </a:p>
          <a:p>
            <a:pPr marL="72009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基于bagging的随机森林算法，</a:t>
            </a:r>
            <a:r>
              <a:rPr lang="zh-CN" altLang="en-US" b="1" dirty="0"/>
              <a:t>随机森林</a:t>
            </a:r>
            <a:r>
              <a:rPr lang="zh-CN" altLang="en-US" dirty="0"/>
              <a:t>是一个包含多个</a:t>
            </a:r>
            <a:r>
              <a:rPr lang="zh-CN" altLang="en-US" dirty="0">
                <a:hlinkClick r:id="rId2"/>
              </a:rPr>
              <a:t>决策树</a:t>
            </a:r>
            <a:r>
              <a:rPr lang="zh-CN" altLang="en-US" dirty="0"/>
              <a:t>的</a:t>
            </a:r>
            <a:r>
              <a:rPr lang="zh-CN" altLang="en-US" dirty="0">
                <a:hlinkClick r:id="rId3"/>
              </a:rPr>
              <a:t>分类器</a:t>
            </a:r>
            <a:r>
              <a:rPr lang="zh-CN" altLang="en-US" dirty="0"/>
              <a:t>， 并且其输出的类别是由个别树输出的类别的</a:t>
            </a:r>
            <a:r>
              <a:rPr lang="zh-CN" altLang="en-US" dirty="0">
                <a:hlinkClick r:id="rId4"/>
              </a:rPr>
              <a:t>众数</a:t>
            </a:r>
            <a:r>
              <a:rPr lang="zh-CN" altLang="en-US" dirty="0"/>
              <a:t>而定</a:t>
            </a:r>
          </a:p>
        </p:txBody>
      </p:sp>
      <p:pic>
        <p:nvPicPr>
          <p:cNvPr id="2" name="图片 -2147482591" descr="图3">
            <a:extLst>
              <a:ext uri="{FF2B5EF4-FFF2-40B4-BE49-F238E27FC236}">
                <a16:creationId xmlns:a16="http://schemas.microsoft.com/office/drawing/2014/main" id="{4166CE82-DFD4-505C-AFFB-5B2B1FAC0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09299"/>
            <a:ext cx="4583113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sklearn</a:t>
            </a:r>
            <a:r>
              <a:rPr lang="zh-CN" altLang="en-US" dirty="0"/>
              <a:t>估计器构建分类模型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3545" y="1176020"/>
            <a:ext cx="11107420" cy="4877435"/>
          </a:xfrm>
        </p:spPr>
        <p:txBody>
          <a:bodyPr/>
          <a:lstStyle/>
          <a:p>
            <a:pPr marL="363855" indent="0" latinLnBrk="0">
              <a:spcBef>
                <a:spcPts val="0"/>
              </a:spcBef>
              <a:buNone/>
            </a:pPr>
            <a:r>
              <a:rPr lang="zh-CN" altLang="en-US" dirty="0"/>
              <a:t>sklearn库中提供的分类算法非常多，分别存在于不同的模块中。常用的分类算法如下表所示。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637790" y="1909445"/>
          <a:ext cx="620712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1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模块名称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函数名称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算法名称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linear_model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LogisticRegression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逻辑斯蒂回归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svm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SVC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支持向量机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neighbors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KNeighborsClassifier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最近邻分类</a:t>
                      </a:r>
                      <a:endParaRPr lang="en-US" altLang="en-US" sz="1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naive_bayes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GaussianNB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高斯朴素贝叶斯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tree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DecisionTreeClassifier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分类决策树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ensemble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RandomForestClassifier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随机森林分类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ensemble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GradientBoostingClassifier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梯度提升分类树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评价分类模型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3545" y="1193800"/>
            <a:ext cx="11657619" cy="4877435"/>
          </a:xfrm>
        </p:spPr>
        <p:txBody>
          <a:bodyPr/>
          <a:lstStyle/>
          <a:p>
            <a:r>
              <a:rPr lang="zh-CN" altLang="en-US" dirty="0"/>
              <a:t>分类模型对测试集进行预测而得出的准确率（</a:t>
            </a:r>
            <a:r>
              <a:rPr lang="en-US" altLang="zh-CN" dirty="0"/>
              <a:t>Accuracy</a:t>
            </a:r>
            <a:r>
              <a:rPr lang="zh-CN" altLang="en-US" dirty="0"/>
              <a:t>）并不能很好地反映模型的性能，为了有效判断一个预测模型的性能表现，需要结合真实值计算出精确率、召回率、F1值和Cohen’s Kappa系数等指标来衡量。</a:t>
            </a:r>
          </a:p>
          <a:p>
            <a:r>
              <a:rPr lang="zh-CN" altLang="en-US" dirty="0"/>
              <a:t>常规分类模型的评价方法如下表所示。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830705" y="2771140"/>
          <a:ext cx="8529955" cy="2759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方法名称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最佳值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/>
                        <a:t>sklearn</a:t>
                      </a:r>
                      <a:r>
                        <a:rPr lang="zh-CN" altLang="en-US" sz="1800" dirty="0"/>
                        <a:t>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Precision（精确率）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metrics.precision_score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Recall（召回率）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metrics.recall_score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F1值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metrics.f1_score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Cohen</a:t>
                      </a: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’s 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Kappa系数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metrics.cohen_kappa_score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ROC曲线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最靠近</a:t>
                      </a:r>
                      <a:r>
                        <a:rPr lang="en-US" sz="1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轴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 roc_curve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 flipH="1">
            <a:off x="218508" y="3091974"/>
            <a:ext cx="109387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+mn-ea"/>
              </a:rPr>
              <a:t>分值越高越好，其使用方法基本相同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548130" y="3199130"/>
            <a:ext cx="9012555" cy="175323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ysDash"/>
          </a:ln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cxnSp>
        <p:nvCxnSpPr>
          <p:cNvPr id="11" name="曲线连接符 10"/>
          <p:cNvCxnSpPr>
            <a:cxnSpLocks/>
            <a:stCxn id="10" idx="1"/>
            <a:endCxn id="16" idx="1"/>
          </p:cNvCxnSpPr>
          <p:nvPr/>
        </p:nvCxnSpPr>
        <p:spPr>
          <a:xfrm rot="10800000">
            <a:off x="1312382" y="3830638"/>
            <a:ext cx="235749" cy="245110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 flipH="1">
            <a:off x="2712360" y="5886569"/>
            <a:ext cx="679562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+mn-ea"/>
              </a:rPr>
              <a:t>通常情况下，ROC曲线与x轴形成的面积越大，表示模型性能越好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252220" y="5062855"/>
            <a:ext cx="9537065" cy="60388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ysDash"/>
          </a:ln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cxnSp>
        <p:nvCxnSpPr>
          <p:cNvPr id="14" name="曲线连接符 13"/>
          <p:cNvCxnSpPr>
            <a:cxnSpLocks/>
            <a:endCxn id="12" idx="3"/>
          </p:cNvCxnSpPr>
          <p:nvPr/>
        </p:nvCxnSpPr>
        <p:spPr>
          <a:xfrm>
            <a:off x="2299317" y="5664200"/>
            <a:ext cx="413043" cy="407035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68000" y="2493818"/>
            <a:ext cx="983673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bldLvl="0" animBg="1"/>
      <p:bldP spid="10" grpId="0" animBg="1"/>
      <p:bldP spid="10" grpId="1" bldLvl="0" animBg="1"/>
      <p:bldP spid="12" grpId="0" animBg="1"/>
      <p:bldP spid="12" grpId="1" bldLvl="0" animBg="1"/>
      <p:bldP spid="13" grpId="0" animBg="1"/>
      <p:bldP spid="13" grpId="1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评价分类模型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3545" y="1193800"/>
            <a:ext cx="11657619" cy="4877435"/>
          </a:xfrm>
        </p:spPr>
        <p:txBody>
          <a:bodyPr/>
          <a:lstStyle/>
          <a:p>
            <a:r>
              <a:rPr lang="en-US" altLang="zh-CN" dirty="0"/>
              <a:t>Accuracy,</a:t>
            </a:r>
            <a:r>
              <a:rPr lang="zh-CN" altLang="en-US" dirty="0"/>
              <a:t>准确率</a:t>
            </a:r>
            <a:r>
              <a:rPr lang="en-US" altLang="zh-CN" dirty="0"/>
              <a:t>,</a:t>
            </a:r>
            <a:r>
              <a:rPr lang="zh-CN" altLang="en-US" dirty="0"/>
              <a:t>预测正确的样本数</a:t>
            </a:r>
            <a:r>
              <a:rPr lang="en-US" altLang="zh-CN" dirty="0"/>
              <a:t>÷</a:t>
            </a:r>
            <a:r>
              <a:rPr lang="zh-CN" altLang="en-US" dirty="0"/>
              <a:t>样本数总数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Precision</a:t>
            </a:r>
            <a:r>
              <a:rPr lang="zh-CN" altLang="en-US" dirty="0"/>
              <a:t>，中文为精确率或者精度，指的是</a:t>
            </a:r>
            <a:r>
              <a:rPr lang="zh-CN" altLang="en-US" b="1" dirty="0"/>
              <a:t>在我们预测为</a:t>
            </a:r>
            <a:r>
              <a:rPr lang="en-US" altLang="zh-CN" b="1" dirty="0"/>
              <a:t>True</a:t>
            </a:r>
            <a:r>
              <a:rPr lang="zh-CN" altLang="en-US" b="1" dirty="0"/>
              <a:t>的样本里面，有多少确实为</a:t>
            </a:r>
            <a:r>
              <a:rPr lang="en-US" altLang="zh-CN" b="1" dirty="0"/>
              <a:t>True</a:t>
            </a:r>
            <a:r>
              <a:rPr lang="zh-CN" altLang="en-US" b="1" dirty="0"/>
              <a:t>的</a:t>
            </a:r>
            <a:r>
              <a:rPr lang="zh-CN" altLang="en-US" dirty="0"/>
              <a:t>。在信息检索领域，</a:t>
            </a:r>
            <a:r>
              <a:rPr lang="en-US" altLang="zh-CN" dirty="0"/>
              <a:t>precision</a:t>
            </a:r>
            <a:r>
              <a:rPr lang="zh-CN" altLang="en-US" dirty="0"/>
              <a:t>也被称为“查准率”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Recall</a:t>
            </a:r>
            <a:r>
              <a:rPr lang="zh-CN" altLang="en-US" dirty="0"/>
              <a:t>，中文是召回率，指的是，</a:t>
            </a:r>
            <a:r>
              <a:rPr lang="zh-CN" altLang="en-US" b="1" dirty="0"/>
              <a:t>实际上为</a:t>
            </a:r>
            <a:r>
              <a:rPr lang="en-US" altLang="zh-CN" b="1" dirty="0"/>
              <a:t>True</a:t>
            </a:r>
            <a:r>
              <a:rPr lang="zh-CN" altLang="en-US" b="1" dirty="0"/>
              <a:t>的样本有多少被我们挑出来了</a:t>
            </a:r>
            <a:r>
              <a:rPr lang="zh-CN" altLang="en-US" dirty="0"/>
              <a:t>。在信息检索领域，</a:t>
            </a:r>
            <a:r>
              <a:rPr lang="en-US" altLang="zh-CN" dirty="0"/>
              <a:t>recall</a:t>
            </a:r>
            <a:r>
              <a:rPr lang="zh-CN" altLang="en-US" dirty="0"/>
              <a:t>也被称为“查全率”。 </a:t>
            </a:r>
            <a:r>
              <a:rPr lang="en-US" altLang="zh-CN" dirty="0"/>
              <a:t>Recall=TP/(TP+FN)</a:t>
            </a:r>
          </a:p>
          <a:p>
            <a:r>
              <a:rPr lang="en-US" altLang="zh-CN" dirty="0"/>
              <a:t>F1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079" y="1840922"/>
            <a:ext cx="3105150" cy="571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539" y="185882"/>
            <a:ext cx="5000625" cy="22955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739" y="3110496"/>
            <a:ext cx="2209800" cy="6286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000" y="4966778"/>
            <a:ext cx="27527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84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评价分类模型</a:t>
            </a:r>
          </a:p>
        </p:txBody>
      </p:sp>
      <p:sp>
        <p:nvSpPr>
          <p:cNvPr id="3" name="矩形 2"/>
          <p:cNvSpPr/>
          <p:nvPr/>
        </p:nvSpPr>
        <p:spPr>
          <a:xfrm>
            <a:off x="191588" y="1148512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读取数据集</a:t>
            </a:r>
          </a:p>
          <a:p>
            <a:r>
              <a:rPr lang="en-US" altLang="zh-CN" dirty="0" err="1"/>
              <a:t>quit_job</a:t>
            </a:r>
            <a:r>
              <a:rPr lang="en-US" altLang="zh-CN" dirty="0"/>
              <a:t> = </a:t>
            </a:r>
            <a:r>
              <a:rPr lang="en-US" altLang="zh-CN" dirty="0" err="1"/>
              <a:t>pd.read_csv</a:t>
            </a:r>
            <a:r>
              <a:rPr lang="en-US" altLang="zh-CN" dirty="0"/>
              <a:t>('../data/quit_job.csv', encoding='</a:t>
            </a:r>
            <a:r>
              <a:rPr lang="en-US" altLang="zh-CN" dirty="0" err="1"/>
              <a:t>gbk</a:t>
            </a:r>
            <a:r>
              <a:rPr lang="en-US" altLang="zh-CN" dirty="0"/>
              <a:t>')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拆分数据和标签</a:t>
            </a:r>
          </a:p>
          <a:p>
            <a:r>
              <a:rPr lang="en-US" altLang="zh-CN" dirty="0" err="1"/>
              <a:t>quit_job_data</a:t>
            </a:r>
            <a:r>
              <a:rPr lang="en-US" altLang="zh-CN" dirty="0"/>
              <a:t> = </a:t>
            </a:r>
            <a:r>
              <a:rPr lang="en-US" altLang="zh-CN" dirty="0" err="1"/>
              <a:t>quit_job.iloc</a:t>
            </a:r>
            <a:r>
              <a:rPr lang="en-US" altLang="zh-CN" dirty="0"/>
              <a:t>[:, :-1]</a:t>
            </a:r>
          </a:p>
          <a:p>
            <a:r>
              <a:rPr lang="en-US" altLang="zh-CN" dirty="0" err="1"/>
              <a:t>quit_job_target</a:t>
            </a:r>
            <a:r>
              <a:rPr lang="en-US" altLang="zh-CN" dirty="0"/>
              <a:t> = </a:t>
            </a:r>
            <a:r>
              <a:rPr lang="en-US" altLang="zh-CN" dirty="0" err="1"/>
              <a:t>quit_job.iloc</a:t>
            </a:r>
            <a:r>
              <a:rPr lang="en-US" altLang="zh-CN" dirty="0"/>
              <a:t>[:, -1]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划分训练集和测试集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sklearn.model_selection</a:t>
            </a:r>
            <a:r>
              <a:rPr lang="en-US" altLang="zh-CN" dirty="0"/>
              <a:t> import </a:t>
            </a:r>
            <a:r>
              <a:rPr lang="en-US" altLang="zh-CN" dirty="0" err="1"/>
              <a:t>train_test_split</a:t>
            </a:r>
            <a:endParaRPr lang="en-US" altLang="zh-CN" dirty="0"/>
          </a:p>
          <a:p>
            <a:r>
              <a:rPr lang="en-US" altLang="zh-CN" dirty="0" err="1"/>
              <a:t>quit_job_data_train</a:t>
            </a:r>
            <a:r>
              <a:rPr lang="en-US" altLang="zh-CN" dirty="0"/>
              <a:t>, </a:t>
            </a:r>
            <a:r>
              <a:rPr lang="en-US" altLang="zh-CN" dirty="0" err="1"/>
              <a:t>quit_job_data_test</a:t>
            </a:r>
            <a:r>
              <a:rPr lang="en-US" altLang="zh-CN" dirty="0"/>
              <a:t>, \</a:t>
            </a:r>
          </a:p>
          <a:p>
            <a:r>
              <a:rPr lang="en-US" altLang="zh-CN" dirty="0" err="1"/>
              <a:t>quit_job_target_train</a:t>
            </a:r>
            <a:r>
              <a:rPr lang="en-US" altLang="zh-CN" dirty="0"/>
              <a:t>, </a:t>
            </a:r>
            <a:r>
              <a:rPr lang="en-US" altLang="zh-CN" dirty="0" err="1"/>
              <a:t>quit_job_target_test</a:t>
            </a:r>
            <a:r>
              <a:rPr lang="en-US" altLang="zh-CN" dirty="0"/>
              <a:t> = \</a:t>
            </a:r>
          </a:p>
          <a:p>
            <a:r>
              <a:rPr lang="en-US" altLang="zh-CN" dirty="0" err="1"/>
              <a:t>train_test_split</a:t>
            </a:r>
            <a:r>
              <a:rPr lang="en-US" altLang="zh-CN" dirty="0"/>
              <a:t>(</a:t>
            </a:r>
            <a:r>
              <a:rPr lang="en-US" altLang="zh-CN" dirty="0" err="1"/>
              <a:t>quit_job_data</a:t>
            </a:r>
            <a:r>
              <a:rPr lang="en-US" altLang="zh-CN" dirty="0"/>
              <a:t>, </a:t>
            </a:r>
            <a:r>
              <a:rPr lang="en-US" altLang="zh-CN" dirty="0" err="1"/>
              <a:t>quit_job_target</a:t>
            </a:r>
            <a:r>
              <a:rPr lang="en-US" altLang="zh-CN" dirty="0"/>
              <a:t>, </a:t>
            </a:r>
          </a:p>
          <a:p>
            <a:r>
              <a:rPr lang="en-US" altLang="zh-CN" dirty="0"/>
              <a:t>                 </a:t>
            </a:r>
            <a:r>
              <a:rPr lang="en-US" altLang="zh-CN" dirty="0" err="1"/>
              <a:t>test_size</a:t>
            </a:r>
            <a:r>
              <a:rPr lang="en-US" altLang="zh-CN" dirty="0"/>
              <a:t>=0.2, </a:t>
            </a:r>
            <a:r>
              <a:rPr lang="en-US" altLang="zh-CN" dirty="0" err="1"/>
              <a:t>random_state</a:t>
            </a:r>
            <a:r>
              <a:rPr lang="en-US" altLang="zh-CN" dirty="0"/>
              <a:t>=66)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标准化数据集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sklearn.preprocessing</a:t>
            </a:r>
            <a:r>
              <a:rPr lang="en-US" altLang="zh-CN" dirty="0"/>
              <a:t> import </a:t>
            </a:r>
            <a:r>
              <a:rPr lang="en-US" altLang="zh-CN" dirty="0" err="1"/>
              <a:t>StandardScaler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stdScale</a:t>
            </a:r>
            <a:r>
              <a:rPr lang="en-US" altLang="zh-CN" dirty="0"/>
              <a:t> = </a:t>
            </a:r>
            <a:r>
              <a:rPr lang="en-US" altLang="zh-CN" dirty="0" err="1"/>
              <a:t>StandardScaler</a:t>
            </a:r>
            <a:r>
              <a:rPr lang="en-US" altLang="zh-CN" dirty="0"/>
              <a:t>().fit(</a:t>
            </a:r>
            <a:r>
              <a:rPr lang="en-US" altLang="zh-CN" dirty="0" err="1"/>
              <a:t>quit_job_data_train</a:t>
            </a:r>
            <a:r>
              <a:rPr lang="en-US" altLang="zh-CN" dirty="0"/>
              <a:t>) </a:t>
            </a:r>
          </a:p>
          <a:p>
            <a:r>
              <a:rPr lang="en-US" altLang="zh-CN" dirty="0" err="1"/>
              <a:t>quit_job_trainScaler</a:t>
            </a:r>
            <a:r>
              <a:rPr lang="en-US" altLang="zh-CN" dirty="0"/>
              <a:t> = </a:t>
            </a:r>
            <a:r>
              <a:rPr lang="en-US" altLang="zh-CN" dirty="0" err="1"/>
              <a:t>stdScale.transform</a:t>
            </a:r>
            <a:r>
              <a:rPr lang="en-US" altLang="zh-CN" dirty="0"/>
              <a:t>(</a:t>
            </a:r>
            <a:r>
              <a:rPr lang="en-US" altLang="zh-CN" dirty="0" err="1"/>
              <a:t>quit_job_data_train</a:t>
            </a:r>
            <a:r>
              <a:rPr lang="en-US" altLang="zh-CN" dirty="0"/>
              <a:t>)</a:t>
            </a:r>
          </a:p>
          <a:p>
            <a:r>
              <a:rPr lang="en-US" altLang="zh-CN" dirty="0" err="1"/>
              <a:t>quit_job_testScaler</a:t>
            </a:r>
            <a:r>
              <a:rPr lang="en-US" altLang="zh-CN" dirty="0"/>
              <a:t> = </a:t>
            </a:r>
            <a:r>
              <a:rPr lang="en-US" altLang="zh-CN" dirty="0" err="1"/>
              <a:t>stdScale.transform</a:t>
            </a:r>
            <a:r>
              <a:rPr lang="en-US" altLang="zh-CN" dirty="0"/>
              <a:t>(</a:t>
            </a:r>
            <a:r>
              <a:rPr lang="en-US" altLang="zh-CN" dirty="0" err="1"/>
              <a:t>quit_job_data_test</a:t>
            </a:r>
            <a:r>
              <a:rPr lang="en-US" altLang="zh-CN" dirty="0"/>
              <a:t>)</a:t>
            </a:r>
          </a:p>
        </p:txBody>
      </p:sp>
      <p:sp>
        <p:nvSpPr>
          <p:cNvPr id="7" name="矩形 6"/>
          <p:cNvSpPr/>
          <p:nvPr/>
        </p:nvSpPr>
        <p:spPr>
          <a:xfrm>
            <a:off x="6348549" y="1148512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构建</a:t>
            </a:r>
            <a:r>
              <a:rPr lang="en-US" altLang="zh-CN" dirty="0"/>
              <a:t>SVM</a:t>
            </a:r>
            <a:r>
              <a:rPr lang="zh-CN" altLang="en-US" dirty="0"/>
              <a:t>模型</a:t>
            </a:r>
            <a:r>
              <a:rPr lang="en-US" altLang="zh-CN" dirty="0"/>
              <a:t>,</a:t>
            </a:r>
            <a:r>
              <a:rPr lang="zh-CN" altLang="en-US" dirty="0"/>
              <a:t>并预测测试集结果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sklearn.svm</a:t>
            </a:r>
            <a:r>
              <a:rPr lang="en-US" altLang="zh-CN" dirty="0"/>
              <a:t> import SVC </a:t>
            </a:r>
          </a:p>
          <a:p>
            <a:r>
              <a:rPr lang="en-US" altLang="zh-CN" dirty="0" err="1"/>
              <a:t>svm</a:t>
            </a:r>
            <a:r>
              <a:rPr lang="en-US" altLang="zh-CN" dirty="0"/>
              <a:t> = SVC().fit(</a:t>
            </a:r>
            <a:r>
              <a:rPr lang="en-US" altLang="zh-CN" dirty="0" err="1"/>
              <a:t>quit_job_trainScaler</a:t>
            </a:r>
            <a:r>
              <a:rPr lang="en-US" altLang="zh-CN" dirty="0"/>
              <a:t>, </a:t>
            </a:r>
            <a:r>
              <a:rPr lang="en-US" altLang="zh-CN" dirty="0" err="1"/>
              <a:t>quit_job_target_train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预测训练集结果</a:t>
            </a:r>
          </a:p>
          <a:p>
            <a:r>
              <a:rPr lang="en-US" altLang="zh-CN" dirty="0" err="1"/>
              <a:t>quit_job_target_pred</a:t>
            </a:r>
            <a:r>
              <a:rPr lang="en-US" altLang="zh-CN" dirty="0"/>
              <a:t> = </a:t>
            </a:r>
            <a:r>
              <a:rPr lang="en-US" altLang="zh-CN" dirty="0" err="1"/>
              <a:t>svm.predict</a:t>
            </a:r>
            <a:r>
              <a:rPr lang="en-US" altLang="zh-CN" dirty="0"/>
              <a:t>(</a:t>
            </a:r>
            <a:r>
              <a:rPr lang="en-US" altLang="zh-CN" dirty="0" err="1"/>
              <a:t>quit_job_testScaler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预测前</a:t>
            </a:r>
            <a:r>
              <a:rPr lang="en-US" altLang="zh-CN" dirty="0"/>
              <a:t>20</a:t>
            </a:r>
            <a:r>
              <a:rPr lang="zh-CN" altLang="en-US" dirty="0"/>
              <a:t>个结果为：</a:t>
            </a:r>
            <a:r>
              <a:rPr lang="en-US" altLang="zh-CN" dirty="0"/>
              <a:t>\n', </a:t>
            </a:r>
            <a:r>
              <a:rPr lang="en-US" altLang="zh-CN" dirty="0" err="1"/>
              <a:t>quit_job_target_pred</a:t>
            </a:r>
            <a:r>
              <a:rPr lang="en-US" altLang="zh-CN" dirty="0"/>
              <a:t>[: 20])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700" y="3897929"/>
            <a:ext cx="3638095" cy="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78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评价分类模型</a:t>
            </a:r>
          </a:p>
        </p:txBody>
      </p:sp>
      <p:sp>
        <p:nvSpPr>
          <p:cNvPr id="2" name="矩形 1"/>
          <p:cNvSpPr/>
          <p:nvPr/>
        </p:nvSpPr>
        <p:spPr>
          <a:xfrm>
            <a:off x="653142" y="116884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求出预测和真实一样的数目</a:t>
            </a:r>
          </a:p>
          <a:p>
            <a:r>
              <a:rPr lang="en-US" altLang="zh-CN" dirty="0"/>
              <a:t>true = </a:t>
            </a:r>
            <a:r>
              <a:rPr lang="en-US" altLang="zh-CN" dirty="0" err="1"/>
              <a:t>np.sum</a:t>
            </a:r>
            <a:r>
              <a:rPr lang="en-US" altLang="zh-CN" dirty="0"/>
              <a:t>(</a:t>
            </a:r>
            <a:r>
              <a:rPr lang="en-US" altLang="zh-CN" dirty="0" err="1"/>
              <a:t>quit_job_target_pred</a:t>
            </a:r>
            <a:r>
              <a:rPr lang="en-US" altLang="zh-CN" dirty="0"/>
              <a:t> == </a:t>
            </a:r>
            <a:r>
              <a:rPr lang="en-US" altLang="zh-CN" dirty="0" err="1"/>
              <a:t>quit_job_target_test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预测对的结果数目为：</a:t>
            </a:r>
            <a:r>
              <a:rPr lang="en-US" altLang="zh-CN" dirty="0"/>
              <a:t>', true)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预测错的结果数目为：</a:t>
            </a:r>
            <a:r>
              <a:rPr lang="en-US" altLang="zh-CN" dirty="0"/>
              <a:t>', </a:t>
            </a:r>
            <a:r>
              <a:rPr lang="en-US" altLang="zh-CN" dirty="0" err="1"/>
              <a:t>quit_job_target_test.shape</a:t>
            </a:r>
            <a:r>
              <a:rPr lang="en-US" altLang="zh-CN" dirty="0"/>
              <a:t>[0] - true)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预测结果准确率为：</a:t>
            </a:r>
            <a:r>
              <a:rPr lang="en-US" altLang="zh-CN" dirty="0"/>
              <a:t>', true / </a:t>
            </a:r>
            <a:r>
              <a:rPr lang="en-US" altLang="zh-CN" dirty="0" err="1"/>
              <a:t>quit_job_target_test.shape</a:t>
            </a:r>
            <a:r>
              <a:rPr lang="en-US" altLang="zh-CN" dirty="0"/>
              <a:t>[0])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912" y="3624573"/>
            <a:ext cx="4903518" cy="99602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797636" y="3477173"/>
            <a:ext cx="193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2888/(2888+112)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03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评价分类模型</a:t>
            </a:r>
          </a:p>
        </p:txBody>
      </p:sp>
      <p:sp>
        <p:nvSpPr>
          <p:cNvPr id="2" name="矩形 1"/>
          <p:cNvSpPr/>
          <p:nvPr/>
        </p:nvSpPr>
        <p:spPr>
          <a:xfrm>
            <a:off x="984069" y="114774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from </a:t>
            </a:r>
            <a:r>
              <a:rPr lang="en-US" altLang="zh-CN" dirty="0" err="1"/>
              <a:t>sklearn.metrics</a:t>
            </a:r>
            <a:r>
              <a:rPr lang="en-US" altLang="zh-CN" dirty="0"/>
              <a:t> import </a:t>
            </a:r>
            <a:r>
              <a:rPr lang="en-US" altLang="zh-CN" dirty="0" err="1"/>
              <a:t>accuracy_score,precision_score</a:t>
            </a:r>
            <a:r>
              <a:rPr lang="en-US" altLang="zh-CN" dirty="0"/>
              <a:t>, \</a:t>
            </a:r>
          </a:p>
          <a:p>
            <a:r>
              <a:rPr lang="en-US" altLang="zh-CN" dirty="0"/>
              <a:t>recall_score,f1_score,cohen_kappa_score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使用</a:t>
            </a:r>
            <a:r>
              <a:rPr lang="en-US" altLang="zh-CN" dirty="0"/>
              <a:t>SVM</a:t>
            </a:r>
            <a:r>
              <a:rPr lang="zh-CN" altLang="en-US" dirty="0"/>
              <a:t>预测</a:t>
            </a:r>
            <a:r>
              <a:rPr lang="en-US" altLang="zh-CN" dirty="0" err="1"/>
              <a:t>quit_job</a:t>
            </a:r>
            <a:r>
              <a:rPr lang="zh-CN" altLang="en-US" dirty="0"/>
              <a:t>数据的准确率为：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accuracy_score</a:t>
            </a:r>
            <a:r>
              <a:rPr lang="en-US" altLang="zh-CN" dirty="0"/>
              <a:t>(</a:t>
            </a:r>
            <a:r>
              <a:rPr lang="en-US" altLang="zh-CN" dirty="0" err="1"/>
              <a:t>quit_job_target_test</a:t>
            </a:r>
            <a:r>
              <a:rPr lang="en-US" altLang="zh-CN" dirty="0"/>
              <a:t>, </a:t>
            </a:r>
            <a:r>
              <a:rPr lang="en-US" altLang="zh-CN" dirty="0" err="1"/>
              <a:t>quit_job_target_pred</a:t>
            </a:r>
            <a:r>
              <a:rPr lang="en-US" altLang="zh-CN" dirty="0"/>
              <a:t>))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使用</a:t>
            </a:r>
            <a:r>
              <a:rPr lang="en-US" altLang="zh-CN" dirty="0"/>
              <a:t>SVM</a:t>
            </a:r>
            <a:r>
              <a:rPr lang="zh-CN" altLang="en-US" dirty="0"/>
              <a:t>预测</a:t>
            </a:r>
            <a:r>
              <a:rPr lang="en-US" altLang="zh-CN" dirty="0" err="1"/>
              <a:t>quit_job</a:t>
            </a:r>
            <a:r>
              <a:rPr lang="zh-CN" altLang="en-US" dirty="0"/>
              <a:t>数据的精确率为：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precision_score</a:t>
            </a:r>
            <a:r>
              <a:rPr lang="en-US" altLang="zh-CN" dirty="0"/>
              <a:t>(</a:t>
            </a:r>
            <a:r>
              <a:rPr lang="en-US" altLang="zh-CN" dirty="0" err="1"/>
              <a:t>quit_job_target_test</a:t>
            </a:r>
            <a:r>
              <a:rPr lang="en-US" altLang="zh-CN" dirty="0"/>
              <a:t>, </a:t>
            </a:r>
            <a:r>
              <a:rPr lang="en-US" altLang="zh-CN" dirty="0" err="1"/>
              <a:t>quit_job_target_pred</a:t>
            </a:r>
            <a:r>
              <a:rPr lang="en-US" altLang="zh-CN" dirty="0"/>
              <a:t>))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使用</a:t>
            </a:r>
            <a:r>
              <a:rPr lang="en-US" altLang="zh-CN" dirty="0"/>
              <a:t>SVM</a:t>
            </a:r>
            <a:r>
              <a:rPr lang="zh-CN" altLang="en-US" dirty="0"/>
              <a:t>预测</a:t>
            </a:r>
            <a:r>
              <a:rPr lang="en-US" altLang="zh-CN" dirty="0" err="1"/>
              <a:t>quit_job</a:t>
            </a:r>
            <a:r>
              <a:rPr lang="zh-CN" altLang="en-US" dirty="0"/>
              <a:t>数据的召回率为：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recall_score</a:t>
            </a:r>
            <a:r>
              <a:rPr lang="en-US" altLang="zh-CN" dirty="0"/>
              <a:t>(</a:t>
            </a:r>
            <a:r>
              <a:rPr lang="en-US" altLang="zh-CN" dirty="0" err="1"/>
              <a:t>quit_job_target_test</a:t>
            </a:r>
            <a:r>
              <a:rPr lang="en-US" altLang="zh-CN" dirty="0"/>
              <a:t>, </a:t>
            </a:r>
            <a:r>
              <a:rPr lang="en-US" altLang="zh-CN" dirty="0" err="1"/>
              <a:t>quit_job_target_pred</a:t>
            </a:r>
            <a:r>
              <a:rPr lang="en-US" altLang="zh-CN" dirty="0"/>
              <a:t>))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使用</a:t>
            </a:r>
            <a:r>
              <a:rPr lang="en-US" altLang="zh-CN" dirty="0"/>
              <a:t>SVM</a:t>
            </a:r>
            <a:r>
              <a:rPr lang="zh-CN" altLang="en-US" dirty="0"/>
              <a:t>预测</a:t>
            </a:r>
            <a:r>
              <a:rPr lang="en-US" altLang="zh-CN" dirty="0" err="1"/>
              <a:t>quit_job</a:t>
            </a:r>
            <a:r>
              <a:rPr lang="zh-CN" altLang="en-US" dirty="0"/>
              <a:t>数据的</a:t>
            </a:r>
            <a:r>
              <a:rPr lang="en-US" altLang="zh-CN" dirty="0"/>
              <a:t>F1</a:t>
            </a:r>
            <a:r>
              <a:rPr lang="zh-CN" altLang="en-US" dirty="0"/>
              <a:t>值为：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f1_score(</a:t>
            </a:r>
            <a:r>
              <a:rPr lang="en-US" altLang="zh-CN" dirty="0" err="1"/>
              <a:t>quit_job_target_test</a:t>
            </a:r>
            <a:r>
              <a:rPr lang="en-US" altLang="zh-CN" dirty="0"/>
              <a:t>, </a:t>
            </a:r>
            <a:r>
              <a:rPr lang="en-US" altLang="zh-CN" dirty="0" err="1"/>
              <a:t>quit_job_target_pred</a:t>
            </a:r>
            <a:r>
              <a:rPr lang="en-US" altLang="zh-CN" dirty="0"/>
              <a:t>))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使用</a:t>
            </a:r>
            <a:r>
              <a:rPr lang="en-US" altLang="zh-CN" dirty="0"/>
              <a:t>SVM</a:t>
            </a:r>
            <a:r>
              <a:rPr lang="zh-CN" altLang="en-US" dirty="0"/>
              <a:t>预测</a:t>
            </a:r>
            <a:r>
              <a:rPr lang="en-US" altLang="zh-CN" dirty="0" err="1"/>
              <a:t>quit_job</a:t>
            </a:r>
            <a:r>
              <a:rPr lang="zh-CN" altLang="en-US" dirty="0"/>
              <a:t>数据的</a:t>
            </a:r>
            <a:r>
              <a:rPr lang="en-US" altLang="zh-CN" dirty="0"/>
              <a:t>Cohen’s Kappa</a:t>
            </a:r>
            <a:r>
              <a:rPr lang="zh-CN" altLang="en-US" dirty="0"/>
              <a:t>系数为：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cohen_kappa_score</a:t>
            </a:r>
            <a:r>
              <a:rPr lang="en-US" altLang="zh-CN" dirty="0"/>
              <a:t>(</a:t>
            </a:r>
            <a:r>
              <a:rPr lang="en-US" altLang="zh-CN" dirty="0" err="1"/>
              <a:t>quit_job_target_test</a:t>
            </a:r>
            <a:r>
              <a:rPr lang="en-US" altLang="zh-CN" dirty="0"/>
              <a:t>, </a:t>
            </a:r>
          </a:p>
          <a:p>
            <a:r>
              <a:rPr lang="en-US" altLang="zh-CN" dirty="0"/>
              <a:t>                        </a:t>
            </a:r>
            <a:r>
              <a:rPr lang="en-US" altLang="zh-CN" dirty="0" err="1"/>
              <a:t>quit_job_target_pred</a:t>
            </a:r>
            <a:r>
              <a:rPr lang="en-US" altLang="zh-CN" dirty="0"/>
              <a:t>))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602" y="4939865"/>
            <a:ext cx="4933333" cy="1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1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评价分类模型</a:t>
            </a:r>
          </a:p>
        </p:txBody>
      </p:sp>
      <p:sp>
        <p:nvSpPr>
          <p:cNvPr id="4" name="矩形 3"/>
          <p:cNvSpPr/>
          <p:nvPr/>
        </p:nvSpPr>
        <p:spPr>
          <a:xfrm>
            <a:off x="583474" y="126129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from </a:t>
            </a:r>
            <a:r>
              <a:rPr lang="en-US" altLang="zh-CN" dirty="0" err="1"/>
              <a:t>sklearn.metrics</a:t>
            </a:r>
            <a:r>
              <a:rPr lang="en-US" altLang="zh-CN" dirty="0"/>
              <a:t> import </a:t>
            </a:r>
            <a:r>
              <a:rPr lang="en-US" altLang="zh-CN" dirty="0" err="1"/>
              <a:t>classification_report</a:t>
            </a:r>
            <a:endParaRPr lang="en-US" altLang="zh-CN" dirty="0"/>
          </a:p>
          <a:p>
            <a:r>
              <a:rPr lang="en-US" altLang="zh-CN" dirty="0"/>
              <a:t>print('</a:t>
            </a:r>
            <a:r>
              <a:rPr lang="zh-CN" altLang="en-US" dirty="0"/>
              <a:t>使用</a:t>
            </a:r>
            <a:r>
              <a:rPr lang="en-US" altLang="zh-CN" dirty="0"/>
              <a:t>SVM</a:t>
            </a:r>
            <a:r>
              <a:rPr lang="zh-CN" altLang="en-US" dirty="0"/>
              <a:t>预测</a:t>
            </a:r>
            <a:r>
              <a:rPr lang="en-US" altLang="zh-CN" dirty="0"/>
              <a:t>customer</a:t>
            </a:r>
            <a:r>
              <a:rPr lang="zh-CN" altLang="en-US" dirty="0"/>
              <a:t>数据的分类报告为：</a:t>
            </a:r>
            <a:r>
              <a:rPr lang="en-US" altLang="zh-CN" dirty="0"/>
              <a:t>', '\n', 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classification_report</a:t>
            </a:r>
            <a:r>
              <a:rPr lang="en-US" altLang="zh-CN" dirty="0"/>
              <a:t>(</a:t>
            </a:r>
            <a:r>
              <a:rPr lang="en-US" altLang="zh-CN" dirty="0" err="1"/>
              <a:t>quit_job_target_test</a:t>
            </a:r>
            <a:r>
              <a:rPr lang="en-US" altLang="zh-CN" dirty="0"/>
              <a:t>, </a:t>
            </a:r>
          </a:p>
          <a:p>
            <a:r>
              <a:rPr lang="en-US" altLang="zh-CN" dirty="0"/>
              <a:t>                            </a:t>
            </a:r>
            <a:r>
              <a:rPr lang="en-US" altLang="zh-CN" dirty="0" err="1"/>
              <a:t>quit_job_target_pred</a:t>
            </a:r>
            <a:r>
              <a:rPr lang="en-US" altLang="zh-CN" dirty="0"/>
              <a:t>))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259" y="2835662"/>
            <a:ext cx="4304762" cy="1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66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评价分类模型</a:t>
            </a:r>
          </a:p>
        </p:txBody>
      </p:sp>
      <p:sp>
        <p:nvSpPr>
          <p:cNvPr id="2" name="矩形 1"/>
          <p:cNvSpPr/>
          <p:nvPr/>
        </p:nvSpPr>
        <p:spPr>
          <a:xfrm>
            <a:off x="513806" y="1112916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from </a:t>
            </a:r>
            <a:r>
              <a:rPr lang="en-US" altLang="zh-CN" dirty="0" err="1"/>
              <a:t>sklearn.metrics</a:t>
            </a:r>
            <a:r>
              <a:rPr lang="en-US" altLang="zh-CN" dirty="0"/>
              <a:t> import </a:t>
            </a:r>
            <a:r>
              <a:rPr lang="en-US" altLang="zh-CN" dirty="0" err="1"/>
              <a:t>roc_curve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求出</a:t>
            </a:r>
            <a:r>
              <a:rPr lang="en-US" altLang="zh-CN" dirty="0"/>
              <a:t>ROC</a:t>
            </a:r>
            <a:r>
              <a:rPr lang="zh-CN" altLang="en-US" dirty="0"/>
              <a:t>曲线的</a:t>
            </a:r>
            <a:r>
              <a:rPr lang="en-US" altLang="zh-CN" dirty="0"/>
              <a:t>x</a:t>
            </a:r>
            <a:r>
              <a:rPr lang="zh-CN" altLang="en-US" dirty="0"/>
              <a:t>轴和</a:t>
            </a:r>
            <a:r>
              <a:rPr lang="en-US" altLang="zh-CN" dirty="0"/>
              <a:t>y</a:t>
            </a:r>
            <a:r>
              <a:rPr lang="zh-CN" altLang="en-US" dirty="0"/>
              <a:t>轴</a:t>
            </a:r>
          </a:p>
          <a:p>
            <a:r>
              <a:rPr lang="en-US" altLang="zh-CN" dirty="0" err="1"/>
              <a:t>fpr</a:t>
            </a:r>
            <a:r>
              <a:rPr lang="en-US" altLang="zh-CN" dirty="0"/>
              <a:t>, </a:t>
            </a:r>
            <a:r>
              <a:rPr lang="en-US" altLang="zh-CN" dirty="0" err="1"/>
              <a:t>tpr</a:t>
            </a:r>
            <a:r>
              <a:rPr lang="en-US" altLang="zh-CN" dirty="0"/>
              <a:t>, thresholds = \</a:t>
            </a:r>
          </a:p>
          <a:p>
            <a:r>
              <a:rPr lang="en-US" altLang="zh-CN" dirty="0" err="1"/>
              <a:t>roc_curve</a:t>
            </a:r>
            <a:r>
              <a:rPr lang="en-US" altLang="zh-CN" dirty="0"/>
              <a:t>(</a:t>
            </a:r>
            <a:r>
              <a:rPr lang="en-US" altLang="zh-CN" dirty="0" err="1"/>
              <a:t>quit_job_target_test</a:t>
            </a:r>
            <a:r>
              <a:rPr lang="en-US" altLang="zh-CN" dirty="0"/>
              <a:t>, </a:t>
            </a:r>
            <a:r>
              <a:rPr lang="en-US" altLang="zh-CN" dirty="0" err="1"/>
              <a:t>quit_job_target_pred</a:t>
            </a:r>
            <a:r>
              <a:rPr lang="en-US" altLang="zh-CN" dirty="0"/>
              <a:t>)</a:t>
            </a:r>
          </a:p>
          <a:p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=(10, 6))</a:t>
            </a:r>
          </a:p>
          <a:p>
            <a:r>
              <a:rPr lang="en-US" altLang="zh-CN" dirty="0" err="1"/>
              <a:t>plt.xlim</a:t>
            </a:r>
            <a:r>
              <a:rPr lang="en-US" altLang="zh-CN" dirty="0"/>
              <a:t>(0, 1)  # </a:t>
            </a:r>
            <a:r>
              <a:rPr lang="zh-CN" altLang="en-US" dirty="0"/>
              <a:t>设定</a:t>
            </a:r>
            <a:r>
              <a:rPr lang="en-US" altLang="zh-CN" dirty="0"/>
              <a:t>x</a:t>
            </a:r>
            <a:r>
              <a:rPr lang="zh-CN" altLang="en-US" dirty="0"/>
              <a:t>轴的范围</a:t>
            </a:r>
          </a:p>
          <a:p>
            <a:r>
              <a:rPr lang="en-US" altLang="zh-CN" dirty="0" err="1"/>
              <a:t>plt.ylim</a:t>
            </a:r>
            <a:r>
              <a:rPr lang="en-US" altLang="zh-CN" dirty="0"/>
              <a:t>(0.0, 1.1)  # </a:t>
            </a:r>
            <a:r>
              <a:rPr lang="zh-CN" altLang="en-US" dirty="0"/>
              <a:t>设定</a:t>
            </a:r>
            <a:r>
              <a:rPr lang="en-US" altLang="zh-CN" dirty="0"/>
              <a:t>y</a:t>
            </a:r>
            <a:r>
              <a:rPr lang="zh-CN" altLang="en-US" dirty="0"/>
              <a:t>轴的范围</a:t>
            </a:r>
          </a:p>
          <a:p>
            <a:r>
              <a:rPr lang="en-US" altLang="zh-CN" dirty="0" err="1"/>
              <a:t>plt.xlabel</a:t>
            </a:r>
            <a:r>
              <a:rPr lang="en-US" altLang="zh-CN" dirty="0"/>
              <a:t>('False </a:t>
            </a:r>
            <a:r>
              <a:rPr lang="en-US" altLang="zh-CN" dirty="0" err="1"/>
              <a:t>Postive</a:t>
            </a:r>
            <a:r>
              <a:rPr lang="en-US" altLang="zh-CN" dirty="0"/>
              <a:t> Rate')</a:t>
            </a:r>
          </a:p>
          <a:p>
            <a:r>
              <a:rPr lang="en-US" altLang="zh-CN" dirty="0" err="1"/>
              <a:t>plt.ylabel</a:t>
            </a:r>
            <a:r>
              <a:rPr lang="en-US" altLang="zh-CN" dirty="0"/>
              <a:t>('True </a:t>
            </a:r>
            <a:r>
              <a:rPr lang="en-US" altLang="zh-CN" dirty="0" err="1"/>
              <a:t>Postive</a:t>
            </a:r>
            <a:r>
              <a:rPr lang="en-US" altLang="zh-CN" dirty="0"/>
              <a:t> Rate')</a:t>
            </a:r>
          </a:p>
          <a:p>
            <a:r>
              <a:rPr lang="en-US" altLang="zh-CN" dirty="0" err="1"/>
              <a:t>plt.plot</a:t>
            </a:r>
            <a:r>
              <a:rPr lang="en-US" altLang="zh-CN" dirty="0"/>
              <a:t>(</a:t>
            </a:r>
            <a:r>
              <a:rPr lang="en-US" altLang="zh-CN" dirty="0" err="1"/>
              <a:t>fpr</a:t>
            </a:r>
            <a:r>
              <a:rPr lang="en-US" altLang="zh-CN" dirty="0"/>
              <a:t>, </a:t>
            </a:r>
            <a:r>
              <a:rPr lang="en-US" altLang="zh-CN" dirty="0" err="1"/>
              <a:t>tpr</a:t>
            </a:r>
            <a:r>
              <a:rPr lang="en-US" altLang="zh-CN" dirty="0"/>
              <a:t>, linewidth=2, </a:t>
            </a:r>
            <a:r>
              <a:rPr lang="en-US" altLang="zh-CN" dirty="0" err="1"/>
              <a:t>linestyle</a:t>
            </a:r>
            <a:r>
              <a:rPr lang="en-US" altLang="zh-CN" dirty="0"/>
              <a:t>='-', color='red')</a:t>
            </a:r>
          </a:p>
          <a:p>
            <a:r>
              <a:rPr lang="en-US" altLang="zh-CN" dirty="0" err="1"/>
              <a:t>plt.plot</a:t>
            </a:r>
            <a:r>
              <a:rPr lang="en-US" altLang="zh-CN" dirty="0"/>
              <a:t>([0, 1], [0, 1], </a:t>
            </a:r>
            <a:r>
              <a:rPr lang="en-US" altLang="zh-CN" dirty="0" err="1"/>
              <a:t>linestyle</a:t>
            </a:r>
            <a:r>
              <a:rPr lang="en-US" altLang="zh-CN" dirty="0"/>
              <a:t>='-.', color='blue')</a:t>
            </a:r>
          </a:p>
          <a:p>
            <a:r>
              <a:rPr lang="en-US" altLang="zh-CN" dirty="0" err="1"/>
              <a:t>plt.savefig</a:t>
            </a:r>
            <a:r>
              <a:rPr lang="en-US" altLang="zh-CN" dirty="0"/>
              <a:t>('../</a:t>
            </a:r>
            <a:r>
              <a:rPr lang="en-US" altLang="zh-CN" dirty="0" err="1"/>
              <a:t>tmp</a:t>
            </a:r>
            <a:r>
              <a:rPr lang="en-US" altLang="zh-CN" dirty="0"/>
              <a:t>/ROC</a:t>
            </a:r>
            <a:r>
              <a:rPr lang="zh-CN" altLang="en-US" dirty="0"/>
              <a:t>曲线</a:t>
            </a:r>
            <a:r>
              <a:rPr lang="en-US" altLang="zh-CN" dirty="0"/>
              <a:t>.jpg', dpi=1080)</a:t>
            </a:r>
          </a:p>
          <a:p>
            <a:r>
              <a:rPr lang="en-US" altLang="zh-CN" dirty="0" err="1"/>
              <a:t>plt.show</a:t>
            </a:r>
            <a:r>
              <a:rPr lang="en-US" altLang="zh-CN" dirty="0"/>
              <a:t>()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961" y="1258294"/>
            <a:ext cx="6403482" cy="37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12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目录</a:t>
            </a:r>
          </a:p>
        </p:txBody>
      </p:sp>
      <p:cxnSp>
        <p:nvCxnSpPr>
          <p:cNvPr id="18" name="直接连接符 6"/>
          <p:cNvCxnSpPr/>
          <p:nvPr/>
        </p:nvCxnSpPr>
        <p:spPr>
          <a:xfrm>
            <a:off x="3264947" y="1348062"/>
            <a:ext cx="5910" cy="4354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Line 2"/>
          <p:cNvSpPr>
            <a:spLocks noChangeShapeType="1"/>
          </p:cNvSpPr>
          <p:nvPr/>
        </p:nvSpPr>
        <p:spPr bwMode="auto">
          <a:xfrm>
            <a:off x="2649786" y="5092240"/>
            <a:ext cx="66049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zh-CN" altLang="en-US" sz="2000" b="1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Oval 15"/>
          <p:cNvSpPr>
            <a:spLocks noChangeArrowheads="1"/>
          </p:cNvSpPr>
          <p:nvPr/>
        </p:nvSpPr>
        <p:spPr bwMode="auto">
          <a:xfrm>
            <a:off x="2904947" y="1651743"/>
            <a:ext cx="684000" cy="648000"/>
          </a:xfrm>
          <a:prstGeom prst="ellipse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AutoShape 17"/>
          <p:cNvSpPr>
            <a:spLocks noChangeArrowheads="1"/>
          </p:cNvSpPr>
          <p:nvPr/>
        </p:nvSpPr>
        <p:spPr bwMode="auto">
          <a:xfrm>
            <a:off x="4012596" y="2606132"/>
            <a:ext cx="4859850" cy="684000"/>
          </a:xfrm>
          <a:prstGeom prst="actionButtonBlank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构建并评价聚类模型</a:t>
            </a:r>
          </a:p>
        </p:txBody>
      </p:sp>
      <p:sp>
        <p:nvSpPr>
          <p:cNvPr id="13" name="AutoShape 17"/>
          <p:cNvSpPr>
            <a:spLocks noChangeArrowheads="1"/>
          </p:cNvSpPr>
          <p:nvPr/>
        </p:nvSpPr>
        <p:spPr bwMode="auto">
          <a:xfrm>
            <a:off x="4000531" y="1579743"/>
            <a:ext cx="4859850" cy="684000"/>
          </a:xfrm>
          <a:prstGeom prst="actionButtonBlank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sklearn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转换器处理数据</a:t>
            </a:r>
          </a:p>
        </p:txBody>
      </p:sp>
      <p:sp>
        <p:nvSpPr>
          <p:cNvPr id="15" name="Oval 15"/>
          <p:cNvSpPr>
            <a:spLocks noChangeArrowheads="1"/>
          </p:cNvSpPr>
          <p:nvPr/>
        </p:nvSpPr>
        <p:spPr bwMode="auto">
          <a:xfrm>
            <a:off x="2928857" y="2626672"/>
            <a:ext cx="684000" cy="648000"/>
          </a:xfrm>
          <a:prstGeom prst="ellipse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1" name="AutoShape 17"/>
          <p:cNvSpPr>
            <a:spLocks noChangeArrowheads="1"/>
          </p:cNvSpPr>
          <p:nvPr/>
        </p:nvSpPr>
        <p:spPr bwMode="auto">
          <a:xfrm>
            <a:off x="4012450" y="3660873"/>
            <a:ext cx="4859850" cy="684000"/>
          </a:xfrm>
          <a:prstGeom prst="actionButtonBlank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构建并评价分类模型</a:t>
            </a:r>
          </a:p>
        </p:txBody>
      </p:sp>
      <p:sp>
        <p:nvSpPr>
          <p:cNvPr id="22" name="Oval 15"/>
          <p:cNvSpPr>
            <a:spLocks noChangeArrowheads="1"/>
          </p:cNvSpPr>
          <p:nvPr/>
        </p:nvSpPr>
        <p:spPr bwMode="auto">
          <a:xfrm>
            <a:off x="2928857" y="3678873"/>
            <a:ext cx="684000" cy="648000"/>
          </a:xfrm>
          <a:prstGeom prst="ellipse">
            <a:avLst/>
          </a:prstGeom>
          <a:solidFill>
            <a:srgbClr val="064BB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" name="AutoShape 17"/>
          <p:cNvSpPr>
            <a:spLocks noChangeArrowheads="1"/>
          </p:cNvSpPr>
          <p:nvPr/>
        </p:nvSpPr>
        <p:spPr bwMode="auto">
          <a:xfrm>
            <a:off x="4012450" y="4715497"/>
            <a:ext cx="4859850" cy="684000"/>
          </a:xfrm>
          <a:prstGeom prst="actionButtonBlank">
            <a:avLst/>
          </a:prstGeom>
          <a:solidFill>
            <a:srgbClr val="FB9708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构建并评价回归模型</a:t>
            </a:r>
          </a:p>
        </p:txBody>
      </p:sp>
      <p:sp>
        <p:nvSpPr>
          <p:cNvPr id="29" name="Oval 15"/>
          <p:cNvSpPr>
            <a:spLocks noChangeArrowheads="1"/>
          </p:cNvSpPr>
          <p:nvPr/>
        </p:nvSpPr>
        <p:spPr bwMode="auto">
          <a:xfrm>
            <a:off x="2904947" y="4733497"/>
            <a:ext cx="684000" cy="648000"/>
          </a:xfrm>
          <a:prstGeom prst="ellipse">
            <a:avLst/>
          </a:prstGeom>
          <a:solidFill>
            <a:srgbClr val="FB9708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sklearn</a:t>
            </a:r>
            <a:r>
              <a:rPr lang="zh-CN" altLang="en-US" dirty="0"/>
              <a:t>估计器构建线性回归模型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2162134"/>
              </p:ext>
            </p:extLst>
          </p:nvPr>
        </p:nvGraphicFramePr>
        <p:xfrm>
          <a:off x="889295" y="3965226"/>
          <a:ext cx="10180955" cy="241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5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模块名称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函数名称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算法名称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0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线性回归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因变量与自变量是线性关系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对一个或多个自变量和因变量之间的线性关系进行建模，可用最小二乘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估计</a:t>
                      </a: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法求解模型系数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76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非线性回归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因变量与自变量之间不都是线性关系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对一个或多个自变量和因变量之间的非线性关系进行建模。如果非线性关系可以通过简单的函数变换转化成线性关系，</a:t>
                      </a:r>
                      <a:r>
                        <a:rPr lang="en-US" sz="1800" b="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那么可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用线性回归的思想求解；如果不能转化，</a:t>
                      </a:r>
                      <a:r>
                        <a:rPr lang="en-US" sz="1800" b="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那么可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用非线性最小二乘</a:t>
                      </a:r>
                      <a:r>
                        <a:rPr lang="en-US" sz="1800" b="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估计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法求解</a:t>
                      </a:r>
                      <a:endParaRPr lang="en-US" altLang="en-US" sz="18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30" name="内容占位符 1"/>
          <p:cNvSpPr>
            <a:spLocks noGrp="1"/>
          </p:cNvSpPr>
          <p:nvPr/>
        </p:nvSpPr>
        <p:spPr>
          <a:xfrm>
            <a:off x="541929" y="1039292"/>
            <a:ext cx="11107601" cy="43397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62585" indent="-36258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32089"/>
              </a:buClr>
              <a:buFont typeface="Wingdings" panose="05000000000000000000" pitchFamily="2" charset="2"/>
              <a:buChar char="Ø"/>
              <a:defRPr sz="1800" b="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86130" indent="-301625" algn="l" rtl="0" eaLnBrk="1" fontAlgn="base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32089"/>
              </a:buClr>
              <a:buFont typeface="Wingdings" panose="05000000000000000000" pitchFamily="2" charset="2"/>
              <a:buChar char="l"/>
              <a:defRPr sz="233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208405" indent="-2413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92275" indent="-2413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176780" indent="-2413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660650" indent="-24193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15">
                <a:solidFill>
                  <a:schemeClr val="tx1"/>
                </a:solidFill>
                <a:latin typeface="+mn-lt"/>
                <a:ea typeface="+mn-ea"/>
              </a:defRPr>
            </a:lvl6pPr>
            <a:lvl7pPr marL="3144520" indent="-24193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15">
                <a:solidFill>
                  <a:schemeClr val="tx1"/>
                </a:solidFill>
                <a:latin typeface="+mn-lt"/>
                <a:ea typeface="+mn-ea"/>
              </a:defRPr>
            </a:lvl7pPr>
            <a:lvl8pPr marL="3628390" indent="-24193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15">
                <a:solidFill>
                  <a:schemeClr val="tx1"/>
                </a:solidFill>
                <a:latin typeface="+mn-lt"/>
                <a:ea typeface="+mn-ea"/>
              </a:defRPr>
            </a:lvl8pPr>
            <a:lvl9pPr marL="4112260" indent="-24193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15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61950" indent="-361950"/>
            <a:r>
              <a:rPr lang="zh-CN" altLang="en-US" dirty="0">
                <a:sym typeface="+mn-ea"/>
              </a:rPr>
              <a:t>从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19世纪初高斯</a:t>
            </a:r>
            <a:r>
              <a:rPr lang="zh-CN" altLang="en-US" dirty="0">
                <a:sym typeface="+mn-ea"/>
              </a:rPr>
              <a:t>提出最小二乘估计法算起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估计值和真实值的平方和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，回归分析的历史已有200多年。</a:t>
            </a:r>
            <a:endParaRPr lang="en-US" altLang="zh-CN" dirty="0"/>
          </a:p>
          <a:p>
            <a:pPr marL="361950" indent="-361950"/>
            <a:r>
              <a:rPr lang="en-US" altLang="zh-CN" dirty="0" err="1"/>
              <a:t>在回归模型中，自变量与因变量具有相关关系，自变量的值是已知的，因变量是要预测的</a:t>
            </a:r>
            <a:r>
              <a:rPr lang="en-US" altLang="zh-CN" dirty="0"/>
              <a:t>。</a:t>
            </a:r>
          </a:p>
          <a:p>
            <a:pPr marL="361950" indent="-361950"/>
            <a:r>
              <a:rPr lang="en-US" altLang="zh-CN" dirty="0"/>
              <a:t>回归算法的实现步骤和分类算法基本相同，分为学习和预测两个步骤。</a:t>
            </a:r>
          </a:p>
          <a:p>
            <a:pPr marL="361950" indent="-361950"/>
            <a:r>
              <a:rPr lang="en-US" altLang="zh-CN" dirty="0"/>
              <a:t>学习是通过训练样本数据来拟合回归方程的；</a:t>
            </a:r>
          </a:p>
          <a:p>
            <a:pPr marL="361950" indent="-361950"/>
            <a:r>
              <a:rPr lang="en-US" altLang="zh-CN" dirty="0"/>
              <a:t>预测则是利用学习过程中拟合出的回归方程，将测试数据放入方程中求出预测值。</a:t>
            </a:r>
          </a:p>
          <a:p>
            <a:pPr marL="361950" indent="-361950"/>
            <a:r>
              <a:rPr lang="en-US" altLang="zh-CN" dirty="0"/>
              <a:t>常用的回归模型如下表所示。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使用sklearn</a:t>
            </a:r>
            <a:r>
              <a:rPr lang="zh-CN" altLang="en-US" dirty="0">
                <a:sym typeface="+mn-ea"/>
              </a:rPr>
              <a:t>估计器构建线性回归模型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23545" y="1226185"/>
            <a:ext cx="11107420" cy="4827270"/>
          </a:xfrm>
        </p:spPr>
        <p:txBody>
          <a:bodyPr/>
          <a:lstStyle/>
          <a:p>
            <a:pPr marL="363855" indent="0" latinLnBrk="0">
              <a:spcBef>
                <a:spcPts val="0"/>
              </a:spcBef>
              <a:buNone/>
            </a:pPr>
            <a:r>
              <a:rPr lang="zh-CN" altLang="en-US" dirty="0">
                <a:sym typeface="+mn-ea"/>
              </a:rPr>
              <a:t>常用的回归模型</a:t>
            </a:r>
            <a:r>
              <a:rPr lang="zh-CN" altLang="en-US"/>
              <a:t>续表。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05840" y="1844040"/>
          <a:ext cx="10180955" cy="3170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模块名称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函数名称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算法名称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0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Logistic回归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因变量一般有1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和</a:t>
                      </a: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0（是与否）两种取值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利用Logistic函数将因变量的取值范围控制在0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表示取值为1的概率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0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岭回归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参与建模的自变量之间具有多重共线性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是一种改进最小二乘估计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法</a:t>
                      </a: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的方法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44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主成分回归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参与建模的自变量之间具有多重共线性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主成分回归是根据主成分分析的思想提出来的，是对最小二乘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估计</a:t>
                      </a: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法的一种改进，它是参数估计的一种有偏估计。可以消除自变量之间的多重共线性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sklearn</a:t>
            </a:r>
            <a:r>
              <a:rPr lang="zh-CN" altLang="en-US" dirty="0"/>
              <a:t>估计器构建线性回归模型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3545" y="1036955"/>
            <a:ext cx="11107420" cy="5016500"/>
          </a:xfrm>
        </p:spPr>
        <p:txBody>
          <a:bodyPr/>
          <a:lstStyle/>
          <a:p>
            <a:pPr marL="363855" indent="0" latinLnBrk="0">
              <a:spcBef>
                <a:spcPts val="0"/>
              </a:spcBef>
              <a:buNone/>
            </a:pPr>
            <a:r>
              <a:rPr lang="zh-CN" altLang="en-US" dirty="0"/>
              <a:t>sklearn库内部有不少回归算法，常用的如下表所示。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800985" y="1675130"/>
          <a:ext cx="6590030" cy="4337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模块名称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函数名称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算法名称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linear_model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LinearRegression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线性回归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svm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SVR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支持向量回归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neighbors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KNeighbors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Regressor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最近邻回归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tree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DecisionTreeRegressor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回归决策树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ensemble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RandomForestRegressor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随机森林回归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ensemble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GradientBoosting</a:t>
                      </a: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Regressor</a:t>
                      </a:r>
                      <a:endParaRPr lang="en-US" altLang="en-US" sz="2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梯度提升回归树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评价回归模型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5765" y="887095"/>
            <a:ext cx="11107420" cy="5087620"/>
          </a:xfrm>
        </p:spPr>
        <p:txBody>
          <a:bodyPr/>
          <a:lstStyle/>
          <a:p>
            <a:r>
              <a:rPr lang="zh-CN" altLang="en-US" dirty="0"/>
              <a:t>回归模型的性能评价不同于分类模型，虽然都是对照真实值进行评价，</a:t>
            </a:r>
            <a:r>
              <a:rPr lang="zh-CN" altLang="en-US" dirty="0">
                <a:solidFill>
                  <a:srgbClr val="FF0000"/>
                </a:solidFill>
              </a:rPr>
              <a:t>但由于回归模型的预测结果和真实值都是连续的</a:t>
            </a:r>
            <a:r>
              <a:rPr lang="zh-CN" altLang="en-US" dirty="0"/>
              <a:t>，所以不能够求取Precision、Recall和F1值等评价指标。回归模型拥有一套独立的评价指标。</a:t>
            </a:r>
          </a:p>
          <a:p>
            <a:r>
              <a:rPr lang="zh-CN" altLang="en-US" dirty="0"/>
              <a:t>常用的回归模型评价指标如下表所示。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2757170" y="2439670"/>
          <a:ext cx="5953760" cy="3310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方法名称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最优值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/>
                        <a:t>sklearn</a:t>
                      </a:r>
                      <a:r>
                        <a:rPr lang="zh-CN" altLang="en-US" sz="1800" dirty="0"/>
                        <a:t>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平均绝对误差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 mean_absolute_error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均方误差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 mean_squared_error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中值绝对误差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 median_absolute_error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可解释方差值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 explained_variance_score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R方</a:t>
                      </a: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值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metrics. r2_score</a:t>
                      </a:r>
                      <a:endParaRPr lang="en-US" altLang="en-US" sz="18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1" name="曲线连接符 10"/>
          <p:cNvCxnSpPr>
            <a:cxnSpLocks/>
            <a:stCxn id="10" idx="3"/>
            <a:endCxn id="9" idx="0"/>
          </p:cNvCxnSpPr>
          <p:nvPr/>
        </p:nvCxnSpPr>
        <p:spPr>
          <a:xfrm>
            <a:off x="8990330" y="3712876"/>
            <a:ext cx="1287780" cy="946754"/>
          </a:xfrm>
          <a:prstGeom prst="curvedConnector2">
            <a:avLst/>
          </a:prstGeom>
          <a:ln>
            <a:solidFill>
              <a:schemeClr val="accent3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 flipH="1">
            <a:off x="9572625" y="4659630"/>
            <a:ext cx="1410970" cy="9220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+mn-ea"/>
              </a:rPr>
              <a:t>值越靠近0，模型性能越好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455545" y="2898140"/>
            <a:ext cx="6534785" cy="1629472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ysDash"/>
          </a:ln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 flipH="1">
            <a:off x="517525" y="3402330"/>
            <a:ext cx="1576705" cy="6451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+mn-ea"/>
              </a:rPr>
              <a:t>值越靠近1，模型性能越好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235835" y="4659630"/>
            <a:ext cx="6993255" cy="102997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ysDash"/>
          </a:ln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cxnSp>
        <p:nvCxnSpPr>
          <p:cNvPr id="14" name="曲线连接符 13"/>
          <p:cNvCxnSpPr>
            <a:cxnSpLocks/>
            <a:stCxn id="13" idx="1"/>
            <a:endCxn id="12" idx="2"/>
          </p:cNvCxnSpPr>
          <p:nvPr/>
        </p:nvCxnSpPr>
        <p:spPr>
          <a:xfrm rot="10800000">
            <a:off x="1305877" y="4047491"/>
            <a:ext cx="929958" cy="1127125"/>
          </a:xfrm>
          <a:prstGeom prst="curvedConnector2">
            <a:avLst/>
          </a:prstGeom>
          <a:ln>
            <a:solidFill>
              <a:schemeClr val="accent3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0" grpId="0" animBg="1"/>
      <p:bldP spid="10" grpId="1" bldLvl="0" animBg="1"/>
      <p:bldP spid="12" grpId="0" animBg="1"/>
      <p:bldP spid="12" grpId="1" bldLvl="0" animBg="1"/>
      <p:bldP spid="13" grpId="0" animBg="1"/>
      <p:bldP spid="13" grpId="1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评价回归模型</a:t>
            </a:r>
          </a:p>
        </p:txBody>
      </p:sp>
      <p:sp>
        <p:nvSpPr>
          <p:cNvPr id="4" name="矩形 3"/>
          <p:cNvSpPr/>
          <p:nvPr/>
        </p:nvSpPr>
        <p:spPr>
          <a:xfrm>
            <a:off x="618308" y="1212061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读取数据集</a:t>
            </a:r>
          </a:p>
          <a:p>
            <a:r>
              <a:rPr lang="en-US" altLang="zh-CN" dirty="0"/>
              <a:t>concrete = </a:t>
            </a:r>
            <a:r>
              <a:rPr lang="en-US" altLang="zh-CN" dirty="0" err="1"/>
              <a:t>pd.read_csv</a:t>
            </a:r>
            <a:r>
              <a:rPr lang="en-US" altLang="zh-CN" dirty="0"/>
              <a:t>('../data/concrete.csv', encoding='</a:t>
            </a:r>
            <a:r>
              <a:rPr lang="en-US" altLang="zh-CN" dirty="0" err="1"/>
              <a:t>gbk</a:t>
            </a:r>
            <a:r>
              <a:rPr lang="en-US" altLang="zh-CN" dirty="0"/>
              <a:t>')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拆分数据和标签</a:t>
            </a:r>
          </a:p>
          <a:p>
            <a:r>
              <a:rPr lang="en-US" altLang="zh-CN" dirty="0" err="1"/>
              <a:t>concrete_data</a:t>
            </a:r>
            <a:r>
              <a:rPr lang="en-US" altLang="zh-CN" dirty="0"/>
              <a:t> = </a:t>
            </a:r>
            <a:r>
              <a:rPr lang="en-US" altLang="zh-CN" dirty="0" err="1"/>
              <a:t>concrete.iloc</a:t>
            </a:r>
            <a:r>
              <a:rPr lang="en-US" altLang="zh-CN" dirty="0"/>
              <a:t>[:, :-1]</a:t>
            </a:r>
          </a:p>
          <a:p>
            <a:r>
              <a:rPr lang="en-US" altLang="zh-CN" dirty="0" err="1"/>
              <a:t>concrete_target</a:t>
            </a:r>
            <a:r>
              <a:rPr lang="en-US" altLang="zh-CN" dirty="0"/>
              <a:t> = </a:t>
            </a:r>
            <a:r>
              <a:rPr lang="en-US" altLang="zh-CN" dirty="0" err="1"/>
              <a:t>concrete.iloc</a:t>
            </a:r>
            <a:r>
              <a:rPr lang="en-US" altLang="zh-CN" dirty="0"/>
              <a:t>[:, -1]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划分训练集和测试集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sklearn.model_selection</a:t>
            </a:r>
            <a:r>
              <a:rPr lang="en-US" altLang="zh-CN" dirty="0"/>
              <a:t> import </a:t>
            </a:r>
            <a:r>
              <a:rPr lang="en-US" altLang="zh-CN" dirty="0" err="1"/>
              <a:t>train_test_split</a:t>
            </a:r>
            <a:endParaRPr lang="en-US" altLang="zh-CN" dirty="0"/>
          </a:p>
          <a:p>
            <a:r>
              <a:rPr lang="en-US" altLang="zh-CN" dirty="0" err="1"/>
              <a:t>concrete_data_train</a:t>
            </a:r>
            <a:r>
              <a:rPr lang="en-US" altLang="zh-CN" dirty="0"/>
              <a:t>, </a:t>
            </a:r>
            <a:r>
              <a:rPr lang="en-US" altLang="zh-CN" dirty="0" err="1"/>
              <a:t>concrete_data_test</a:t>
            </a:r>
            <a:r>
              <a:rPr lang="en-US" altLang="zh-CN" dirty="0"/>
              <a:t>, \</a:t>
            </a:r>
          </a:p>
          <a:p>
            <a:r>
              <a:rPr lang="en-US" altLang="zh-CN" dirty="0" err="1"/>
              <a:t>concrete_target_train</a:t>
            </a:r>
            <a:r>
              <a:rPr lang="en-US" altLang="zh-CN" dirty="0"/>
              <a:t>, </a:t>
            </a:r>
            <a:r>
              <a:rPr lang="en-US" altLang="zh-CN" dirty="0" err="1"/>
              <a:t>concrete_target_test</a:t>
            </a:r>
            <a:r>
              <a:rPr lang="en-US" altLang="zh-CN" dirty="0"/>
              <a:t> = \</a:t>
            </a:r>
          </a:p>
          <a:p>
            <a:r>
              <a:rPr lang="en-US" altLang="zh-CN" dirty="0" err="1"/>
              <a:t>train_test_split</a:t>
            </a:r>
            <a:r>
              <a:rPr lang="en-US" altLang="zh-CN" dirty="0"/>
              <a:t>(</a:t>
            </a:r>
            <a:r>
              <a:rPr lang="en-US" altLang="zh-CN" dirty="0" err="1"/>
              <a:t>concrete_data</a:t>
            </a:r>
            <a:r>
              <a:rPr lang="en-US" altLang="zh-CN" dirty="0"/>
              <a:t>, </a:t>
            </a:r>
            <a:r>
              <a:rPr lang="en-US" altLang="zh-CN" dirty="0" err="1"/>
              <a:t>concrete_target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             </a:t>
            </a:r>
            <a:r>
              <a:rPr lang="en-US" altLang="zh-CN" dirty="0" err="1"/>
              <a:t>test_size</a:t>
            </a:r>
            <a:r>
              <a:rPr lang="en-US" altLang="zh-CN" dirty="0"/>
              <a:t>=0.2, </a:t>
            </a:r>
            <a:r>
              <a:rPr lang="en-US" altLang="zh-CN" dirty="0" err="1"/>
              <a:t>random_state</a:t>
            </a:r>
            <a:r>
              <a:rPr lang="en-US" altLang="zh-CN" dirty="0"/>
              <a:t>=20)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sklearn.linear_model</a:t>
            </a:r>
            <a:r>
              <a:rPr lang="en-US" altLang="zh-CN" dirty="0"/>
              <a:t> import </a:t>
            </a:r>
            <a:r>
              <a:rPr lang="en-US" altLang="zh-CN" dirty="0" err="1"/>
              <a:t>LinearRegression</a:t>
            </a:r>
            <a:endParaRPr lang="en-US" altLang="zh-CN" dirty="0"/>
          </a:p>
          <a:p>
            <a:r>
              <a:rPr lang="en-US" altLang="zh-CN" dirty="0" err="1"/>
              <a:t>concrete_linear</a:t>
            </a:r>
            <a:r>
              <a:rPr lang="en-US" altLang="zh-CN" dirty="0"/>
              <a:t> = </a:t>
            </a:r>
            <a:r>
              <a:rPr lang="en-US" altLang="zh-CN" dirty="0" err="1"/>
              <a:t>LinearRegression</a:t>
            </a:r>
            <a:r>
              <a:rPr lang="en-US" altLang="zh-CN" dirty="0"/>
              <a:t>().fit(</a:t>
            </a:r>
            <a:r>
              <a:rPr lang="en-US" altLang="zh-CN" dirty="0" err="1"/>
              <a:t>concrete_data_train</a:t>
            </a:r>
            <a:r>
              <a:rPr lang="en-US" altLang="zh-CN" dirty="0"/>
              <a:t>, </a:t>
            </a:r>
          </a:p>
          <a:p>
            <a:r>
              <a:rPr lang="en-US" altLang="zh-CN" dirty="0"/>
              <a:t>                                       </a:t>
            </a:r>
            <a:r>
              <a:rPr lang="en-US" altLang="zh-CN" dirty="0" err="1"/>
              <a:t>concrete_target_train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预测测试集结果    </a:t>
            </a:r>
          </a:p>
          <a:p>
            <a:r>
              <a:rPr lang="en-US" altLang="zh-CN" dirty="0" err="1"/>
              <a:t>y_pred</a:t>
            </a:r>
            <a:r>
              <a:rPr lang="en-US" altLang="zh-CN" dirty="0"/>
              <a:t> = </a:t>
            </a:r>
            <a:r>
              <a:rPr lang="en-US" altLang="zh-CN" dirty="0" err="1"/>
              <a:t>concrete_linear.predict</a:t>
            </a:r>
            <a:r>
              <a:rPr lang="en-US" altLang="zh-CN" dirty="0"/>
              <a:t>(</a:t>
            </a:r>
            <a:r>
              <a:rPr lang="en-US" altLang="zh-CN" dirty="0" err="1"/>
              <a:t>concrete_data_test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print('</a:t>
            </a:r>
            <a:r>
              <a:rPr lang="zh-CN" altLang="en-US" dirty="0"/>
              <a:t>预测前</a:t>
            </a:r>
            <a:r>
              <a:rPr lang="en-US" altLang="zh-CN" dirty="0"/>
              <a:t>20</a:t>
            </a:r>
            <a:r>
              <a:rPr lang="zh-CN" altLang="en-US" dirty="0"/>
              <a:t>个结果为：</a:t>
            </a:r>
            <a:r>
              <a:rPr lang="en-US" altLang="zh-CN" dirty="0"/>
              <a:t>','\n', </a:t>
            </a:r>
            <a:r>
              <a:rPr lang="en-US" altLang="zh-CN" dirty="0" err="1"/>
              <a:t>y_pred</a:t>
            </a:r>
            <a:r>
              <a:rPr lang="en-US" altLang="zh-CN" dirty="0"/>
              <a:t>[: 20])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741" y="2445953"/>
            <a:ext cx="5838095" cy="1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5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评价回归模型</a:t>
            </a:r>
          </a:p>
        </p:txBody>
      </p:sp>
      <p:sp>
        <p:nvSpPr>
          <p:cNvPr id="2" name="矩形 1"/>
          <p:cNvSpPr/>
          <p:nvPr/>
        </p:nvSpPr>
        <p:spPr>
          <a:xfrm>
            <a:off x="254876" y="121490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matplotlib</a:t>
            </a:r>
            <a:r>
              <a:rPr lang="en-US" altLang="zh-CN" dirty="0"/>
              <a:t> import </a:t>
            </a:r>
            <a:r>
              <a:rPr lang="en-US" altLang="zh-CN" dirty="0" err="1"/>
              <a:t>rcParams</a:t>
            </a:r>
            <a:endParaRPr lang="en-US" altLang="zh-CN" dirty="0"/>
          </a:p>
          <a:p>
            <a:r>
              <a:rPr lang="en-US" altLang="zh-CN" dirty="0" err="1"/>
              <a:t>rcParams</a:t>
            </a:r>
            <a:r>
              <a:rPr lang="en-US" altLang="zh-CN" dirty="0"/>
              <a:t>['</a:t>
            </a:r>
            <a:r>
              <a:rPr lang="en-US" altLang="zh-CN" dirty="0" err="1"/>
              <a:t>font.sans</a:t>
            </a:r>
            <a:r>
              <a:rPr lang="en-US" altLang="zh-CN" dirty="0"/>
              <a:t>-serif'] = '</a:t>
            </a:r>
            <a:r>
              <a:rPr lang="en-US" altLang="zh-CN" dirty="0" err="1"/>
              <a:t>SimHei</a:t>
            </a:r>
            <a:r>
              <a:rPr lang="en-US" altLang="zh-CN" dirty="0"/>
              <a:t>'</a:t>
            </a:r>
          </a:p>
          <a:p>
            <a:r>
              <a:rPr lang="en-US" altLang="zh-CN" dirty="0"/>
              <a:t>fig = </a:t>
            </a:r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=(12, 6))  # </a:t>
            </a:r>
            <a:r>
              <a:rPr lang="zh-CN" altLang="en-US" dirty="0"/>
              <a:t>设定空白画布，并制定大小</a:t>
            </a:r>
          </a:p>
          <a:p>
            <a:r>
              <a:rPr lang="en-US" altLang="zh-CN" dirty="0" err="1"/>
              <a:t>plt.plot</a:t>
            </a:r>
            <a:r>
              <a:rPr lang="en-US" altLang="zh-CN" dirty="0"/>
              <a:t>(range(</a:t>
            </a:r>
            <a:r>
              <a:rPr lang="en-US" altLang="zh-CN" dirty="0" err="1"/>
              <a:t>concrete_target_test.shape</a:t>
            </a:r>
            <a:r>
              <a:rPr lang="en-US" altLang="zh-CN" dirty="0"/>
              <a:t>[0]), </a:t>
            </a:r>
          </a:p>
          <a:p>
            <a:r>
              <a:rPr lang="en-US" altLang="zh-CN" dirty="0"/>
              <a:t>         list(</a:t>
            </a:r>
            <a:r>
              <a:rPr lang="en-US" altLang="zh-CN" dirty="0" err="1"/>
              <a:t>concrete_target_test</a:t>
            </a:r>
            <a:r>
              <a:rPr lang="en-US" altLang="zh-CN" dirty="0"/>
              <a:t>), color='blue')</a:t>
            </a:r>
          </a:p>
          <a:p>
            <a:r>
              <a:rPr lang="en-US" altLang="zh-CN" dirty="0" err="1"/>
              <a:t>plt.plot</a:t>
            </a:r>
            <a:r>
              <a:rPr lang="en-US" altLang="zh-CN" dirty="0"/>
              <a:t>(range(</a:t>
            </a:r>
            <a:r>
              <a:rPr lang="en-US" altLang="zh-CN" dirty="0" err="1"/>
              <a:t>concrete_target_test.shape</a:t>
            </a:r>
            <a:r>
              <a:rPr lang="en-US" altLang="zh-CN" dirty="0"/>
              <a:t>[0]),</a:t>
            </a:r>
          </a:p>
          <a:p>
            <a:r>
              <a:rPr lang="en-US" altLang="zh-CN" dirty="0"/>
              <a:t>         </a:t>
            </a:r>
            <a:r>
              <a:rPr lang="en-US" altLang="zh-CN" dirty="0" err="1"/>
              <a:t>y_pred</a:t>
            </a:r>
            <a:r>
              <a:rPr lang="en-US" altLang="zh-CN" dirty="0"/>
              <a:t>, color='red', linewidth=1.5, </a:t>
            </a:r>
            <a:r>
              <a:rPr lang="en-US" altLang="zh-CN" dirty="0" err="1"/>
              <a:t>linestyle</a:t>
            </a:r>
            <a:r>
              <a:rPr lang="en-US" altLang="zh-CN" dirty="0"/>
              <a:t>='-.')</a:t>
            </a:r>
          </a:p>
          <a:p>
            <a:r>
              <a:rPr lang="en-US" altLang="zh-CN" dirty="0" err="1"/>
              <a:t>plt.legend</a:t>
            </a:r>
            <a:r>
              <a:rPr lang="en-US" altLang="zh-CN" dirty="0"/>
              <a:t>(['</a:t>
            </a:r>
            <a:r>
              <a:rPr lang="zh-CN" altLang="en-US" dirty="0"/>
              <a:t>真实值</a:t>
            </a:r>
            <a:r>
              <a:rPr lang="en-US" altLang="zh-CN" dirty="0"/>
              <a:t>', '</a:t>
            </a:r>
            <a:r>
              <a:rPr lang="zh-CN" altLang="en-US" dirty="0"/>
              <a:t>预测值</a:t>
            </a:r>
            <a:r>
              <a:rPr lang="en-US" altLang="zh-CN" dirty="0"/>
              <a:t>'])</a:t>
            </a:r>
          </a:p>
          <a:p>
            <a:r>
              <a:rPr lang="en-US" altLang="zh-CN" dirty="0" err="1"/>
              <a:t>plt.savefig</a:t>
            </a:r>
            <a:r>
              <a:rPr lang="en-US" altLang="zh-CN" dirty="0"/>
              <a:t>('../</a:t>
            </a:r>
            <a:r>
              <a:rPr lang="en-US" altLang="zh-CN" dirty="0" err="1"/>
              <a:t>tmp</a:t>
            </a:r>
            <a:r>
              <a:rPr lang="en-US" altLang="zh-CN" dirty="0"/>
              <a:t>/</a:t>
            </a:r>
            <a:r>
              <a:rPr lang="zh-CN" altLang="en-US" dirty="0"/>
              <a:t>回归结果</a:t>
            </a:r>
            <a:r>
              <a:rPr lang="en-US" altLang="zh-CN" dirty="0"/>
              <a:t>.jpg', dpi=1080)</a:t>
            </a:r>
          </a:p>
          <a:p>
            <a:r>
              <a:rPr lang="en-US" altLang="zh-CN" dirty="0" err="1"/>
              <a:t>plt.show</a:t>
            </a:r>
            <a:r>
              <a:rPr lang="en-US" altLang="zh-CN" dirty="0"/>
              <a:t>()  # </a:t>
            </a:r>
            <a:r>
              <a:rPr lang="zh-CN" altLang="en-US" dirty="0"/>
              <a:t>显示图片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629" y="2575514"/>
            <a:ext cx="6194857" cy="338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09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评价回归模型</a:t>
            </a:r>
          </a:p>
        </p:txBody>
      </p:sp>
      <p:sp>
        <p:nvSpPr>
          <p:cNvPr id="2" name="矩形 1"/>
          <p:cNvSpPr/>
          <p:nvPr/>
        </p:nvSpPr>
        <p:spPr>
          <a:xfrm>
            <a:off x="379793" y="1120787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from </a:t>
            </a:r>
            <a:r>
              <a:rPr lang="en-US" altLang="zh-CN" dirty="0" err="1"/>
              <a:t>sklearn.metrics</a:t>
            </a:r>
            <a:r>
              <a:rPr lang="en-US" altLang="zh-CN" dirty="0"/>
              <a:t> import </a:t>
            </a:r>
            <a:r>
              <a:rPr lang="en-US" altLang="zh-CN" dirty="0" err="1"/>
              <a:t>explained_variance_score</a:t>
            </a:r>
            <a:r>
              <a:rPr lang="en-US" altLang="zh-CN" dirty="0"/>
              <a:t>,\</a:t>
            </a:r>
          </a:p>
          <a:p>
            <a:r>
              <a:rPr lang="en-US" altLang="zh-CN" dirty="0" err="1"/>
              <a:t>mean_absolute_error</a:t>
            </a:r>
            <a:r>
              <a:rPr lang="en-US" altLang="zh-CN" dirty="0"/>
              <a:t>, </a:t>
            </a:r>
            <a:r>
              <a:rPr lang="en-US" altLang="zh-CN" dirty="0" err="1"/>
              <a:t>mean_squared_error</a:t>
            </a:r>
            <a:r>
              <a:rPr lang="en-US" altLang="zh-CN" dirty="0"/>
              <a:t>,\</a:t>
            </a:r>
          </a:p>
          <a:p>
            <a:r>
              <a:rPr lang="en-US" altLang="zh-CN" dirty="0" err="1"/>
              <a:t>median_absolute_error</a:t>
            </a:r>
            <a:r>
              <a:rPr lang="en-US" altLang="zh-CN" dirty="0"/>
              <a:t>, r2_score</a:t>
            </a:r>
          </a:p>
          <a:p>
            <a:r>
              <a:rPr lang="en-US" altLang="zh-CN" dirty="0"/>
              <a:t>print('diabetes</a:t>
            </a:r>
            <a:r>
              <a:rPr lang="zh-CN" altLang="en-US" dirty="0"/>
              <a:t>数据线性回归模型的平均绝对误差为：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mean_absolute_error</a:t>
            </a:r>
            <a:r>
              <a:rPr lang="en-US" altLang="zh-CN" dirty="0"/>
              <a:t>(</a:t>
            </a:r>
            <a:r>
              <a:rPr lang="en-US" altLang="zh-CN" dirty="0" err="1"/>
              <a:t>concrete_target_test</a:t>
            </a:r>
            <a:r>
              <a:rPr lang="en-US" altLang="zh-CN" dirty="0"/>
              <a:t>, </a:t>
            </a:r>
            <a:r>
              <a:rPr lang="en-US" altLang="zh-CN" dirty="0" err="1"/>
              <a:t>y_pred</a:t>
            </a:r>
            <a:r>
              <a:rPr lang="en-US" altLang="zh-CN" dirty="0"/>
              <a:t>))</a:t>
            </a:r>
          </a:p>
          <a:p>
            <a:r>
              <a:rPr lang="en-US" altLang="zh-CN" dirty="0"/>
              <a:t>print('diabetes</a:t>
            </a:r>
            <a:r>
              <a:rPr lang="zh-CN" altLang="en-US" dirty="0"/>
              <a:t>数据线性回归模型的均方误差为：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mean_squared_error</a:t>
            </a:r>
            <a:r>
              <a:rPr lang="en-US" altLang="zh-CN" dirty="0"/>
              <a:t>(</a:t>
            </a:r>
            <a:r>
              <a:rPr lang="en-US" altLang="zh-CN" dirty="0" err="1"/>
              <a:t>concrete_target_test</a:t>
            </a:r>
            <a:r>
              <a:rPr lang="en-US" altLang="zh-CN" dirty="0"/>
              <a:t>, </a:t>
            </a:r>
            <a:r>
              <a:rPr lang="en-US" altLang="zh-CN" dirty="0" err="1"/>
              <a:t>y_pred</a:t>
            </a:r>
            <a:r>
              <a:rPr lang="en-US" altLang="zh-CN" dirty="0"/>
              <a:t>))</a:t>
            </a:r>
          </a:p>
          <a:p>
            <a:r>
              <a:rPr lang="en-US" altLang="zh-CN" dirty="0"/>
              <a:t>print('diabetes</a:t>
            </a:r>
            <a:r>
              <a:rPr lang="zh-CN" altLang="en-US" dirty="0"/>
              <a:t>数据线性回归模型的中值绝对误差为：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median_absolute_error</a:t>
            </a:r>
            <a:r>
              <a:rPr lang="en-US" altLang="zh-CN" dirty="0"/>
              <a:t>(</a:t>
            </a:r>
            <a:r>
              <a:rPr lang="en-US" altLang="zh-CN" dirty="0" err="1"/>
              <a:t>concrete_target_test</a:t>
            </a:r>
            <a:r>
              <a:rPr lang="en-US" altLang="zh-CN" dirty="0"/>
              <a:t>, </a:t>
            </a:r>
            <a:r>
              <a:rPr lang="en-US" altLang="zh-CN" dirty="0" err="1"/>
              <a:t>y_pred</a:t>
            </a:r>
            <a:r>
              <a:rPr lang="en-US" altLang="zh-CN" dirty="0"/>
              <a:t>))</a:t>
            </a:r>
          </a:p>
          <a:p>
            <a:r>
              <a:rPr lang="en-US" altLang="zh-CN" dirty="0"/>
              <a:t>print('diabetes</a:t>
            </a:r>
            <a:r>
              <a:rPr lang="zh-CN" altLang="en-US" dirty="0"/>
              <a:t>数据线性回归模型的可解释方差值为：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explained_variance_score</a:t>
            </a:r>
            <a:r>
              <a:rPr lang="en-US" altLang="zh-CN" dirty="0"/>
              <a:t>(</a:t>
            </a:r>
            <a:r>
              <a:rPr lang="en-US" altLang="zh-CN" dirty="0" err="1"/>
              <a:t>concrete_target_test</a:t>
            </a:r>
            <a:r>
              <a:rPr lang="en-US" altLang="zh-CN" dirty="0"/>
              <a:t>, </a:t>
            </a:r>
            <a:r>
              <a:rPr lang="en-US" altLang="zh-CN" dirty="0" err="1"/>
              <a:t>y_pred</a:t>
            </a:r>
            <a:r>
              <a:rPr lang="en-US" altLang="zh-CN" dirty="0"/>
              <a:t>))</a:t>
            </a:r>
          </a:p>
          <a:p>
            <a:r>
              <a:rPr lang="en-US" altLang="zh-CN" dirty="0"/>
              <a:t>print('diabetes</a:t>
            </a:r>
            <a:r>
              <a:rPr lang="zh-CN" altLang="en-US" dirty="0"/>
              <a:t>数据线性回归模型的</a:t>
            </a:r>
            <a:r>
              <a:rPr lang="en-US" altLang="zh-CN" dirty="0"/>
              <a:t>R</a:t>
            </a:r>
            <a:r>
              <a:rPr lang="zh-CN" altLang="en-US" dirty="0"/>
              <a:t>方值为：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r2_score(</a:t>
            </a:r>
            <a:r>
              <a:rPr lang="en-US" altLang="zh-CN" dirty="0" err="1"/>
              <a:t>concrete_target_test</a:t>
            </a:r>
            <a:r>
              <a:rPr lang="en-US" altLang="zh-CN" dirty="0"/>
              <a:t>, </a:t>
            </a:r>
            <a:r>
              <a:rPr lang="en-US" altLang="zh-CN" dirty="0" err="1"/>
              <a:t>y_pred</a:t>
            </a:r>
            <a:r>
              <a:rPr lang="en-US" altLang="zh-CN" dirty="0"/>
              <a:t>))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788" y="1813357"/>
            <a:ext cx="5693860" cy="137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42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本章介绍了sklearn中的datasets模块的有作用与使用，并介绍了数据集的划分方法。</a:t>
            </a:r>
          </a:p>
          <a:p>
            <a:r>
              <a:rPr lang="zh-CN" altLang="en-US" dirty="0"/>
              <a:t>此外，还介绍了使用转换器实现数据预处理与降维。</a:t>
            </a:r>
          </a:p>
          <a:p>
            <a:r>
              <a:rPr lang="zh-CN" altLang="en-US" dirty="0"/>
              <a:t>最后，还根据数据分析的应用分类，包括聚类、分类和回归3类，重点介绍了对应的数据分析建模方法及实现过程，以及对应的多种评估方法。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pic>
        <p:nvPicPr>
          <p:cNvPr id="7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181" y="3749156"/>
            <a:ext cx="3810000" cy="2552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Rectangle 2"/>
          <p:cNvSpPr>
            <a:spLocks noChangeArrowheads="1"/>
          </p:cNvSpPr>
          <p:nvPr/>
        </p:nvSpPr>
        <p:spPr bwMode="gray">
          <a:xfrm>
            <a:off x="1524003" y="-318796"/>
            <a:ext cx="184731" cy="238848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B2B2B2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950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1524003" y="-392117"/>
            <a:ext cx="184731" cy="38549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190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9a4882-d659-4813-8c47-ef2d6831bcb0}"/>
  <p:tag name="TABLE_ENDDRAG_ORIGIN_RECT" val="671*300"/>
  <p:tag name="TABLE_ENDDRAG_RECT" val="159*158*671*3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9a4882-d659-4813-8c47-ef2d6831bcb0}"/>
  <p:tag name="TABLE_ENDDRAG_ORIGIN_RECT" val="671*300"/>
  <p:tag name="TABLE_ENDDRAG_RECT" val="159*158*671*30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9a4882-d659-4813-8c47-ef2d6831bcb0}"/>
  <p:tag name="TABLE_ENDDRAG_ORIGIN_RECT" val="671*300"/>
  <p:tag name="TABLE_ENDDRAG_RECT" val="159*158*671*3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9a4882-d659-4813-8c47-ef2d6831bcb0}"/>
  <p:tag name="TABLE_ENDDRAG_ORIGIN_RECT" val="671*300"/>
  <p:tag name="TABLE_ENDDRAG_RECT" val="159*158*671*30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9a4882-d659-4813-8c47-ef2d6831bcb0}"/>
  <p:tag name="TABLE_ENDDRAG_ORIGIN_RECT" val="801*318"/>
  <p:tag name="TABLE_ENDDRAG_RECT" val="69*140*801*31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9a4882-d659-4813-8c47-ef2d6831bcb0}"/>
  <p:tag name="TABLE_ENDDRAG_ORIGIN_RECT" val="801*251"/>
  <p:tag name="TABLE_ENDDRAG_RECT" val="69*191*801*251"/>
</p:tagLst>
</file>

<file path=ppt/theme/theme1.xml><?xml version="1.0" encoding="utf-8"?>
<a:theme xmlns:a="http://schemas.openxmlformats.org/drawingml/2006/main" name="PPT模板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2227</Words>
  <Application>Microsoft Macintosh PowerPoint</Application>
  <PresentationFormat>宽屏</PresentationFormat>
  <Paragraphs>273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等线</vt:lpstr>
      <vt:lpstr>宋体</vt:lpstr>
      <vt:lpstr>微软雅黑</vt:lpstr>
      <vt:lpstr>Arial</vt:lpstr>
      <vt:lpstr>Calibri</vt:lpstr>
      <vt:lpstr>Times New Roman</vt:lpstr>
      <vt:lpstr>Wingdings</vt:lpstr>
      <vt:lpstr>PPT模板主题</vt:lpstr>
      <vt:lpstr>scikit-learn机器学习基础（2）</vt:lpstr>
      <vt:lpstr>目录</vt:lpstr>
      <vt:lpstr>使用sklearn估计器构建分类模型</vt:lpstr>
      <vt:lpstr>使用sklearn估计器构建分类模型</vt:lpstr>
      <vt:lpstr>评价分类模型</vt:lpstr>
      <vt:lpstr>评价分类模型</vt:lpstr>
      <vt:lpstr>评价分类模型</vt:lpstr>
      <vt:lpstr>评价分类模型</vt:lpstr>
      <vt:lpstr>评价分类模型</vt:lpstr>
      <vt:lpstr>评价分类模型</vt:lpstr>
      <vt:lpstr>评价分类模型</vt:lpstr>
      <vt:lpstr>目录</vt:lpstr>
      <vt:lpstr>使用sklearn估计器构建线性回归模型</vt:lpstr>
      <vt:lpstr>使用sklearn估计器构建线性回归模型</vt:lpstr>
      <vt:lpstr>使用sklearn估计器构建线性回归模型</vt:lpstr>
      <vt:lpstr>评价回归模型</vt:lpstr>
      <vt:lpstr>评价回归模型</vt:lpstr>
      <vt:lpstr>评价回归模型</vt:lpstr>
      <vt:lpstr>评价回归模型</vt:lpstr>
      <vt:lpstr>小结</vt:lpstr>
      <vt:lpstr>PowerPoint 演示文稿</vt:lpstr>
    </vt:vector>
  </TitlesOfParts>
  <Company>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Roc Ren</dc:creator>
  <cp:lastModifiedBy>Microsoft Office User</cp:lastModifiedBy>
  <cp:revision>388</cp:revision>
  <dcterms:created xsi:type="dcterms:W3CDTF">2017-01-10T15:44:00Z</dcterms:created>
  <dcterms:modified xsi:type="dcterms:W3CDTF">2025-11-16T15:42:11Z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E7D95455AF8A455B88A53E6262D8B369</vt:lpwstr>
  </property>
  <property fmtid="{D5CDD505-2E9C-101B-9397-08002B2CF9AE}" pid="3" name="KSOProductBuildVer">
    <vt:lpwstr>2052-11.1.0.10667</vt:lpwstr>
  </property>
</Properties>
</file>