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8">
  <p:sldMasterIdLst>
    <p:sldMasterId id="2147483648" r:id="rId1"/>
    <p:sldMasterId id="2147483654" r:id="rId2"/>
  </p:sldMasterIdLst>
  <p:notesMasterIdLst>
    <p:notesMasterId r:id="rId68"/>
  </p:notesMasterIdLst>
  <p:sldIdLst>
    <p:sldId id="597" r:id="rId3"/>
    <p:sldId id="503" r:id="rId4"/>
    <p:sldId id="541" r:id="rId5"/>
    <p:sldId id="560" r:id="rId6"/>
    <p:sldId id="562" r:id="rId7"/>
    <p:sldId id="598" r:id="rId8"/>
    <p:sldId id="542" r:id="rId9"/>
    <p:sldId id="599" r:id="rId10"/>
    <p:sldId id="543" r:id="rId11"/>
    <p:sldId id="564" r:id="rId12"/>
    <p:sldId id="594" r:id="rId13"/>
    <p:sldId id="588" r:id="rId14"/>
    <p:sldId id="617" r:id="rId15"/>
    <p:sldId id="618" r:id="rId16"/>
    <p:sldId id="544" r:id="rId17"/>
    <p:sldId id="566" r:id="rId18"/>
    <p:sldId id="601" r:id="rId19"/>
    <p:sldId id="510" r:id="rId20"/>
    <p:sldId id="567" r:id="rId21"/>
    <p:sldId id="545" r:id="rId22"/>
    <p:sldId id="589" r:id="rId23"/>
    <p:sldId id="602" r:id="rId24"/>
    <p:sldId id="547" r:id="rId25"/>
    <p:sldId id="604" r:id="rId26"/>
    <p:sldId id="605" r:id="rId27"/>
    <p:sldId id="603" r:id="rId28"/>
    <p:sldId id="548" r:id="rId29"/>
    <p:sldId id="606" r:id="rId30"/>
    <p:sldId id="569" r:id="rId31"/>
    <p:sldId id="590" r:id="rId32"/>
    <p:sldId id="607" r:id="rId33"/>
    <p:sldId id="570" r:id="rId34"/>
    <p:sldId id="571" r:id="rId35"/>
    <p:sldId id="591" r:id="rId36"/>
    <p:sldId id="608" r:id="rId37"/>
    <p:sldId id="595" r:id="rId38"/>
    <p:sldId id="572" r:id="rId39"/>
    <p:sldId id="574" r:id="rId40"/>
    <p:sldId id="573" r:id="rId41"/>
    <p:sldId id="609" r:id="rId42"/>
    <p:sldId id="575" r:id="rId43"/>
    <p:sldId id="596" r:id="rId44"/>
    <p:sldId id="610" r:id="rId45"/>
    <p:sldId id="511" r:id="rId46"/>
    <p:sldId id="576" r:id="rId47"/>
    <p:sldId id="611" r:id="rId48"/>
    <p:sldId id="578" r:id="rId49"/>
    <p:sldId id="612" r:id="rId50"/>
    <p:sldId id="620" r:id="rId51"/>
    <p:sldId id="579" r:id="rId52"/>
    <p:sldId id="512" r:id="rId53"/>
    <p:sldId id="580" r:id="rId54"/>
    <p:sldId id="581" r:id="rId55"/>
    <p:sldId id="592" r:id="rId56"/>
    <p:sldId id="582" r:id="rId57"/>
    <p:sldId id="614" r:id="rId58"/>
    <p:sldId id="583" r:id="rId59"/>
    <p:sldId id="621" r:id="rId60"/>
    <p:sldId id="622" r:id="rId61"/>
    <p:sldId id="623" r:id="rId62"/>
    <p:sldId id="615" r:id="rId63"/>
    <p:sldId id="587" r:id="rId64"/>
    <p:sldId id="616" r:id="rId65"/>
    <p:sldId id="540" r:id="rId66"/>
    <p:sldId id="534" r:id="rId6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4BB2"/>
    <a:srgbClr val="2165B6"/>
    <a:srgbClr val="FB9708"/>
    <a:srgbClr val="FFCB54"/>
    <a:srgbClr val="2B6EE1"/>
    <a:srgbClr val="FFBF2B"/>
    <a:srgbClr val="7624CC"/>
    <a:srgbClr val="CC8824"/>
    <a:srgbClr val="C4C6C9"/>
    <a:srgbClr val="A5A7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86" autoAdjust="0"/>
    <p:restoredTop sz="90434" autoAdjust="0"/>
  </p:normalViewPr>
  <p:slideViewPr>
    <p:cSldViewPr snapToGrid="0">
      <p:cViewPr varScale="1">
        <p:scale>
          <a:sx n="92" d="100"/>
          <a:sy n="92" d="100"/>
        </p:scale>
        <p:origin x="856" y="17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microsoft.com/office/2016/11/relationships/changesInfo" Target="changesInfos/changesInfo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nglonglin" userId="65e6c6b7-2d31-4c1d-9ef2-3b9132fd9160" providerId="ADAL" clId="{2F966C07-B318-5171-8E81-41153612B380}"/>
    <pc:docChg chg="modSld">
      <pc:chgData name="longlonglin" userId="65e6c6b7-2d31-4c1d-9ef2-3b9132fd9160" providerId="ADAL" clId="{2F966C07-B318-5171-8E81-41153612B380}" dt="2025-10-26T03:03:38.116" v="0" actId="20577"/>
      <pc:docMkLst>
        <pc:docMk/>
      </pc:docMkLst>
      <pc:sldChg chg="modSp">
        <pc:chgData name="longlonglin" userId="65e6c6b7-2d31-4c1d-9ef2-3b9132fd9160" providerId="ADAL" clId="{2F966C07-B318-5171-8E81-41153612B380}" dt="2025-10-26T03:03:38.116" v="0" actId="20577"/>
        <pc:sldMkLst>
          <pc:docMk/>
          <pc:sldMk cId="0" sldId="547"/>
        </pc:sldMkLst>
        <pc:spChg chg="mod">
          <ac:chgData name="longlonglin" userId="65e6c6b7-2d31-4c1d-9ef2-3b9132fd9160" providerId="ADAL" clId="{2F966C07-B318-5171-8E81-41153612B380}" dt="2025-10-26T03:03:38.116" v="0" actId="20577"/>
          <ac:spMkLst>
            <pc:docMk/>
            <pc:sldMk cId="0" sldId="547"/>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77ADA9-9D0B-42DC-94FF-BBDB68110F2F}" type="datetimeFigureOut">
              <a:rPr lang="zh-CN" altLang="en-US" smtClean="0"/>
              <a:t>2025/10/26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A1B552-615F-42DA-85F2-80E7008928A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合并数据：将两张表合并成一张表；清洗数据：数据中存在异常或者空的记录，这些需要清除；标准化：把量纲不同的进行统一；转换数据：特征的类型主要是数值型和非数值型，根据算法需求在两者之间转换</a:t>
            </a:r>
          </a:p>
        </p:txBody>
      </p:sp>
      <p:sp>
        <p:nvSpPr>
          <p:cNvPr id="4" name="灯片编号占位符 3"/>
          <p:cNvSpPr>
            <a:spLocks noGrp="1"/>
          </p:cNvSpPr>
          <p:nvPr>
            <p:ph type="sldNum" sz="quarter" idx="10"/>
          </p:nvPr>
        </p:nvSpPr>
        <p:spPr/>
        <p:txBody>
          <a:bodyPr/>
          <a:lstStyle/>
          <a:p>
            <a:fld id="{D4A1B552-615F-42DA-85F2-80E7008928A8}" type="slidenum">
              <a:rPr lang="zh-CN" altLang="en-US" smtClean="0"/>
              <a:t>2</a:t>
            </a:fld>
            <a:endParaRPr lang="zh-CN" altLang="en-US"/>
          </a:p>
        </p:txBody>
      </p:sp>
    </p:spTree>
    <p:extLst>
      <p:ext uri="{BB962C8B-B14F-4D97-AF65-F5344CB8AC3E}">
        <p14:creationId xmlns:p14="http://schemas.microsoft.com/office/powerpoint/2010/main" val="3566514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TextEdit="1"/>
          </p:cNvSpPr>
          <p:nvPr>
            <p:ph type="sldImg"/>
          </p:nvPr>
        </p:nvSpPr>
        <p:spPr>
          <a:xfrm>
            <a:off x="685800" y="1143000"/>
            <a:ext cx="5486400" cy="3086100"/>
          </a:xfrm>
        </p:spPr>
      </p:sp>
      <p:sp>
        <p:nvSpPr>
          <p:cNvPr id="226307" name="Rectangle 3"/>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纯内容页">
    <p:spTree>
      <p:nvGrpSpPr>
        <p:cNvPr id="1" name=""/>
        <p:cNvGrpSpPr/>
        <p:nvPr/>
      </p:nvGrpSpPr>
      <p:grpSpPr>
        <a:xfrm>
          <a:off x="0" y="0"/>
          <a:ext cx="0" cy="0"/>
          <a:chOff x="0" y="0"/>
          <a:chExt cx="0" cy="0"/>
        </a:xfrm>
      </p:grpSpPr>
      <p:sp>
        <p:nvSpPr>
          <p:cNvPr id="8" name="AutoShape 23"/>
          <p:cNvSpPr>
            <a:spLocks noChangeArrowheads="1"/>
          </p:cNvSpPr>
          <p:nvPr/>
        </p:nvSpPr>
        <p:spPr bwMode="auto">
          <a:xfrm>
            <a:off x="246063" y="915988"/>
            <a:ext cx="9596437" cy="46037"/>
          </a:xfrm>
          <a:prstGeom prst="rect">
            <a:avLst/>
          </a:prstGeom>
          <a:solidFill>
            <a:srgbClr val="064BB2"/>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fontAlgn="auto">
              <a:spcBef>
                <a:spcPct val="50000"/>
              </a:spcBef>
              <a:spcAft>
                <a:spcPts val="0"/>
              </a:spcAft>
              <a:defRPr/>
            </a:pPr>
            <a:endParaRPr lang="zh-CN" altLang="en-US" sz="950"/>
          </a:p>
        </p:txBody>
      </p:sp>
      <p:sp>
        <p:nvSpPr>
          <p:cNvPr id="9" name="AutoShape 23"/>
          <p:cNvSpPr>
            <a:spLocks noChangeArrowheads="1"/>
          </p:cNvSpPr>
          <p:nvPr/>
        </p:nvSpPr>
        <p:spPr bwMode="auto">
          <a:xfrm>
            <a:off x="9842500" y="915988"/>
            <a:ext cx="1989138" cy="46037"/>
          </a:xfrm>
          <a:prstGeom prst="rect">
            <a:avLst/>
          </a:prstGeom>
          <a:solidFill>
            <a:srgbClr val="FB9708"/>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fontAlgn="auto">
              <a:spcBef>
                <a:spcPct val="50000"/>
              </a:spcBef>
              <a:spcAft>
                <a:spcPts val="0"/>
              </a:spcAft>
              <a:defRPr/>
            </a:pPr>
            <a:endParaRPr lang="zh-CN" altLang="en-US" sz="950"/>
          </a:p>
        </p:txBody>
      </p:sp>
      <p:sp>
        <p:nvSpPr>
          <p:cNvPr id="4" name="内容占位符 2"/>
          <p:cNvSpPr>
            <a:spLocks noGrp="1"/>
          </p:cNvSpPr>
          <p:nvPr>
            <p:ph idx="1" hasCustomPrompt="1"/>
          </p:nvPr>
        </p:nvSpPr>
        <p:spPr>
          <a:xfrm>
            <a:off x="423819" y="1104181"/>
            <a:ext cx="11107601" cy="5052713"/>
          </a:xfrm>
        </p:spPr>
        <p:txBody>
          <a:bodyPr>
            <a:noAutofit/>
          </a:bodyPr>
          <a:lstStyle>
            <a:lvl1pPr marL="362585" indent="-362585">
              <a:lnSpc>
                <a:spcPct val="150000"/>
              </a:lnSpc>
              <a:buClr>
                <a:srgbClr val="032089"/>
              </a:buClr>
              <a:buFont typeface="Wingdings" panose="05000000000000000000" pitchFamily="2" charset="2"/>
              <a:buChar char="Ø"/>
              <a:defRPr sz="1800" b="0" baseline="0">
                <a:latin typeface="Times New Roman" panose="02020603050405020304" pitchFamily="18" charset="0"/>
                <a:ea typeface="宋体" panose="02010600030101010101" pitchFamily="2" charset="-122"/>
                <a:cs typeface="Times New Roman" panose="02020603050405020304" pitchFamily="18" charset="0"/>
              </a:defRPr>
            </a:lvl1pPr>
            <a:lvl2pPr>
              <a:lnSpc>
                <a:spcPct val="130000"/>
              </a:lnSpc>
              <a:buClr>
                <a:srgbClr val="032089"/>
              </a:buClr>
              <a:buFont typeface="Wingdings" panose="05000000000000000000" pitchFamily="2" charset="2"/>
              <a:buChar char="l"/>
              <a:defRPr sz="2330" b="0">
                <a:latin typeface="微软雅黑" panose="020B0503020204020204" charset="-122"/>
                <a:ea typeface="微软雅黑" panose="020B0503020204020204" charset="-122"/>
              </a:defRPr>
            </a:lvl2pPr>
            <a:lvl3pPr>
              <a:defRPr sz="1905" b="0">
                <a:latin typeface="微软雅黑" panose="020B0503020204020204" charset="-122"/>
                <a:ea typeface="微软雅黑" panose="020B0503020204020204" charset="-122"/>
              </a:defRPr>
            </a:lvl3pPr>
            <a:lvl4pPr>
              <a:defRPr sz="1905" b="0">
                <a:latin typeface="微软雅黑" panose="020B0503020204020204" charset="-122"/>
                <a:ea typeface="微软雅黑" panose="020B0503020204020204" charset="-122"/>
              </a:defRPr>
            </a:lvl4pPr>
            <a:lvl5pPr>
              <a:defRPr sz="1905" b="0">
                <a:latin typeface="微软雅黑" panose="020B0503020204020204" charset="-122"/>
                <a:ea typeface="微软雅黑" panose="020B0503020204020204" charset="-122"/>
              </a:defRPr>
            </a:lvl5pPr>
          </a:lstStyle>
          <a:p>
            <a:pPr lvl="0"/>
            <a:r>
              <a:rPr lang="zh-CN" altLang="en-US" noProof="1"/>
              <a:t>单击此处编辑正文内容</a:t>
            </a:r>
          </a:p>
        </p:txBody>
      </p:sp>
      <p:sp>
        <p:nvSpPr>
          <p:cNvPr id="2" name="标题 1"/>
          <p:cNvSpPr>
            <a:spLocks noGrp="1"/>
          </p:cNvSpPr>
          <p:nvPr>
            <p:ph type="title" hasCustomPrompt="1"/>
          </p:nvPr>
        </p:nvSpPr>
        <p:spPr>
          <a:xfrm>
            <a:off x="254876" y="359079"/>
            <a:ext cx="10972801" cy="528176"/>
          </a:xfrm>
        </p:spPr>
        <p:txBody>
          <a:bodyPr/>
          <a:lstStyle>
            <a:lvl1pPr>
              <a:defRPr sz="2400" b="1" baseline="0">
                <a:solidFill>
                  <a:schemeClr val="tx1"/>
                </a:solidFill>
                <a:latin typeface="微软雅黑" panose="020B0503020204020204" charset="-122"/>
                <a:cs typeface="Times New Roman" panose="02020603050405020304" pitchFamily="18" charset="0"/>
              </a:defRPr>
            </a:lvl1pPr>
          </a:lstStyle>
          <a:p>
            <a:r>
              <a:rPr lang="zh-CN" altLang="en-US" noProof="1"/>
              <a:t>单击此处编辑标题</a:t>
            </a:r>
          </a:p>
        </p:txBody>
      </p:sp>
      <p:sp>
        <p:nvSpPr>
          <p:cNvPr id="14" name="Rectangle 12">
            <a:extLst>
              <a:ext uri="{FF2B5EF4-FFF2-40B4-BE49-F238E27FC236}">
                <a16:creationId xmlns:a16="http://schemas.microsoft.com/office/drawing/2014/main" id="{2799E348-AAEA-467D-B017-F371C550BF72}"/>
              </a:ext>
            </a:extLst>
          </p:cNvPr>
          <p:cNvSpPr>
            <a:spLocks noChangeArrowheads="1"/>
          </p:cNvSpPr>
          <p:nvPr userDrawn="1"/>
        </p:nvSpPr>
        <p:spPr bwMode="auto">
          <a:xfrm>
            <a:off x="9937750" y="6392863"/>
            <a:ext cx="571500" cy="231775"/>
          </a:xfrm>
          <a:prstGeom prst="rect">
            <a:avLst/>
          </a:prstGeom>
          <a:noFill/>
          <a:ln>
            <a:noFill/>
          </a:ln>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defRPr/>
            </a:pPr>
            <a:r>
              <a:rPr lang="en-US" altLang="zh-CN" sz="1000">
                <a:solidFill>
                  <a:srgbClr val="7F7F7F"/>
                </a:solidFill>
                <a:latin typeface="Arial" panose="020B0604020202020204" pitchFamily="34" charset="0"/>
                <a:cs typeface="Arial" panose="020B0604020202020204" pitchFamily="34" charset="0"/>
              </a:rPr>
              <a:t> </a:t>
            </a:r>
            <a:fld id="{524AD63B-5F2C-4628-8441-2A0E534DA5F7}" type="slidenum">
              <a:rPr lang="en-US" altLang="zh-CN" sz="1000" smtClean="0">
                <a:latin typeface="Arial" panose="020B0604020202020204" pitchFamily="34" charset="0"/>
                <a:cs typeface="Arial" panose="020B0604020202020204" pitchFamily="34" charset="0"/>
              </a:rPr>
              <a:t>‹#›</a:t>
            </a:fld>
            <a:endParaRPr lang="en-US" altLang="zh-CN" sz="1000">
              <a:latin typeface="Arial" panose="020B0604020202020204" pitchFamily="34" charset="0"/>
              <a:cs typeface="Arial" panose="020B0604020202020204" pitchFamily="34" charset="0"/>
            </a:endParaRPr>
          </a:p>
        </p:txBody>
      </p:sp>
      <p:cxnSp>
        <p:nvCxnSpPr>
          <p:cNvPr id="15" name="直接连接符 19">
            <a:extLst>
              <a:ext uri="{FF2B5EF4-FFF2-40B4-BE49-F238E27FC236}">
                <a16:creationId xmlns:a16="http://schemas.microsoft.com/office/drawing/2014/main" id="{67BA25E7-731A-4A89-A159-C22842689847}"/>
              </a:ext>
            </a:extLst>
          </p:cNvPr>
          <p:cNvCxnSpPr>
            <a:stCxn id="15" idx="3"/>
          </p:cNvCxnSpPr>
          <p:nvPr userDrawn="1"/>
        </p:nvCxnSpPr>
        <p:spPr>
          <a:xfrm>
            <a:off x="10509250" y="6508750"/>
            <a:ext cx="1019175"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6" name="直接连接符 14">
            <a:extLst>
              <a:ext uri="{FF2B5EF4-FFF2-40B4-BE49-F238E27FC236}">
                <a16:creationId xmlns:a16="http://schemas.microsoft.com/office/drawing/2014/main" id="{AC1A2BC3-BCD3-4E6C-8EBE-053DD957B394}"/>
              </a:ext>
            </a:extLst>
          </p:cNvPr>
          <p:cNvCxnSpPr>
            <a:endCxn id="14" idx="1"/>
          </p:cNvCxnSpPr>
          <p:nvPr userDrawn="1"/>
        </p:nvCxnSpPr>
        <p:spPr>
          <a:xfrm>
            <a:off x="5959475" y="6508750"/>
            <a:ext cx="3978275" cy="0"/>
          </a:xfrm>
          <a:prstGeom prst="line">
            <a:avLst/>
          </a:prstGeom>
          <a:ln>
            <a:solidFill>
              <a:srgbClr val="064BB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小标题+内容页">
    <p:spTree>
      <p:nvGrpSpPr>
        <p:cNvPr id="1" name=""/>
        <p:cNvGrpSpPr/>
        <p:nvPr/>
      </p:nvGrpSpPr>
      <p:grpSpPr>
        <a:xfrm>
          <a:off x="0" y="0"/>
          <a:ext cx="0" cy="0"/>
          <a:chOff x="0" y="0"/>
          <a:chExt cx="0" cy="0"/>
        </a:xfrm>
      </p:grpSpPr>
      <p:sp>
        <p:nvSpPr>
          <p:cNvPr id="8" name="AutoShape 23"/>
          <p:cNvSpPr>
            <a:spLocks noChangeArrowheads="1"/>
          </p:cNvSpPr>
          <p:nvPr userDrawn="1"/>
        </p:nvSpPr>
        <p:spPr bwMode="auto">
          <a:xfrm>
            <a:off x="246063" y="915988"/>
            <a:ext cx="9596437" cy="46037"/>
          </a:xfrm>
          <a:prstGeom prst="rect">
            <a:avLst/>
          </a:prstGeom>
          <a:solidFill>
            <a:srgbClr val="064BB2"/>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0" baseline="0">
              <a:latin typeface="Times New Roman" panose="02020603050405020304" pitchFamily="18" charset="0"/>
              <a:ea typeface="宋体" panose="02010600030101010101" pitchFamily="2" charset="-122"/>
            </a:endParaRPr>
          </a:p>
        </p:txBody>
      </p:sp>
      <p:sp>
        <p:nvSpPr>
          <p:cNvPr id="9" name="AutoShape 23"/>
          <p:cNvSpPr>
            <a:spLocks noChangeArrowheads="1"/>
          </p:cNvSpPr>
          <p:nvPr userDrawn="1"/>
        </p:nvSpPr>
        <p:spPr bwMode="auto">
          <a:xfrm>
            <a:off x="9842500" y="915988"/>
            <a:ext cx="1989138" cy="46037"/>
          </a:xfrm>
          <a:prstGeom prst="rect">
            <a:avLst/>
          </a:prstGeom>
          <a:solidFill>
            <a:srgbClr val="FB9708"/>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0" baseline="0">
              <a:latin typeface="Times New Roman" panose="02020603050405020304" pitchFamily="18" charset="0"/>
              <a:ea typeface="宋体" panose="02010600030101010101" pitchFamily="2" charset="-122"/>
            </a:endParaRPr>
          </a:p>
        </p:txBody>
      </p:sp>
      <p:sp>
        <p:nvSpPr>
          <p:cNvPr id="4" name="内容占位符 2"/>
          <p:cNvSpPr>
            <a:spLocks noGrp="1"/>
          </p:cNvSpPr>
          <p:nvPr>
            <p:ph idx="1" hasCustomPrompt="1"/>
          </p:nvPr>
        </p:nvSpPr>
        <p:spPr>
          <a:xfrm>
            <a:off x="423819" y="1713662"/>
            <a:ext cx="11107601" cy="4339721"/>
          </a:xfrm>
        </p:spPr>
        <p:txBody>
          <a:bodyPr>
            <a:noAutofit/>
          </a:bodyPr>
          <a:lstStyle>
            <a:lvl1pPr marL="362585" indent="-362585">
              <a:lnSpc>
                <a:spcPct val="150000"/>
              </a:lnSpc>
              <a:buClr>
                <a:srgbClr val="032089"/>
              </a:buClr>
              <a:buFont typeface="Wingdings" panose="05000000000000000000" pitchFamily="2" charset="2"/>
              <a:buChar char="Ø"/>
              <a:defRPr sz="1800" b="0" baseline="0">
                <a:latin typeface="Times New Roman" panose="02020603050405020304" pitchFamily="18" charset="0"/>
                <a:ea typeface="宋体" panose="02010600030101010101" pitchFamily="2" charset="-122"/>
                <a:cs typeface="Times New Roman" panose="02020603050405020304" pitchFamily="18" charset="0"/>
              </a:defRPr>
            </a:lvl1pPr>
            <a:lvl2pPr>
              <a:lnSpc>
                <a:spcPct val="130000"/>
              </a:lnSpc>
              <a:buClr>
                <a:srgbClr val="032089"/>
              </a:buClr>
              <a:buFont typeface="Wingdings" panose="05000000000000000000" pitchFamily="2" charset="2"/>
              <a:buChar char="l"/>
              <a:defRPr sz="2330" b="0">
                <a:latin typeface="微软雅黑" panose="020B0503020204020204" charset="-122"/>
                <a:ea typeface="微软雅黑" panose="020B0503020204020204" charset="-122"/>
              </a:defRPr>
            </a:lvl2pPr>
            <a:lvl3pPr>
              <a:defRPr sz="1905" b="0">
                <a:latin typeface="微软雅黑" panose="020B0503020204020204" charset="-122"/>
                <a:ea typeface="微软雅黑" panose="020B0503020204020204" charset="-122"/>
              </a:defRPr>
            </a:lvl3pPr>
            <a:lvl4pPr>
              <a:defRPr sz="1905" b="0">
                <a:latin typeface="微软雅黑" panose="020B0503020204020204" charset="-122"/>
                <a:ea typeface="微软雅黑" panose="020B0503020204020204" charset="-122"/>
              </a:defRPr>
            </a:lvl4pPr>
            <a:lvl5pPr>
              <a:defRPr sz="1905" b="0">
                <a:latin typeface="微软雅黑" panose="020B0503020204020204" charset="-122"/>
                <a:ea typeface="微软雅黑" panose="020B0503020204020204" charset="-122"/>
              </a:defRPr>
            </a:lvl5pPr>
          </a:lstStyle>
          <a:p>
            <a:pPr lvl="0"/>
            <a:r>
              <a:rPr lang="zh-CN" altLang="en-US" dirty="0"/>
              <a:t>单击此处编辑正文内容</a:t>
            </a:r>
          </a:p>
        </p:txBody>
      </p:sp>
      <p:sp>
        <p:nvSpPr>
          <p:cNvPr id="2" name="标题 1"/>
          <p:cNvSpPr>
            <a:spLocks noGrp="1"/>
          </p:cNvSpPr>
          <p:nvPr>
            <p:ph type="title" hasCustomPrompt="1"/>
          </p:nvPr>
        </p:nvSpPr>
        <p:spPr>
          <a:xfrm>
            <a:off x="254876" y="359079"/>
            <a:ext cx="10972801" cy="528176"/>
          </a:xfrm>
        </p:spPr>
        <p:txBody>
          <a:bodyPr/>
          <a:lstStyle>
            <a:lvl1pPr>
              <a:defRPr sz="2400" b="1" baseline="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dirty="0"/>
              <a:t>单击此处编辑标题</a:t>
            </a:r>
          </a:p>
        </p:txBody>
      </p:sp>
      <p:sp>
        <p:nvSpPr>
          <p:cNvPr id="14" name="内容占位符 2"/>
          <p:cNvSpPr>
            <a:spLocks noGrp="1"/>
          </p:cNvSpPr>
          <p:nvPr>
            <p:ph idx="10" hasCustomPrompt="1"/>
          </p:nvPr>
        </p:nvSpPr>
        <p:spPr>
          <a:xfrm>
            <a:off x="423819" y="1138980"/>
            <a:ext cx="11107601" cy="426469"/>
          </a:xfrm>
          <a:noFill/>
          <a:ln>
            <a:noFill/>
          </a:ln>
        </p:spPr>
        <p:txBody>
          <a:bodyPr anchor="ctr">
            <a:noAutofit/>
          </a:bodyPr>
          <a:lstStyle>
            <a:lvl1pPr marL="0" indent="0">
              <a:buNone/>
              <a:defRPr lang="zh-CN" altLang="en-US" sz="2000" b="0" baseline="0" dirty="0" smtClean="0">
                <a:latin typeface="Times New Roman" panose="02020603050405020304" pitchFamily="18" charset="0"/>
                <a:ea typeface="宋体" panose="02010600030101010101" pitchFamily="2" charset="-122"/>
                <a:cs typeface="Times New Roman" panose="02020603050405020304" pitchFamily="18" charset="0"/>
              </a:defRPr>
            </a:lvl1pPr>
          </a:lstStyle>
          <a:p>
            <a:pPr lvl="0"/>
            <a:r>
              <a:rPr lang="zh-CN" altLang="en-US" dirty="0"/>
              <a:t>单击此处编辑标题</a:t>
            </a:r>
          </a:p>
        </p:txBody>
      </p:sp>
      <p:sp>
        <p:nvSpPr>
          <p:cNvPr id="13" name="Rectangle 12">
            <a:extLst>
              <a:ext uri="{FF2B5EF4-FFF2-40B4-BE49-F238E27FC236}">
                <a16:creationId xmlns:a16="http://schemas.microsoft.com/office/drawing/2014/main" id="{4153916D-D611-4A47-BE82-94D92126168E}"/>
              </a:ext>
            </a:extLst>
          </p:cNvPr>
          <p:cNvSpPr>
            <a:spLocks noChangeArrowheads="1"/>
          </p:cNvSpPr>
          <p:nvPr userDrawn="1"/>
        </p:nvSpPr>
        <p:spPr bwMode="auto">
          <a:xfrm>
            <a:off x="9937750" y="6392863"/>
            <a:ext cx="571500" cy="231775"/>
          </a:xfrm>
          <a:prstGeom prst="rect">
            <a:avLst/>
          </a:prstGeom>
          <a:noFill/>
          <a:ln>
            <a:noFill/>
          </a:ln>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defRPr/>
            </a:pPr>
            <a:r>
              <a:rPr lang="en-US" altLang="zh-CN" sz="1000">
                <a:solidFill>
                  <a:srgbClr val="7F7F7F"/>
                </a:solidFill>
                <a:latin typeface="Arial" panose="020B0604020202020204" pitchFamily="34" charset="0"/>
                <a:cs typeface="Arial" panose="020B0604020202020204" pitchFamily="34" charset="0"/>
              </a:rPr>
              <a:t> </a:t>
            </a:r>
            <a:fld id="{524AD63B-5F2C-4628-8441-2A0E534DA5F7}" type="slidenum">
              <a:rPr lang="en-US" altLang="zh-CN" sz="1000" smtClean="0">
                <a:latin typeface="Arial" panose="020B0604020202020204" pitchFamily="34" charset="0"/>
                <a:cs typeface="Arial" panose="020B0604020202020204" pitchFamily="34" charset="0"/>
              </a:rPr>
              <a:t>‹#›</a:t>
            </a:fld>
            <a:endParaRPr lang="en-US" altLang="zh-CN" sz="1000">
              <a:latin typeface="Arial" panose="020B0604020202020204" pitchFamily="34" charset="0"/>
              <a:cs typeface="Arial" panose="020B0604020202020204" pitchFamily="34" charset="0"/>
            </a:endParaRPr>
          </a:p>
        </p:txBody>
      </p:sp>
      <p:cxnSp>
        <p:nvCxnSpPr>
          <p:cNvPr id="15" name="直接连接符 19">
            <a:extLst>
              <a:ext uri="{FF2B5EF4-FFF2-40B4-BE49-F238E27FC236}">
                <a16:creationId xmlns:a16="http://schemas.microsoft.com/office/drawing/2014/main" id="{B84FE5ED-D4A7-4047-910B-4BF6DD38D9AC}"/>
              </a:ext>
            </a:extLst>
          </p:cNvPr>
          <p:cNvCxnSpPr>
            <a:stCxn id="15" idx="3"/>
          </p:cNvCxnSpPr>
          <p:nvPr userDrawn="1"/>
        </p:nvCxnSpPr>
        <p:spPr>
          <a:xfrm>
            <a:off x="10509250" y="6508750"/>
            <a:ext cx="1019175"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6" name="直接连接符 14">
            <a:extLst>
              <a:ext uri="{FF2B5EF4-FFF2-40B4-BE49-F238E27FC236}">
                <a16:creationId xmlns:a16="http://schemas.microsoft.com/office/drawing/2014/main" id="{FBA9DDF0-3194-45FB-9DBB-5F7FB10D0757}"/>
              </a:ext>
            </a:extLst>
          </p:cNvPr>
          <p:cNvCxnSpPr>
            <a:endCxn id="13" idx="1"/>
          </p:cNvCxnSpPr>
          <p:nvPr userDrawn="1"/>
        </p:nvCxnSpPr>
        <p:spPr>
          <a:xfrm>
            <a:off x="5959475" y="6508750"/>
            <a:ext cx="3978275" cy="0"/>
          </a:xfrm>
          <a:prstGeom prst="line">
            <a:avLst/>
          </a:prstGeom>
          <a:ln>
            <a:solidFill>
              <a:srgbClr val="064BB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程序页">
    <p:spTree>
      <p:nvGrpSpPr>
        <p:cNvPr id="1" name=""/>
        <p:cNvGrpSpPr/>
        <p:nvPr/>
      </p:nvGrpSpPr>
      <p:grpSpPr>
        <a:xfrm>
          <a:off x="0" y="0"/>
          <a:ext cx="0" cy="0"/>
          <a:chOff x="0" y="0"/>
          <a:chExt cx="0" cy="0"/>
        </a:xfrm>
      </p:grpSpPr>
      <p:sp>
        <p:nvSpPr>
          <p:cNvPr id="8" name="AutoShape 23"/>
          <p:cNvSpPr>
            <a:spLocks noChangeArrowheads="1"/>
          </p:cNvSpPr>
          <p:nvPr userDrawn="1"/>
        </p:nvSpPr>
        <p:spPr bwMode="auto">
          <a:xfrm>
            <a:off x="246063" y="915988"/>
            <a:ext cx="9596437" cy="46037"/>
          </a:xfrm>
          <a:prstGeom prst="rect">
            <a:avLst/>
          </a:prstGeom>
          <a:solidFill>
            <a:srgbClr val="064BB2"/>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0" baseline="0">
              <a:latin typeface="Times New Roman" panose="02020603050405020304" pitchFamily="18" charset="0"/>
              <a:ea typeface="宋体" panose="02010600030101010101" pitchFamily="2" charset="-122"/>
            </a:endParaRPr>
          </a:p>
        </p:txBody>
      </p:sp>
      <p:sp>
        <p:nvSpPr>
          <p:cNvPr id="9" name="AutoShape 23"/>
          <p:cNvSpPr>
            <a:spLocks noChangeArrowheads="1"/>
          </p:cNvSpPr>
          <p:nvPr userDrawn="1"/>
        </p:nvSpPr>
        <p:spPr bwMode="auto">
          <a:xfrm>
            <a:off x="9842500" y="915988"/>
            <a:ext cx="1989138" cy="46037"/>
          </a:xfrm>
          <a:prstGeom prst="rect">
            <a:avLst/>
          </a:prstGeom>
          <a:solidFill>
            <a:srgbClr val="FB9708"/>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0" baseline="0">
              <a:latin typeface="Times New Roman" panose="02020603050405020304" pitchFamily="18" charset="0"/>
              <a:ea typeface="宋体" panose="02010600030101010101" pitchFamily="2" charset="-122"/>
            </a:endParaRPr>
          </a:p>
        </p:txBody>
      </p:sp>
      <p:sp>
        <p:nvSpPr>
          <p:cNvPr id="4" name="内容占位符 2"/>
          <p:cNvSpPr>
            <a:spLocks noGrp="1"/>
          </p:cNvSpPr>
          <p:nvPr>
            <p:ph idx="1" hasCustomPrompt="1"/>
          </p:nvPr>
        </p:nvSpPr>
        <p:spPr>
          <a:xfrm>
            <a:off x="423819" y="1713662"/>
            <a:ext cx="11107601" cy="4339721"/>
          </a:xfrm>
        </p:spPr>
        <p:txBody>
          <a:bodyPr>
            <a:noAutofit/>
          </a:bodyPr>
          <a:lstStyle>
            <a:lvl1pPr marL="362585" indent="-362585">
              <a:lnSpc>
                <a:spcPct val="150000"/>
              </a:lnSpc>
              <a:buClr>
                <a:srgbClr val="032089"/>
              </a:buClr>
              <a:buFont typeface="Arial" panose="020B0604020202020204" pitchFamily="34" charset="0"/>
              <a:buChar char="•"/>
              <a:defRPr sz="1600" b="0" baseline="0">
                <a:latin typeface="Times New Roman" panose="02020603050405020304" pitchFamily="18" charset="0"/>
                <a:ea typeface="宋体" panose="02010600030101010101" pitchFamily="2" charset="-122"/>
                <a:cs typeface="Times New Roman" panose="02020603050405020304" pitchFamily="18" charset="0"/>
              </a:defRPr>
            </a:lvl1pPr>
            <a:lvl2pPr>
              <a:lnSpc>
                <a:spcPct val="130000"/>
              </a:lnSpc>
              <a:buClr>
                <a:srgbClr val="032089"/>
              </a:buClr>
              <a:buFont typeface="Wingdings" panose="05000000000000000000" pitchFamily="2" charset="2"/>
              <a:buChar char="l"/>
              <a:defRPr sz="2330" b="0">
                <a:latin typeface="微软雅黑" panose="020B0503020204020204" charset="-122"/>
                <a:ea typeface="微软雅黑" panose="020B0503020204020204" charset="-122"/>
              </a:defRPr>
            </a:lvl2pPr>
            <a:lvl3pPr>
              <a:defRPr sz="1905" b="0">
                <a:latin typeface="微软雅黑" panose="020B0503020204020204" charset="-122"/>
                <a:ea typeface="微软雅黑" panose="020B0503020204020204" charset="-122"/>
              </a:defRPr>
            </a:lvl3pPr>
            <a:lvl4pPr>
              <a:defRPr sz="1905" b="0">
                <a:latin typeface="微软雅黑" panose="020B0503020204020204" charset="-122"/>
                <a:ea typeface="微软雅黑" panose="020B0503020204020204" charset="-122"/>
              </a:defRPr>
            </a:lvl4pPr>
            <a:lvl5pPr>
              <a:defRPr sz="1905" b="0">
                <a:latin typeface="微软雅黑" panose="020B0503020204020204" charset="-122"/>
                <a:ea typeface="微软雅黑" panose="020B0503020204020204" charset="-122"/>
              </a:defRPr>
            </a:lvl5pPr>
          </a:lstStyle>
          <a:p>
            <a:pPr lvl="0"/>
            <a:r>
              <a:rPr lang="zh-CN" altLang="en-US" dirty="0"/>
              <a:t>此处编辑具体代码</a:t>
            </a:r>
          </a:p>
        </p:txBody>
      </p:sp>
      <p:sp>
        <p:nvSpPr>
          <p:cNvPr id="2" name="标题 1"/>
          <p:cNvSpPr>
            <a:spLocks noGrp="1"/>
          </p:cNvSpPr>
          <p:nvPr>
            <p:ph type="title" hasCustomPrompt="1"/>
          </p:nvPr>
        </p:nvSpPr>
        <p:spPr>
          <a:xfrm>
            <a:off x="254876" y="359079"/>
            <a:ext cx="10972801" cy="528176"/>
          </a:xfrm>
        </p:spPr>
        <p:txBody>
          <a:bodyPr/>
          <a:lstStyle>
            <a:lvl1pPr>
              <a:defRPr sz="2400" b="1" baseline="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dirty="0"/>
              <a:t>单击此处编辑标题</a:t>
            </a:r>
          </a:p>
        </p:txBody>
      </p:sp>
      <p:sp>
        <p:nvSpPr>
          <p:cNvPr id="14" name="内容占位符 2"/>
          <p:cNvSpPr>
            <a:spLocks noGrp="1"/>
          </p:cNvSpPr>
          <p:nvPr>
            <p:ph idx="10" hasCustomPrompt="1"/>
          </p:nvPr>
        </p:nvSpPr>
        <p:spPr>
          <a:xfrm>
            <a:off x="423819" y="1138980"/>
            <a:ext cx="11107601" cy="426469"/>
          </a:xfrm>
          <a:noFill/>
          <a:ln>
            <a:noFill/>
          </a:ln>
        </p:spPr>
        <p:txBody>
          <a:bodyPr anchor="ctr">
            <a:noAutofit/>
          </a:bodyPr>
          <a:lstStyle>
            <a:lvl1pPr marL="0" indent="0">
              <a:buNone/>
              <a:defRPr lang="zh-CN" altLang="en-US" sz="1800" b="0" baseline="0" dirty="0" smtClean="0">
                <a:latin typeface="Times New Roman" panose="02020603050405020304" pitchFamily="18" charset="0"/>
                <a:ea typeface="宋体" panose="02010600030101010101" pitchFamily="2" charset="-122"/>
                <a:cs typeface="Times New Roman" panose="02020603050405020304" pitchFamily="18" charset="0"/>
              </a:defRPr>
            </a:lvl1pPr>
          </a:lstStyle>
          <a:p>
            <a:pPr lvl="0"/>
            <a:r>
              <a:rPr lang="zh-CN" altLang="en-US" dirty="0"/>
              <a:t>单击此处编辑这个代码是干嘛的</a:t>
            </a:r>
          </a:p>
        </p:txBody>
      </p:sp>
      <p:sp>
        <p:nvSpPr>
          <p:cNvPr id="13" name="Rectangle 12">
            <a:extLst>
              <a:ext uri="{FF2B5EF4-FFF2-40B4-BE49-F238E27FC236}">
                <a16:creationId xmlns:a16="http://schemas.microsoft.com/office/drawing/2014/main" id="{6E3C8BC4-7226-4CCB-829F-1F836FCA8681}"/>
              </a:ext>
            </a:extLst>
          </p:cNvPr>
          <p:cNvSpPr>
            <a:spLocks noChangeArrowheads="1"/>
          </p:cNvSpPr>
          <p:nvPr userDrawn="1"/>
        </p:nvSpPr>
        <p:spPr bwMode="auto">
          <a:xfrm>
            <a:off x="9937750" y="6392863"/>
            <a:ext cx="571500" cy="231775"/>
          </a:xfrm>
          <a:prstGeom prst="rect">
            <a:avLst/>
          </a:prstGeom>
          <a:noFill/>
          <a:ln>
            <a:noFill/>
          </a:ln>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defRPr/>
            </a:pPr>
            <a:r>
              <a:rPr lang="en-US" altLang="zh-CN" sz="1000">
                <a:solidFill>
                  <a:srgbClr val="7F7F7F"/>
                </a:solidFill>
                <a:latin typeface="Arial" panose="020B0604020202020204" pitchFamily="34" charset="0"/>
                <a:cs typeface="Arial" panose="020B0604020202020204" pitchFamily="34" charset="0"/>
              </a:rPr>
              <a:t> </a:t>
            </a:r>
            <a:fld id="{524AD63B-5F2C-4628-8441-2A0E534DA5F7}" type="slidenum">
              <a:rPr lang="en-US" altLang="zh-CN" sz="1000" smtClean="0">
                <a:latin typeface="Arial" panose="020B0604020202020204" pitchFamily="34" charset="0"/>
                <a:cs typeface="Arial" panose="020B0604020202020204" pitchFamily="34" charset="0"/>
              </a:rPr>
              <a:t>‹#›</a:t>
            </a:fld>
            <a:endParaRPr lang="en-US" altLang="zh-CN" sz="1000">
              <a:latin typeface="Arial" panose="020B0604020202020204" pitchFamily="34" charset="0"/>
              <a:cs typeface="Arial" panose="020B0604020202020204" pitchFamily="34" charset="0"/>
            </a:endParaRPr>
          </a:p>
        </p:txBody>
      </p:sp>
      <p:cxnSp>
        <p:nvCxnSpPr>
          <p:cNvPr id="15" name="直接连接符 19">
            <a:extLst>
              <a:ext uri="{FF2B5EF4-FFF2-40B4-BE49-F238E27FC236}">
                <a16:creationId xmlns:a16="http://schemas.microsoft.com/office/drawing/2014/main" id="{F21C0F45-4AE3-4E25-9923-9F4137826027}"/>
              </a:ext>
            </a:extLst>
          </p:cNvPr>
          <p:cNvCxnSpPr>
            <a:stCxn id="15" idx="3"/>
          </p:cNvCxnSpPr>
          <p:nvPr userDrawn="1"/>
        </p:nvCxnSpPr>
        <p:spPr>
          <a:xfrm>
            <a:off x="10509250" y="6508750"/>
            <a:ext cx="1019175"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6" name="直接连接符 14">
            <a:extLst>
              <a:ext uri="{FF2B5EF4-FFF2-40B4-BE49-F238E27FC236}">
                <a16:creationId xmlns:a16="http://schemas.microsoft.com/office/drawing/2014/main" id="{E0024834-51F4-4855-A9F4-E4E13C01BB38}"/>
              </a:ext>
            </a:extLst>
          </p:cNvPr>
          <p:cNvCxnSpPr>
            <a:endCxn id="13" idx="1"/>
          </p:cNvCxnSpPr>
          <p:nvPr userDrawn="1"/>
        </p:nvCxnSpPr>
        <p:spPr>
          <a:xfrm>
            <a:off x="5959475" y="6508750"/>
            <a:ext cx="3978275" cy="0"/>
          </a:xfrm>
          <a:prstGeom prst="line">
            <a:avLst/>
          </a:prstGeom>
          <a:ln>
            <a:solidFill>
              <a:srgbClr val="064BB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尾页">
    <p:spTree>
      <p:nvGrpSpPr>
        <p:cNvPr id="1" name=""/>
        <p:cNvGrpSpPr/>
        <p:nvPr/>
      </p:nvGrpSpPr>
      <p:grpSpPr>
        <a:xfrm>
          <a:off x="0" y="0"/>
          <a:ext cx="0" cy="0"/>
          <a:chOff x="0" y="0"/>
          <a:chExt cx="0" cy="0"/>
        </a:xfrm>
      </p:grpSpPr>
      <p:sp>
        <p:nvSpPr>
          <p:cNvPr id="2" name="矩形 1"/>
          <p:cNvSpPr>
            <a:spLocks noChangeArrowheads="1"/>
          </p:cNvSpPr>
          <p:nvPr/>
        </p:nvSpPr>
        <p:spPr bwMode="auto">
          <a:xfrm>
            <a:off x="0" y="1968500"/>
            <a:ext cx="12190413" cy="2168525"/>
          </a:xfrm>
          <a:prstGeom prst="rect">
            <a:avLst/>
          </a:prstGeom>
          <a:solidFill>
            <a:srgbClr val="064BB2"/>
          </a:solidFill>
          <a:ln>
            <a:noFill/>
          </a:ln>
          <a:effectLst>
            <a:outerShdw blurRad="50800" dist="38100" dir="5400000" algn="t" rotWithShape="0">
              <a:srgbClr val="000000">
                <a:alpha val="0"/>
              </a:srgbClr>
            </a:outerShdw>
          </a:effectLst>
        </p:spPr>
        <p:txBody>
          <a:bodyPr anchor="ctr"/>
          <a:lstStyle/>
          <a:p>
            <a:pPr algn="ctr">
              <a:defRPr/>
            </a:pPr>
            <a:endParaRPr lang="zh-CN" altLang="en-US" sz="950" baseline="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p:txBody>
      </p:sp>
      <p:sp>
        <p:nvSpPr>
          <p:cNvPr id="3" name="Title 1"/>
          <p:cNvSpPr txBox="1"/>
          <p:nvPr/>
        </p:nvSpPr>
        <p:spPr>
          <a:xfrm>
            <a:off x="5108398" y="2071633"/>
            <a:ext cx="7082050" cy="1653849"/>
          </a:xfrm>
          <a:prstGeom prst="rect">
            <a:avLst/>
          </a:prstGeom>
        </p:spPr>
        <p:txBody>
          <a:bodyPr anchor="b"/>
          <a:lstStyle>
            <a:lvl1pPr algn="ctr" defTabSz="1028700" rtl="0" eaLnBrk="1" fontAlgn="base" latinLnBrk="0" hangingPunct="1">
              <a:lnSpc>
                <a:spcPts val="3360"/>
              </a:lnSpc>
              <a:spcBef>
                <a:spcPts val="630"/>
              </a:spcBef>
              <a:spcAft>
                <a:spcPct val="0"/>
              </a:spcAft>
              <a:buNone/>
              <a:defRPr lang="en-US" sz="2940" b="1" kern="1200" dirty="0">
                <a:solidFill>
                  <a:schemeClr val="bg1"/>
                </a:solidFill>
                <a:latin typeface="微软雅黑" panose="020B0503020204020204" charset="-122"/>
                <a:ea typeface="微软雅黑" panose="020B0503020204020204" charset="-122"/>
                <a:cs typeface="+mn-cs"/>
              </a:defRPr>
            </a:lvl1pPr>
          </a:lstStyle>
          <a:p>
            <a:pPr>
              <a:defRPr/>
            </a:pPr>
            <a:r>
              <a:rPr altLang="zh-CN" sz="6600" baseline="0">
                <a:ln>
                  <a:solidFill>
                    <a:schemeClr val="bg1"/>
                  </a:solidFill>
                </a:ln>
                <a:effectLst>
                  <a:reflection blurRad="6350" stA="50000" endA="300" endPos="50000" dist="29997" dir="5400000" sy="-100000" algn="bl" rotWithShape="0"/>
                </a:effectLst>
                <a:latin typeface="Times New Roman" panose="02020603050405020304" pitchFamily="18" charset="0"/>
                <a:ea typeface="宋体" panose="02010600030101010101" pitchFamily="2" charset="-122"/>
              </a:rPr>
              <a:t>Thank you!</a:t>
            </a:r>
            <a:endParaRPr lang="zh-CN" altLang="en-US" sz="6600" baseline="0">
              <a:ln>
                <a:solidFill>
                  <a:schemeClr val="bg1"/>
                </a:solidFill>
              </a:ln>
              <a:effectLst>
                <a:reflection blurRad="6350" stA="50000" endA="300" endPos="50000" dist="29997" dir="5400000" sy="-100000" algn="bl" rotWithShape="0"/>
              </a:effectLst>
              <a:latin typeface="Times New Roman" panose="02020603050405020304" pitchFamily="18" charset="0"/>
              <a:ea typeface="宋体" panose="02010600030101010101" pitchFamily="2" charset="-122"/>
            </a:endParaRPr>
          </a:p>
        </p:txBody>
      </p:sp>
      <p:pic>
        <p:nvPicPr>
          <p:cNvPr id="4" name="图片 3"/>
          <p:cNvPicPr>
            <a:picLocks noChangeAspect="1"/>
          </p:cNvPicPr>
          <p:nvPr/>
        </p:nvPicPr>
        <p:blipFill>
          <a:blip r:embed="rId2" cstate="print"/>
          <a:stretch>
            <a:fillRect/>
          </a:stretch>
        </p:blipFill>
        <p:spPr>
          <a:xfrm>
            <a:off x="202394" y="2246810"/>
            <a:ext cx="4697018"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8" name="矩形 7"/>
          <p:cNvSpPr>
            <a:spLocks noChangeArrowheads="1"/>
          </p:cNvSpPr>
          <p:nvPr userDrawn="1"/>
        </p:nvSpPr>
        <p:spPr bwMode="auto">
          <a:xfrm>
            <a:off x="0" y="1967879"/>
            <a:ext cx="12189884" cy="2168691"/>
          </a:xfrm>
          <a:prstGeom prst="rect">
            <a:avLst/>
          </a:prstGeom>
          <a:solidFill>
            <a:srgbClr val="064BB2"/>
          </a:solidFill>
          <a:ln>
            <a:noFill/>
          </a:ln>
          <a:effectLst>
            <a:outerShdw blurRad="50800" dist="38100" dir="5400000" algn="t" rotWithShape="0">
              <a:srgbClr val="000000">
                <a:alpha val="0"/>
              </a:srgbClr>
            </a:outerShdw>
          </a:effectLst>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fontAlgn="base">
              <a:spcBef>
                <a:spcPct val="0"/>
              </a:spcBef>
              <a:spcAft>
                <a:spcPct val="0"/>
              </a:spcAft>
              <a:defRPr/>
            </a:pPr>
            <a:endParaRPr lang="zh-CN" altLang="en-US" sz="950" baseline="0" dirty="0">
              <a:solidFill>
                <a:srgbClr val="FFFFFF"/>
              </a:solidFill>
              <a:latin typeface="Times New Roman" panose="02020603050405020304" pitchFamily="18" charset="0"/>
              <a:ea typeface="宋体" panose="02010600030101010101" pitchFamily="2" charset="-122"/>
              <a:cs typeface="宋体" panose="02010600030101010101" pitchFamily="2" charset="-122"/>
            </a:endParaRPr>
          </a:p>
        </p:txBody>
      </p:sp>
      <p:sp>
        <p:nvSpPr>
          <p:cNvPr id="9" name="Title 1"/>
          <p:cNvSpPr txBox="1"/>
          <p:nvPr userDrawn="1"/>
        </p:nvSpPr>
        <p:spPr>
          <a:xfrm>
            <a:off x="5003623" y="1657613"/>
            <a:ext cx="7082051" cy="1653849"/>
          </a:xfrm>
          <a:prstGeom prst="rect">
            <a:avLst/>
          </a:prstGeom>
        </p:spPr>
        <p:txBody>
          <a:bodyPr vert="horz" lIns="91440" tIns="45720" rIns="91440" bIns="45720" rtlCol="0" anchor="b">
            <a:noAutofit/>
          </a:bodyPr>
          <a:lstStyle>
            <a:lvl1pPr algn="ctr" defTabSz="1028700" rtl="0" eaLnBrk="1" fontAlgn="base" latinLnBrk="0" hangingPunct="1">
              <a:lnSpc>
                <a:spcPts val="3360"/>
              </a:lnSpc>
              <a:spcBef>
                <a:spcPts val="630"/>
              </a:spcBef>
              <a:spcAft>
                <a:spcPct val="0"/>
              </a:spcAft>
              <a:buNone/>
              <a:defRPr lang="en-US" sz="2940" b="1" kern="1200" dirty="0">
                <a:solidFill>
                  <a:schemeClr val="bg1"/>
                </a:solidFill>
                <a:latin typeface="微软雅黑" panose="020B0503020204020204" charset="-122"/>
                <a:ea typeface="微软雅黑" panose="020B0503020204020204" charset="-122"/>
                <a:cs typeface="+mn-cs"/>
              </a:defRPr>
            </a:lvl1pPr>
          </a:lstStyle>
          <a:p>
            <a:r>
              <a:rPr altLang="zh-CN" sz="6600" baseline="0" dirty="0">
                <a:ln>
                  <a:solidFill>
                    <a:srgbClr val="FFFFFF"/>
                  </a:solidFill>
                </a:ln>
                <a:solidFill>
                  <a:srgbClr val="FFFFFF"/>
                </a:solidFill>
                <a:effectLst>
                  <a:reflection blurRad="6350" stA="50000" endA="300" endPos="50000" dist="29997" dir="5400000" sy="-100000" algn="bl" rotWithShape="0"/>
                </a:effectLst>
                <a:latin typeface="Times New Roman" panose="02020603050405020304" pitchFamily="18" charset="0"/>
                <a:ea typeface="宋体" panose="02010600030101010101" pitchFamily="2" charset="-122"/>
              </a:rPr>
              <a:t>Thank you!</a:t>
            </a:r>
            <a:endParaRPr lang="zh-CN" altLang="en-US" sz="6600" baseline="0" dirty="0">
              <a:ln>
                <a:solidFill>
                  <a:srgbClr val="FFFFFF"/>
                </a:solidFill>
              </a:ln>
              <a:solidFill>
                <a:srgbClr val="FFFFFF"/>
              </a:solidFill>
              <a:effectLst>
                <a:reflection blurRad="6350" stA="50000" endA="300" endPos="50000" dist="29997" dir="5400000" sy="-100000" algn="bl" rotWithShape="0"/>
              </a:effectLst>
              <a:latin typeface="Times New Roman" panose="02020603050405020304" pitchFamily="18" charset="0"/>
              <a:ea typeface="宋体" panose="02010600030101010101" pitchFamily="2" charset="-122"/>
            </a:endParaRPr>
          </a:p>
        </p:txBody>
      </p:sp>
      <p:pic>
        <p:nvPicPr>
          <p:cNvPr id="10" name="图片 9" descr="AW视觉符号.jpg"/>
          <p:cNvPicPr>
            <a:picLocks noChangeAspect="1"/>
          </p:cNvPicPr>
          <p:nvPr userDrawn="1"/>
        </p:nvPicPr>
        <p:blipFill>
          <a:blip r:embed="rId2" cstate="print"/>
          <a:stretch>
            <a:fillRect/>
          </a:stretch>
        </p:blipFill>
        <p:spPr>
          <a:xfrm>
            <a:off x="202395" y="2246811"/>
            <a:ext cx="4697018"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4" name="标题 1"/>
          <p:cNvSpPr txBox="1">
            <a:spLocks noChangeArrowheads="1"/>
          </p:cNvSpPr>
          <p:nvPr userDrawn="1"/>
        </p:nvSpPr>
        <p:spPr>
          <a:xfrm>
            <a:off x="9177867" y="5122864"/>
            <a:ext cx="2781300" cy="511175"/>
          </a:xfrm>
          <a:prstGeom prst="rect">
            <a:avLst/>
          </a:prstGeom>
        </p:spPr>
        <p:txBody>
          <a:bodyPr lIns="0" tIns="0" rIns="0" bIns="0"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base">
              <a:spcAft>
                <a:spcPct val="0"/>
              </a:spcAft>
              <a:defRPr/>
            </a:pPr>
            <a:r>
              <a:rPr lang="zh-CN" altLang="en-US" sz="2400" b="1" dirty="0">
                <a:solidFill>
                  <a:prstClr val="white"/>
                </a:solidFill>
                <a:latin typeface="华文细黑" panose="02010600040101010101" pitchFamily="2" charset="-122"/>
                <a:ea typeface="华文细黑" panose="02010600040101010101" pitchFamily="2" charset="-122"/>
                <a:sym typeface="Calibri" panose="020F0502020204030204" pitchFamily="34" charset="0"/>
              </a:rPr>
              <a:t>信息学院</a:t>
            </a:r>
          </a:p>
        </p:txBody>
      </p:sp>
      <p:sp>
        <p:nvSpPr>
          <p:cNvPr id="2" name="标题 1"/>
          <p:cNvSpPr>
            <a:spLocks noGrp="1"/>
          </p:cNvSpPr>
          <p:nvPr>
            <p:ph type="title"/>
          </p:nvPr>
        </p:nvSpPr>
        <p:spPr>
          <a:xfrm>
            <a:off x="239349" y="11088"/>
            <a:ext cx="10972800" cy="720080"/>
          </a:xfrm>
          <a:prstGeom prst="rect">
            <a:avLst/>
          </a:prstGeom>
        </p:spPr>
        <p:txBody>
          <a:bodyPr/>
          <a:lstStyle>
            <a:lvl1pPr>
              <a:defRPr lang="zh-CN" altLang="en-US" sz="3600" dirty="0">
                <a:solidFill>
                  <a:schemeClr val="bg1"/>
                </a:solidFill>
              </a:defRPr>
            </a:lvl1pPr>
          </a:lstStyle>
          <a:p>
            <a:pPr lvl="0"/>
            <a:r>
              <a:rPr lang="zh-CN" altLang="en-US" dirty="0"/>
              <a:t>单击此处编辑母版标题样式</a:t>
            </a:r>
          </a:p>
        </p:txBody>
      </p:sp>
      <p:sp>
        <p:nvSpPr>
          <p:cNvPr id="3" name="内容占位符 2"/>
          <p:cNvSpPr>
            <a:spLocks noGrp="1"/>
          </p:cNvSpPr>
          <p:nvPr>
            <p:ph idx="1"/>
          </p:nvPr>
        </p:nvSpPr>
        <p:spPr>
          <a:xfrm>
            <a:off x="749187" y="980729"/>
            <a:ext cx="10972800" cy="4525963"/>
          </a:xfrm>
          <a:prstGeom prst="rect">
            <a:avLst/>
          </a:prstGeom>
        </p:spPr>
        <p:txBody>
          <a:bodyPr/>
          <a:lstStyle>
            <a:lvl1pPr>
              <a:defRPr sz="2800" b="1">
                <a:latin typeface="仿宋" panose="02010609060101010101" pitchFamily="49" charset="-122"/>
                <a:ea typeface="仿宋" panose="02010609060101010101" pitchFamily="49" charset="-122"/>
              </a:defRPr>
            </a:lvl1pPr>
            <a:lvl2pPr>
              <a:defRPr sz="2800" b="1">
                <a:latin typeface="仿宋" panose="02010609060101010101" pitchFamily="49" charset="-122"/>
                <a:ea typeface="仿宋" panose="02010609060101010101" pitchFamily="49" charset="-122"/>
              </a:defRPr>
            </a:lvl2pPr>
            <a:lvl3pPr>
              <a:defRPr sz="2800" b="1">
                <a:latin typeface="仿宋" panose="02010609060101010101" pitchFamily="49" charset="-122"/>
                <a:ea typeface="仿宋" panose="02010609060101010101" pitchFamily="49" charset="-122"/>
              </a:defRPr>
            </a:lvl3pPr>
            <a:lvl4pPr>
              <a:defRPr sz="2800" b="1">
                <a:latin typeface="仿宋" panose="02010609060101010101" pitchFamily="49" charset="-122"/>
                <a:ea typeface="仿宋" panose="02010609060101010101" pitchFamily="49" charset="-122"/>
              </a:defRPr>
            </a:lvl4pPr>
            <a:lvl5pPr>
              <a:defRPr sz="2800" b="1">
                <a:latin typeface="仿宋" panose="02010609060101010101" pitchFamily="49" charset="-122"/>
                <a:ea typeface="仿宋"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页脚占位符 4"/>
          <p:cNvSpPr>
            <a:spLocks noGrp="1"/>
          </p:cNvSpPr>
          <p:nvPr>
            <p:ph type="ftr" sz="quarter" idx="10"/>
          </p:nvPr>
        </p:nvSpPr>
        <p:spPr>
          <a:xfrm>
            <a:off x="4165600" y="6237289"/>
            <a:ext cx="3860800" cy="484187"/>
          </a:xfrm>
        </p:spPr>
        <p:txBody>
          <a:bodyPr/>
          <a:lstStyle>
            <a:lvl1pPr>
              <a:defRPr/>
            </a:lvl1pPr>
          </a:lstStyle>
          <a:p>
            <a:pPr>
              <a:defRPr/>
            </a:pPr>
            <a:endParaRPr lang="zh-CN" altLang="en-US"/>
          </a:p>
        </p:txBody>
      </p:sp>
      <p:sp>
        <p:nvSpPr>
          <p:cNvPr id="6" name="灯片编号占位符 5"/>
          <p:cNvSpPr>
            <a:spLocks noGrp="1"/>
          </p:cNvSpPr>
          <p:nvPr>
            <p:ph type="sldNum" sz="quarter" idx="11"/>
          </p:nvPr>
        </p:nvSpPr>
        <p:spPr>
          <a:xfrm>
            <a:off x="8688917" y="5634039"/>
            <a:ext cx="2844800" cy="365125"/>
          </a:xfrm>
        </p:spPr>
        <p:txBody>
          <a:bodyPr/>
          <a:lstStyle>
            <a:lvl1pPr>
              <a:defRPr/>
            </a:lvl1pPr>
          </a:lstStyle>
          <a:p>
            <a:pPr>
              <a:defRPr/>
            </a:pPr>
            <a:fld id="{5FD8C6DE-6AFA-4E89-B9F3-C1CCA6B52B3E}" type="slidenum">
              <a:rPr lang="zh-CN" altLang="en-US"/>
              <a:t>‹#›</a:t>
            </a:fld>
            <a:endParaRPr lang="zh-CN" altLang="en-US"/>
          </a:p>
        </p:txBody>
      </p:sp>
    </p:spTree>
    <p:extLst>
      <p:ext uri="{BB962C8B-B14F-4D97-AF65-F5344CB8AC3E}">
        <p14:creationId xmlns:p14="http://schemas.microsoft.com/office/powerpoint/2010/main" val="3419015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封面">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D988FA9-2E2D-4AB0-A235-FBD36981BD92}"/>
              </a:ext>
            </a:extLst>
          </p:cNvPr>
          <p:cNvSpPr>
            <a:spLocks noChangeArrowheads="1"/>
          </p:cNvSpPr>
          <p:nvPr/>
        </p:nvSpPr>
        <p:spPr bwMode="auto">
          <a:xfrm>
            <a:off x="0" y="1968500"/>
            <a:ext cx="12190413" cy="2168525"/>
          </a:xfrm>
          <a:prstGeom prst="rect">
            <a:avLst/>
          </a:prstGeom>
          <a:solidFill>
            <a:srgbClr val="064BB2"/>
          </a:solidFill>
          <a:ln>
            <a:noFill/>
          </a:ln>
          <a:effectLst>
            <a:outerShdw blurRad="50800" dist="38100" dir="5400000" algn="t" rotWithShape="0">
              <a:srgbClr val="000000">
                <a:alpha val="0"/>
              </a:srgbClr>
            </a:outerShdw>
          </a:effectLst>
        </p:spPr>
        <p:txBody>
          <a:bodyPr anchor="ctr"/>
          <a:lstStyle/>
          <a:p>
            <a:pPr algn="ctr">
              <a:defRPr/>
            </a:pPr>
            <a:endParaRPr lang="zh-CN" altLang="en-US" sz="950" baseline="0" dirty="0">
              <a:solidFill>
                <a:schemeClr val="bg1"/>
              </a:solidFill>
              <a:latin typeface="Times New Roman" panose="02020603050405020304" pitchFamily="18" charset="0"/>
              <a:ea typeface="宋体" panose="02010600030101010101" pitchFamily="2" charset="-122"/>
              <a:cs typeface="宋体" charset="0"/>
            </a:endParaRPr>
          </a:p>
        </p:txBody>
      </p:sp>
      <p:pic>
        <p:nvPicPr>
          <p:cNvPr id="4" name="图片 3">
            <a:extLst>
              <a:ext uri="{FF2B5EF4-FFF2-40B4-BE49-F238E27FC236}">
                <a16:creationId xmlns:a16="http://schemas.microsoft.com/office/drawing/2014/main" id="{061F578E-A0F4-4755-A6A7-115875A341D0}"/>
              </a:ext>
            </a:extLst>
          </p:cNvPr>
          <p:cNvPicPr>
            <a:picLocks noChangeAspect="1"/>
          </p:cNvPicPr>
          <p:nvPr/>
        </p:nvPicPr>
        <p:blipFill>
          <a:blip r:embed="rId2" cstate="print"/>
          <a:stretch>
            <a:fillRect/>
          </a:stretch>
        </p:blipFill>
        <p:spPr>
          <a:xfrm>
            <a:off x="202394" y="2246810"/>
            <a:ext cx="4697018"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5" name="标题 14"/>
          <p:cNvSpPr>
            <a:spLocks noGrp="1"/>
          </p:cNvSpPr>
          <p:nvPr>
            <p:ph type="title"/>
          </p:nvPr>
        </p:nvSpPr>
        <p:spPr>
          <a:xfrm>
            <a:off x="5926234" y="2706149"/>
            <a:ext cx="5889861" cy="692150"/>
          </a:xfrm>
        </p:spPr>
        <p:txBody>
          <a:bodyPr/>
          <a:lstStyle>
            <a:lvl1pPr algn="ctr">
              <a:defRPr sz="3600" b="1" baseline="0">
                <a:solidFill>
                  <a:schemeClr val="bg1"/>
                </a:solidFill>
                <a:latin typeface="Times New Roman" pitchFamily="18" charset="0"/>
                <a:ea typeface="宋体" panose="02010600030101010101" pitchFamily="2" charset="-122"/>
              </a:defRPr>
            </a:lvl1pPr>
          </a:lstStyle>
          <a:p>
            <a:r>
              <a:rPr lang="zh-CN" altLang="en-US" noProof="1"/>
              <a:t>单击此处编辑母版标题样式</a:t>
            </a:r>
          </a:p>
        </p:txBody>
      </p:sp>
      <p:sp>
        <p:nvSpPr>
          <p:cNvPr id="9" name="日期占位符 1">
            <a:extLst>
              <a:ext uri="{FF2B5EF4-FFF2-40B4-BE49-F238E27FC236}">
                <a16:creationId xmlns:a16="http://schemas.microsoft.com/office/drawing/2014/main" id="{A8B955FF-0328-444B-A955-07F9EAF2D019}"/>
              </a:ext>
            </a:extLst>
          </p:cNvPr>
          <p:cNvSpPr>
            <a:spLocks noGrp="1"/>
          </p:cNvSpPr>
          <p:nvPr>
            <p:ph type="dt" sz="half" idx="10"/>
          </p:nvPr>
        </p:nvSpPr>
        <p:spPr/>
        <p:txBody>
          <a:bodyPr/>
          <a:lstStyle>
            <a:lvl1pPr>
              <a:defRPr baseline="0">
                <a:latin typeface="Times New Roman" panose="02020603050405020304" pitchFamily="18" charset="0"/>
                <a:ea typeface="宋体" panose="02010600030101010101" pitchFamily="2" charset="-122"/>
              </a:defRPr>
            </a:lvl1pPr>
          </a:lstStyle>
          <a:p>
            <a:fld id="{C5EFD6F6-2F20-4B1A-A667-B95C1338A7FC}" type="datetime5">
              <a:rPr lang="zh-CN" altLang="en-US" smtClean="0"/>
              <a:pPr/>
              <a:t>2025/10/26</a:t>
            </a:fld>
            <a:endParaRPr lang="zh-CN" altLang="en-US" dirty="0"/>
          </a:p>
        </p:txBody>
      </p:sp>
      <p:sp>
        <p:nvSpPr>
          <p:cNvPr id="10" name="页脚占位符 2">
            <a:extLst>
              <a:ext uri="{FF2B5EF4-FFF2-40B4-BE49-F238E27FC236}">
                <a16:creationId xmlns:a16="http://schemas.microsoft.com/office/drawing/2014/main" id="{7A08F8AE-EBF9-468B-B7DA-6C4177987749}"/>
              </a:ext>
            </a:extLst>
          </p:cNvPr>
          <p:cNvSpPr>
            <a:spLocks noGrp="1"/>
          </p:cNvSpPr>
          <p:nvPr>
            <p:ph type="ftr" sz="quarter" idx="11"/>
          </p:nvPr>
        </p:nvSpPr>
        <p:spPr/>
        <p:txBody>
          <a:bodyPr/>
          <a:lstStyle>
            <a:lvl1pPr>
              <a:defRPr baseline="0">
                <a:latin typeface="Times New Roman" panose="02020603050405020304" pitchFamily="18" charset="0"/>
                <a:ea typeface="宋体" panose="02010600030101010101" pitchFamily="2" charset="-122"/>
              </a:defRPr>
            </a:lvl1pPr>
          </a:lstStyle>
          <a:p>
            <a:pPr>
              <a:defRPr/>
            </a:pPr>
            <a:endParaRPr lang="zh-CN" altLang="en-US"/>
          </a:p>
        </p:txBody>
      </p:sp>
      <p:sp>
        <p:nvSpPr>
          <p:cNvPr id="11" name="灯片编号占位符 3">
            <a:extLst>
              <a:ext uri="{FF2B5EF4-FFF2-40B4-BE49-F238E27FC236}">
                <a16:creationId xmlns:a16="http://schemas.microsoft.com/office/drawing/2014/main" id="{95ED2846-0561-49EC-99AC-42118DC01ACA}"/>
              </a:ext>
            </a:extLst>
          </p:cNvPr>
          <p:cNvSpPr>
            <a:spLocks noGrp="1"/>
          </p:cNvSpPr>
          <p:nvPr>
            <p:ph type="sldNum" sz="quarter" idx="12"/>
          </p:nvPr>
        </p:nvSpPr>
        <p:spPr/>
        <p:txBody>
          <a:bodyPr/>
          <a:lstStyle>
            <a:lvl1pPr>
              <a:defRPr baseline="0">
                <a:latin typeface="Times New Roman" panose="02020603050405020304" pitchFamily="18" charset="0"/>
                <a:ea typeface="宋体" panose="02010600030101010101" pitchFamily="2" charset="-122"/>
              </a:defRPr>
            </a:lvl1pPr>
          </a:lstStyle>
          <a:p>
            <a:pPr>
              <a:defRPr/>
            </a:pPr>
            <a:fld id="{87765BD0-8639-4309-B2A4-CEF6862AE3FC}" type="slidenum">
              <a:rPr lang="zh-CN" altLang="en-US" smtClean="0"/>
              <a:pPr>
                <a:defRPr/>
              </a:pPr>
              <a:t>‹#›</a:t>
            </a:fld>
            <a:endParaRPr lang="zh-CN" altLang="en-US"/>
          </a:p>
        </p:txBody>
      </p:sp>
      <p:sp>
        <p:nvSpPr>
          <p:cNvPr id="12" name="矩形 11">
            <a:extLst>
              <a:ext uri="{FF2B5EF4-FFF2-40B4-BE49-F238E27FC236}">
                <a16:creationId xmlns:a16="http://schemas.microsoft.com/office/drawing/2014/main" id="{AB399F86-16E9-4431-B20F-1CE198BBC434}"/>
              </a:ext>
            </a:extLst>
          </p:cNvPr>
          <p:cNvSpPr>
            <a:spLocks noChangeArrowheads="1"/>
          </p:cNvSpPr>
          <p:nvPr userDrawn="1"/>
        </p:nvSpPr>
        <p:spPr bwMode="auto">
          <a:xfrm>
            <a:off x="0" y="1967879"/>
            <a:ext cx="12189884" cy="2168691"/>
          </a:xfrm>
          <a:prstGeom prst="rect">
            <a:avLst/>
          </a:prstGeom>
          <a:solidFill>
            <a:srgbClr val="064BB2"/>
          </a:solidFill>
          <a:ln>
            <a:noFill/>
          </a:ln>
          <a:effectLst>
            <a:outerShdw blurRad="50800" dist="38100" dir="5400000" algn="t" rotWithShape="0">
              <a:srgbClr val="000000">
                <a:alpha val="0"/>
              </a:srgbClr>
            </a:outerShdw>
          </a:effectLst>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fontAlgn="base">
              <a:spcBef>
                <a:spcPct val="0"/>
              </a:spcBef>
              <a:spcAft>
                <a:spcPct val="0"/>
              </a:spcAft>
              <a:defRPr/>
            </a:pPr>
            <a:endParaRPr lang="zh-CN" altLang="en-US" sz="952" baseline="0" dirty="0">
              <a:solidFill>
                <a:schemeClr val="bg1"/>
              </a:solidFill>
              <a:latin typeface="Times New Roman" panose="02020603050405020304" pitchFamily="18" charset="0"/>
              <a:ea typeface="宋体" panose="02010600030101010101" pitchFamily="2" charset="-122"/>
              <a:cs typeface="宋体" charset="0"/>
            </a:endParaRPr>
          </a:p>
        </p:txBody>
      </p:sp>
      <p:pic>
        <p:nvPicPr>
          <p:cNvPr id="13" name="图片 12" descr="AW视觉符号.jpg">
            <a:extLst>
              <a:ext uri="{FF2B5EF4-FFF2-40B4-BE49-F238E27FC236}">
                <a16:creationId xmlns:a16="http://schemas.microsoft.com/office/drawing/2014/main" id="{D7E4463B-D75A-455D-9120-ED8B6C57DB54}"/>
              </a:ext>
            </a:extLst>
          </p:cNvPr>
          <p:cNvPicPr>
            <a:picLocks noChangeAspect="1"/>
          </p:cNvPicPr>
          <p:nvPr userDrawn="1"/>
        </p:nvPicPr>
        <p:blipFill>
          <a:blip r:embed="rId2" cstate="print"/>
          <a:stretch>
            <a:fillRect/>
          </a:stretch>
        </p:blipFill>
        <p:spPr>
          <a:xfrm>
            <a:off x="202395" y="2246811"/>
            <a:ext cx="4697018"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077748910"/>
      </p:ext>
    </p:extLst>
  </p:cSld>
  <p:clrMapOvr>
    <a:masterClrMapping/>
  </p:clrMapOvr>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纯内容页">
    <p:spTree>
      <p:nvGrpSpPr>
        <p:cNvPr id="1" name=""/>
        <p:cNvGrpSpPr/>
        <p:nvPr/>
      </p:nvGrpSpPr>
      <p:grpSpPr>
        <a:xfrm>
          <a:off x="0" y="0"/>
          <a:ext cx="0" cy="0"/>
          <a:chOff x="0" y="0"/>
          <a:chExt cx="0" cy="0"/>
        </a:xfrm>
      </p:grpSpPr>
      <p:sp>
        <p:nvSpPr>
          <p:cNvPr id="8" name="AutoShape 23">
            <a:extLst>
              <a:ext uri="{FF2B5EF4-FFF2-40B4-BE49-F238E27FC236}">
                <a16:creationId xmlns:a16="http://schemas.microsoft.com/office/drawing/2014/main" id="{8BBD29A0-7238-44B5-B95C-C6A0C7A8EA53}"/>
              </a:ext>
            </a:extLst>
          </p:cNvPr>
          <p:cNvSpPr>
            <a:spLocks noChangeArrowheads="1"/>
          </p:cNvSpPr>
          <p:nvPr/>
        </p:nvSpPr>
        <p:spPr bwMode="auto">
          <a:xfrm>
            <a:off x="246063" y="915988"/>
            <a:ext cx="9596437" cy="46037"/>
          </a:xfrm>
          <a:prstGeom prst="rect">
            <a:avLst/>
          </a:prstGeom>
          <a:solidFill>
            <a:srgbClr val="064BB2"/>
          </a:solidFill>
          <a:ln>
            <a:noFill/>
          </a:ln>
        </p:spPr>
        <p:txBody>
          <a:bodyPr wrap="none" anchor="ctr"/>
          <a:lstStyle>
            <a:lvl1pPr>
              <a:defRPr sz="900">
                <a:solidFill>
                  <a:srgbClr val="000000"/>
                </a:solidFill>
                <a:latin typeface="Arial" panose="02080604020202020204" pitchFamily="34" charset="0"/>
                <a:ea typeface="宋体" pitchFamily="2" charset="-122"/>
              </a:defRPr>
            </a:lvl1pPr>
            <a:lvl2pPr marL="742950" indent="-285750">
              <a:defRPr sz="900">
                <a:solidFill>
                  <a:srgbClr val="000000"/>
                </a:solidFill>
                <a:latin typeface="Arial" panose="02080604020202020204" pitchFamily="34" charset="0"/>
                <a:ea typeface="宋体" pitchFamily="2" charset="-122"/>
              </a:defRPr>
            </a:lvl2pPr>
            <a:lvl3pPr marL="1143000" indent="-228600">
              <a:defRPr sz="900">
                <a:solidFill>
                  <a:srgbClr val="000000"/>
                </a:solidFill>
                <a:latin typeface="Arial" panose="02080604020202020204" pitchFamily="34" charset="0"/>
                <a:ea typeface="宋体" pitchFamily="2" charset="-122"/>
              </a:defRPr>
            </a:lvl3pPr>
            <a:lvl4pPr marL="1600200" indent="-228600">
              <a:defRPr sz="900">
                <a:solidFill>
                  <a:srgbClr val="000000"/>
                </a:solidFill>
                <a:latin typeface="Arial" panose="02080604020202020204" pitchFamily="34" charset="0"/>
                <a:ea typeface="宋体" pitchFamily="2" charset="-122"/>
              </a:defRPr>
            </a:lvl4pPr>
            <a:lvl5pPr marL="2057400" indent="-228600">
              <a:defRPr sz="900">
                <a:solidFill>
                  <a:srgbClr val="000000"/>
                </a:solidFill>
                <a:latin typeface="Arial" panose="02080604020202020204" pitchFamily="34" charset="0"/>
                <a:ea typeface="宋体" pitchFamily="2" charset="-122"/>
              </a:defRPr>
            </a:lvl5pPr>
            <a:lvl6pPr marL="25146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6pPr>
            <a:lvl7pPr marL="29718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7pPr>
            <a:lvl8pPr marL="34290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8pPr>
            <a:lvl9pPr marL="38862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9pPr>
          </a:lstStyle>
          <a:p>
            <a:pPr algn="ctr" fontAlgn="auto">
              <a:spcBef>
                <a:spcPct val="50000"/>
              </a:spcBef>
              <a:spcAft>
                <a:spcPts val="0"/>
              </a:spcAft>
              <a:defRPr/>
            </a:pPr>
            <a:endParaRPr lang="zh-CN" altLang="en-US" sz="950"/>
          </a:p>
        </p:txBody>
      </p:sp>
      <p:sp>
        <p:nvSpPr>
          <p:cNvPr id="9" name="AutoShape 23">
            <a:extLst>
              <a:ext uri="{FF2B5EF4-FFF2-40B4-BE49-F238E27FC236}">
                <a16:creationId xmlns:a16="http://schemas.microsoft.com/office/drawing/2014/main" id="{0B740AF4-4F4A-423C-AE67-DC3438642124}"/>
              </a:ext>
            </a:extLst>
          </p:cNvPr>
          <p:cNvSpPr>
            <a:spLocks noChangeArrowheads="1"/>
          </p:cNvSpPr>
          <p:nvPr/>
        </p:nvSpPr>
        <p:spPr bwMode="auto">
          <a:xfrm>
            <a:off x="9842500" y="915988"/>
            <a:ext cx="1989138" cy="46037"/>
          </a:xfrm>
          <a:prstGeom prst="rect">
            <a:avLst/>
          </a:prstGeom>
          <a:solidFill>
            <a:srgbClr val="FB9708"/>
          </a:solidFill>
          <a:ln>
            <a:noFill/>
          </a:ln>
        </p:spPr>
        <p:txBody>
          <a:bodyPr wrap="none" anchor="ctr"/>
          <a:lstStyle>
            <a:lvl1pPr>
              <a:defRPr sz="900">
                <a:solidFill>
                  <a:srgbClr val="000000"/>
                </a:solidFill>
                <a:latin typeface="Arial" panose="02080604020202020204" pitchFamily="34" charset="0"/>
                <a:ea typeface="宋体" pitchFamily="2" charset="-122"/>
              </a:defRPr>
            </a:lvl1pPr>
            <a:lvl2pPr marL="742950" indent="-285750">
              <a:defRPr sz="900">
                <a:solidFill>
                  <a:srgbClr val="000000"/>
                </a:solidFill>
                <a:latin typeface="Arial" panose="02080604020202020204" pitchFamily="34" charset="0"/>
                <a:ea typeface="宋体" pitchFamily="2" charset="-122"/>
              </a:defRPr>
            </a:lvl2pPr>
            <a:lvl3pPr marL="1143000" indent="-228600">
              <a:defRPr sz="900">
                <a:solidFill>
                  <a:srgbClr val="000000"/>
                </a:solidFill>
                <a:latin typeface="Arial" panose="02080604020202020204" pitchFamily="34" charset="0"/>
                <a:ea typeface="宋体" pitchFamily="2" charset="-122"/>
              </a:defRPr>
            </a:lvl3pPr>
            <a:lvl4pPr marL="1600200" indent="-228600">
              <a:defRPr sz="900">
                <a:solidFill>
                  <a:srgbClr val="000000"/>
                </a:solidFill>
                <a:latin typeface="Arial" panose="02080604020202020204" pitchFamily="34" charset="0"/>
                <a:ea typeface="宋体" pitchFamily="2" charset="-122"/>
              </a:defRPr>
            </a:lvl4pPr>
            <a:lvl5pPr marL="2057400" indent="-228600">
              <a:defRPr sz="900">
                <a:solidFill>
                  <a:srgbClr val="000000"/>
                </a:solidFill>
                <a:latin typeface="Arial" panose="02080604020202020204" pitchFamily="34" charset="0"/>
                <a:ea typeface="宋体" pitchFamily="2" charset="-122"/>
              </a:defRPr>
            </a:lvl5pPr>
            <a:lvl6pPr marL="25146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6pPr>
            <a:lvl7pPr marL="29718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7pPr>
            <a:lvl8pPr marL="34290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8pPr>
            <a:lvl9pPr marL="38862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9pPr>
          </a:lstStyle>
          <a:p>
            <a:pPr algn="ctr" fontAlgn="auto">
              <a:spcBef>
                <a:spcPct val="50000"/>
              </a:spcBef>
              <a:spcAft>
                <a:spcPts val="0"/>
              </a:spcAft>
              <a:defRPr/>
            </a:pPr>
            <a:endParaRPr lang="zh-CN" altLang="en-US" sz="950"/>
          </a:p>
        </p:txBody>
      </p:sp>
      <p:sp>
        <p:nvSpPr>
          <p:cNvPr id="4" name="内容占位符 2"/>
          <p:cNvSpPr>
            <a:spLocks noGrp="1"/>
          </p:cNvSpPr>
          <p:nvPr>
            <p:ph idx="1" hasCustomPrompt="1"/>
          </p:nvPr>
        </p:nvSpPr>
        <p:spPr>
          <a:xfrm>
            <a:off x="423819" y="1104181"/>
            <a:ext cx="11107601" cy="5052713"/>
          </a:xfrm>
        </p:spPr>
        <p:txBody>
          <a:bodyPr>
            <a:noAutofit/>
          </a:bodyPr>
          <a:lstStyle>
            <a:lvl1pPr marL="362585" indent="-362585">
              <a:lnSpc>
                <a:spcPct val="150000"/>
              </a:lnSpc>
              <a:buClr>
                <a:srgbClr val="032089"/>
              </a:buClr>
              <a:buFont typeface="Wingdings" panose="05000000000000000000" pitchFamily="2" charset="2"/>
              <a:buChar char="Ø"/>
              <a:defRPr sz="1800" b="0" baseline="0">
                <a:latin typeface="Times New Roman" panose="02020603050405020304" pitchFamily="18" charset="0"/>
                <a:ea typeface="宋体" panose="02010600030101010101" pitchFamily="2" charset="-122"/>
                <a:cs typeface="Times New Roman" pitchFamily="18" charset="0"/>
              </a:defRPr>
            </a:lvl1pPr>
            <a:lvl2pPr>
              <a:lnSpc>
                <a:spcPct val="130000"/>
              </a:lnSpc>
              <a:buClr>
                <a:srgbClr val="032089"/>
              </a:buClr>
              <a:buFont typeface="Wingdings" panose="05000000000000000000" pitchFamily="2" charset="2"/>
              <a:buChar char="l"/>
              <a:defRPr sz="2330" b="0">
                <a:latin typeface="微软雅黑" pitchFamily="34" charset="-122"/>
                <a:ea typeface="微软雅黑" pitchFamily="34" charset="-122"/>
              </a:defRPr>
            </a:lvl2pPr>
            <a:lvl3pPr>
              <a:defRPr sz="1905" b="0">
                <a:latin typeface="微软雅黑" pitchFamily="34" charset="-122"/>
                <a:ea typeface="微软雅黑" pitchFamily="34" charset="-122"/>
              </a:defRPr>
            </a:lvl3pPr>
            <a:lvl4pPr>
              <a:defRPr sz="1905" b="0">
                <a:latin typeface="微软雅黑" pitchFamily="34" charset="-122"/>
                <a:ea typeface="微软雅黑" pitchFamily="34" charset="-122"/>
              </a:defRPr>
            </a:lvl4pPr>
            <a:lvl5pPr>
              <a:defRPr sz="1905" b="0">
                <a:latin typeface="微软雅黑" pitchFamily="34" charset="-122"/>
                <a:ea typeface="微软雅黑" pitchFamily="34" charset="-122"/>
              </a:defRPr>
            </a:lvl5pPr>
          </a:lstStyle>
          <a:p>
            <a:pPr lvl="0"/>
            <a:r>
              <a:rPr lang="zh-CN" altLang="en-US" noProof="1"/>
              <a:t>单击此处编辑正文内容</a:t>
            </a:r>
          </a:p>
        </p:txBody>
      </p:sp>
      <p:sp>
        <p:nvSpPr>
          <p:cNvPr id="2" name="标题 1"/>
          <p:cNvSpPr>
            <a:spLocks noGrp="1"/>
          </p:cNvSpPr>
          <p:nvPr>
            <p:ph type="title" hasCustomPrompt="1"/>
          </p:nvPr>
        </p:nvSpPr>
        <p:spPr>
          <a:xfrm>
            <a:off x="254876" y="359079"/>
            <a:ext cx="10972801" cy="528176"/>
          </a:xfrm>
        </p:spPr>
        <p:txBody>
          <a:bodyPr/>
          <a:lstStyle>
            <a:lvl1pPr>
              <a:defRPr sz="2400" b="1" baseline="0">
                <a:solidFill>
                  <a:schemeClr val="tx1"/>
                </a:solidFill>
                <a:latin typeface="微软雅黑" pitchFamily="34" charset="-122"/>
                <a:cs typeface="Times New Roman" pitchFamily="18" charset="0"/>
              </a:defRPr>
            </a:lvl1pPr>
          </a:lstStyle>
          <a:p>
            <a:r>
              <a:rPr lang="zh-CN" altLang="en-US" noProof="1"/>
              <a:t>单击此处编辑标题</a:t>
            </a:r>
          </a:p>
        </p:txBody>
      </p:sp>
      <p:sp>
        <p:nvSpPr>
          <p:cNvPr id="10" name="Rectangle 12">
            <a:extLst>
              <a:ext uri="{FF2B5EF4-FFF2-40B4-BE49-F238E27FC236}">
                <a16:creationId xmlns:a16="http://schemas.microsoft.com/office/drawing/2014/main" id="{7C7A5E4D-DB02-474D-A687-4BCCF2FDE724}"/>
              </a:ext>
            </a:extLst>
          </p:cNvPr>
          <p:cNvSpPr>
            <a:spLocks noChangeArrowheads="1"/>
          </p:cNvSpPr>
          <p:nvPr userDrawn="1"/>
        </p:nvSpPr>
        <p:spPr bwMode="auto">
          <a:xfrm>
            <a:off x="9937750" y="6392863"/>
            <a:ext cx="571500" cy="231775"/>
          </a:xfrm>
          <a:prstGeom prst="rect">
            <a:avLst/>
          </a:prstGeom>
          <a:noFill/>
          <a:ln>
            <a:noFill/>
          </a:ln>
        </p:spPr>
        <p:txBody>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defRPr/>
            </a:pPr>
            <a:r>
              <a:rPr lang="en-US" altLang="zh-CN" sz="1000">
                <a:solidFill>
                  <a:srgbClr val="7F7F7F"/>
                </a:solidFill>
                <a:latin typeface="Arial" panose="02080604020202020204" pitchFamily="34" charset="0"/>
                <a:cs typeface="Arial" panose="02080604020202020204" pitchFamily="34" charset="0"/>
              </a:rPr>
              <a:t> </a:t>
            </a:r>
            <a:fld id="{12438CEF-EDDA-4DCE-9A5B-764076D13ABE}" type="slidenum">
              <a:rPr lang="en-US" altLang="zh-CN" sz="1000" smtClean="0">
                <a:latin typeface="Arial" panose="02080604020202020204" pitchFamily="34" charset="0"/>
                <a:cs typeface="Arial" panose="02080604020202020204" pitchFamily="34" charset="0"/>
              </a:rPr>
              <a:pPr algn="ctr">
                <a:defRPr/>
              </a:pPr>
              <a:t>‹#›</a:t>
            </a:fld>
            <a:endParaRPr lang="en-US" altLang="zh-CN" sz="1000">
              <a:latin typeface="Arial" panose="02080604020202020204" pitchFamily="34" charset="0"/>
              <a:cs typeface="Arial" panose="02080604020202020204" pitchFamily="34" charset="0"/>
            </a:endParaRPr>
          </a:p>
        </p:txBody>
      </p:sp>
      <p:cxnSp>
        <p:nvCxnSpPr>
          <p:cNvPr id="11" name="直接连接符 19">
            <a:extLst>
              <a:ext uri="{FF2B5EF4-FFF2-40B4-BE49-F238E27FC236}">
                <a16:creationId xmlns:a16="http://schemas.microsoft.com/office/drawing/2014/main" id="{0DB82917-4F7B-4EFF-8049-9269C865D491}"/>
              </a:ext>
            </a:extLst>
          </p:cNvPr>
          <p:cNvCxnSpPr>
            <a:stCxn id="11" idx="3"/>
          </p:cNvCxnSpPr>
          <p:nvPr userDrawn="1"/>
        </p:nvCxnSpPr>
        <p:spPr>
          <a:xfrm>
            <a:off x="10509250" y="6508750"/>
            <a:ext cx="1019175"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2" name="直接连接符 14">
            <a:extLst>
              <a:ext uri="{FF2B5EF4-FFF2-40B4-BE49-F238E27FC236}">
                <a16:creationId xmlns:a16="http://schemas.microsoft.com/office/drawing/2014/main" id="{462BF3BD-8E93-42E6-A707-9EA5D6EED64F}"/>
              </a:ext>
            </a:extLst>
          </p:cNvPr>
          <p:cNvCxnSpPr>
            <a:cxnSpLocks/>
          </p:cNvCxnSpPr>
          <p:nvPr userDrawn="1"/>
        </p:nvCxnSpPr>
        <p:spPr>
          <a:xfrm>
            <a:off x="2543175" y="6508750"/>
            <a:ext cx="7394575" cy="0"/>
          </a:xfrm>
          <a:prstGeom prst="line">
            <a:avLst/>
          </a:prstGeom>
          <a:ln>
            <a:solidFill>
              <a:srgbClr val="064BB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702902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小标题+内容页">
    <p:spTree>
      <p:nvGrpSpPr>
        <p:cNvPr id="1" name=""/>
        <p:cNvGrpSpPr/>
        <p:nvPr/>
      </p:nvGrpSpPr>
      <p:grpSpPr>
        <a:xfrm>
          <a:off x="0" y="0"/>
          <a:ext cx="0" cy="0"/>
          <a:chOff x="0" y="0"/>
          <a:chExt cx="0" cy="0"/>
        </a:xfrm>
      </p:grpSpPr>
      <p:sp>
        <p:nvSpPr>
          <p:cNvPr id="8" name="AutoShape 23">
            <a:extLst>
              <a:ext uri="{FF2B5EF4-FFF2-40B4-BE49-F238E27FC236}">
                <a16:creationId xmlns:a16="http://schemas.microsoft.com/office/drawing/2014/main" id="{0685CE8C-B9A8-46A0-ADB9-4D39BDC2C2F4}"/>
              </a:ext>
            </a:extLst>
          </p:cNvPr>
          <p:cNvSpPr>
            <a:spLocks noChangeArrowheads="1"/>
          </p:cNvSpPr>
          <p:nvPr userDrawn="1"/>
        </p:nvSpPr>
        <p:spPr bwMode="auto">
          <a:xfrm>
            <a:off x="246063" y="915988"/>
            <a:ext cx="9596437" cy="46037"/>
          </a:xfrm>
          <a:prstGeom prst="rect">
            <a:avLst/>
          </a:prstGeom>
          <a:solidFill>
            <a:srgbClr val="064BB2"/>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2" baseline="0">
              <a:latin typeface="Times New Roman" panose="02020603050405020304" pitchFamily="18" charset="0"/>
              <a:ea typeface="宋体" panose="02010600030101010101" pitchFamily="2" charset="-122"/>
            </a:endParaRPr>
          </a:p>
        </p:txBody>
      </p:sp>
      <p:sp>
        <p:nvSpPr>
          <p:cNvPr id="9" name="AutoShape 23">
            <a:extLst>
              <a:ext uri="{FF2B5EF4-FFF2-40B4-BE49-F238E27FC236}">
                <a16:creationId xmlns:a16="http://schemas.microsoft.com/office/drawing/2014/main" id="{F38BE64D-19F8-41E3-B759-05846120B7B5}"/>
              </a:ext>
            </a:extLst>
          </p:cNvPr>
          <p:cNvSpPr>
            <a:spLocks noChangeArrowheads="1"/>
          </p:cNvSpPr>
          <p:nvPr userDrawn="1"/>
        </p:nvSpPr>
        <p:spPr bwMode="auto">
          <a:xfrm>
            <a:off x="9842500" y="915988"/>
            <a:ext cx="1989138" cy="46037"/>
          </a:xfrm>
          <a:prstGeom prst="rect">
            <a:avLst/>
          </a:prstGeom>
          <a:solidFill>
            <a:srgbClr val="FB9708"/>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2" baseline="0">
              <a:latin typeface="Times New Roman" panose="02020603050405020304" pitchFamily="18" charset="0"/>
              <a:ea typeface="宋体" panose="02010600030101010101" pitchFamily="2" charset="-122"/>
            </a:endParaRPr>
          </a:p>
        </p:txBody>
      </p:sp>
      <p:sp>
        <p:nvSpPr>
          <p:cNvPr id="4" name="内容占位符 2"/>
          <p:cNvSpPr>
            <a:spLocks noGrp="1"/>
          </p:cNvSpPr>
          <p:nvPr>
            <p:ph idx="1" hasCustomPrompt="1"/>
          </p:nvPr>
        </p:nvSpPr>
        <p:spPr>
          <a:xfrm>
            <a:off x="423819" y="1713662"/>
            <a:ext cx="11107601" cy="4339721"/>
          </a:xfrm>
        </p:spPr>
        <p:txBody>
          <a:bodyPr>
            <a:noAutofit/>
          </a:bodyPr>
          <a:lstStyle>
            <a:lvl1pPr marL="362822" indent="-362822">
              <a:lnSpc>
                <a:spcPct val="150000"/>
              </a:lnSpc>
              <a:buClr>
                <a:srgbClr val="032089"/>
              </a:buClr>
              <a:buFont typeface="Wingdings" pitchFamily="2" charset="2"/>
              <a:buChar char="Ø"/>
              <a:defRPr sz="1800" b="0" baseline="0">
                <a:latin typeface="Times New Roman" panose="02020603050405020304" pitchFamily="18" charset="0"/>
                <a:ea typeface="宋体" panose="02010600030101010101" pitchFamily="2" charset="-122"/>
                <a:cs typeface="Times New Roman" pitchFamily="18" charset="0"/>
              </a:defRPr>
            </a:lvl1pPr>
            <a:lvl2pPr>
              <a:lnSpc>
                <a:spcPct val="130000"/>
              </a:lnSpc>
              <a:buClr>
                <a:srgbClr val="032089"/>
              </a:buClr>
              <a:buFont typeface="Wingdings" pitchFamily="2" charset="2"/>
              <a:buChar char="l"/>
              <a:defRPr sz="2328" b="0">
                <a:latin typeface="微软雅黑" pitchFamily="34" charset="-122"/>
                <a:ea typeface="微软雅黑" pitchFamily="34" charset="-122"/>
              </a:defRPr>
            </a:lvl2pPr>
            <a:lvl3pPr>
              <a:defRPr sz="1905" b="0">
                <a:latin typeface="微软雅黑" pitchFamily="34" charset="-122"/>
                <a:ea typeface="微软雅黑" pitchFamily="34" charset="-122"/>
              </a:defRPr>
            </a:lvl3pPr>
            <a:lvl4pPr>
              <a:defRPr sz="1905" b="0">
                <a:latin typeface="微软雅黑" pitchFamily="34" charset="-122"/>
                <a:ea typeface="微软雅黑" pitchFamily="34" charset="-122"/>
              </a:defRPr>
            </a:lvl4pPr>
            <a:lvl5pPr>
              <a:defRPr sz="1905" b="0">
                <a:latin typeface="微软雅黑" pitchFamily="34" charset="-122"/>
                <a:ea typeface="微软雅黑" pitchFamily="34" charset="-122"/>
              </a:defRPr>
            </a:lvl5pPr>
          </a:lstStyle>
          <a:p>
            <a:pPr lvl="0"/>
            <a:r>
              <a:rPr lang="zh-CN" altLang="en-US" dirty="0"/>
              <a:t>单击此处编辑正文内容</a:t>
            </a:r>
          </a:p>
        </p:txBody>
      </p:sp>
      <p:sp>
        <p:nvSpPr>
          <p:cNvPr id="2" name="标题 1"/>
          <p:cNvSpPr>
            <a:spLocks noGrp="1"/>
          </p:cNvSpPr>
          <p:nvPr>
            <p:ph type="title" hasCustomPrompt="1"/>
          </p:nvPr>
        </p:nvSpPr>
        <p:spPr>
          <a:xfrm>
            <a:off x="254876" y="359079"/>
            <a:ext cx="10972801" cy="528176"/>
          </a:xfrm>
        </p:spPr>
        <p:txBody>
          <a:bodyPr/>
          <a:lstStyle>
            <a:lvl1pPr>
              <a:defRPr sz="2400" b="1" baseline="0">
                <a:solidFill>
                  <a:schemeClr val="tx1"/>
                </a:solidFill>
                <a:latin typeface="Times New Roman" panose="02020603050405020304" pitchFamily="18" charset="0"/>
                <a:ea typeface="宋体" panose="02010600030101010101" pitchFamily="2" charset="-122"/>
                <a:cs typeface="Times New Roman" pitchFamily="18" charset="0"/>
              </a:defRPr>
            </a:lvl1pPr>
          </a:lstStyle>
          <a:p>
            <a:r>
              <a:rPr lang="zh-CN" altLang="en-US" dirty="0"/>
              <a:t>单击此处编辑标题</a:t>
            </a:r>
          </a:p>
        </p:txBody>
      </p:sp>
      <p:sp>
        <p:nvSpPr>
          <p:cNvPr id="14" name="内容占位符 2"/>
          <p:cNvSpPr>
            <a:spLocks noGrp="1"/>
          </p:cNvSpPr>
          <p:nvPr>
            <p:ph idx="10" hasCustomPrompt="1"/>
          </p:nvPr>
        </p:nvSpPr>
        <p:spPr>
          <a:xfrm>
            <a:off x="423819" y="1138980"/>
            <a:ext cx="11107601" cy="426469"/>
          </a:xfrm>
          <a:noFill/>
          <a:ln>
            <a:noFill/>
          </a:ln>
        </p:spPr>
        <p:txBody>
          <a:bodyPr anchor="ctr">
            <a:noAutofit/>
          </a:bodyPr>
          <a:lstStyle>
            <a:lvl1pPr marL="0" indent="0">
              <a:buNone/>
              <a:defRPr lang="zh-CN" altLang="en-US" sz="2000" b="0" baseline="0" dirty="0" smtClean="0">
                <a:latin typeface="Times New Roman" panose="02020603050405020304" pitchFamily="18" charset="0"/>
                <a:ea typeface="宋体" panose="02010600030101010101" pitchFamily="2" charset="-122"/>
                <a:cs typeface="Times New Roman" pitchFamily="18" charset="0"/>
              </a:defRPr>
            </a:lvl1pPr>
          </a:lstStyle>
          <a:p>
            <a:pPr lvl="0"/>
            <a:r>
              <a:rPr lang="zh-CN" altLang="en-US" dirty="0"/>
              <a:t>单击此处编辑标题</a:t>
            </a:r>
          </a:p>
        </p:txBody>
      </p:sp>
      <p:sp>
        <p:nvSpPr>
          <p:cNvPr id="13" name="Rectangle 12">
            <a:extLst>
              <a:ext uri="{FF2B5EF4-FFF2-40B4-BE49-F238E27FC236}">
                <a16:creationId xmlns:a16="http://schemas.microsoft.com/office/drawing/2014/main" id="{B6F01470-0D73-4801-89FD-7BF801E89D9C}"/>
              </a:ext>
            </a:extLst>
          </p:cNvPr>
          <p:cNvSpPr>
            <a:spLocks noChangeArrowheads="1"/>
          </p:cNvSpPr>
          <p:nvPr userDrawn="1"/>
        </p:nvSpPr>
        <p:spPr bwMode="auto">
          <a:xfrm>
            <a:off x="9937750" y="6392863"/>
            <a:ext cx="571500" cy="231775"/>
          </a:xfrm>
          <a:prstGeom prst="rect">
            <a:avLst/>
          </a:prstGeom>
          <a:noFill/>
          <a:ln>
            <a:noFill/>
          </a:ln>
        </p:spPr>
        <p:txBody>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defRPr/>
            </a:pPr>
            <a:r>
              <a:rPr lang="en-US" altLang="zh-CN" sz="1000" baseline="0">
                <a:solidFill>
                  <a:srgbClr val="7F7F7F"/>
                </a:solidFill>
                <a:latin typeface="Times New Roman" panose="02020603050405020304" pitchFamily="18" charset="0"/>
                <a:ea typeface="宋体" panose="02010600030101010101" pitchFamily="2" charset="-122"/>
                <a:cs typeface="Arial" panose="02080604020202020204" pitchFamily="34" charset="0"/>
              </a:rPr>
              <a:t> </a:t>
            </a:r>
            <a:fld id="{12438CEF-EDDA-4DCE-9A5B-764076D13ABE}" type="slidenum">
              <a:rPr lang="en-US" altLang="zh-CN" sz="1000" baseline="0" smtClean="0">
                <a:latin typeface="Times New Roman" panose="02020603050405020304" pitchFamily="18" charset="0"/>
                <a:ea typeface="宋体" panose="02010600030101010101" pitchFamily="2" charset="-122"/>
                <a:cs typeface="Arial" panose="02080604020202020204" pitchFamily="34" charset="0"/>
              </a:rPr>
              <a:pPr algn="ctr">
                <a:defRPr/>
              </a:pPr>
              <a:t>‹#›</a:t>
            </a:fld>
            <a:endParaRPr lang="en-US" altLang="zh-CN" sz="1000" baseline="0">
              <a:latin typeface="Times New Roman" panose="02020603050405020304" pitchFamily="18" charset="0"/>
              <a:ea typeface="宋体" panose="02010600030101010101" pitchFamily="2" charset="-122"/>
              <a:cs typeface="Arial" panose="02080604020202020204" pitchFamily="34" charset="0"/>
            </a:endParaRPr>
          </a:p>
        </p:txBody>
      </p:sp>
      <p:cxnSp>
        <p:nvCxnSpPr>
          <p:cNvPr id="15" name="直接连接符 19">
            <a:extLst>
              <a:ext uri="{FF2B5EF4-FFF2-40B4-BE49-F238E27FC236}">
                <a16:creationId xmlns:a16="http://schemas.microsoft.com/office/drawing/2014/main" id="{79E682D5-688B-4607-9B58-7F58189A105C}"/>
              </a:ext>
            </a:extLst>
          </p:cNvPr>
          <p:cNvCxnSpPr>
            <a:stCxn id="15" idx="3"/>
          </p:cNvCxnSpPr>
          <p:nvPr userDrawn="1"/>
        </p:nvCxnSpPr>
        <p:spPr>
          <a:xfrm>
            <a:off x="10509250" y="6508750"/>
            <a:ext cx="1019175"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6" name="直接连接符 14">
            <a:extLst>
              <a:ext uri="{FF2B5EF4-FFF2-40B4-BE49-F238E27FC236}">
                <a16:creationId xmlns:a16="http://schemas.microsoft.com/office/drawing/2014/main" id="{5093AE0B-EC21-4FE9-9D68-DAF6BF8ADC71}"/>
              </a:ext>
            </a:extLst>
          </p:cNvPr>
          <p:cNvCxnSpPr>
            <a:cxnSpLocks/>
          </p:cNvCxnSpPr>
          <p:nvPr userDrawn="1"/>
        </p:nvCxnSpPr>
        <p:spPr>
          <a:xfrm>
            <a:off x="423819" y="6508750"/>
            <a:ext cx="9513931" cy="0"/>
          </a:xfrm>
          <a:prstGeom prst="line">
            <a:avLst/>
          </a:prstGeom>
          <a:ln>
            <a:solidFill>
              <a:srgbClr val="064BB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234405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程序页">
    <p:spTree>
      <p:nvGrpSpPr>
        <p:cNvPr id="1" name=""/>
        <p:cNvGrpSpPr/>
        <p:nvPr/>
      </p:nvGrpSpPr>
      <p:grpSpPr>
        <a:xfrm>
          <a:off x="0" y="0"/>
          <a:ext cx="0" cy="0"/>
          <a:chOff x="0" y="0"/>
          <a:chExt cx="0" cy="0"/>
        </a:xfrm>
      </p:grpSpPr>
      <p:sp>
        <p:nvSpPr>
          <p:cNvPr id="8" name="AutoShape 23">
            <a:extLst>
              <a:ext uri="{FF2B5EF4-FFF2-40B4-BE49-F238E27FC236}">
                <a16:creationId xmlns:a16="http://schemas.microsoft.com/office/drawing/2014/main" id="{0685CE8C-B9A8-46A0-ADB9-4D39BDC2C2F4}"/>
              </a:ext>
            </a:extLst>
          </p:cNvPr>
          <p:cNvSpPr>
            <a:spLocks noChangeArrowheads="1"/>
          </p:cNvSpPr>
          <p:nvPr userDrawn="1"/>
        </p:nvSpPr>
        <p:spPr bwMode="auto">
          <a:xfrm>
            <a:off x="246063" y="915988"/>
            <a:ext cx="9596437" cy="46037"/>
          </a:xfrm>
          <a:prstGeom prst="rect">
            <a:avLst/>
          </a:prstGeom>
          <a:solidFill>
            <a:srgbClr val="064BB2"/>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2" baseline="0">
              <a:latin typeface="Times New Roman" panose="02020603050405020304" pitchFamily="18" charset="0"/>
              <a:ea typeface="宋体" panose="02010600030101010101" pitchFamily="2" charset="-122"/>
            </a:endParaRPr>
          </a:p>
        </p:txBody>
      </p:sp>
      <p:sp>
        <p:nvSpPr>
          <p:cNvPr id="9" name="AutoShape 23">
            <a:extLst>
              <a:ext uri="{FF2B5EF4-FFF2-40B4-BE49-F238E27FC236}">
                <a16:creationId xmlns:a16="http://schemas.microsoft.com/office/drawing/2014/main" id="{F38BE64D-19F8-41E3-B759-05846120B7B5}"/>
              </a:ext>
            </a:extLst>
          </p:cNvPr>
          <p:cNvSpPr>
            <a:spLocks noChangeArrowheads="1"/>
          </p:cNvSpPr>
          <p:nvPr userDrawn="1"/>
        </p:nvSpPr>
        <p:spPr bwMode="auto">
          <a:xfrm>
            <a:off x="9842500" y="915988"/>
            <a:ext cx="1989138" cy="46037"/>
          </a:xfrm>
          <a:prstGeom prst="rect">
            <a:avLst/>
          </a:prstGeom>
          <a:solidFill>
            <a:srgbClr val="FB9708"/>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2" baseline="0">
              <a:latin typeface="Times New Roman" panose="02020603050405020304" pitchFamily="18" charset="0"/>
              <a:ea typeface="宋体" panose="02010600030101010101" pitchFamily="2" charset="-122"/>
            </a:endParaRPr>
          </a:p>
        </p:txBody>
      </p:sp>
      <p:sp>
        <p:nvSpPr>
          <p:cNvPr id="4" name="内容占位符 2"/>
          <p:cNvSpPr>
            <a:spLocks noGrp="1"/>
          </p:cNvSpPr>
          <p:nvPr>
            <p:ph idx="1" hasCustomPrompt="1"/>
          </p:nvPr>
        </p:nvSpPr>
        <p:spPr>
          <a:xfrm>
            <a:off x="423819" y="1713662"/>
            <a:ext cx="11107601" cy="4339721"/>
          </a:xfrm>
        </p:spPr>
        <p:txBody>
          <a:bodyPr>
            <a:noAutofit/>
          </a:bodyPr>
          <a:lstStyle>
            <a:lvl1pPr marL="362822" indent="-362822">
              <a:lnSpc>
                <a:spcPct val="150000"/>
              </a:lnSpc>
              <a:buClr>
                <a:srgbClr val="032089"/>
              </a:buClr>
              <a:buFont typeface="Arial" panose="020B0604020202020204" pitchFamily="34" charset="0"/>
              <a:buChar char="•"/>
              <a:defRPr sz="1600" b="0" baseline="0">
                <a:latin typeface="Times New Roman" panose="02020603050405020304" pitchFamily="18" charset="0"/>
                <a:ea typeface="宋体" panose="02010600030101010101" pitchFamily="2" charset="-122"/>
                <a:cs typeface="Times New Roman" pitchFamily="18" charset="0"/>
              </a:defRPr>
            </a:lvl1pPr>
            <a:lvl2pPr>
              <a:lnSpc>
                <a:spcPct val="130000"/>
              </a:lnSpc>
              <a:buClr>
                <a:srgbClr val="032089"/>
              </a:buClr>
              <a:buFont typeface="Wingdings" pitchFamily="2" charset="2"/>
              <a:buChar char="l"/>
              <a:defRPr sz="2328" b="0">
                <a:latin typeface="微软雅黑" pitchFamily="34" charset="-122"/>
                <a:ea typeface="微软雅黑" pitchFamily="34" charset="-122"/>
              </a:defRPr>
            </a:lvl2pPr>
            <a:lvl3pPr>
              <a:defRPr sz="1905" b="0">
                <a:latin typeface="微软雅黑" pitchFamily="34" charset="-122"/>
                <a:ea typeface="微软雅黑" pitchFamily="34" charset="-122"/>
              </a:defRPr>
            </a:lvl3pPr>
            <a:lvl4pPr>
              <a:defRPr sz="1905" b="0">
                <a:latin typeface="微软雅黑" pitchFamily="34" charset="-122"/>
                <a:ea typeface="微软雅黑" pitchFamily="34" charset="-122"/>
              </a:defRPr>
            </a:lvl4pPr>
            <a:lvl5pPr>
              <a:defRPr sz="1905" b="0">
                <a:latin typeface="微软雅黑" pitchFamily="34" charset="-122"/>
                <a:ea typeface="微软雅黑" pitchFamily="34" charset="-122"/>
              </a:defRPr>
            </a:lvl5pPr>
          </a:lstStyle>
          <a:p>
            <a:pPr lvl="0"/>
            <a:r>
              <a:rPr lang="zh-CN" altLang="en-US" dirty="0"/>
              <a:t>此处编辑具体代码</a:t>
            </a:r>
          </a:p>
        </p:txBody>
      </p:sp>
      <p:sp>
        <p:nvSpPr>
          <p:cNvPr id="2" name="标题 1"/>
          <p:cNvSpPr>
            <a:spLocks noGrp="1"/>
          </p:cNvSpPr>
          <p:nvPr>
            <p:ph type="title" hasCustomPrompt="1"/>
          </p:nvPr>
        </p:nvSpPr>
        <p:spPr>
          <a:xfrm>
            <a:off x="254876" y="359079"/>
            <a:ext cx="10972801" cy="528176"/>
          </a:xfrm>
        </p:spPr>
        <p:txBody>
          <a:bodyPr/>
          <a:lstStyle>
            <a:lvl1pPr>
              <a:defRPr sz="2400" b="1" baseline="0">
                <a:solidFill>
                  <a:schemeClr val="tx1"/>
                </a:solidFill>
                <a:latin typeface="Times New Roman" panose="02020603050405020304" pitchFamily="18" charset="0"/>
                <a:ea typeface="宋体" panose="02010600030101010101" pitchFamily="2" charset="-122"/>
                <a:cs typeface="Times New Roman" pitchFamily="18" charset="0"/>
              </a:defRPr>
            </a:lvl1pPr>
          </a:lstStyle>
          <a:p>
            <a:r>
              <a:rPr lang="zh-CN" altLang="en-US" dirty="0"/>
              <a:t>单击此处编辑标题</a:t>
            </a:r>
          </a:p>
        </p:txBody>
      </p:sp>
      <p:sp>
        <p:nvSpPr>
          <p:cNvPr id="14" name="内容占位符 2"/>
          <p:cNvSpPr>
            <a:spLocks noGrp="1"/>
          </p:cNvSpPr>
          <p:nvPr>
            <p:ph idx="10" hasCustomPrompt="1"/>
          </p:nvPr>
        </p:nvSpPr>
        <p:spPr>
          <a:xfrm>
            <a:off x="423819" y="1138980"/>
            <a:ext cx="11107601" cy="426469"/>
          </a:xfrm>
          <a:noFill/>
          <a:ln>
            <a:noFill/>
          </a:ln>
        </p:spPr>
        <p:txBody>
          <a:bodyPr anchor="ctr">
            <a:noAutofit/>
          </a:bodyPr>
          <a:lstStyle>
            <a:lvl1pPr marL="0" indent="0">
              <a:buNone/>
              <a:defRPr lang="zh-CN" altLang="en-US" sz="1800" b="0" baseline="0" dirty="0" smtClean="0">
                <a:latin typeface="Times New Roman" panose="02020603050405020304" pitchFamily="18" charset="0"/>
                <a:ea typeface="宋体" panose="02010600030101010101" pitchFamily="2" charset="-122"/>
                <a:cs typeface="Times New Roman" pitchFamily="18" charset="0"/>
              </a:defRPr>
            </a:lvl1pPr>
          </a:lstStyle>
          <a:p>
            <a:pPr lvl="0"/>
            <a:r>
              <a:rPr lang="zh-CN" altLang="en-US" dirty="0"/>
              <a:t>单击此处编辑这个代码是干嘛的</a:t>
            </a:r>
          </a:p>
        </p:txBody>
      </p:sp>
      <p:sp>
        <p:nvSpPr>
          <p:cNvPr id="13" name="Rectangle 12">
            <a:extLst>
              <a:ext uri="{FF2B5EF4-FFF2-40B4-BE49-F238E27FC236}">
                <a16:creationId xmlns:a16="http://schemas.microsoft.com/office/drawing/2014/main" id="{B6F01470-0D73-4801-89FD-7BF801E89D9C}"/>
              </a:ext>
            </a:extLst>
          </p:cNvPr>
          <p:cNvSpPr>
            <a:spLocks noChangeArrowheads="1"/>
          </p:cNvSpPr>
          <p:nvPr userDrawn="1"/>
        </p:nvSpPr>
        <p:spPr bwMode="auto">
          <a:xfrm>
            <a:off x="9937750" y="6392863"/>
            <a:ext cx="571500" cy="231775"/>
          </a:xfrm>
          <a:prstGeom prst="rect">
            <a:avLst/>
          </a:prstGeom>
          <a:noFill/>
          <a:ln>
            <a:noFill/>
          </a:ln>
        </p:spPr>
        <p:txBody>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defRPr/>
            </a:pPr>
            <a:r>
              <a:rPr lang="en-US" altLang="zh-CN" sz="1000" baseline="0">
                <a:solidFill>
                  <a:srgbClr val="7F7F7F"/>
                </a:solidFill>
                <a:latin typeface="Times New Roman" panose="02020603050405020304" pitchFamily="18" charset="0"/>
                <a:ea typeface="宋体" panose="02010600030101010101" pitchFamily="2" charset="-122"/>
                <a:cs typeface="Arial" panose="02080604020202020204" pitchFamily="34" charset="0"/>
              </a:rPr>
              <a:t> </a:t>
            </a:r>
            <a:fld id="{12438CEF-EDDA-4DCE-9A5B-764076D13ABE}" type="slidenum">
              <a:rPr lang="en-US" altLang="zh-CN" sz="1000" baseline="0" smtClean="0">
                <a:latin typeface="Times New Roman" panose="02020603050405020304" pitchFamily="18" charset="0"/>
                <a:ea typeface="宋体" panose="02010600030101010101" pitchFamily="2" charset="-122"/>
                <a:cs typeface="Arial" panose="02080604020202020204" pitchFamily="34" charset="0"/>
              </a:rPr>
              <a:pPr algn="ctr">
                <a:defRPr/>
              </a:pPr>
              <a:t>‹#›</a:t>
            </a:fld>
            <a:endParaRPr lang="en-US" altLang="zh-CN" sz="1000" baseline="0">
              <a:latin typeface="Times New Roman" panose="02020603050405020304" pitchFamily="18" charset="0"/>
              <a:ea typeface="宋体" panose="02010600030101010101" pitchFamily="2" charset="-122"/>
              <a:cs typeface="Arial" panose="02080604020202020204" pitchFamily="34" charset="0"/>
            </a:endParaRPr>
          </a:p>
        </p:txBody>
      </p:sp>
      <p:cxnSp>
        <p:nvCxnSpPr>
          <p:cNvPr id="15" name="直接连接符 19">
            <a:extLst>
              <a:ext uri="{FF2B5EF4-FFF2-40B4-BE49-F238E27FC236}">
                <a16:creationId xmlns:a16="http://schemas.microsoft.com/office/drawing/2014/main" id="{79E682D5-688B-4607-9B58-7F58189A105C}"/>
              </a:ext>
            </a:extLst>
          </p:cNvPr>
          <p:cNvCxnSpPr>
            <a:stCxn id="15" idx="3"/>
          </p:cNvCxnSpPr>
          <p:nvPr userDrawn="1"/>
        </p:nvCxnSpPr>
        <p:spPr>
          <a:xfrm>
            <a:off x="10509250" y="6508750"/>
            <a:ext cx="1019175"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6" name="直接连接符 14">
            <a:extLst>
              <a:ext uri="{FF2B5EF4-FFF2-40B4-BE49-F238E27FC236}">
                <a16:creationId xmlns:a16="http://schemas.microsoft.com/office/drawing/2014/main" id="{5093AE0B-EC21-4FE9-9D68-DAF6BF8ADC71}"/>
              </a:ext>
            </a:extLst>
          </p:cNvPr>
          <p:cNvCxnSpPr>
            <a:cxnSpLocks/>
          </p:cNvCxnSpPr>
          <p:nvPr userDrawn="1"/>
        </p:nvCxnSpPr>
        <p:spPr>
          <a:xfrm>
            <a:off x="423819" y="6508750"/>
            <a:ext cx="9513931" cy="0"/>
          </a:xfrm>
          <a:prstGeom prst="line">
            <a:avLst/>
          </a:prstGeom>
          <a:ln>
            <a:solidFill>
              <a:srgbClr val="064BB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06114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尾页">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359FCFE-780C-4DC9-BB8F-C2871BF58111}"/>
              </a:ext>
            </a:extLst>
          </p:cNvPr>
          <p:cNvSpPr>
            <a:spLocks noChangeArrowheads="1"/>
          </p:cNvSpPr>
          <p:nvPr/>
        </p:nvSpPr>
        <p:spPr bwMode="auto">
          <a:xfrm>
            <a:off x="0" y="1968500"/>
            <a:ext cx="12190413" cy="2168525"/>
          </a:xfrm>
          <a:prstGeom prst="rect">
            <a:avLst/>
          </a:prstGeom>
          <a:solidFill>
            <a:srgbClr val="064BB2"/>
          </a:solidFill>
          <a:ln>
            <a:noFill/>
          </a:ln>
          <a:effectLst>
            <a:outerShdw blurRad="50800" dist="38100" dir="5400000" algn="t" rotWithShape="0">
              <a:srgbClr val="000000">
                <a:alpha val="0"/>
              </a:srgbClr>
            </a:outerShdw>
          </a:effectLst>
        </p:spPr>
        <p:txBody>
          <a:bodyPr anchor="ctr"/>
          <a:lstStyle/>
          <a:p>
            <a:pPr algn="ctr">
              <a:defRPr/>
            </a:pPr>
            <a:endParaRPr lang="zh-CN" altLang="en-US" sz="950" baseline="0" dirty="0">
              <a:solidFill>
                <a:schemeClr val="bg1"/>
              </a:solidFill>
              <a:latin typeface="Times New Roman" panose="02020603050405020304" pitchFamily="18" charset="0"/>
              <a:ea typeface="宋体" panose="02010600030101010101" pitchFamily="2" charset="-122"/>
              <a:cs typeface="宋体" charset="0"/>
            </a:endParaRPr>
          </a:p>
        </p:txBody>
      </p:sp>
      <p:sp>
        <p:nvSpPr>
          <p:cNvPr id="3" name="Title 1">
            <a:extLst>
              <a:ext uri="{FF2B5EF4-FFF2-40B4-BE49-F238E27FC236}">
                <a16:creationId xmlns:a16="http://schemas.microsoft.com/office/drawing/2014/main" id="{B6754C84-BAA5-4112-B60B-5975A15E65C9}"/>
              </a:ext>
            </a:extLst>
          </p:cNvPr>
          <p:cNvSpPr txBox="1"/>
          <p:nvPr/>
        </p:nvSpPr>
        <p:spPr>
          <a:xfrm>
            <a:off x="5108398" y="2071633"/>
            <a:ext cx="7082050" cy="1653849"/>
          </a:xfrm>
          <a:prstGeom prst="rect">
            <a:avLst/>
          </a:prstGeom>
        </p:spPr>
        <p:txBody>
          <a:bodyPr anchor="b"/>
          <a:lstStyle>
            <a:lvl1pPr algn="ctr" defTabSz="1028700" rtl="0" eaLnBrk="1" fontAlgn="base" latinLnBrk="0" hangingPunct="1">
              <a:lnSpc>
                <a:spcPts val="3360"/>
              </a:lnSpc>
              <a:spcBef>
                <a:spcPts val="630"/>
              </a:spcBef>
              <a:spcAft>
                <a:spcPct val="0"/>
              </a:spcAft>
              <a:buNone/>
              <a:defRPr lang="en-US" sz="2940" b="1" kern="1200" dirty="0">
                <a:solidFill>
                  <a:schemeClr val="bg1"/>
                </a:solidFill>
                <a:latin typeface="微软雅黑" pitchFamily="34" charset="-122"/>
                <a:ea typeface="微软雅黑" pitchFamily="34" charset="-122"/>
                <a:cs typeface="+mn-cs"/>
              </a:defRPr>
            </a:lvl1pPr>
          </a:lstStyle>
          <a:p>
            <a:pPr>
              <a:defRPr/>
            </a:pPr>
            <a:r>
              <a:rPr altLang="zh-CN" sz="6600" baseline="0">
                <a:ln>
                  <a:solidFill>
                    <a:schemeClr val="bg1"/>
                  </a:solidFill>
                </a:ln>
                <a:effectLst>
                  <a:reflection blurRad="6350" stA="50000" endA="300" endPos="50000" dist="29997" dir="5400000" sy="-100000" algn="bl" rotWithShape="0"/>
                </a:effectLst>
                <a:latin typeface="Times New Roman" panose="02020603050405020304" pitchFamily="18" charset="0"/>
                <a:ea typeface="宋体" panose="02010600030101010101" pitchFamily="2" charset="-122"/>
              </a:rPr>
              <a:t>Thank you!</a:t>
            </a:r>
            <a:endParaRPr lang="zh-CN" altLang="en-US" sz="6600" baseline="0">
              <a:ln>
                <a:solidFill>
                  <a:schemeClr val="bg1"/>
                </a:solidFill>
              </a:ln>
              <a:effectLst>
                <a:reflection blurRad="6350" stA="50000" endA="300" endPos="50000" dist="29997" dir="5400000" sy="-100000" algn="bl" rotWithShape="0"/>
              </a:effectLst>
              <a:latin typeface="Times New Roman" panose="02020603050405020304" pitchFamily="18" charset="0"/>
              <a:ea typeface="宋体" panose="02010600030101010101" pitchFamily="2" charset="-122"/>
            </a:endParaRPr>
          </a:p>
        </p:txBody>
      </p:sp>
      <p:pic>
        <p:nvPicPr>
          <p:cNvPr id="4" name="图片 3">
            <a:extLst>
              <a:ext uri="{FF2B5EF4-FFF2-40B4-BE49-F238E27FC236}">
                <a16:creationId xmlns:a16="http://schemas.microsoft.com/office/drawing/2014/main" id="{D1EC14CD-6350-48A6-ACBC-3346C739B2E8}"/>
              </a:ext>
            </a:extLst>
          </p:cNvPr>
          <p:cNvPicPr>
            <a:picLocks noChangeAspect="1"/>
          </p:cNvPicPr>
          <p:nvPr/>
        </p:nvPicPr>
        <p:blipFill>
          <a:blip r:embed="rId2" cstate="print"/>
          <a:stretch>
            <a:fillRect/>
          </a:stretch>
        </p:blipFill>
        <p:spPr>
          <a:xfrm>
            <a:off x="202394" y="2246810"/>
            <a:ext cx="4697018"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8" name="矩形 7">
            <a:extLst>
              <a:ext uri="{FF2B5EF4-FFF2-40B4-BE49-F238E27FC236}">
                <a16:creationId xmlns:a16="http://schemas.microsoft.com/office/drawing/2014/main" id="{FFC05FF0-3C6D-40B6-B7AE-AEF6D6B9B481}"/>
              </a:ext>
            </a:extLst>
          </p:cNvPr>
          <p:cNvSpPr>
            <a:spLocks noChangeArrowheads="1"/>
          </p:cNvSpPr>
          <p:nvPr userDrawn="1"/>
        </p:nvSpPr>
        <p:spPr bwMode="auto">
          <a:xfrm>
            <a:off x="0" y="1967879"/>
            <a:ext cx="12189884" cy="2168691"/>
          </a:xfrm>
          <a:prstGeom prst="rect">
            <a:avLst/>
          </a:prstGeom>
          <a:solidFill>
            <a:srgbClr val="064BB2"/>
          </a:solidFill>
          <a:ln>
            <a:noFill/>
          </a:ln>
          <a:effectLst>
            <a:outerShdw blurRad="50800" dist="38100" dir="5400000" algn="t" rotWithShape="0">
              <a:srgbClr val="000000">
                <a:alpha val="0"/>
              </a:srgbClr>
            </a:outerShdw>
          </a:effectLst>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fontAlgn="base">
              <a:spcBef>
                <a:spcPct val="0"/>
              </a:spcBef>
              <a:spcAft>
                <a:spcPct val="0"/>
              </a:spcAft>
              <a:defRPr/>
            </a:pPr>
            <a:endParaRPr lang="zh-CN" altLang="en-US" sz="952" baseline="0" dirty="0">
              <a:solidFill>
                <a:srgbClr val="FFFFFF"/>
              </a:solidFill>
              <a:latin typeface="Times New Roman" panose="02020603050405020304" pitchFamily="18" charset="0"/>
              <a:ea typeface="宋体" panose="02010600030101010101" pitchFamily="2" charset="-122"/>
              <a:cs typeface="宋体" charset="0"/>
            </a:endParaRPr>
          </a:p>
        </p:txBody>
      </p:sp>
      <p:sp>
        <p:nvSpPr>
          <p:cNvPr id="9" name="Title 1">
            <a:extLst>
              <a:ext uri="{FF2B5EF4-FFF2-40B4-BE49-F238E27FC236}">
                <a16:creationId xmlns:a16="http://schemas.microsoft.com/office/drawing/2014/main" id="{F06D40D0-C995-4C96-B0A0-0AD791FC5A57}"/>
              </a:ext>
            </a:extLst>
          </p:cNvPr>
          <p:cNvSpPr txBox="1">
            <a:spLocks/>
          </p:cNvSpPr>
          <p:nvPr userDrawn="1"/>
        </p:nvSpPr>
        <p:spPr>
          <a:xfrm>
            <a:off x="5003623" y="1657613"/>
            <a:ext cx="7082051" cy="1653849"/>
          </a:xfrm>
          <a:prstGeom prst="rect">
            <a:avLst/>
          </a:prstGeom>
        </p:spPr>
        <p:txBody>
          <a:bodyPr vert="horz" lIns="91440" tIns="45720" rIns="91440" bIns="45720" rtlCol="0" anchor="b">
            <a:noAutofit/>
          </a:bodyPr>
          <a:lstStyle>
            <a:lvl1pPr algn="ctr" defTabSz="1028700" rtl="0" eaLnBrk="1" fontAlgn="base" latinLnBrk="0" hangingPunct="1">
              <a:lnSpc>
                <a:spcPts val="3360"/>
              </a:lnSpc>
              <a:spcBef>
                <a:spcPts val="630"/>
              </a:spcBef>
              <a:spcAft>
                <a:spcPct val="0"/>
              </a:spcAft>
              <a:buNone/>
              <a:defRPr lang="en-US" sz="2940" b="1" kern="1200" dirty="0">
                <a:solidFill>
                  <a:schemeClr val="bg1"/>
                </a:solidFill>
                <a:latin typeface="微软雅黑" panose="020B0503020204020204" pitchFamily="34" charset="-122"/>
                <a:ea typeface="微软雅黑" panose="020B0503020204020204" pitchFamily="34" charset="-122"/>
                <a:cs typeface="+mn-cs"/>
              </a:defRPr>
            </a:lvl1pPr>
          </a:lstStyle>
          <a:p>
            <a:r>
              <a:rPr altLang="zh-CN" sz="6600" baseline="0" dirty="0">
                <a:ln>
                  <a:solidFill>
                    <a:srgbClr val="FFFFFF"/>
                  </a:solidFill>
                </a:ln>
                <a:solidFill>
                  <a:srgbClr val="FFFFFF"/>
                </a:solidFill>
                <a:effectLst>
                  <a:reflection blurRad="6350" stA="50000" endA="300" endPos="50000" dist="29997" dir="5400000" sy="-100000" algn="bl" rotWithShape="0"/>
                </a:effectLst>
                <a:latin typeface="Times New Roman" panose="02020603050405020304" pitchFamily="18" charset="0"/>
                <a:ea typeface="宋体" panose="02010600030101010101" pitchFamily="2" charset="-122"/>
              </a:rPr>
              <a:t>Thank you!</a:t>
            </a:r>
            <a:endParaRPr lang="zh-CN" altLang="en-US" sz="6600" baseline="0" dirty="0">
              <a:ln>
                <a:solidFill>
                  <a:srgbClr val="FFFFFF"/>
                </a:solidFill>
              </a:ln>
              <a:solidFill>
                <a:srgbClr val="FFFFFF"/>
              </a:solidFill>
              <a:effectLst>
                <a:reflection blurRad="6350" stA="50000" endA="300" endPos="50000" dist="29997" dir="5400000" sy="-100000" algn="bl" rotWithShape="0"/>
              </a:effectLst>
              <a:latin typeface="Times New Roman" panose="02020603050405020304" pitchFamily="18" charset="0"/>
              <a:ea typeface="宋体" panose="02010600030101010101" pitchFamily="2" charset="-122"/>
            </a:endParaRPr>
          </a:p>
        </p:txBody>
      </p:sp>
      <p:pic>
        <p:nvPicPr>
          <p:cNvPr id="10" name="图片 9" descr="AW视觉符号.jpg">
            <a:extLst>
              <a:ext uri="{FF2B5EF4-FFF2-40B4-BE49-F238E27FC236}">
                <a16:creationId xmlns:a16="http://schemas.microsoft.com/office/drawing/2014/main" id="{D34B953D-86AB-4549-83F7-D846E540814F}"/>
              </a:ext>
            </a:extLst>
          </p:cNvPr>
          <p:cNvPicPr>
            <a:picLocks noChangeAspect="1"/>
          </p:cNvPicPr>
          <p:nvPr userDrawn="1"/>
        </p:nvPicPr>
        <p:blipFill>
          <a:blip r:embed="rId2" cstate="print"/>
          <a:stretch>
            <a:fillRect/>
          </a:stretch>
        </p:blipFill>
        <p:spPr>
          <a:xfrm>
            <a:off x="202395" y="2246811"/>
            <a:ext cx="4697018"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227943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255588" y="195263"/>
            <a:ext cx="109728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noChangeArrowheads="1"/>
          </p:cNvSpPr>
          <p:nvPr>
            <p:ph type="body" idx="9"/>
          </p:nvPr>
        </p:nvSpPr>
        <p:spPr bwMode="auto">
          <a:xfrm>
            <a:off x="422275" y="1187450"/>
            <a:ext cx="10972800"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a:t>
            </a:r>
          </a:p>
        </p:txBody>
      </p:sp>
      <p:sp>
        <p:nvSpPr>
          <p:cNvPr id="8" name="日期占位符 7"/>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baseline="0">
                <a:solidFill>
                  <a:schemeClr val="tx1">
                    <a:tint val="75000"/>
                  </a:schemeClr>
                </a:solidFill>
                <a:latin typeface="Times New Roman" panose="02020603050405020304" pitchFamily="18" charset="0"/>
                <a:ea typeface="宋体" panose="02010600030101010101" pitchFamily="2" charset="-122"/>
              </a:defRPr>
            </a:lvl1pPr>
          </a:lstStyle>
          <a:p>
            <a:fld id="{8B362659-EDEF-4896-B44C-15816E2E4CD8}" type="datetimeFigureOut">
              <a:rPr lang="zh-CN" altLang="en-US" smtClean="0"/>
              <a:t>2025/10/26</a:t>
            </a:fld>
            <a:endParaRPr lang="zh-CN" altLang="en-US"/>
          </a:p>
        </p:txBody>
      </p:sp>
      <p:sp>
        <p:nvSpPr>
          <p:cNvPr id="13" name="页脚占位符 12"/>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baseline="0">
                <a:solidFill>
                  <a:schemeClr val="tx1">
                    <a:tint val="75000"/>
                  </a:schemeClr>
                </a:solidFill>
                <a:latin typeface="Times New Roman" panose="02020603050405020304" pitchFamily="18" charset="0"/>
                <a:ea typeface="宋体" panose="02010600030101010101" pitchFamily="2" charset="-122"/>
              </a:defRPr>
            </a:lvl1pPr>
          </a:lstStyle>
          <a:p>
            <a:endParaRPr lang="zh-CN" altLang="en-US"/>
          </a:p>
        </p:txBody>
      </p:sp>
      <p:sp>
        <p:nvSpPr>
          <p:cNvPr id="14" name="灯片编号占位符 13"/>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baseline="0">
                <a:solidFill>
                  <a:srgbClr val="898989"/>
                </a:solidFill>
                <a:latin typeface="Times New Roman" panose="02020603050405020304" pitchFamily="18" charset="0"/>
                <a:ea typeface="宋体" panose="02010600030101010101" pitchFamily="2" charset="-122"/>
              </a:defRPr>
            </a:lvl1pPr>
          </a:lstStyle>
          <a:p>
            <a:fld id="{414597ED-A428-4847-8034-7A70C69917BC}" type="slidenum">
              <a:rPr lang="zh-CN" altLang="en-US" smtClean="0"/>
              <a:t>‹#›</a:t>
            </a:fld>
            <a:endParaRPr lang="zh-CN" altLang="en-US"/>
          </a:p>
        </p:txBody>
      </p:sp>
      <p:pic>
        <p:nvPicPr>
          <p:cNvPr id="7" name="图片 6" descr="pandas"/>
          <p:cNvPicPr>
            <a:picLocks noChangeAspect="1"/>
          </p:cNvPicPr>
          <p:nvPr userDrawn="1"/>
        </p:nvPicPr>
        <p:blipFill>
          <a:blip r:embed="rId8"/>
          <a:stretch>
            <a:fillRect/>
          </a:stretch>
        </p:blipFill>
        <p:spPr>
          <a:xfrm>
            <a:off x="60643" y="6231889"/>
            <a:ext cx="1529080" cy="614045"/>
          </a:xfrm>
          <a:prstGeom prst="rect">
            <a:avLst/>
          </a:prstGeom>
        </p:spPr>
      </p:pic>
      <p:pic>
        <p:nvPicPr>
          <p:cNvPr id="9" name="图片 8"/>
          <p:cNvPicPr>
            <a:picLocks noChangeAspect="1"/>
          </p:cNvPicPr>
          <p:nvPr userDrawn="1">
            <p:custDataLst>
              <p:tags r:id="rId7"/>
            </p:custDataLst>
          </p:nvPr>
        </p:nvPicPr>
        <p:blipFill>
          <a:blip r:embed="rId9"/>
          <a:stretch>
            <a:fillRect/>
          </a:stretch>
        </p:blipFill>
        <p:spPr>
          <a:xfrm>
            <a:off x="11522075" y="6191250"/>
            <a:ext cx="669925" cy="666750"/>
          </a:xfrm>
          <a:prstGeom prst="rect">
            <a:avLst/>
          </a:prstGeom>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60" r:id="rId5"/>
  </p:sldLayoutIdLst>
  <p:txStyles>
    <p:titleStyle>
      <a:lvl1pPr algn="l" rtl="0" eaLnBrk="1" fontAlgn="base" hangingPunct="1">
        <a:spcBef>
          <a:spcPct val="0"/>
        </a:spcBef>
        <a:spcAft>
          <a:spcPct val="0"/>
        </a:spcAft>
        <a:defRPr sz="2500" baseline="0">
          <a:solidFill>
            <a:schemeClr val="tx1"/>
          </a:solidFill>
          <a:latin typeface="Times New Roman" panose="02020603050405020304" pitchFamily="18" charset="0"/>
          <a:ea typeface="宋体" panose="02010600030101010101" pitchFamily="2" charset="-122"/>
          <a:cs typeface="微软雅黑" panose="020B0503020204020204" charset="-122"/>
        </a:defRPr>
      </a:lvl1pPr>
      <a:lvl2pPr algn="l" rtl="0" eaLnBrk="1" fontAlgn="base" hangingPunct="1">
        <a:spcBef>
          <a:spcPct val="0"/>
        </a:spcBef>
        <a:spcAft>
          <a:spcPct val="0"/>
        </a:spcAft>
        <a:defRPr sz="2500">
          <a:solidFill>
            <a:schemeClr val="tx1"/>
          </a:solidFill>
          <a:latin typeface="Calibri" panose="020F0502020204030204" pitchFamily="34" charset="0"/>
          <a:ea typeface="微软雅黑" panose="020B0503020204020204" charset="-122"/>
          <a:cs typeface="微软雅黑" panose="020B0503020204020204" charset="-122"/>
        </a:defRPr>
      </a:lvl2pPr>
      <a:lvl3pPr algn="l" rtl="0" eaLnBrk="1" fontAlgn="base" hangingPunct="1">
        <a:spcBef>
          <a:spcPct val="0"/>
        </a:spcBef>
        <a:spcAft>
          <a:spcPct val="0"/>
        </a:spcAft>
        <a:defRPr sz="2500">
          <a:solidFill>
            <a:schemeClr val="tx1"/>
          </a:solidFill>
          <a:latin typeface="Calibri" panose="020F0502020204030204" pitchFamily="34" charset="0"/>
          <a:ea typeface="微软雅黑" panose="020B0503020204020204" charset="-122"/>
          <a:cs typeface="微软雅黑" panose="020B0503020204020204" charset="-122"/>
        </a:defRPr>
      </a:lvl3pPr>
      <a:lvl4pPr algn="l" rtl="0" eaLnBrk="1" fontAlgn="base" hangingPunct="1">
        <a:spcBef>
          <a:spcPct val="0"/>
        </a:spcBef>
        <a:spcAft>
          <a:spcPct val="0"/>
        </a:spcAft>
        <a:defRPr sz="2500">
          <a:solidFill>
            <a:schemeClr val="tx1"/>
          </a:solidFill>
          <a:latin typeface="Calibri" panose="020F0502020204030204" pitchFamily="34" charset="0"/>
          <a:ea typeface="微软雅黑" panose="020B0503020204020204" charset="-122"/>
          <a:cs typeface="微软雅黑" panose="020B0503020204020204" charset="-122"/>
        </a:defRPr>
      </a:lvl4pPr>
      <a:lvl5pPr algn="l" rtl="0" eaLnBrk="1" fontAlgn="base" hangingPunct="1">
        <a:spcBef>
          <a:spcPct val="0"/>
        </a:spcBef>
        <a:spcAft>
          <a:spcPct val="0"/>
        </a:spcAft>
        <a:defRPr sz="2500">
          <a:solidFill>
            <a:schemeClr val="tx1"/>
          </a:solidFill>
          <a:latin typeface="Calibri" panose="020F0502020204030204" pitchFamily="34" charset="0"/>
          <a:ea typeface="微软雅黑" panose="020B0503020204020204" charset="-122"/>
          <a:cs typeface="微软雅黑" panose="020B0503020204020204" charset="-122"/>
        </a:defRPr>
      </a:lvl5pPr>
      <a:lvl6pPr marL="483870" algn="l" rtl="0" eaLnBrk="1" fontAlgn="base" hangingPunct="1">
        <a:spcBef>
          <a:spcPct val="0"/>
        </a:spcBef>
        <a:spcAft>
          <a:spcPct val="0"/>
        </a:spcAft>
        <a:defRPr sz="2540">
          <a:solidFill>
            <a:schemeClr val="tx1"/>
          </a:solidFill>
          <a:latin typeface="Calibri" panose="020F0502020204030204" pitchFamily="34" charset="0"/>
          <a:ea typeface="黑体" panose="02010609060101010101" charset="-122"/>
        </a:defRPr>
      </a:lvl6pPr>
      <a:lvl7pPr marL="967740" algn="l" rtl="0" eaLnBrk="1" fontAlgn="base" hangingPunct="1">
        <a:spcBef>
          <a:spcPct val="0"/>
        </a:spcBef>
        <a:spcAft>
          <a:spcPct val="0"/>
        </a:spcAft>
        <a:defRPr sz="2540">
          <a:solidFill>
            <a:schemeClr val="tx1"/>
          </a:solidFill>
          <a:latin typeface="Calibri" panose="020F0502020204030204" pitchFamily="34" charset="0"/>
          <a:ea typeface="黑体" panose="02010609060101010101" charset="-122"/>
        </a:defRPr>
      </a:lvl7pPr>
      <a:lvl8pPr marL="1450975" algn="l" rtl="0" eaLnBrk="1" fontAlgn="base" hangingPunct="1">
        <a:spcBef>
          <a:spcPct val="0"/>
        </a:spcBef>
        <a:spcAft>
          <a:spcPct val="0"/>
        </a:spcAft>
        <a:defRPr sz="2540">
          <a:solidFill>
            <a:schemeClr val="tx1"/>
          </a:solidFill>
          <a:latin typeface="Calibri" panose="020F0502020204030204" pitchFamily="34" charset="0"/>
          <a:ea typeface="黑体" panose="02010609060101010101" charset="-122"/>
        </a:defRPr>
      </a:lvl8pPr>
      <a:lvl9pPr marL="1934845" algn="l" rtl="0" eaLnBrk="1" fontAlgn="base" hangingPunct="1">
        <a:spcBef>
          <a:spcPct val="0"/>
        </a:spcBef>
        <a:spcAft>
          <a:spcPct val="0"/>
        </a:spcAft>
        <a:defRPr sz="2540">
          <a:solidFill>
            <a:schemeClr val="tx1"/>
          </a:solidFill>
          <a:latin typeface="Calibri" panose="020F0502020204030204" pitchFamily="34" charset="0"/>
          <a:ea typeface="黑体" panose="02010609060101010101" charset="-122"/>
        </a:defRPr>
      </a:lvl9pPr>
    </p:titleStyle>
    <p:bodyStyle>
      <a:lvl1pPr marL="361950" indent="-361950" algn="l" rtl="0" eaLnBrk="1" fontAlgn="base" hangingPunct="1">
        <a:spcBef>
          <a:spcPct val="20000"/>
        </a:spcBef>
        <a:spcAft>
          <a:spcPct val="0"/>
        </a:spcAft>
        <a:buClr>
          <a:srgbClr val="000066"/>
        </a:buClr>
        <a:buFont typeface="Wingdings" panose="05000000000000000000" pitchFamily="2" charset="2"/>
        <a:buChar char="n"/>
        <a:defRPr sz="2100" baseline="0">
          <a:solidFill>
            <a:schemeClr val="tx1"/>
          </a:solidFill>
          <a:latin typeface="Times New Roman" panose="02020603050405020304" pitchFamily="18" charset="0"/>
          <a:ea typeface="宋体" panose="02010600030101010101" pitchFamily="2" charset="-122"/>
          <a:cs typeface="宋体" panose="02010600030101010101" pitchFamily="2" charset="-122"/>
        </a:defRPr>
      </a:lvl1pPr>
      <a:lvl2pPr marL="786130" indent="-301625" algn="l" rtl="0" eaLnBrk="1" fontAlgn="base" hangingPunct="1">
        <a:spcBef>
          <a:spcPct val="20000"/>
        </a:spcBef>
        <a:spcAft>
          <a:spcPct val="0"/>
        </a:spcAft>
        <a:buFont typeface="Arial" panose="020B0604020202020204" pitchFamily="34" charset="0"/>
        <a:buChar char="–"/>
        <a:defRPr sz="2900">
          <a:solidFill>
            <a:schemeClr val="tx1"/>
          </a:solidFill>
          <a:latin typeface="+mn-lt"/>
          <a:ea typeface="+mn-ea"/>
        </a:defRPr>
      </a:lvl2pPr>
      <a:lvl3pPr marL="1208405" indent="-241300" algn="l" rtl="0" eaLnBrk="1" fontAlgn="base" hangingPunct="1">
        <a:spcBef>
          <a:spcPct val="20000"/>
        </a:spcBef>
        <a:spcAft>
          <a:spcPct val="0"/>
        </a:spcAft>
        <a:buFont typeface="Arial" panose="020B0604020202020204" pitchFamily="34" charset="0"/>
        <a:buChar char="•"/>
        <a:defRPr sz="2500">
          <a:solidFill>
            <a:schemeClr val="tx1"/>
          </a:solidFill>
          <a:latin typeface="+mn-lt"/>
          <a:ea typeface="+mn-ea"/>
        </a:defRPr>
      </a:lvl3pPr>
      <a:lvl4pPr marL="1692275" indent="-241300" algn="l" rtl="0" eaLnBrk="1" fontAlgn="base" hangingPunct="1">
        <a:spcBef>
          <a:spcPct val="20000"/>
        </a:spcBef>
        <a:spcAft>
          <a:spcPct val="0"/>
        </a:spcAft>
        <a:buFont typeface="Arial" panose="020B0604020202020204" pitchFamily="34" charset="0"/>
        <a:buChar char="–"/>
        <a:defRPr sz="2100">
          <a:solidFill>
            <a:schemeClr val="tx1"/>
          </a:solidFill>
          <a:latin typeface="+mn-lt"/>
          <a:ea typeface="+mn-ea"/>
        </a:defRPr>
      </a:lvl4pPr>
      <a:lvl5pPr marL="2176780" indent="-241300" algn="l" rtl="0" eaLnBrk="1" fontAlgn="base" hangingPunct="1">
        <a:spcBef>
          <a:spcPct val="20000"/>
        </a:spcBef>
        <a:spcAft>
          <a:spcPct val="0"/>
        </a:spcAft>
        <a:buFont typeface="Arial" panose="020B0604020202020204" pitchFamily="34" charset="0"/>
        <a:buChar char="»"/>
        <a:defRPr sz="2100">
          <a:solidFill>
            <a:schemeClr val="tx1"/>
          </a:solidFill>
          <a:latin typeface="+mn-lt"/>
          <a:ea typeface="+mn-ea"/>
        </a:defRPr>
      </a:lvl5pPr>
      <a:lvl6pPr marL="266065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6pPr>
      <a:lvl7pPr marL="314452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7pPr>
      <a:lvl8pPr marL="362839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8pPr>
      <a:lvl9pPr marL="411226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9pPr>
    </p:bodyStyle>
    <p:otherStyle>
      <a:defPPr>
        <a:defRPr lang="zh-CN"/>
      </a:defPPr>
      <a:lvl1pPr marL="0" algn="l" defTabSz="967740" rtl="0" eaLnBrk="1" latinLnBrk="0" hangingPunct="1">
        <a:defRPr sz="1905" kern="1200">
          <a:solidFill>
            <a:schemeClr val="tx1"/>
          </a:solidFill>
          <a:latin typeface="+mn-lt"/>
          <a:ea typeface="+mn-ea"/>
          <a:cs typeface="+mn-cs"/>
        </a:defRPr>
      </a:lvl1pPr>
      <a:lvl2pPr marL="483870" algn="l" defTabSz="967740" rtl="0" eaLnBrk="1" latinLnBrk="0" hangingPunct="1">
        <a:defRPr sz="1905" kern="1200">
          <a:solidFill>
            <a:schemeClr val="tx1"/>
          </a:solidFill>
          <a:latin typeface="+mn-lt"/>
          <a:ea typeface="+mn-ea"/>
          <a:cs typeface="+mn-cs"/>
        </a:defRPr>
      </a:lvl2pPr>
      <a:lvl3pPr marL="967740" algn="l" defTabSz="967740" rtl="0" eaLnBrk="1" latinLnBrk="0" hangingPunct="1">
        <a:defRPr sz="1905" kern="1200">
          <a:solidFill>
            <a:schemeClr val="tx1"/>
          </a:solidFill>
          <a:latin typeface="+mn-lt"/>
          <a:ea typeface="+mn-ea"/>
          <a:cs typeface="+mn-cs"/>
        </a:defRPr>
      </a:lvl3pPr>
      <a:lvl4pPr marL="1450975" algn="l" defTabSz="967740" rtl="0" eaLnBrk="1" latinLnBrk="0" hangingPunct="1">
        <a:defRPr sz="1905" kern="1200">
          <a:solidFill>
            <a:schemeClr val="tx1"/>
          </a:solidFill>
          <a:latin typeface="+mn-lt"/>
          <a:ea typeface="+mn-ea"/>
          <a:cs typeface="+mn-cs"/>
        </a:defRPr>
      </a:lvl4pPr>
      <a:lvl5pPr marL="1934845" algn="l" defTabSz="967740" rtl="0" eaLnBrk="1" latinLnBrk="0" hangingPunct="1">
        <a:defRPr sz="1905" kern="1200">
          <a:solidFill>
            <a:schemeClr val="tx1"/>
          </a:solidFill>
          <a:latin typeface="+mn-lt"/>
          <a:ea typeface="+mn-ea"/>
          <a:cs typeface="+mn-cs"/>
        </a:defRPr>
      </a:lvl5pPr>
      <a:lvl6pPr marL="2418715" algn="l" defTabSz="967740" rtl="0" eaLnBrk="1" latinLnBrk="0" hangingPunct="1">
        <a:defRPr sz="1905" kern="1200">
          <a:solidFill>
            <a:schemeClr val="tx1"/>
          </a:solidFill>
          <a:latin typeface="+mn-lt"/>
          <a:ea typeface="+mn-ea"/>
          <a:cs typeface="+mn-cs"/>
        </a:defRPr>
      </a:lvl6pPr>
      <a:lvl7pPr marL="2902585" algn="l" defTabSz="967740" rtl="0" eaLnBrk="1" latinLnBrk="0" hangingPunct="1">
        <a:defRPr sz="1905" kern="1200">
          <a:solidFill>
            <a:schemeClr val="tx1"/>
          </a:solidFill>
          <a:latin typeface="+mn-lt"/>
          <a:ea typeface="+mn-ea"/>
          <a:cs typeface="+mn-cs"/>
        </a:defRPr>
      </a:lvl7pPr>
      <a:lvl8pPr marL="3386455" algn="l" defTabSz="967740" rtl="0" eaLnBrk="1" latinLnBrk="0" hangingPunct="1">
        <a:defRPr sz="1905" kern="1200">
          <a:solidFill>
            <a:schemeClr val="tx1"/>
          </a:solidFill>
          <a:latin typeface="+mn-lt"/>
          <a:ea typeface="+mn-ea"/>
          <a:cs typeface="+mn-cs"/>
        </a:defRPr>
      </a:lvl8pPr>
      <a:lvl9pPr marL="3870325" algn="l" defTabSz="967740" rtl="0" eaLnBrk="1" latinLnBrk="0" hangingPunct="1">
        <a:defRPr sz="190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8865591E-F6A9-4405-B720-EDDBC0413155}"/>
              </a:ext>
            </a:extLst>
          </p:cNvPr>
          <p:cNvSpPr>
            <a:spLocks noGrp="1" noChangeArrowheads="1"/>
          </p:cNvSpPr>
          <p:nvPr>
            <p:ph type="title" idx="4294967295"/>
          </p:nvPr>
        </p:nvSpPr>
        <p:spPr bwMode="auto">
          <a:xfrm>
            <a:off x="255588" y="195263"/>
            <a:ext cx="109728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61510517-FAF7-45C6-B579-CD700F47710E}"/>
              </a:ext>
            </a:extLst>
          </p:cNvPr>
          <p:cNvSpPr>
            <a:spLocks noGrp="1" noChangeArrowheads="1"/>
          </p:cNvSpPr>
          <p:nvPr>
            <p:ph type="body" idx="4294967295"/>
          </p:nvPr>
        </p:nvSpPr>
        <p:spPr bwMode="auto">
          <a:xfrm>
            <a:off x="422275" y="1187450"/>
            <a:ext cx="10972800"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a:t>
            </a:r>
          </a:p>
        </p:txBody>
      </p:sp>
      <p:sp>
        <p:nvSpPr>
          <p:cNvPr id="8" name="日期占位符 7">
            <a:extLst>
              <a:ext uri="{FF2B5EF4-FFF2-40B4-BE49-F238E27FC236}">
                <a16:creationId xmlns:a16="http://schemas.microsoft.com/office/drawing/2014/main" id="{5E70D461-B6CD-42E9-9A0B-0CDC97B2EF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baseline="0">
                <a:solidFill>
                  <a:schemeClr val="tx1">
                    <a:tint val="75000"/>
                  </a:schemeClr>
                </a:solidFill>
                <a:latin typeface="Times New Roman" panose="02020603050405020304" pitchFamily="18" charset="0"/>
                <a:ea typeface="宋体" panose="02010600030101010101" pitchFamily="2" charset="-122"/>
              </a:defRPr>
            </a:lvl1pPr>
          </a:lstStyle>
          <a:p>
            <a:fld id="{8B362659-EDEF-4896-B44C-15816E2E4CD8}" type="datetimeFigureOut">
              <a:rPr lang="zh-CN" altLang="en-US" smtClean="0"/>
              <a:pPr/>
              <a:t>2025/10/26</a:t>
            </a:fld>
            <a:endParaRPr lang="zh-CN" altLang="en-US"/>
          </a:p>
        </p:txBody>
      </p:sp>
      <p:sp>
        <p:nvSpPr>
          <p:cNvPr id="13" name="页脚占位符 12">
            <a:extLst>
              <a:ext uri="{FF2B5EF4-FFF2-40B4-BE49-F238E27FC236}">
                <a16:creationId xmlns:a16="http://schemas.microsoft.com/office/drawing/2014/main" id="{A1BC6B55-8EE6-4CCE-854A-A8EB6C2BB3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baseline="0">
                <a:solidFill>
                  <a:schemeClr val="tx1">
                    <a:tint val="75000"/>
                  </a:schemeClr>
                </a:solidFill>
                <a:latin typeface="Times New Roman" panose="02020603050405020304" pitchFamily="18" charset="0"/>
                <a:ea typeface="宋体" panose="02010600030101010101" pitchFamily="2" charset="-122"/>
              </a:defRPr>
            </a:lvl1pPr>
          </a:lstStyle>
          <a:p>
            <a:endParaRPr lang="zh-CN" altLang="en-US"/>
          </a:p>
        </p:txBody>
      </p:sp>
      <p:sp>
        <p:nvSpPr>
          <p:cNvPr id="14" name="灯片编号占位符 13">
            <a:extLst>
              <a:ext uri="{FF2B5EF4-FFF2-40B4-BE49-F238E27FC236}">
                <a16:creationId xmlns:a16="http://schemas.microsoft.com/office/drawing/2014/main" id="{262F0417-C90C-4CA2-AD37-B360748FE143}"/>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baseline="0">
                <a:solidFill>
                  <a:srgbClr val="898989"/>
                </a:solidFill>
                <a:latin typeface="Times New Roman" panose="02020603050405020304" pitchFamily="18" charset="0"/>
                <a:ea typeface="宋体" panose="02010600030101010101" pitchFamily="2" charset="-122"/>
              </a:defRPr>
            </a:lvl1pPr>
          </a:lstStyle>
          <a:p>
            <a:fld id="{414597ED-A428-4847-8034-7A70C69917BC}" type="slidenum">
              <a:rPr lang="zh-CN" altLang="en-US" smtClean="0"/>
              <a:pPr/>
              <a:t>‹#›</a:t>
            </a:fld>
            <a:endParaRPr lang="zh-CN" altLang="en-US"/>
          </a:p>
        </p:txBody>
      </p:sp>
    </p:spTree>
    <p:extLst>
      <p:ext uri="{BB962C8B-B14F-4D97-AF65-F5344CB8AC3E}">
        <p14:creationId xmlns:p14="http://schemas.microsoft.com/office/powerpoint/2010/main" val="1603556429"/>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Lst>
  <p:txStyles>
    <p:titleStyle>
      <a:lvl1pPr algn="l" rtl="0" eaLnBrk="1" fontAlgn="base" hangingPunct="1">
        <a:spcBef>
          <a:spcPct val="0"/>
        </a:spcBef>
        <a:spcAft>
          <a:spcPct val="0"/>
        </a:spcAft>
        <a:defRPr sz="2500" baseline="0">
          <a:solidFill>
            <a:schemeClr val="tx1"/>
          </a:solidFill>
          <a:latin typeface="Times New Roman" panose="02020603050405020304" pitchFamily="18" charset="0"/>
          <a:ea typeface="宋体" panose="02010600030101010101" pitchFamily="2" charset="-122"/>
          <a:cs typeface="微软雅黑" charset="0"/>
        </a:defRPr>
      </a:lvl1pPr>
      <a:lvl2pPr algn="l" rtl="0" eaLnBrk="1" fontAlgn="base" hangingPunct="1">
        <a:spcBef>
          <a:spcPct val="0"/>
        </a:spcBef>
        <a:spcAft>
          <a:spcPct val="0"/>
        </a:spcAft>
        <a:defRPr sz="2500">
          <a:solidFill>
            <a:schemeClr val="tx1"/>
          </a:solidFill>
          <a:latin typeface="Calibri" pitchFamily="34" charset="0"/>
          <a:ea typeface="微软雅黑" pitchFamily="34" charset="-122"/>
          <a:cs typeface="微软雅黑" charset="0"/>
        </a:defRPr>
      </a:lvl2pPr>
      <a:lvl3pPr algn="l" rtl="0" eaLnBrk="1" fontAlgn="base" hangingPunct="1">
        <a:spcBef>
          <a:spcPct val="0"/>
        </a:spcBef>
        <a:spcAft>
          <a:spcPct val="0"/>
        </a:spcAft>
        <a:defRPr sz="2500">
          <a:solidFill>
            <a:schemeClr val="tx1"/>
          </a:solidFill>
          <a:latin typeface="Calibri" pitchFamily="34" charset="0"/>
          <a:ea typeface="微软雅黑" pitchFamily="34" charset="-122"/>
          <a:cs typeface="微软雅黑" charset="0"/>
        </a:defRPr>
      </a:lvl3pPr>
      <a:lvl4pPr algn="l" rtl="0" eaLnBrk="1" fontAlgn="base" hangingPunct="1">
        <a:spcBef>
          <a:spcPct val="0"/>
        </a:spcBef>
        <a:spcAft>
          <a:spcPct val="0"/>
        </a:spcAft>
        <a:defRPr sz="2500">
          <a:solidFill>
            <a:schemeClr val="tx1"/>
          </a:solidFill>
          <a:latin typeface="Calibri" pitchFamily="34" charset="0"/>
          <a:ea typeface="微软雅黑" pitchFamily="34" charset="-122"/>
          <a:cs typeface="微软雅黑" charset="0"/>
        </a:defRPr>
      </a:lvl4pPr>
      <a:lvl5pPr algn="l" rtl="0" eaLnBrk="1" fontAlgn="base" hangingPunct="1">
        <a:spcBef>
          <a:spcPct val="0"/>
        </a:spcBef>
        <a:spcAft>
          <a:spcPct val="0"/>
        </a:spcAft>
        <a:defRPr sz="2500">
          <a:solidFill>
            <a:schemeClr val="tx1"/>
          </a:solidFill>
          <a:latin typeface="Calibri" pitchFamily="34" charset="0"/>
          <a:ea typeface="微软雅黑" pitchFamily="34" charset="-122"/>
          <a:cs typeface="微软雅黑" charset="0"/>
        </a:defRPr>
      </a:lvl5pPr>
      <a:lvl6pPr marL="483870" algn="l" rtl="0" eaLnBrk="1" fontAlgn="base" hangingPunct="1">
        <a:spcBef>
          <a:spcPct val="0"/>
        </a:spcBef>
        <a:spcAft>
          <a:spcPct val="0"/>
        </a:spcAft>
        <a:defRPr sz="2540">
          <a:solidFill>
            <a:schemeClr val="tx1"/>
          </a:solidFill>
          <a:latin typeface="Calibri" pitchFamily="34" charset="0"/>
          <a:ea typeface="黑体" panose="02010609060101010101" charset="-122"/>
        </a:defRPr>
      </a:lvl6pPr>
      <a:lvl7pPr marL="967740" algn="l" rtl="0" eaLnBrk="1" fontAlgn="base" hangingPunct="1">
        <a:spcBef>
          <a:spcPct val="0"/>
        </a:spcBef>
        <a:spcAft>
          <a:spcPct val="0"/>
        </a:spcAft>
        <a:defRPr sz="2540">
          <a:solidFill>
            <a:schemeClr val="tx1"/>
          </a:solidFill>
          <a:latin typeface="Calibri" pitchFamily="34" charset="0"/>
          <a:ea typeface="黑体" panose="02010609060101010101" charset="-122"/>
        </a:defRPr>
      </a:lvl7pPr>
      <a:lvl8pPr marL="1450975" algn="l" rtl="0" eaLnBrk="1" fontAlgn="base" hangingPunct="1">
        <a:spcBef>
          <a:spcPct val="0"/>
        </a:spcBef>
        <a:spcAft>
          <a:spcPct val="0"/>
        </a:spcAft>
        <a:defRPr sz="2540">
          <a:solidFill>
            <a:schemeClr val="tx1"/>
          </a:solidFill>
          <a:latin typeface="Calibri" pitchFamily="34" charset="0"/>
          <a:ea typeface="黑体" panose="02010609060101010101" charset="-122"/>
        </a:defRPr>
      </a:lvl8pPr>
      <a:lvl9pPr marL="1934845" algn="l" rtl="0" eaLnBrk="1" fontAlgn="base" hangingPunct="1">
        <a:spcBef>
          <a:spcPct val="0"/>
        </a:spcBef>
        <a:spcAft>
          <a:spcPct val="0"/>
        </a:spcAft>
        <a:defRPr sz="2540">
          <a:solidFill>
            <a:schemeClr val="tx1"/>
          </a:solidFill>
          <a:latin typeface="Calibri" pitchFamily="34" charset="0"/>
          <a:ea typeface="黑体" panose="02010609060101010101" charset="-122"/>
        </a:defRPr>
      </a:lvl9pPr>
    </p:titleStyle>
    <p:bodyStyle>
      <a:lvl1pPr marL="361950" indent="-361950" algn="l" rtl="0" eaLnBrk="1" fontAlgn="base" hangingPunct="1">
        <a:spcBef>
          <a:spcPct val="20000"/>
        </a:spcBef>
        <a:spcAft>
          <a:spcPct val="0"/>
        </a:spcAft>
        <a:buClr>
          <a:srgbClr val="000066"/>
        </a:buClr>
        <a:buFont typeface="Wingdings" panose="05000000000000000000" pitchFamily="2" charset="2"/>
        <a:buChar char="n"/>
        <a:defRPr sz="2100" baseline="0">
          <a:solidFill>
            <a:schemeClr val="tx1"/>
          </a:solidFill>
          <a:latin typeface="Times New Roman" panose="02020603050405020304" pitchFamily="18" charset="0"/>
          <a:ea typeface="宋体" panose="02010600030101010101" pitchFamily="2" charset="-122"/>
          <a:cs typeface="宋体" charset="0"/>
        </a:defRPr>
      </a:lvl1pPr>
      <a:lvl2pPr marL="785813" indent="-301625" algn="l" rtl="0" eaLnBrk="1" fontAlgn="base" hangingPunct="1">
        <a:spcBef>
          <a:spcPct val="20000"/>
        </a:spcBef>
        <a:spcAft>
          <a:spcPct val="0"/>
        </a:spcAft>
        <a:buFont typeface="Arial" panose="020B0604020202020204" pitchFamily="34" charset="0"/>
        <a:buChar char="–"/>
        <a:defRPr sz="2900">
          <a:solidFill>
            <a:schemeClr val="tx1"/>
          </a:solidFill>
          <a:latin typeface="+mn-lt"/>
          <a:ea typeface="+mn-ea"/>
        </a:defRPr>
      </a:lvl2pPr>
      <a:lvl3pPr marL="1208088" indent="-241300" algn="l" rtl="0" eaLnBrk="1" fontAlgn="base" hangingPunct="1">
        <a:spcBef>
          <a:spcPct val="20000"/>
        </a:spcBef>
        <a:spcAft>
          <a:spcPct val="0"/>
        </a:spcAft>
        <a:buFont typeface="Arial" panose="020B0604020202020204" pitchFamily="34" charset="0"/>
        <a:buChar char="•"/>
        <a:defRPr sz="2500">
          <a:solidFill>
            <a:schemeClr val="tx1"/>
          </a:solidFill>
          <a:latin typeface="+mn-lt"/>
          <a:ea typeface="+mn-ea"/>
        </a:defRPr>
      </a:lvl3pPr>
      <a:lvl4pPr marL="1692275" indent="-241300" algn="l" rtl="0" eaLnBrk="1" fontAlgn="base" hangingPunct="1">
        <a:spcBef>
          <a:spcPct val="20000"/>
        </a:spcBef>
        <a:spcAft>
          <a:spcPct val="0"/>
        </a:spcAft>
        <a:buFont typeface="Arial" panose="020B0604020202020204" pitchFamily="34" charset="0"/>
        <a:buChar char="–"/>
        <a:defRPr sz="2100">
          <a:solidFill>
            <a:schemeClr val="tx1"/>
          </a:solidFill>
          <a:latin typeface="+mn-lt"/>
          <a:ea typeface="+mn-ea"/>
        </a:defRPr>
      </a:lvl4pPr>
      <a:lvl5pPr marL="2176463" indent="-241300" algn="l" rtl="0" eaLnBrk="1" fontAlgn="base" hangingPunct="1">
        <a:spcBef>
          <a:spcPct val="20000"/>
        </a:spcBef>
        <a:spcAft>
          <a:spcPct val="0"/>
        </a:spcAft>
        <a:buFont typeface="Arial" panose="020B0604020202020204" pitchFamily="34" charset="0"/>
        <a:buChar char="»"/>
        <a:defRPr sz="2100">
          <a:solidFill>
            <a:schemeClr val="tx1"/>
          </a:solidFill>
          <a:latin typeface="+mn-lt"/>
          <a:ea typeface="+mn-ea"/>
        </a:defRPr>
      </a:lvl5pPr>
      <a:lvl6pPr marL="2660650" indent="-241935" algn="l" rtl="0" eaLnBrk="1" fontAlgn="base" hangingPunct="1">
        <a:spcBef>
          <a:spcPct val="20000"/>
        </a:spcBef>
        <a:spcAft>
          <a:spcPct val="0"/>
        </a:spcAft>
        <a:buFont typeface="Arial" panose="02080604020202020204" pitchFamily="34" charset="0"/>
        <a:buChar char="»"/>
        <a:defRPr sz="2115">
          <a:solidFill>
            <a:schemeClr val="tx1"/>
          </a:solidFill>
          <a:latin typeface="+mn-lt"/>
          <a:ea typeface="+mn-ea"/>
        </a:defRPr>
      </a:lvl6pPr>
      <a:lvl7pPr marL="3144520" indent="-241935" algn="l" rtl="0" eaLnBrk="1" fontAlgn="base" hangingPunct="1">
        <a:spcBef>
          <a:spcPct val="20000"/>
        </a:spcBef>
        <a:spcAft>
          <a:spcPct val="0"/>
        </a:spcAft>
        <a:buFont typeface="Arial" panose="02080604020202020204" pitchFamily="34" charset="0"/>
        <a:buChar char="»"/>
        <a:defRPr sz="2115">
          <a:solidFill>
            <a:schemeClr val="tx1"/>
          </a:solidFill>
          <a:latin typeface="+mn-lt"/>
          <a:ea typeface="+mn-ea"/>
        </a:defRPr>
      </a:lvl7pPr>
      <a:lvl8pPr marL="3628390" indent="-241935" algn="l" rtl="0" eaLnBrk="1" fontAlgn="base" hangingPunct="1">
        <a:spcBef>
          <a:spcPct val="20000"/>
        </a:spcBef>
        <a:spcAft>
          <a:spcPct val="0"/>
        </a:spcAft>
        <a:buFont typeface="Arial" panose="02080604020202020204" pitchFamily="34" charset="0"/>
        <a:buChar char="»"/>
        <a:defRPr sz="2115">
          <a:solidFill>
            <a:schemeClr val="tx1"/>
          </a:solidFill>
          <a:latin typeface="+mn-lt"/>
          <a:ea typeface="+mn-ea"/>
        </a:defRPr>
      </a:lvl8pPr>
      <a:lvl9pPr marL="4112260" indent="-241935" algn="l" rtl="0" eaLnBrk="1" fontAlgn="base" hangingPunct="1">
        <a:spcBef>
          <a:spcPct val="20000"/>
        </a:spcBef>
        <a:spcAft>
          <a:spcPct val="0"/>
        </a:spcAft>
        <a:buFont typeface="Arial" panose="02080604020202020204" pitchFamily="34" charset="0"/>
        <a:buChar char="»"/>
        <a:defRPr sz="2115">
          <a:solidFill>
            <a:schemeClr val="tx1"/>
          </a:solidFill>
          <a:latin typeface="+mn-lt"/>
          <a:ea typeface="+mn-ea"/>
        </a:defRPr>
      </a:lvl9pPr>
    </p:bodyStyle>
    <p:otherStyle>
      <a:defPPr>
        <a:defRPr lang="zh-CN"/>
      </a:defPPr>
      <a:lvl1pPr marL="0" algn="l" defTabSz="967740" rtl="0" eaLnBrk="1" latinLnBrk="0" hangingPunct="1">
        <a:defRPr sz="1905" kern="1200">
          <a:solidFill>
            <a:schemeClr val="tx1"/>
          </a:solidFill>
          <a:latin typeface="+mn-lt"/>
          <a:ea typeface="+mn-ea"/>
          <a:cs typeface="+mn-cs"/>
        </a:defRPr>
      </a:lvl1pPr>
      <a:lvl2pPr marL="483870" algn="l" defTabSz="967740" rtl="0" eaLnBrk="1" latinLnBrk="0" hangingPunct="1">
        <a:defRPr sz="1905" kern="1200">
          <a:solidFill>
            <a:schemeClr val="tx1"/>
          </a:solidFill>
          <a:latin typeface="+mn-lt"/>
          <a:ea typeface="+mn-ea"/>
          <a:cs typeface="+mn-cs"/>
        </a:defRPr>
      </a:lvl2pPr>
      <a:lvl3pPr marL="967740" algn="l" defTabSz="967740" rtl="0" eaLnBrk="1" latinLnBrk="0" hangingPunct="1">
        <a:defRPr sz="1905" kern="1200">
          <a:solidFill>
            <a:schemeClr val="tx1"/>
          </a:solidFill>
          <a:latin typeface="+mn-lt"/>
          <a:ea typeface="+mn-ea"/>
          <a:cs typeface="+mn-cs"/>
        </a:defRPr>
      </a:lvl3pPr>
      <a:lvl4pPr marL="1450975" algn="l" defTabSz="967740" rtl="0" eaLnBrk="1" latinLnBrk="0" hangingPunct="1">
        <a:defRPr sz="1905" kern="1200">
          <a:solidFill>
            <a:schemeClr val="tx1"/>
          </a:solidFill>
          <a:latin typeface="+mn-lt"/>
          <a:ea typeface="+mn-ea"/>
          <a:cs typeface="+mn-cs"/>
        </a:defRPr>
      </a:lvl4pPr>
      <a:lvl5pPr marL="1934845" algn="l" defTabSz="967740" rtl="0" eaLnBrk="1" latinLnBrk="0" hangingPunct="1">
        <a:defRPr sz="1905" kern="1200">
          <a:solidFill>
            <a:schemeClr val="tx1"/>
          </a:solidFill>
          <a:latin typeface="+mn-lt"/>
          <a:ea typeface="+mn-ea"/>
          <a:cs typeface="+mn-cs"/>
        </a:defRPr>
      </a:lvl5pPr>
      <a:lvl6pPr marL="2418715" algn="l" defTabSz="967740" rtl="0" eaLnBrk="1" latinLnBrk="0" hangingPunct="1">
        <a:defRPr sz="1905" kern="1200">
          <a:solidFill>
            <a:schemeClr val="tx1"/>
          </a:solidFill>
          <a:latin typeface="+mn-lt"/>
          <a:ea typeface="+mn-ea"/>
          <a:cs typeface="+mn-cs"/>
        </a:defRPr>
      </a:lvl6pPr>
      <a:lvl7pPr marL="2902585" algn="l" defTabSz="967740" rtl="0" eaLnBrk="1" latinLnBrk="0" hangingPunct="1">
        <a:defRPr sz="1905" kern="1200">
          <a:solidFill>
            <a:schemeClr val="tx1"/>
          </a:solidFill>
          <a:latin typeface="+mn-lt"/>
          <a:ea typeface="+mn-ea"/>
          <a:cs typeface="+mn-cs"/>
        </a:defRPr>
      </a:lvl7pPr>
      <a:lvl8pPr marL="3386455" algn="l" defTabSz="967740" rtl="0" eaLnBrk="1" latinLnBrk="0" hangingPunct="1">
        <a:defRPr sz="1905" kern="1200">
          <a:solidFill>
            <a:schemeClr val="tx1"/>
          </a:solidFill>
          <a:latin typeface="+mn-lt"/>
          <a:ea typeface="+mn-ea"/>
          <a:cs typeface="+mn-cs"/>
        </a:defRPr>
      </a:lvl8pPr>
      <a:lvl9pPr marL="3870325" algn="l" defTabSz="967740" rtl="0" eaLnBrk="1" latinLnBrk="0" hangingPunct="1">
        <a:defRPr sz="19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slideLayout" Target="../slideLayouts/slideLayout5.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2.bin"/><Relationship Id="rId1" Type="http://schemas.openxmlformats.org/officeDocument/2006/relationships/slideLayout" Target="../slideLayouts/slideLayout1.xml"/><Relationship Id="rId5" Type="http://schemas.openxmlformats.org/officeDocument/2006/relationships/image" Target="../media/image29.wmf"/><Relationship Id="rId4" Type="http://schemas.openxmlformats.org/officeDocument/2006/relationships/oleObject" Target="../embeddings/oleObject3.bin"/></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4.bin"/><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5.bin"/><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6.bin"/><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对角圆角矩形 4"/>
          <p:cNvSpPr/>
          <p:nvPr/>
        </p:nvSpPr>
        <p:spPr>
          <a:xfrm>
            <a:off x="101600" y="31133"/>
            <a:ext cx="12090399" cy="1137267"/>
          </a:xfrm>
          <a:custGeom>
            <a:avLst/>
            <a:gdLst>
              <a:gd name="connsiteX0" fmla="*/ 652649 w 9612560"/>
              <a:gd name="connsiteY0" fmla="*/ 0 h 3915816"/>
              <a:gd name="connsiteX1" fmla="*/ 9612560 w 9612560"/>
              <a:gd name="connsiteY1" fmla="*/ 0 h 3915816"/>
              <a:gd name="connsiteX2" fmla="*/ 9612560 w 9612560"/>
              <a:gd name="connsiteY2" fmla="*/ 0 h 3915816"/>
              <a:gd name="connsiteX3" fmla="*/ 9612560 w 9612560"/>
              <a:gd name="connsiteY3" fmla="*/ 3263167 h 3915816"/>
              <a:gd name="connsiteX4" fmla="*/ 8959911 w 9612560"/>
              <a:gd name="connsiteY4" fmla="*/ 3915816 h 3915816"/>
              <a:gd name="connsiteX5" fmla="*/ 0 w 9612560"/>
              <a:gd name="connsiteY5" fmla="*/ 3915816 h 3915816"/>
              <a:gd name="connsiteX6" fmla="*/ 0 w 9612560"/>
              <a:gd name="connsiteY6" fmla="*/ 3915816 h 3915816"/>
              <a:gd name="connsiteX7" fmla="*/ 0 w 9612560"/>
              <a:gd name="connsiteY7" fmla="*/ 652649 h 3915816"/>
              <a:gd name="connsiteX8" fmla="*/ 652649 w 9612560"/>
              <a:gd name="connsiteY8" fmla="*/ 0 h 3915816"/>
              <a:gd name="connsiteX0-1" fmla="*/ 149528 w 9806125"/>
              <a:gd name="connsiteY0-2" fmla="*/ 0 h 3915816"/>
              <a:gd name="connsiteX1-3" fmla="*/ 9806125 w 9806125"/>
              <a:gd name="connsiteY1-4" fmla="*/ 0 h 3915816"/>
              <a:gd name="connsiteX2-5" fmla="*/ 9806125 w 9806125"/>
              <a:gd name="connsiteY2-6" fmla="*/ 0 h 3915816"/>
              <a:gd name="connsiteX3-7" fmla="*/ 9806125 w 9806125"/>
              <a:gd name="connsiteY3-8" fmla="*/ 3263167 h 3915816"/>
              <a:gd name="connsiteX4-9" fmla="*/ 9153476 w 9806125"/>
              <a:gd name="connsiteY4-10" fmla="*/ 3915816 h 3915816"/>
              <a:gd name="connsiteX5-11" fmla="*/ 193565 w 9806125"/>
              <a:gd name="connsiteY5-12" fmla="*/ 3915816 h 3915816"/>
              <a:gd name="connsiteX6-13" fmla="*/ 193565 w 9806125"/>
              <a:gd name="connsiteY6-14" fmla="*/ 3915816 h 3915816"/>
              <a:gd name="connsiteX7-15" fmla="*/ 193565 w 9806125"/>
              <a:gd name="connsiteY7-16" fmla="*/ 652649 h 3915816"/>
              <a:gd name="connsiteX8-17" fmla="*/ 149528 w 9806125"/>
              <a:gd name="connsiteY8-18" fmla="*/ 0 h 3915816"/>
              <a:gd name="connsiteX0-19" fmla="*/ 0 w 9656597"/>
              <a:gd name="connsiteY0-20" fmla="*/ 0 h 3915816"/>
              <a:gd name="connsiteX1-21" fmla="*/ 9656597 w 9656597"/>
              <a:gd name="connsiteY1-22" fmla="*/ 0 h 3915816"/>
              <a:gd name="connsiteX2-23" fmla="*/ 9656597 w 9656597"/>
              <a:gd name="connsiteY2-24" fmla="*/ 0 h 3915816"/>
              <a:gd name="connsiteX3-25" fmla="*/ 9656597 w 9656597"/>
              <a:gd name="connsiteY3-26" fmla="*/ 3263167 h 3915816"/>
              <a:gd name="connsiteX4-27" fmla="*/ 9003948 w 9656597"/>
              <a:gd name="connsiteY4-28" fmla="*/ 3915816 h 3915816"/>
              <a:gd name="connsiteX5-29" fmla="*/ 44037 w 9656597"/>
              <a:gd name="connsiteY5-30" fmla="*/ 3915816 h 3915816"/>
              <a:gd name="connsiteX6-31" fmla="*/ 44037 w 9656597"/>
              <a:gd name="connsiteY6-32" fmla="*/ 3915816 h 3915816"/>
              <a:gd name="connsiteX7-33" fmla="*/ 44037 w 9656597"/>
              <a:gd name="connsiteY7-34" fmla="*/ 652649 h 3915816"/>
              <a:gd name="connsiteX8-35" fmla="*/ 0 w 9656597"/>
              <a:gd name="connsiteY8-36" fmla="*/ 0 h 3915816"/>
              <a:gd name="connsiteX0-37" fmla="*/ 0 w 9613055"/>
              <a:gd name="connsiteY0-38" fmla="*/ 14514 h 3915816"/>
              <a:gd name="connsiteX1-39" fmla="*/ 9613055 w 9613055"/>
              <a:gd name="connsiteY1-40" fmla="*/ 0 h 3915816"/>
              <a:gd name="connsiteX2-41" fmla="*/ 9613055 w 9613055"/>
              <a:gd name="connsiteY2-42" fmla="*/ 0 h 3915816"/>
              <a:gd name="connsiteX3-43" fmla="*/ 9613055 w 9613055"/>
              <a:gd name="connsiteY3-44" fmla="*/ 3263167 h 3915816"/>
              <a:gd name="connsiteX4-45" fmla="*/ 8960406 w 9613055"/>
              <a:gd name="connsiteY4-46" fmla="*/ 3915816 h 3915816"/>
              <a:gd name="connsiteX5-47" fmla="*/ 495 w 9613055"/>
              <a:gd name="connsiteY5-48" fmla="*/ 3915816 h 3915816"/>
              <a:gd name="connsiteX6-49" fmla="*/ 495 w 9613055"/>
              <a:gd name="connsiteY6-50" fmla="*/ 3915816 h 3915816"/>
              <a:gd name="connsiteX7-51" fmla="*/ 495 w 9613055"/>
              <a:gd name="connsiteY7-52" fmla="*/ 652649 h 3915816"/>
              <a:gd name="connsiteX8-53" fmla="*/ 0 w 9613055"/>
              <a:gd name="connsiteY8-54" fmla="*/ 14514 h 391581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9613055" h="3915816">
                <a:moveTo>
                  <a:pt x="0" y="14514"/>
                </a:moveTo>
                <a:lnTo>
                  <a:pt x="9613055" y="0"/>
                </a:lnTo>
                <a:lnTo>
                  <a:pt x="9613055" y="0"/>
                </a:lnTo>
                <a:lnTo>
                  <a:pt x="9613055" y="3263167"/>
                </a:lnTo>
                <a:cubicBezTo>
                  <a:pt x="9613055" y="3623615"/>
                  <a:pt x="9320854" y="3915816"/>
                  <a:pt x="8960406" y="3915816"/>
                </a:cubicBezTo>
                <a:lnTo>
                  <a:pt x="495" y="3915816"/>
                </a:lnTo>
                <a:lnTo>
                  <a:pt x="495" y="3915816"/>
                </a:lnTo>
                <a:lnTo>
                  <a:pt x="495" y="652649"/>
                </a:lnTo>
                <a:cubicBezTo>
                  <a:pt x="495" y="292201"/>
                  <a:pt x="2409" y="43542"/>
                  <a:pt x="0" y="14514"/>
                </a:cubicBezTo>
                <a:close/>
              </a:path>
            </a:pathLst>
          </a:custGeom>
          <a:gradFill flip="none" rotWithShape="1">
            <a:gsLst>
              <a:gs pos="0">
                <a:srgbClr val="2165B6"/>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a:outerShdw blurRad="5334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sz="4400" dirty="0">
                <a:latin typeface="微软雅黑" panose="020B0503020204020204" pitchFamily="34" charset="-122"/>
                <a:ea typeface="微软雅黑" panose="020B0503020204020204" pitchFamily="34" charset="-122"/>
              </a:rPr>
              <a:t>Pandas</a:t>
            </a:r>
            <a:r>
              <a:rPr lang="zh-CN" altLang="en-US" sz="4400" dirty="0">
                <a:latin typeface="微软雅黑" panose="020B0503020204020204" pitchFamily="34" charset="-122"/>
                <a:ea typeface="微软雅黑" panose="020B0503020204020204" pitchFamily="34" charset="-122"/>
              </a:rPr>
              <a:t>统计分析基础</a:t>
            </a:r>
            <a:endParaRPr lang="en-US" altLang="zh-CN" sz="2800" dirty="0">
              <a:latin typeface="微软雅黑" panose="020B0503020204020204" pitchFamily="34" charset="-122"/>
              <a:ea typeface="微软雅黑" panose="020B0503020204020204" pitchFamily="34" charset="-122"/>
            </a:endParaRPr>
          </a:p>
        </p:txBody>
      </p:sp>
      <p:grpSp>
        <p:nvGrpSpPr>
          <p:cNvPr id="27" name="组合 2"/>
          <p:cNvGrpSpPr/>
          <p:nvPr/>
        </p:nvGrpSpPr>
        <p:grpSpPr>
          <a:xfrm>
            <a:off x="3119438" y="1324294"/>
            <a:ext cx="6549390" cy="877887"/>
            <a:chOff x="1074461" y="1186311"/>
            <a:chExt cx="6549675" cy="877923"/>
          </a:xfrm>
        </p:grpSpPr>
        <p:grpSp>
          <p:nvGrpSpPr>
            <p:cNvPr id="28" name="组合 42"/>
            <p:cNvGrpSpPr/>
            <p:nvPr/>
          </p:nvGrpSpPr>
          <p:grpSpPr>
            <a:xfrm>
              <a:off x="1074461" y="1186311"/>
              <a:ext cx="950051" cy="877923"/>
              <a:chOff x="492997" y="1075895"/>
              <a:chExt cx="1039031" cy="1031586"/>
            </a:xfrm>
          </p:grpSpPr>
          <p:grpSp>
            <p:nvGrpSpPr>
              <p:cNvPr id="30" name="Group 48"/>
              <p:cNvGrpSpPr/>
              <p:nvPr/>
            </p:nvGrpSpPr>
            <p:grpSpPr>
              <a:xfrm>
                <a:off x="492997" y="1075895"/>
                <a:ext cx="1039031" cy="1031586"/>
                <a:chOff x="2508" y="1231"/>
                <a:chExt cx="1223" cy="1240"/>
              </a:xfrm>
            </p:grpSpPr>
            <p:sp>
              <p:nvSpPr>
                <p:cNvPr id="32" name="Oval 49"/>
                <p:cNvSpPr/>
                <p:nvPr/>
              </p:nvSpPr>
              <p:spPr>
                <a:xfrm>
                  <a:off x="2508" y="1231"/>
                  <a:ext cx="1122" cy="1240"/>
                </a:xfrm>
                <a:prstGeom prst="ellipse">
                  <a:avLst/>
                </a:prstGeom>
                <a:solidFill>
                  <a:srgbClr val="808080"/>
                </a:solidFill>
                <a:ln w="9525">
                  <a:noFill/>
                </a:ln>
              </p:spPr>
              <p:txBody>
                <a:bodyPr wrap="none" anchor="ctr"/>
                <a:lstStyle/>
                <a:p>
                  <a:endParaRPr lang="zh-CN" altLang="en-US" dirty="0">
                    <a:latin typeface="Arial" panose="020B0604020202020204" pitchFamily="34" charset="0"/>
                  </a:endParaRPr>
                </a:p>
              </p:txBody>
            </p:sp>
            <p:sp>
              <p:nvSpPr>
                <p:cNvPr id="33" name="Oval 50"/>
                <p:cNvSpPr/>
                <p:nvPr/>
              </p:nvSpPr>
              <p:spPr>
                <a:xfrm>
                  <a:off x="2541" y="1256"/>
                  <a:ext cx="1190" cy="1190"/>
                </a:xfrm>
                <a:prstGeom prst="ellipse">
                  <a:avLst/>
                </a:prstGeom>
                <a:gradFill rotWithShape="1">
                  <a:gsLst>
                    <a:gs pos="0">
                      <a:srgbClr val="F8F8F8"/>
                    </a:gs>
                    <a:gs pos="100000">
                      <a:srgbClr val="414141"/>
                    </a:gs>
                  </a:gsLst>
                  <a:lin ang="5400000" scaled="1"/>
                  <a:tileRect/>
                </a:gradFill>
                <a:ln w="9525">
                  <a:noFill/>
                </a:ln>
              </p:spPr>
              <p:txBody>
                <a:bodyPr wrap="none" anchor="ctr"/>
                <a:lstStyle/>
                <a:p>
                  <a:endParaRPr lang="zh-CN" altLang="en-US" dirty="0">
                    <a:latin typeface="Arial" panose="020B0604020202020204" pitchFamily="34" charset="0"/>
                  </a:endParaRPr>
                </a:p>
              </p:txBody>
            </p:sp>
            <p:sp>
              <p:nvSpPr>
                <p:cNvPr id="34" name="Oval 51"/>
                <p:cNvSpPr/>
                <p:nvPr/>
              </p:nvSpPr>
              <p:spPr>
                <a:xfrm>
                  <a:off x="2590" y="1305"/>
                  <a:ext cx="1092" cy="1092"/>
                </a:xfrm>
                <a:prstGeom prst="ellipse">
                  <a:avLst/>
                </a:prstGeom>
                <a:solidFill>
                  <a:srgbClr val="808080">
                    <a:alpha val="25098"/>
                  </a:srgbClr>
                </a:solidFill>
                <a:ln w="9525">
                  <a:noFill/>
                </a:ln>
              </p:spPr>
              <p:txBody>
                <a:bodyPr wrap="none" anchor="ctr"/>
                <a:lstStyle/>
                <a:p>
                  <a:endParaRPr lang="zh-CN" altLang="en-US" dirty="0">
                    <a:latin typeface="Arial" panose="020B0604020202020204" pitchFamily="34" charset="0"/>
                  </a:endParaRPr>
                </a:p>
              </p:txBody>
            </p:sp>
            <p:sp>
              <p:nvSpPr>
                <p:cNvPr id="35" name="Oval 52"/>
                <p:cNvSpPr/>
                <p:nvPr/>
              </p:nvSpPr>
              <p:spPr>
                <a:xfrm>
                  <a:off x="2623" y="1330"/>
                  <a:ext cx="1026" cy="1026"/>
                </a:xfrm>
                <a:prstGeom prst="ellipse">
                  <a:avLst/>
                </a:prstGeom>
                <a:solidFill>
                  <a:srgbClr val="808080">
                    <a:alpha val="30196"/>
                  </a:srgbClr>
                </a:solidFill>
                <a:ln w="9525">
                  <a:noFill/>
                </a:ln>
              </p:spPr>
              <p:txBody>
                <a:bodyPr wrap="none" anchor="ctr"/>
                <a:lstStyle/>
                <a:p>
                  <a:endParaRPr lang="zh-CN" altLang="en-US" dirty="0">
                    <a:latin typeface="Arial" panose="020B0604020202020204" pitchFamily="34" charset="0"/>
                  </a:endParaRPr>
                </a:p>
              </p:txBody>
            </p:sp>
            <p:sp>
              <p:nvSpPr>
                <p:cNvPr id="36" name="Oval 53"/>
                <p:cNvSpPr/>
                <p:nvPr/>
              </p:nvSpPr>
              <p:spPr>
                <a:xfrm>
                  <a:off x="2637" y="1346"/>
                  <a:ext cx="993" cy="994"/>
                </a:xfrm>
                <a:prstGeom prst="ellipse">
                  <a:avLst/>
                </a:prstGeom>
                <a:gradFill rotWithShape="1">
                  <a:gsLst>
                    <a:gs pos="0">
                      <a:srgbClr val="5C5C5C"/>
                    </a:gs>
                    <a:gs pos="100000">
                      <a:srgbClr val="FFFFFF"/>
                    </a:gs>
                  </a:gsLst>
                  <a:lin ang="5400000" scaled="1"/>
                  <a:tileRect/>
                </a:gradFill>
                <a:ln w="9525">
                  <a:noFill/>
                </a:ln>
              </p:spPr>
              <p:txBody>
                <a:bodyPr wrap="none" anchor="ctr"/>
                <a:lstStyle/>
                <a:p>
                  <a:endParaRPr lang="zh-CN" altLang="en-US" dirty="0">
                    <a:latin typeface="Arial" panose="020B0604020202020204" pitchFamily="34" charset="0"/>
                  </a:endParaRPr>
                </a:p>
              </p:txBody>
            </p:sp>
          </p:grpSp>
          <p:sp>
            <p:nvSpPr>
              <p:cNvPr id="31" name="椭圆 30"/>
              <p:cNvSpPr/>
              <p:nvPr/>
            </p:nvSpPr>
            <p:spPr bwMode="auto">
              <a:xfrm>
                <a:off x="644506" y="1229804"/>
                <a:ext cx="764046" cy="734059"/>
              </a:xfrm>
              <a:prstGeom prst="ellipse">
                <a:avLst/>
              </a:prstGeom>
              <a:solidFill>
                <a:schemeClr val="accent5">
                  <a:lumMod val="75000"/>
                </a:schemeClr>
              </a:solidFill>
              <a:ln>
                <a:solidFill>
                  <a:schemeClr val="accent6">
                    <a:lumMod val="50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r>
                  <a:rPr lang="en-US" altLang="zh-CN" sz="3200" b="1" dirty="0">
                    <a:solidFill>
                      <a:prstClr val="white"/>
                    </a:solidFill>
                    <a:effectLst>
                      <a:outerShdw blurRad="38100" dist="38100" dir="2700000" algn="tl">
                        <a:srgbClr val="000000">
                          <a:alpha val="43137"/>
                        </a:srgbClr>
                      </a:outerShdw>
                    </a:effectLst>
                    <a:latin typeface="Tahoma" panose="020B0604030504040204" pitchFamily="34" charset="0"/>
                    <a:cs typeface="Tahoma" panose="020B0604030504040204" pitchFamily="34" charset="0"/>
                  </a:rPr>
                  <a:t>1</a:t>
                </a:r>
                <a:endParaRPr lang="zh-CN" altLang="en-US" sz="3200" b="1" dirty="0">
                  <a:solidFill>
                    <a:prstClr val="white"/>
                  </a:solidFill>
                  <a:effectLst>
                    <a:outerShdw blurRad="38100" dist="38100" dir="2700000" algn="tl">
                      <a:srgbClr val="000000">
                        <a:alpha val="43137"/>
                      </a:srgbClr>
                    </a:outerShdw>
                  </a:effectLst>
                  <a:latin typeface="Tahoma" panose="020B0604030504040204" pitchFamily="34" charset="0"/>
                  <a:cs typeface="Tahoma" panose="020B0604030504040204" pitchFamily="34" charset="0"/>
                </a:endParaRPr>
              </a:p>
            </p:txBody>
          </p:sp>
        </p:grpSp>
        <p:sp>
          <p:nvSpPr>
            <p:cNvPr id="29" name="Rectangle 22"/>
            <p:cNvSpPr>
              <a:spLocks noChangeArrowheads="1"/>
            </p:cNvSpPr>
            <p:nvPr/>
          </p:nvSpPr>
          <p:spPr bwMode="auto">
            <a:xfrm>
              <a:off x="2157183" y="1230763"/>
              <a:ext cx="5466953" cy="645186"/>
            </a:xfrm>
            <a:prstGeom prst="rect">
              <a:avLst/>
            </a:prstGeom>
            <a:noFill/>
            <a:ln>
              <a:noFill/>
            </a:ln>
            <a:effectLst/>
            <a:extLst>
              <a:ext uri="{909E8E84-426E-40DD-AFC4-6F175D3DCCD1}">
                <a14:hiddenFill xmlns:a14="http://schemas.microsoft.com/office/drawing/2010/main">
                  <a:gradFill rotWithShape="1">
                    <a:gsLst>
                      <a:gs pos="0">
                        <a:schemeClr val="accent1"/>
                      </a:gs>
                      <a:gs pos="50000">
                        <a:schemeClr val="bg1"/>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fontAlgn="base" hangingPunct="0">
                <a:spcBef>
                  <a:spcPct val="0"/>
                </a:spcBef>
                <a:spcAft>
                  <a:spcPct val="0"/>
                </a:spcAft>
                <a:defRPr/>
              </a:pPr>
              <a:r>
                <a:rPr lang="en-US" altLang="zh-CN" sz="3600" b="1" dirty="0">
                  <a:solidFill>
                    <a:srgbClr val="002060"/>
                  </a:solidFill>
                  <a:latin typeface="微软雅黑" panose="020B0503020204020204" pitchFamily="34" charset="-122"/>
                  <a:ea typeface="微软雅黑" panose="020B0503020204020204" pitchFamily="34" charset="-122"/>
                  <a:sym typeface="+mn-ea"/>
                </a:rPr>
                <a:t>Pandas</a:t>
              </a:r>
              <a:r>
                <a:rPr lang="zh-CN" altLang="en-US" sz="3600" b="1" dirty="0">
                  <a:solidFill>
                    <a:srgbClr val="002060"/>
                  </a:solidFill>
                  <a:latin typeface="微软雅黑" panose="020B0503020204020204" pitchFamily="34" charset="-122"/>
                  <a:ea typeface="微软雅黑" panose="020B0503020204020204" pitchFamily="34" charset="-122"/>
                  <a:sym typeface="+mn-ea"/>
                </a:rPr>
                <a:t>简介</a:t>
              </a:r>
            </a:p>
          </p:txBody>
        </p:sp>
      </p:grpSp>
      <p:grpSp>
        <p:nvGrpSpPr>
          <p:cNvPr id="37" name="组合 3"/>
          <p:cNvGrpSpPr/>
          <p:nvPr/>
        </p:nvGrpSpPr>
        <p:grpSpPr>
          <a:xfrm>
            <a:off x="3086735" y="4208622"/>
            <a:ext cx="7494270" cy="877675"/>
            <a:chOff x="1110256" y="2348487"/>
            <a:chExt cx="7040811" cy="877923"/>
          </a:xfrm>
        </p:grpSpPr>
        <p:sp>
          <p:nvSpPr>
            <p:cNvPr id="38" name="Rectangle 43"/>
            <p:cNvSpPr>
              <a:spLocks noChangeArrowheads="1"/>
            </p:cNvSpPr>
            <p:nvPr/>
          </p:nvSpPr>
          <p:spPr bwMode="auto">
            <a:xfrm>
              <a:off x="2158443" y="2464090"/>
              <a:ext cx="5992624" cy="645342"/>
            </a:xfrm>
            <a:prstGeom prst="rect">
              <a:avLst/>
            </a:prstGeom>
            <a:noFill/>
            <a:ln>
              <a:noFill/>
            </a:ln>
            <a:effectLst/>
            <a:extLst>
              <a:ext uri="{909E8E84-426E-40DD-AFC4-6F175D3DCCD1}">
                <a14:hiddenFill xmlns:a14="http://schemas.microsoft.com/office/drawing/2010/main">
                  <a:gradFill rotWithShape="1">
                    <a:gsLst>
                      <a:gs pos="0">
                        <a:schemeClr val="accent1"/>
                      </a:gs>
                      <a:gs pos="50000">
                        <a:schemeClr val="bg1"/>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fontAlgn="base" hangingPunct="0">
                <a:spcBef>
                  <a:spcPct val="0"/>
                </a:spcBef>
                <a:spcAft>
                  <a:spcPct val="0"/>
                </a:spcAft>
                <a:defRPr/>
              </a:pPr>
              <a:r>
                <a:rPr lang="en-US" sz="3600" b="1" dirty="0">
                  <a:solidFill>
                    <a:srgbClr val="002060"/>
                  </a:solidFill>
                  <a:latin typeface="微软雅黑" panose="020B0503020204020204" pitchFamily="34" charset="-122"/>
                  <a:ea typeface="微软雅黑" panose="020B0503020204020204" pitchFamily="34" charset="-122"/>
                  <a:sym typeface="+mn-ea"/>
                </a:rPr>
                <a:t>DataFrame</a:t>
              </a:r>
              <a:r>
                <a:rPr lang="zh-CN" altLang="en-US" sz="3600" b="1" dirty="0">
                  <a:solidFill>
                    <a:srgbClr val="002060"/>
                  </a:solidFill>
                  <a:latin typeface="微软雅黑" panose="020B0503020204020204" pitchFamily="34" charset="-122"/>
                  <a:ea typeface="微软雅黑" panose="020B0503020204020204" pitchFamily="34" charset="-122"/>
                  <a:sym typeface="+mn-ea"/>
                </a:rPr>
                <a:t>常用操作</a:t>
              </a:r>
            </a:p>
          </p:txBody>
        </p:sp>
        <p:grpSp>
          <p:nvGrpSpPr>
            <p:cNvPr id="39" name="组合 42"/>
            <p:cNvGrpSpPr/>
            <p:nvPr/>
          </p:nvGrpSpPr>
          <p:grpSpPr>
            <a:xfrm>
              <a:off x="1110256" y="2348487"/>
              <a:ext cx="950051" cy="877923"/>
              <a:chOff x="492997" y="1075895"/>
              <a:chExt cx="1039031" cy="1031586"/>
            </a:xfrm>
          </p:grpSpPr>
          <p:grpSp>
            <p:nvGrpSpPr>
              <p:cNvPr id="40" name="Group 48"/>
              <p:cNvGrpSpPr/>
              <p:nvPr/>
            </p:nvGrpSpPr>
            <p:grpSpPr>
              <a:xfrm>
                <a:off x="492997" y="1075895"/>
                <a:ext cx="1039031" cy="1031586"/>
                <a:chOff x="2508" y="1231"/>
                <a:chExt cx="1223" cy="1240"/>
              </a:xfrm>
            </p:grpSpPr>
            <p:sp>
              <p:nvSpPr>
                <p:cNvPr id="42" name="Oval 49"/>
                <p:cNvSpPr/>
                <p:nvPr/>
              </p:nvSpPr>
              <p:spPr>
                <a:xfrm>
                  <a:off x="2508" y="1231"/>
                  <a:ext cx="1122" cy="1240"/>
                </a:xfrm>
                <a:prstGeom prst="ellipse">
                  <a:avLst/>
                </a:prstGeom>
                <a:solidFill>
                  <a:srgbClr val="808080"/>
                </a:solidFill>
                <a:ln w="9525">
                  <a:noFill/>
                </a:ln>
              </p:spPr>
              <p:txBody>
                <a:bodyPr wrap="none" anchor="ctr"/>
                <a:lstStyle/>
                <a:p>
                  <a:endParaRPr lang="zh-CN" altLang="en-US" dirty="0">
                    <a:latin typeface="Arial" panose="020B0604020202020204" pitchFamily="34" charset="0"/>
                  </a:endParaRPr>
                </a:p>
              </p:txBody>
            </p:sp>
            <p:sp>
              <p:nvSpPr>
                <p:cNvPr id="43" name="Oval 50"/>
                <p:cNvSpPr/>
                <p:nvPr/>
              </p:nvSpPr>
              <p:spPr>
                <a:xfrm>
                  <a:off x="2541" y="1256"/>
                  <a:ext cx="1190" cy="1190"/>
                </a:xfrm>
                <a:prstGeom prst="ellipse">
                  <a:avLst/>
                </a:prstGeom>
                <a:gradFill rotWithShape="1">
                  <a:gsLst>
                    <a:gs pos="0">
                      <a:srgbClr val="F8F8F8"/>
                    </a:gs>
                    <a:gs pos="100000">
                      <a:srgbClr val="414141"/>
                    </a:gs>
                  </a:gsLst>
                  <a:lin ang="5400000" scaled="1"/>
                  <a:tileRect/>
                </a:gradFill>
                <a:ln w="9525">
                  <a:noFill/>
                </a:ln>
              </p:spPr>
              <p:txBody>
                <a:bodyPr wrap="none" anchor="ctr"/>
                <a:lstStyle/>
                <a:p>
                  <a:endParaRPr lang="zh-CN" altLang="en-US" dirty="0">
                    <a:latin typeface="Arial" panose="020B0604020202020204" pitchFamily="34" charset="0"/>
                  </a:endParaRPr>
                </a:p>
              </p:txBody>
            </p:sp>
            <p:sp>
              <p:nvSpPr>
                <p:cNvPr id="44" name="Oval 51"/>
                <p:cNvSpPr/>
                <p:nvPr/>
              </p:nvSpPr>
              <p:spPr>
                <a:xfrm>
                  <a:off x="2590" y="1305"/>
                  <a:ext cx="1092" cy="1092"/>
                </a:xfrm>
                <a:prstGeom prst="ellipse">
                  <a:avLst/>
                </a:prstGeom>
                <a:solidFill>
                  <a:srgbClr val="808080">
                    <a:alpha val="25098"/>
                  </a:srgbClr>
                </a:solidFill>
                <a:ln w="9525">
                  <a:noFill/>
                </a:ln>
              </p:spPr>
              <p:txBody>
                <a:bodyPr wrap="none" anchor="ctr"/>
                <a:lstStyle/>
                <a:p>
                  <a:endParaRPr lang="zh-CN" altLang="en-US" dirty="0">
                    <a:latin typeface="Arial" panose="020B0604020202020204" pitchFamily="34" charset="0"/>
                  </a:endParaRPr>
                </a:p>
              </p:txBody>
            </p:sp>
            <p:sp>
              <p:nvSpPr>
                <p:cNvPr id="45" name="Oval 52"/>
                <p:cNvSpPr/>
                <p:nvPr/>
              </p:nvSpPr>
              <p:spPr>
                <a:xfrm>
                  <a:off x="2623" y="1330"/>
                  <a:ext cx="1026" cy="1026"/>
                </a:xfrm>
                <a:prstGeom prst="ellipse">
                  <a:avLst/>
                </a:prstGeom>
                <a:solidFill>
                  <a:srgbClr val="808080">
                    <a:alpha val="30196"/>
                  </a:srgbClr>
                </a:solidFill>
                <a:ln w="9525">
                  <a:noFill/>
                </a:ln>
              </p:spPr>
              <p:txBody>
                <a:bodyPr wrap="none" anchor="ctr"/>
                <a:lstStyle/>
                <a:p>
                  <a:endParaRPr lang="zh-CN" altLang="en-US" dirty="0">
                    <a:latin typeface="Arial" panose="020B0604020202020204" pitchFamily="34" charset="0"/>
                  </a:endParaRPr>
                </a:p>
              </p:txBody>
            </p:sp>
            <p:sp>
              <p:nvSpPr>
                <p:cNvPr id="46" name="Oval 53"/>
                <p:cNvSpPr/>
                <p:nvPr/>
              </p:nvSpPr>
              <p:spPr>
                <a:xfrm>
                  <a:off x="2637" y="1346"/>
                  <a:ext cx="993" cy="994"/>
                </a:xfrm>
                <a:prstGeom prst="ellipse">
                  <a:avLst/>
                </a:prstGeom>
                <a:gradFill rotWithShape="1">
                  <a:gsLst>
                    <a:gs pos="0">
                      <a:srgbClr val="5C5C5C"/>
                    </a:gs>
                    <a:gs pos="100000">
                      <a:srgbClr val="FFFFFF"/>
                    </a:gs>
                  </a:gsLst>
                  <a:lin ang="5400000" scaled="1"/>
                  <a:tileRect/>
                </a:gradFill>
                <a:ln w="9525">
                  <a:noFill/>
                </a:ln>
              </p:spPr>
              <p:txBody>
                <a:bodyPr wrap="none" anchor="ctr"/>
                <a:lstStyle/>
                <a:p>
                  <a:endParaRPr lang="zh-CN" altLang="en-US" dirty="0">
                    <a:latin typeface="Arial" panose="020B0604020202020204" pitchFamily="34" charset="0"/>
                  </a:endParaRPr>
                </a:p>
              </p:txBody>
            </p:sp>
          </p:grpSp>
          <p:sp>
            <p:nvSpPr>
              <p:cNvPr id="41" name="椭圆 40"/>
              <p:cNvSpPr/>
              <p:nvPr/>
            </p:nvSpPr>
            <p:spPr bwMode="auto">
              <a:xfrm>
                <a:off x="644506" y="1229804"/>
                <a:ext cx="764046" cy="734059"/>
              </a:xfrm>
              <a:prstGeom prst="ellipse">
                <a:avLst/>
              </a:prstGeom>
              <a:solidFill>
                <a:schemeClr val="accent5">
                  <a:lumMod val="75000"/>
                </a:schemeClr>
              </a:solidFill>
              <a:ln>
                <a:solidFill>
                  <a:schemeClr val="accent6">
                    <a:lumMod val="50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r>
                  <a:rPr lang="en-US" altLang="zh-CN" sz="3200" b="1" dirty="0">
                    <a:solidFill>
                      <a:prstClr val="white"/>
                    </a:solidFill>
                    <a:effectLst>
                      <a:outerShdw blurRad="38100" dist="38100" dir="2700000" algn="tl">
                        <a:srgbClr val="000000">
                          <a:alpha val="43137"/>
                        </a:srgbClr>
                      </a:outerShdw>
                    </a:effectLst>
                    <a:latin typeface="Tahoma" panose="020B0604030504040204" pitchFamily="34" charset="0"/>
                    <a:cs typeface="Tahoma" panose="020B0604030504040204" pitchFamily="34" charset="0"/>
                  </a:rPr>
                  <a:t>4</a:t>
                </a:r>
              </a:p>
            </p:txBody>
          </p:sp>
        </p:grpSp>
      </p:grpSp>
      <p:grpSp>
        <p:nvGrpSpPr>
          <p:cNvPr id="47" name="组合 4"/>
          <p:cNvGrpSpPr/>
          <p:nvPr/>
        </p:nvGrpSpPr>
        <p:grpSpPr>
          <a:xfrm>
            <a:off x="3088324" y="5247482"/>
            <a:ext cx="7056437" cy="879475"/>
            <a:chOff x="1074461" y="3629800"/>
            <a:chExt cx="7056714" cy="877923"/>
          </a:xfrm>
        </p:grpSpPr>
        <p:sp>
          <p:nvSpPr>
            <p:cNvPr id="48" name="Rectangle 43"/>
            <p:cNvSpPr>
              <a:spLocks noChangeArrowheads="1"/>
            </p:cNvSpPr>
            <p:nvPr/>
          </p:nvSpPr>
          <p:spPr bwMode="auto">
            <a:xfrm>
              <a:off x="2157179" y="3859582"/>
              <a:ext cx="5973996" cy="644021"/>
            </a:xfrm>
            <a:prstGeom prst="rect">
              <a:avLst/>
            </a:prstGeom>
            <a:noFill/>
            <a:ln>
              <a:noFill/>
            </a:ln>
            <a:effectLst/>
            <a:extLst>
              <a:ext uri="{909E8E84-426E-40DD-AFC4-6F175D3DCCD1}">
                <a14:hiddenFill xmlns:a14="http://schemas.microsoft.com/office/drawing/2010/main">
                  <a:gradFill rotWithShape="1">
                    <a:gsLst>
                      <a:gs pos="0">
                        <a:schemeClr val="accent1"/>
                      </a:gs>
                      <a:gs pos="50000">
                        <a:schemeClr val="bg1"/>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indent="-342900" fontAlgn="base">
                <a:spcBef>
                  <a:spcPct val="0"/>
                </a:spcBef>
                <a:spcAft>
                  <a:spcPct val="0"/>
                </a:spcAft>
                <a:defRPr/>
              </a:pPr>
              <a:r>
                <a:rPr lang="zh-CN" altLang="en-US" sz="3600" b="1" dirty="0">
                  <a:solidFill>
                    <a:srgbClr val="FF0000"/>
                  </a:solidFill>
                  <a:latin typeface="微软雅黑" panose="020B0503020204020204" pitchFamily="34" charset="-122"/>
                  <a:ea typeface="微软雅黑" panose="020B0503020204020204" pitchFamily="34" charset="-122"/>
                </a:rPr>
                <a:t>预处理</a:t>
              </a:r>
            </a:p>
          </p:txBody>
        </p:sp>
        <p:grpSp>
          <p:nvGrpSpPr>
            <p:cNvPr id="49" name="组合 42"/>
            <p:cNvGrpSpPr/>
            <p:nvPr/>
          </p:nvGrpSpPr>
          <p:grpSpPr>
            <a:xfrm>
              <a:off x="1074461" y="3629800"/>
              <a:ext cx="950051" cy="877923"/>
              <a:chOff x="492997" y="1075895"/>
              <a:chExt cx="1039031" cy="1031586"/>
            </a:xfrm>
          </p:grpSpPr>
          <p:grpSp>
            <p:nvGrpSpPr>
              <p:cNvPr id="50" name="Group 48"/>
              <p:cNvGrpSpPr/>
              <p:nvPr/>
            </p:nvGrpSpPr>
            <p:grpSpPr>
              <a:xfrm>
                <a:off x="492997" y="1075895"/>
                <a:ext cx="1039031" cy="1031586"/>
                <a:chOff x="2508" y="1231"/>
                <a:chExt cx="1223" cy="1240"/>
              </a:xfrm>
            </p:grpSpPr>
            <p:sp>
              <p:nvSpPr>
                <p:cNvPr id="52" name="Oval 49"/>
                <p:cNvSpPr/>
                <p:nvPr/>
              </p:nvSpPr>
              <p:spPr>
                <a:xfrm>
                  <a:off x="2508" y="1231"/>
                  <a:ext cx="1122" cy="1240"/>
                </a:xfrm>
                <a:prstGeom prst="ellipse">
                  <a:avLst/>
                </a:prstGeom>
                <a:solidFill>
                  <a:srgbClr val="808080"/>
                </a:solidFill>
                <a:ln w="9525">
                  <a:noFill/>
                </a:ln>
              </p:spPr>
              <p:txBody>
                <a:bodyPr wrap="none" anchor="ctr"/>
                <a:lstStyle/>
                <a:p>
                  <a:endParaRPr lang="zh-CN" altLang="en-US" dirty="0">
                    <a:latin typeface="Arial" panose="020B0604020202020204" pitchFamily="34" charset="0"/>
                  </a:endParaRPr>
                </a:p>
              </p:txBody>
            </p:sp>
            <p:sp>
              <p:nvSpPr>
                <p:cNvPr id="53" name="Oval 50"/>
                <p:cNvSpPr/>
                <p:nvPr/>
              </p:nvSpPr>
              <p:spPr>
                <a:xfrm>
                  <a:off x="2541" y="1256"/>
                  <a:ext cx="1190" cy="1190"/>
                </a:xfrm>
                <a:prstGeom prst="ellipse">
                  <a:avLst/>
                </a:prstGeom>
                <a:gradFill rotWithShape="1">
                  <a:gsLst>
                    <a:gs pos="0">
                      <a:srgbClr val="F8F8F8"/>
                    </a:gs>
                    <a:gs pos="100000">
                      <a:srgbClr val="414141"/>
                    </a:gs>
                  </a:gsLst>
                  <a:lin ang="5400000" scaled="1"/>
                  <a:tileRect/>
                </a:gradFill>
                <a:ln w="9525">
                  <a:noFill/>
                </a:ln>
              </p:spPr>
              <p:txBody>
                <a:bodyPr wrap="none" anchor="ctr"/>
                <a:lstStyle/>
                <a:p>
                  <a:endParaRPr lang="zh-CN" altLang="en-US" dirty="0">
                    <a:latin typeface="Arial" panose="020B0604020202020204" pitchFamily="34" charset="0"/>
                  </a:endParaRPr>
                </a:p>
              </p:txBody>
            </p:sp>
            <p:sp>
              <p:nvSpPr>
                <p:cNvPr id="54" name="Oval 51"/>
                <p:cNvSpPr/>
                <p:nvPr/>
              </p:nvSpPr>
              <p:spPr>
                <a:xfrm>
                  <a:off x="2590" y="1305"/>
                  <a:ext cx="1092" cy="1092"/>
                </a:xfrm>
                <a:prstGeom prst="ellipse">
                  <a:avLst/>
                </a:prstGeom>
                <a:solidFill>
                  <a:schemeClr val="accent2">
                    <a:alpha val="25098"/>
                  </a:schemeClr>
                </a:solidFill>
                <a:ln w="9525">
                  <a:noFill/>
                </a:ln>
              </p:spPr>
              <p:txBody>
                <a:bodyPr wrap="none" anchor="ctr"/>
                <a:lstStyle/>
                <a:p>
                  <a:endParaRPr lang="zh-CN" altLang="en-US" dirty="0">
                    <a:latin typeface="Arial" panose="020B0604020202020204" pitchFamily="34" charset="0"/>
                  </a:endParaRPr>
                </a:p>
              </p:txBody>
            </p:sp>
            <p:sp>
              <p:nvSpPr>
                <p:cNvPr id="55" name="Oval 52"/>
                <p:cNvSpPr/>
                <p:nvPr/>
              </p:nvSpPr>
              <p:spPr>
                <a:xfrm>
                  <a:off x="2623" y="1330"/>
                  <a:ext cx="1026" cy="1026"/>
                </a:xfrm>
                <a:prstGeom prst="ellipse">
                  <a:avLst/>
                </a:prstGeom>
                <a:solidFill>
                  <a:srgbClr val="808080">
                    <a:alpha val="30196"/>
                  </a:srgbClr>
                </a:solidFill>
                <a:ln w="9525">
                  <a:noFill/>
                </a:ln>
              </p:spPr>
              <p:txBody>
                <a:bodyPr wrap="none" anchor="ctr"/>
                <a:lstStyle/>
                <a:p>
                  <a:endParaRPr lang="zh-CN" altLang="en-US" dirty="0">
                    <a:latin typeface="Arial" panose="020B0604020202020204" pitchFamily="34" charset="0"/>
                  </a:endParaRPr>
                </a:p>
              </p:txBody>
            </p:sp>
            <p:sp>
              <p:nvSpPr>
                <p:cNvPr id="56" name="Oval 53"/>
                <p:cNvSpPr/>
                <p:nvPr/>
              </p:nvSpPr>
              <p:spPr>
                <a:xfrm>
                  <a:off x="2637" y="1346"/>
                  <a:ext cx="993" cy="994"/>
                </a:xfrm>
                <a:prstGeom prst="ellipse">
                  <a:avLst/>
                </a:prstGeom>
                <a:gradFill rotWithShape="1">
                  <a:gsLst>
                    <a:gs pos="0">
                      <a:srgbClr val="5C5C5C"/>
                    </a:gs>
                    <a:gs pos="100000">
                      <a:srgbClr val="FFFFFF"/>
                    </a:gs>
                  </a:gsLst>
                  <a:lin ang="5400000" scaled="1"/>
                  <a:tileRect/>
                </a:gradFill>
                <a:ln w="9525">
                  <a:noFill/>
                </a:ln>
              </p:spPr>
              <p:txBody>
                <a:bodyPr wrap="none" anchor="ctr"/>
                <a:lstStyle/>
                <a:p>
                  <a:endParaRPr lang="zh-CN" altLang="en-US" dirty="0">
                    <a:latin typeface="Arial" panose="020B0604020202020204" pitchFamily="34" charset="0"/>
                  </a:endParaRPr>
                </a:p>
              </p:txBody>
            </p:sp>
          </p:grpSp>
          <p:sp>
            <p:nvSpPr>
              <p:cNvPr id="51" name="椭圆 50"/>
              <p:cNvSpPr/>
              <p:nvPr/>
            </p:nvSpPr>
            <p:spPr bwMode="auto">
              <a:xfrm>
                <a:off x="644506" y="1229804"/>
                <a:ext cx="764046" cy="734059"/>
              </a:xfrm>
              <a:prstGeom prst="ellipse">
                <a:avLst/>
              </a:prstGeom>
              <a:solidFill>
                <a:schemeClr val="accent5">
                  <a:lumMod val="75000"/>
                </a:schemeClr>
              </a:solidFill>
              <a:ln>
                <a:solidFill>
                  <a:schemeClr val="accent6">
                    <a:lumMod val="50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r>
                  <a:rPr lang="en-US" altLang="zh-CN" sz="3200" b="1" dirty="0">
                    <a:solidFill>
                      <a:prstClr val="white"/>
                    </a:solidFill>
                    <a:effectLst>
                      <a:outerShdw blurRad="38100" dist="38100" dir="2700000" algn="tl">
                        <a:srgbClr val="000000">
                          <a:alpha val="43137"/>
                        </a:srgbClr>
                      </a:outerShdw>
                    </a:effectLst>
                    <a:latin typeface="Tahoma" panose="020B0604030504040204" pitchFamily="34" charset="0"/>
                    <a:cs typeface="Tahoma" panose="020B0604030504040204" pitchFamily="34" charset="0"/>
                  </a:rPr>
                  <a:t>5</a:t>
                </a:r>
                <a:endParaRPr lang="zh-CN" altLang="en-US" sz="3200" b="1" dirty="0">
                  <a:solidFill>
                    <a:prstClr val="white"/>
                  </a:solidFill>
                  <a:effectLst>
                    <a:outerShdw blurRad="38100" dist="38100" dir="2700000" algn="tl">
                      <a:srgbClr val="000000">
                        <a:alpha val="43137"/>
                      </a:srgbClr>
                    </a:outerShdw>
                  </a:effectLst>
                  <a:latin typeface="Tahoma" panose="020B0604030504040204" pitchFamily="34" charset="0"/>
                  <a:cs typeface="Tahoma" panose="020B0604030504040204" pitchFamily="34" charset="0"/>
                </a:endParaRPr>
              </a:p>
            </p:txBody>
          </p:sp>
        </p:grpSp>
      </p:grpSp>
      <p:grpSp>
        <p:nvGrpSpPr>
          <p:cNvPr id="57" name="组合 3"/>
          <p:cNvGrpSpPr/>
          <p:nvPr/>
        </p:nvGrpSpPr>
        <p:grpSpPr>
          <a:xfrm>
            <a:off x="3103245" y="3212942"/>
            <a:ext cx="7494270" cy="877675"/>
            <a:chOff x="1110256" y="2348487"/>
            <a:chExt cx="7040811" cy="877923"/>
          </a:xfrm>
        </p:grpSpPr>
        <p:sp>
          <p:nvSpPr>
            <p:cNvPr id="58" name="Rectangle 43"/>
            <p:cNvSpPr>
              <a:spLocks noChangeArrowheads="1"/>
            </p:cNvSpPr>
            <p:nvPr>
              <p:custDataLst>
                <p:tags r:id="rId8"/>
              </p:custDataLst>
            </p:nvPr>
          </p:nvSpPr>
          <p:spPr bwMode="auto">
            <a:xfrm>
              <a:off x="2158443" y="2464090"/>
              <a:ext cx="5992624" cy="645342"/>
            </a:xfrm>
            <a:prstGeom prst="rect">
              <a:avLst/>
            </a:prstGeom>
            <a:noFill/>
            <a:ln>
              <a:noFill/>
            </a:ln>
            <a:effectLst/>
            <a:extLst>
              <a:ext uri="{909E8E84-426E-40DD-AFC4-6F175D3DCCD1}">
                <a14:hiddenFill xmlns:a14="http://schemas.microsoft.com/office/drawing/2010/main">
                  <a:gradFill rotWithShape="1">
                    <a:gsLst>
                      <a:gs pos="0">
                        <a:schemeClr val="accent1"/>
                      </a:gs>
                      <a:gs pos="50000">
                        <a:schemeClr val="bg1"/>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fontAlgn="base" hangingPunct="0">
                <a:spcBef>
                  <a:spcPct val="0"/>
                </a:spcBef>
                <a:spcAft>
                  <a:spcPct val="0"/>
                </a:spcAft>
                <a:defRPr/>
              </a:pPr>
              <a:r>
                <a:rPr lang="en-US" sz="3600" b="1" dirty="0">
                  <a:solidFill>
                    <a:srgbClr val="002060"/>
                  </a:solidFill>
                  <a:latin typeface="微软雅黑" panose="020B0503020204020204" pitchFamily="34" charset="-122"/>
                  <a:ea typeface="微软雅黑" panose="020B0503020204020204" pitchFamily="34" charset="-122"/>
                  <a:sym typeface="+mn-ea"/>
                </a:rPr>
                <a:t>Series</a:t>
              </a:r>
              <a:r>
                <a:rPr lang="zh-CN" altLang="en-US" sz="3600" b="1" dirty="0">
                  <a:solidFill>
                    <a:srgbClr val="002060"/>
                  </a:solidFill>
                  <a:latin typeface="微软雅黑" panose="020B0503020204020204" pitchFamily="34" charset="-122"/>
                  <a:ea typeface="微软雅黑" panose="020B0503020204020204" pitchFamily="34" charset="-122"/>
                  <a:sym typeface="+mn-ea"/>
                </a:rPr>
                <a:t>常用操作</a:t>
              </a:r>
            </a:p>
          </p:txBody>
        </p:sp>
        <p:grpSp>
          <p:nvGrpSpPr>
            <p:cNvPr id="59" name="组合 42"/>
            <p:cNvGrpSpPr/>
            <p:nvPr/>
          </p:nvGrpSpPr>
          <p:grpSpPr>
            <a:xfrm>
              <a:off x="1110256" y="2348487"/>
              <a:ext cx="950051" cy="877923"/>
              <a:chOff x="492997" y="1075895"/>
              <a:chExt cx="1039031" cy="1031586"/>
            </a:xfrm>
          </p:grpSpPr>
          <p:grpSp>
            <p:nvGrpSpPr>
              <p:cNvPr id="60" name="Group 48"/>
              <p:cNvGrpSpPr/>
              <p:nvPr/>
            </p:nvGrpSpPr>
            <p:grpSpPr>
              <a:xfrm>
                <a:off x="492997" y="1075895"/>
                <a:ext cx="1039031" cy="1031586"/>
                <a:chOff x="2508" y="1231"/>
                <a:chExt cx="1223" cy="1240"/>
              </a:xfrm>
            </p:grpSpPr>
            <p:sp>
              <p:nvSpPr>
                <p:cNvPr id="62" name="Oval 49"/>
                <p:cNvSpPr/>
                <p:nvPr>
                  <p:custDataLst>
                    <p:tags r:id="rId10"/>
                  </p:custDataLst>
                </p:nvPr>
              </p:nvSpPr>
              <p:spPr>
                <a:xfrm>
                  <a:off x="2508" y="1231"/>
                  <a:ext cx="1122" cy="1240"/>
                </a:xfrm>
                <a:prstGeom prst="ellipse">
                  <a:avLst/>
                </a:prstGeom>
                <a:solidFill>
                  <a:srgbClr val="808080"/>
                </a:solidFill>
                <a:ln w="9525">
                  <a:noFill/>
                </a:ln>
              </p:spPr>
              <p:txBody>
                <a:bodyPr wrap="none" anchor="ctr"/>
                <a:lstStyle/>
                <a:p>
                  <a:endParaRPr lang="zh-CN" altLang="en-US" dirty="0">
                    <a:latin typeface="Arial" panose="020B0604020202020204" pitchFamily="34" charset="0"/>
                  </a:endParaRPr>
                </a:p>
              </p:txBody>
            </p:sp>
            <p:sp>
              <p:nvSpPr>
                <p:cNvPr id="63" name="Oval 50"/>
                <p:cNvSpPr/>
                <p:nvPr>
                  <p:custDataLst>
                    <p:tags r:id="rId11"/>
                  </p:custDataLst>
                </p:nvPr>
              </p:nvSpPr>
              <p:spPr>
                <a:xfrm>
                  <a:off x="2541" y="1256"/>
                  <a:ext cx="1190" cy="1190"/>
                </a:xfrm>
                <a:prstGeom prst="ellipse">
                  <a:avLst/>
                </a:prstGeom>
                <a:gradFill rotWithShape="1">
                  <a:gsLst>
                    <a:gs pos="0">
                      <a:srgbClr val="F8F8F8"/>
                    </a:gs>
                    <a:gs pos="100000">
                      <a:srgbClr val="414141"/>
                    </a:gs>
                  </a:gsLst>
                  <a:lin ang="5400000" scaled="1"/>
                  <a:tileRect/>
                </a:gradFill>
                <a:ln w="9525">
                  <a:noFill/>
                </a:ln>
              </p:spPr>
              <p:txBody>
                <a:bodyPr wrap="none" anchor="ctr"/>
                <a:lstStyle/>
                <a:p>
                  <a:endParaRPr lang="zh-CN" altLang="en-US" dirty="0">
                    <a:latin typeface="Arial" panose="020B0604020202020204" pitchFamily="34" charset="0"/>
                  </a:endParaRPr>
                </a:p>
              </p:txBody>
            </p:sp>
            <p:sp>
              <p:nvSpPr>
                <p:cNvPr id="64" name="Oval 51"/>
                <p:cNvSpPr/>
                <p:nvPr>
                  <p:custDataLst>
                    <p:tags r:id="rId12"/>
                  </p:custDataLst>
                </p:nvPr>
              </p:nvSpPr>
              <p:spPr>
                <a:xfrm>
                  <a:off x="2590" y="1305"/>
                  <a:ext cx="1092" cy="1092"/>
                </a:xfrm>
                <a:prstGeom prst="ellipse">
                  <a:avLst/>
                </a:prstGeom>
                <a:solidFill>
                  <a:srgbClr val="808080">
                    <a:alpha val="25098"/>
                  </a:srgbClr>
                </a:solidFill>
                <a:ln w="9525">
                  <a:noFill/>
                </a:ln>
              </p:spPr>
              <p:txBody>
                <a:bodyPr wrap="none" anchor="ctr"/>
                <a:lstStyle/>
                <a:p>
                  <a:endParaRPr lang="zh-CN" altLang="en-US" dirty="0">
                    <a:latin typeface="Arial" panose="020B0604020202020204" pitchFamily="34" charset="0"/>
                  </a:endParaRPr>
                </a:p>
              </p:txBody>
            </p:sp>
            <p:sp>
              <p:nvSpPr>
                <p:cNvPr id="65" name="Oval 52"/>
                <p:cNvSpPr/>
                <p:nvPr>
                  <p:custDataLst>
                    <p:tags r:id="rId13"/>
                  </p:custDataLst>
                </p:nvPr>
              </p:nvSpPr>
              <p:spPr>
                <a:xfrm>
                  <a:off x="2623" y="1330"/>
                  <a:ext cx="1026" cy="1026"/>
                </a:xfrm>
                <a:prstGeom prst="ellipse">
                  <a:avLst/>
                </a:prstGeom>
                <a:solidFill>
                  <a:srgbClr val="808080">
                    <a:alpha val="30196"/>
                  </a:srgbClr>
                </a:solidFill>
                <a:ln w="9525">
                  <a:noFill/>
                </a:ln>
              </p:spPr>
              <p:txBody>
                <a:bodyPr wrap="none" anchor="ctr"/>
                <a:lstStyle/>
                <a:p>
                  <a:endParaRPr lang="zh-CN" altLang="en-US" dirty="0">
                    <a:latin typeface="Arial" panose="020B0604020202020204" pitchFamily="34" charset="0"/>
                  </a:endParaRPr>
                </a:p>
              </p:txBody>
            </p:sp>
            <p:sp>
              <p:nvSpPr>
                <p:cNvPr id="66" name="Oval 53"/>
                <p:cNvSpPr/>
                <p:nvPr>
                  <p:custDataLst>
                    <p:tags r:id="rId14"/>
                  </p:custDataLst>
                </p:nvPr>
              </p:nvSpPr>
              <p:spPr>
                <a:xfrm>
                  <a:off x="2637" y="1346"/>
                  <a:ext cx="993" cy="994"/>
                </a:xfrm>
                <a:prstGeom prst="ellipse">
                  <a:avLst/>
                </a:prstGeom>
                <a:gradFill rotWithShape="1">
                  <a:gsLst>
                    <a:gs pos="0">
                      <a:srgbClr val="5C5C5C"/>
                    </a:gs>
                    <a:gs pos="100000">
                      <a:srgbClr val="FFFFFF"/>
                    </a:gs>
                  </a:gsLst>
                  <a:lin ang="5400000" scaled="1"/>
                  <a:tileRect/>
                </a:gradFill>
                <a:ln w="9525">
                  <a:noFill/>
                </a:ln>
              </p:spPr>
              <p:txBody>
                <a:bodyPr wrap="none" anchor="ctr"/>
                <a:lstStyle/>
                <a:p>
                  <a:endParaRPr lang="zh-CN" altLang="en-US" dirty="0">
                    <a:latin typeface="Arial" panose="020B0604020202020204" pitchFamily="34" charset="0"/>
                  </a:endParaRPr>
                </a:p>
              </p:txBody>
            </p:sp>
          </p:grpSp>
          <p:sp>
            <p:nvSpPr>
              <p:cNvPr id="61" name="椭圆 60"/>
              <p:cNvSpPr/>
              <p:nvPr>
                <p:custDataLst>
                  <p:tags r:id="rId9"/>
                </p:custDataLst>
              </p:nvPr>
            </p:nvSpPr>
            <p:spPr bwMode="auto">
              <a:xfrm>
                <a:off x="644506" y="1229804"/>
                <a:ext cx="764046" cy="734059"/>
              </a:xfrm>
              <a:prstGeom prst="ellipse">
                <a:avLst/>
              </a:prstGeom>
              <a:solidFill>
                <a:schemeClr val="accent5">
                  <a:lumMod val="75000"/>
                </a:schemeClr>
              </a:solidFill>
              <a:ln>
                <a:solidFill>
                  <a:schemeClr val="accent6">
                    <a:lumMod val="50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r>
                  <a:rPr lang="en-US" altLang="zh-CN" sz="3200" b="1" dirty="0">
                    <a:solidFill>
                      <a:prstClr val="white"/>
                    </a:solidFill>
                    <a:effectLst>
                      <a:outerShdw blurRad="38100" dist="38100" dir="2700000" algn="tl">
                        <a:srgbClr val="000000">
                          <a:alpha val="43137"/>
                        </a:srgbClr>
                      </a:outerShdw>
                    </a:effectLst>
                    <a:latin typeface="Tahoma" panose="020B0604030504040204" pitchFamily="34" charset="0"/>
                    <a:cs typeface="Tahoma" panose="020B0604030504040204" pitchFamily="34" charset="0"/>
                  </a:rPr>
                  <a:t>3</a:t>
                </a:r>
                <a:endParaRPr lang="zh-CN" altLang="en-US" sz="3200" b="1" dirty="0">
                  <a:solidFill>
                    <a:prstClr val="white"/>
                  </a:solidFill>
                  <a:effectLst>
                    <a:outerShdw blurRad="38100" dist="38100" dir="2700000" algn="tl">
                      <a:srgbClr val="000000">
                        <a:alpha val="43137"/>
                      </a:srgbClr>
                    </a:outerShdw>
                  </a:effectLst>
                  <a:latin typeface="Tahoma" panose="020B0604030504040204" pitchFamily="34" charset="0"/>
                  <a:cs typeface="Tahoma" panose="020B0604030504040204" pitchFamily="34" charset="0"/>
                </a:endParaRPr>
              </a:p>
            </p:txBody>
          </p:sp>
        </p:grpSp>
      </p:grpSp>
      <p:grpSp>
        <p:nvGrpSpPr>
          <p:cNvPr id="67" name="组合 3"/>
          <p:cNvGrpSpPr/>
          <p:nvPr/>
        </p:nvGrpSpPr>
        <p:grpSpPr>
          <a:xfrm>
            <a:off x="3126105" y="2267796"/>
            <a:ext cx="7494270" cy="877675"/>
            <a:chOff x="1110256" y="2348487"/>
            <a:chExt cx="7040811" cy="877923"/>
          </a:xfrm>
        </p:grpSpPr>
        <p:sp>
          <p:nvSpPr>
            <p:cNvPr id="68" name="Rectangle 43"/>
            <p:cNvSpPr>
              <a:spLocks noChangeArrowheads="1"/>
            </p:cNvSpPr>
            <p:nvPr>
              <p:custDataLst>
                <p:tags r:id="rId1"/>
              </p:custDataLst>
            </p:nvPr>
          </p:nvSpPr>
          <p:spPr bwMode="auto">
            <a:xfrm>
              <a:off x="2158443" y="2464090"/>
              <a:ext cx="5992624" cy="645342"/>
            </a:xfrm>
            <a:prstGeom prst="rect">
              <a:avLst/>
            </a:prstGeom>
            <a:noFill/>
            <a:ln>
              <a:noFill/>
            </a:ln>
            <a:effectLst/>
            <a:extLst>
              <a:ext uri="{909E8E84-426E-40DD-AFC4-6F175D3DCCD1}">
                <a14:hiddenFill xmlns:a14="http://schemas.microsoft.com/office/drawing/2010/main">
                  <a:gradFill rotWithShape="1">
                    <a:gsLst>
                      <a:gs pos="0">
                        <a:schemeClr val="accent1"/>
                      </a:gs>
                      <a:gs pos="50000">
                        <a:schemeClr val="bg1"/>
                      </a:gs>
                      <a:gs pos="100000">
                        <a:schemeClr val="accent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fontAlgn="base" hangingPunct="0">
                <a:spcBef>
                  <a:spcPct val="0"/>
                </a:spcBef>
                <a:spcAft>
                  <a:spcPct val="0"/>
                </a:spcAft>
                <a:defRPr/>
              </a:pPr>
              <a:r>
                <a:rPr lang="en-US" altLang="zh-CN" sz="3600" b="1" dirty="0">
                  <a:solidFill>
                    <a:srgbClr val="002060"/>
                  </a:solidFill>
                  <a:latin typeface="微软雅黑" panose="020B0503020204020204" pitchFamily="34" charset="-122"/>
                  <a:ea typeface="微软雅黑" panose="020B0503020204020204" pitchFamily="34" charset="-122"/>
                  <a:sym typeface="+mn-ea"/>
                </a:rPr>
                <a:t>Pandas</a:t>
              </a:r>
              <a:r>
                <a:rPr lang="zh-CN" altLang="en-US" sz="3600" b="1" dirty="0">
                  <a:solidFill>
                    <a:srgbClr val="002060"/>
                  </a:solidFill>
                  <a:latin typeface="微软雅黑" panose="020B0503020204020204" pitchFamily="34" charset="-122"/>
                  <a:ea typeface="微软雅黑" panose="020B0503020204020204" pitchFamily="34" charset="-122"/>
                  <a:sym typeface="+mn-ea"/>
                </a:rPr>
                <a:t>文件的读写</a:t>
              </a:r>
            </a:p>
          </p:txBody>
        </p:sp>
        <p:grpSp>
          <p:nvGrpSpPr>
            <p:cNvPr id="69" name="组合 42"/>
            <p:cNvGrpSpPr/>
            <p:nvPr/>
          </p:nvGrpSpPr>
          <p:grpSpPr>
            <a:xfrm>
              <a:off x="1110256" y="2348487"/>
              <a:ext cx="950051" cy="877923"/>
              <a:chOff x="492997" y="1075895"/>
              <a:chExt cx="1039031" cy="1031586"/>
            </a:xfrm>
          </p:grpSpPr>
          <p:grpSp>
            <p:nvGrpSpPr>
              <p:cNvPr id="70" name="Group 48"/>
              <p:cNvGrpSpPr/>
              <p:nvPr/>
            </p:nvGrpSpPr>
            <p:grpSpPr>
              <a:xfrm>
                <a:off x="492997" y="1075895"/>
                <a:ext cx="1039031" cy="1031586"/>
                <a:chOff x="2508" y="1231"/>
                <a:chExt cx="1223" cy="1240"/>
              </a:xfrm>
            </p:grpSpPr>
            <p:sp>
              <p:nvSpPr>
                <p:cNvPr id="72" name="Oval 49"/>
                <p:cNvSpPr/>
                <p:nvPr>
                  <p:custDataLst>
                    <p:tags r:id="rId3"/>
                  </p:custDataLst>
                </p:nvPr>
              </p:nvSpPr>
              <p:spPr>
                <a:xfrm>
                  <a:off x="2508" y="1231"/>
                  <a:ext cx="1122" cy="1240"/>
                </a:xfrm>
                <a:prstGeom prst="ellipse">
                  <a:avLst/>
                </a:prstGeom>
                <a:solidFill>
                  <a:srgbClr val="808080"/>
                </a:solidFill>
                <a:ln w="9525">
                  <a:noFill/>
                </a:ln>
              </p:spPr>
              <p:txBody>
                <a:bodyPr wrap="none" anchor="ctr"/>
                <a:lstStyle/>
                <a:p>
                  <a:endParaRPr lang="zh-CN" altLang="en-US" dirty="0">
                    <a:latin typeface="Arial" panose="020B0604020202020204" pitchFamily="34" charset="0"/>
                  </a:endParaRPr>
                </a:p>
              </p:txBody>
            </p:sp>
            <p:sp>
              <p:nvSpPr>
                <p:cNvPr id="73" name="Oval 50"/>
                <p:cNvSpPr/>
                <p:nvPr>
                  <p:custDataLst>
                    <p:tags r:id="rId4"/>
                  </p:custDataLst>
                </p:nvPr>
              </p:nvSpPr>
              <p:spPr>
                <a:xfrm>
                  <a:off x="2541" y="1256"/>
                  <a:ext cx="1190" cy="1190"/>
                </a:xfrm>
                <a:prstGeom prst="ellipse">
                  <a:avLst/>
                </a:prstGeom>
                <a:gradFill rotWithShape="1">
                  <a:gsLst>
                    <a:gs pos="0">
                      <a:srgbClr val="F8F8F8"/>
                    </a:gs>
                    <a:gs pos="100000">
                      <a:srgbClr val="414141"/>
                    </a:gs>
                  </a:gsLst>
                  <a:lin ang="5400000" scaled="1"/>
                  <a:tileRect/>
                </a:gradFill>
                <a:ln w="9525">
                  <a:noFill/>
                </a:ln>
              </p:spPr>
              <p:txBody>
                <a:bodyPr wrap="none" anchor="ctr"/>
                <a:lstStyle/>
                <a:p>
                  <a:endParaRPr lang="zh-CN" altLang="en-US" dirty="0">
                    <a:latin typeface="Arial" panose="020B0604020202020204" pitchFamily="34" charset="0"/>
                  </a:endParaRPr>
                </a:p>
              </p:txBody>
            </p:sp>
            <p:sp>
              <p:nvSpPr>
                <p:cNvPr id="74" name="Oval 51"/>
                <p:cNvSpPr/>
                <p:nvPr>
                  <p:custDataLst>
                    <p:tags r:id="rId5"/>
                  </p:custDataLst>
                </p:nvPr>
              </p:nvSpPr>
              <p:spPr>
                <a:xfrm>
                  <a:off x="2590" y="1305"/>
                  <a:ext cx="1092" cy="1092"/>
                </a:xfrm>
                <a:prstGeom prst="ellipse">
                  <a:avLst/>
                </a:prstGeom>
                <a:solidFill>
                  <a:srgbClr val="808080">
                    <a:alpha val="25098"/>
                  </a:srgbClr>
                </a:solidFill>
                <a:ln w="9525">
                  <a:noFill/>
                </a:ln>
              </p:spPr>
              <p:txBody>
                <a:bodyPr wrap="none" anchor="ctr"/>
                <a:lstStyle/>
                <a:p>
                  <a:endParaRPr lang="zh-CN" altLang="en-US" dirty="0">
                    <a:latin typeface="Arial" panose="020B0604020202020204" pitchFamily="34" charset="0"/>
                  </a:endParaRPr>
                </a:p>
              </p:txBody>
            </p:sp>
            <p:sp>
              <p:nvSpPr>
                <p:cNvPr id="75" name="Oval 52"/>
                <p:cNvSpPr/>
                <p:nvPr>
                  <p:custDataLst>
                    <p:tags r:id="rId6"/>
                  </p:custDataLst>
                </p:nvPr>
              </p:nvSpPr>
              <p:spPr>
                <a:xfrm>
                  <a:off x="2623" y="1330"/>
                  <a:ext cx="1026" cy="1026"/>
                </a:xfrm>
                <a:prstGeom prst="ellipse">
                  <a:avLst/>
                </a:prstGeom>
                <a:solidFill>
                  <a:srgbClr val="808080">
                    <a:alpha val="30196"/>
                  </a:srgbClr>
                </a:solidFill>
                <a:ln w="9525">
                  <a:noFill/>
                </a:ln>
              </p:spPr>
              <p:txBody>
                <a:bodyPr wrap="none" anchor="ctr"/>
                <a:lstStyle/>
                <a:p>
                  <a:endParaRPr lang="zh-CN" altLang="en-US" dirty="0">
                    <a:latin typeface="Arial" panose="020B0604020202020204" pitchFamily="34" charset="0"/>
                  </a:endParaRPr>
                </a:p>
              </p:txBody>
            </p:sp>
            <p:sp>
              <p:nvSpPr>
                <p:cNvPr id="76" name="Oval 53"/>
                <p:cNvSpPr/>
                <p:nvPr>
                  <p:custDataLst>
                    <p:tags r:id="rId7"/>
                  </p:custDataLst>
                </p:nvPr>
              </p:nvSpPr>
              <p:spPr>
                <a:xfrm>
                  <a:off x="2637" y="1346"/>
                  <a:ext cx="993" cy="994"/>
                </a:xfrm>
                <a:prstGeom prst="ellipse">
                  <a:avLst/>
                </a:prstGeom>
                <a:gradFill rotWithShape="1">
                  <a:gsLst>
                    <a:gs pos="0">
                      <a:srgbClr val="5C5C5C"/>
                    </a:gs>
                    <a:gs pos="100000">
                      <a:srgbClr val="FFFFFF"/>
                    </a:gs>
                  </a:gsLst>
                  <a:lin ang="5400000" scaled="1"/>
                  <a:tileRect/>
                </a:gradFill>
                <a:ln w="9525">
                  <a:noFill/>
                </a:ln>
              </p:spPr>
              <p:txBody>
                <a:bodyPr wrap="none" anchor="ctr"/>
                <a:lstStyle/>
                <a:p>
                  <a:endParaRPr lang="zh-CN" altLang="en-US" dirty="0">
                    <a:latin typeface="Arial" panose="020B0604020202020204" pitchFamily="34" charset="0"/>
                  </a:endParaRPr>
                </a:p>
              </p:txBody>
            </p:sp>
          </p:grpSp>
          <p:sp>
            <p:nvSpPr>
              <p:cNvPr id="71" name="椭圆 70"/>
              <p:cNvSpPr/>
              <p:nvPr>
                <p:custDataLst>
                  <p:tags r:id="rId2"/>
                </p:custDataLst>
              </p:nvPr>
            </p:nvSpPr>
            <p:spPr bwMode="auto">
              <a:xfrm>
                <a:off x="644506" y="1229804"/>
                <a:ext cx="764046" cy="734059"/>
              </a:xfrm>
              <a:prstGeom prst="ellipse">
                <a:avLst/>
              </a:prstGeom>
              <a:solidFill>
                <a:schemeClr val="accent5">
                  <a:lumMod val="75000"/>
                </a:schemeClr>
              </a:solidFill>
              <a:ln>
                <a:solidFill>
                  <a:schemeClr val="accent6">
                    <a:lumMod val="50000"/>
                  </a:schemeClr>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r>
                  <a:rPr lang="en-US" altLang="zh-CN" sz="3200" b="1" dirty="0">
                    <a:solidFill>
                      <a:prstClr val="white"/>
                    </a:solidFill>
                    <a:effectLst>
                      <a:outerShdw blurRad="38100" dist="38100" dir="2700000" algn="tl">
                        <a:srgbClr val="000000">
                          <a:alpha val="43137"/>
                        </a:srgbClr>
                      </a:outerShdw>
                    </a:effectLst>
                    <a:latin typeface="Tahoma" panose="020B0604030504040204" pitchFamily="34" charset="0"/>
                    <a:cs typeface="Tahoma" panose="020B0604030504040204" pitchFamily="34" charset="0"/>
                  </a:rPr>
                  <a:t>2</a:t>
                </a:r>
                <a:endParaRPr lang="zh-CN" altLang="en-US" sz="3200" b="1" dirty="0">
                  <a:solidFill>
                    <a:prstClr val="white"/>
                  </a:solidFill>
                  <a:effectLst>
                    <a:outerShdw blurRad="38100" dist="38100" dir="2700000" algn="tl">
                      <a:srgbClr val="000000">
                        <a:alpha val="43137"/>
                      </a:srgbClr>
                    </a:outerShdw>
                  </a:effectLst>
                  <a:latin typeface="Tahoma" panose="020B0604030504040204" pitchFamily="34" charset="0"/>
                  <a:cs typeface="Tahoma" panose="020B0604030504040204" pitchFamily="34" charset="0"/>
                </a:endParaRPr>
              </a:p>
            </p:txBody>
          </p:sp>
        </p:grpSp>
      </p:grpSp>
    </p:spTree>
    <p:extLst>
      <p:ext uri="{BB962C8B-B14F-4D97-AF65-F5344CB8AC3E}">
        <p14:creationId xmlns:p14="http://schemas.microsoft.com/office/powerpoint/2010/main" val="905988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直接连接符 6">
            <a:extLst>
              <a:ext uri="{FF2B5EF4-FFF2-40B4-BE49-F238E27FC236}">
                <a16:creationId xmlns:a16="http://schemas.microsoft.com/office/drawing/2014/main" id="{0655586B-F6B4-426E-80D1-04ADB3C76375}"/>
              </a:ext>
            </a:extLst>
          </p:cNvPr>
          <p:cNvCxnSpPr>
            <a:cxnSpLocks/>
          </p:cNvCxnSpPr>
          <p:nvPr/>
        </p:nvCxnSpPr>
        <p:spPr>
          <a:xfrm>
            <a:off x="3264947" y="1348062"/>
            <a:ext cx="5910" cy="4354238"/>
          </a:xfrm>
          <a:prstGeom prst="line">
            <a:avLst/>
          </a:prstGeom>
        </p:spPr>
        <p:style>
          <a:lnRef idx="2">
            <a:schemeClr val="dk1"/>
          </a:lnRef>
          <a:fillRef idx="0">
            <a:schemeClr val="dk1"/>
          </a:fillRef>
          <a:effectRef idx="1">
            <a:schemeClr val="dk1"/>
          </a:effectRef>
          <a:fontRef idx="minor">
            <a:schemeClr val="tx1"/>
          </a:fontRef>
        </p:style>
      </p:cxnSp>
      <p:sp>
        <p:nvSpPr>
          <p:cNvPr id="19" name="Line 2">
            <a:extLst>
              <a:ext uri="{FF2B5EF4-FFF2-40B4-BE49-F238E27FC236}">
                <a16:creationId xmlns:a16="http://schemas.microsoft.com/office/drawing/2014/main" id="{E878D2EE-7AD5-42B3-80C8-BF594574CC4F}"/>
              </a:ext>
            </a:extLst>
          </p:cNvPr>
          <p:cNvSpPr>
            <a:spLocks noChangeShapeType="1"/>
          </p:cNvSpPr>
          <p:nvPr/>
        </p:nvSpPr>
        <p:spPr bwMode="auto">
          <a:xfrm>
            <a:off x="2649786" y="1939743"/>
            <a:ext cx="6604980" cy="0"/>
          </a:xfrm>
          <a:prstGeom prst="line">
            <a:avLst/>
          </a:prstGeom>
        </p:spPr>
        <p:style>
          <a:lnRef idx="2">
            <a:schemeClr val="dk1"/>
          </a:lnRef>
          <a:fillRef idx="0">
            <a:schemeClr val="dk1"/>
          </a:fillRef>
          <a:effectRef idx="1">
            <a:schemeClr val="dk1"/>
          </a:effectRef>
          <a:fontRef idx="minor">
            <a:schemeClr val="tx1"/>
          </a:fontRef>
        </p:style>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sp>
        <p:nvSpPr>
          <p:cNvPr id="20" name="Oval 15">
            <a:extLst>
              <a:ext uri="{FF2B5EF4-FFF2-40B4-BE49-F238E27FC236}">
                <a16:creationId xmlns:a16="http://schemas.microsoft.com/office/drawing/2014/main" id="{4AA2E115-B5CF-48D7-AAF4-34243C4DB9F7}"/>
              </a:ext>
            </a:extLst>
          </p:cNvPr>
          <p:cNvSpPr>
            <a:spLocks noChangeArrowheads="1"/>
          </p:cNvSpPr>
          <p:nvPr/>
        </p:nvSpPr>
        <p:spPr bwMode="auto">
          <a:xfrm>
            <a:off x="2904947" y="1651743"/>
            <a:ext cx="684000" cy="648000"/>
          </a:xfrm>
          <a:prstGeom prst="ellipse">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zh-CN"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itchFamily="2" charset="-122"/>
                <a:cs typeface="+mn-cs"/>
              </a:rPr>
              <a:t>1</a:t>
            </a:r>
            <a:endParaRPr kumimoji="0" lang="en-US" altLang="zh-CN"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itchFamily="2" charset="-122"/>
              <a:cs typeface="+mn-cs"/>
            </a:endParaRPr>
          </a:p>
        </p:txBody>
      </p:sp>
      <p:sp>
        <p:nvSpPr>
          <p:cNvPr id="23"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00531" y="2608672"/>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latin typeface="Times New Roman" panose="02020603050405020304" pitchFamily="18" charset="0"/>
                <a:ea typeface="宋体" panose="02010600030101010101" pitchFamily="2" charset="-122"/>
                <a:sym typeface="微软雅黑" panose="020B0503020204020204" charset="-122"/>
              </a:rPr>
              <a:t>清洗数据</a:t>
            </a:r>
            <a:endParaRPr lang="zh-CN" altLang="en-US" sz="2400" b="1" dirty="0">
              <a:latin typeface="Times New Roman" panose="02020603050405020304" pitchFamily="18" charset="0"/>
              <a:ea typeface="宋体" panose="02010600030101010101" pitchFamily="2" charset="-122"/>
            </a:endParaRPr>
          </a:p>
        </p:txBody>
      </p:sp>
      <p:sp>
        <p:nvSpPr>
          <p:cNvPr id="4" name="标题 3">
            <a:extLst>
              <a:ext uri="{FF2B5EF4-FFF2-40B4-BE49-F238E27FC236}">
                <a16:creationId xmlns:a16="http://schemas.microsoft.com/office/drawing/2014/main" id="{23AA43DE-EC22-42DF-863E-F4636BE2010D}"/>
              </a:ext>
            </a:extLst>
          </p:cNvPr>
          <p:cNvSpPr>
            <a:spLocks noGrp="1"/>
          </p:cNvSpPr>
          <p:nvPr>
            <p:ph type="title"/>
          </p:nvPr>
        </p:nvSpPr>
        <p:spPr/>
        <p:txBody>
          <a:bodyPr/>
          <a:lstStyle/>
          <a:p>
            <a:r>
              <a:rPr lang="zh-CN" altLang="en-US" sz="2800" dirty="0">
                <a:latin typeface="Times New Roman" panose="02020603050405020304" pitchFamily="18" charset="0"/>
              </a:rPr>
              <a:t>目录</a:t>
            </a:r>
          </a:p>
        </p:txBody>
      </p:sp>
      <p:sp>
        <p:nvSpPr>
          <p:cNvPr id="13"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00531" y="1579743"/>
            <a:ext cx="4859850" cy="684000"/>
          </a:xfrm>
          <a:prstGeom prst="actionButtonBlank">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solidFill>
                  <a:schemeClr val="bg1"/>
                </a:solidFill>
                <a:latin typeface="Times New Roman" panose="02020603050405020304" pitchFamily="18" charset="0"/>
                <a:ea typeface="宋体" panose="02010600030101010101" pitchFamily="2" charset="-122"/>
                <a:sym typeface="微软雅黑" panose="020B0503020204020204" charset="-122"/>
              </a:rPr>
              <a:t>合并数据</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15" name="Oval 15">
            <a:extLst>
              <a:ext uri="{FF2B5EF4-FFF2-40B4-BE49-F238E27FC236}">
                <a16:creationId xmlns:a16="http://schemas.microsoft.com/office/drawing/2014/main" id="{4AA2E115-B5CF-48D7-AAF4-34243C4DB9F7}"/>
              </a:ext>
            </a:extLst>
          </p:cNvPr>
          <p:cNvSpPr>
            <a:spLocks noChangeArrowheads="1"/>
          </p:cNvSpPr>
          <p:nvPr/>
        </p:nvSpPr>
        <p:spPr bwMode="auto">
          <a:xfrm>
            <a:off x="2928857" y="2626672"/>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itchFamily="2" charset="-122"/>
                <a:cs typeface="+mn-cs"/>
              </a:rPr>
              <a:t>2</a:t>
            </a:r>
          </a:p>
        </p:txBody>
      </p:sp>
      <p:sp>
        <p:nvSpPr>
          <p:cNvPr id="21"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12450" y="3660873"/>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latin typeface="Times New Roman" panose="02020603050405020304" pitchFamily="18" charset="0"/>
                <a:ea typeface="宋体" panose="02010600030101010101" pitchFamily="2" charset="-122"/>
              </a:rPr>
              <a:t>标准化数据</a:t>
            </a:r>
          </a:p>
        </p:txBody>
      </p:sp>
      <p:sp>
        <p:nvSpPr>
          <p:cNvPr id="22" name="Oval 15">
            <a:extLst>
              <a:ext uri="{FF2B5EF4-FFF2-40B4-BE49-F238E27FC236}">
                <a16:creationId xmlns:a16="http://schemas.microsoft.com/office/drawing/2014/main" id="{4AA2E115-B5CF-48D7-AAF4-34243C4DB9F7}"/>
              </a:ext>
            </a:extLst>
          </p:cNvPr>
          <p:cNvSpPr>
            <a:spLocks noChangeArrowheads="1"/>
          </p:cNvSpPr>
          <p:nvPr/>
        </p:nvSpPr>
        <p:spPr bwMode="auto">
          <a:xfrm>
            <a:off x="2928857" y="3678873"/>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itchFamily="2" charset="-122"/>
                <a:cs typeface="+mn-cs"/>
              </a:rPr>
              <a:t>3</a:t>
            </a:r>
          </a:p>
        </p:txBody>
      </p:sp>
      <p:sp>
        <p:nvSpPr>
          <p:cNvPr id="28"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12450" y="4715497"/>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latin typeface="Times New Roman" panose="02020603050405020304" pitchFamily="18" charset="0"/>
                <a:ea typeface="宋体" panose="02010600030101010101" pitchFamily="2" charset="-122"/>
              </a:rPr>
              <a:t>转换数据</a:t>
            </a:r>
          </a:p>
        </p:txBody>
      </p:sp>
      <p:sp>
        <p:nvSpPr>
          <p:cNvPr id="29" name="Oval 15">
            <a:extLst>
              <a:ext uri="{FF2B5EF4-FFF2-40B4-BE49-F238E27FC236}">
                <a16:creationId xmlns:a16="http://schemas.microsoft.com/office/drawing/2014/main" id="{4AA2E115-B5CF-48D7-AAF4-34243C4DB9F7}"/>
              </a:ext>
            </a:extLst>
          </p:cNvPr>
          <p:cNvSpPr>
            <a:spLocks noChangeArrowheads="1"/>
          </p:cNvSpPr>
          <p:nvPr/>
        </p:nvSpPr>
        <p:spPr bwMode="auto">
          <a:xfrm>
            <a:off x="2904947" y="4733497"/>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itchFamily="2" charset="-122"/>
                <a:cs typeface="+mn-cs"/>
              </a:rPr>
              <a:t>4</a:t>
            </a:r>
          </a:p>
        </p:txBody>
      </p:sp>
    </p:spTree>
    <p:extLst>
      <p:ext uri="{BB962C8B-B14F-4D97-AF65-F5344CB8AC3E}">
        <p14:creationId xmlns:p14="http://schemas.microsoft.com/office/powerpoint/2010/main" val="507703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38545" y="1352214"/>
            <a:ext cx="12150437" cy="4339721"/>
          </a:xfrm>
        </p:spPr>
        <p:txBody>
          <a:bodyPr/>
          <a:lstStyle/>
          <a:p>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横向堆叠</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按</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index</a:t>
            </a:r>
            <a:r>
              <a:rPr lang="en-US" altLang="zh-CN" kern="100" dirty="0"/>
              <a:t>,</a:t>
            </a:r>
            <a:r>
              <a:rPr lang="zh-CN" altLang="en-US" kern="100" dirty="0"/>
              <a:t>列</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，即将两个表在</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x</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轴向拼接在一起，可以使用</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concat</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函数完成。</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concat</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函数的基本使用格式如下。</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kern="100" dirty="0"/>
          </a:p>
          <a:p>
            <a:pPr marL="0" indent="0">
              <a:buNone/>
            </a:pPr>
            <a:endParaRPr lang="en-US" altLang="zh-CN" kern="100" dirty="0"/>
          </a:p>
          <a:p>
            <a:pPr marL="0" indent="0">
              <a:buNone/>
            </a:pPr>
            <a:endParaRPr lang="en-US" altLang="zh-CN" kern="100" dirty="0"/>
          </a:p>
          <a:p>
            <a:r>
              <a:rPr lang="en-US" altLang="zh-CN" dirty="0" err="1"/>
              <a:t>concat</a:t>
            </a:r>
            <a:r>
              <a:rPr lang="zh-CN" altLang="zh-CN" dirty="0"/>
              <a:t>函数的常用参数及其说明</a:t>
            </a:r>
            <a:r>
              <a:rPr lang="zh-CN" altLang="en-US" dirty="0"/>
              <a:t>如下表。</a:t>
            </a:r>
            <a:r>
              <a:rPr lang="zh-CN" altLang="en-US" dirty="0">
                <a:solidFill>
                  <a:srgbClr val="FF0000"/>
                </a:solidFill>
              </a:rPr>
              <a:t>后面参数中标红的表示常用的参数</a:t>
            </a:r>
            <a:endParaRPr lang="en-US" altLang="zh-CN" sz="1800" kern="100" dirty="0">
              <a:solidFill>
                <a:srgbClr val="FF0000"/>
              </a:solidFill>
              <a:effectLst/>
            </a:endParaRPr>
          </a:p>
          <a:p>
            <a:pPr marL="0" indent="360045">
              <a:buNone/>
            </a:pPr>
            <a:endParaRPr lang="en-US" altLang="zh-CN" i="1" dirty="0"/>
          </a:p>
          <a:p>
            <a:pPr marL="0" indent="0">
              <a:buNone/>
            </a:pPr>
            <a:endParaRPr lang="en-US" altLang="zh-CN" sz="1600" kern="100" dirty="0">
              <a:solidFill>
                <a:schemeClr val="dk1"/>
              </a:solidFill>
            </a:endParaRPr>
          </a:p>
          <a:p>
            <a:pPr marL="0" indent="0">
              <a:buNone/>
            </a:pPr>
            <a:endParaRPr lang="zh-CN" altLang="en-US" b="1" dirty="0"/>
          </a:p>
        </p:txBody>
      </p:sp>
      <p:sp>
        <p:nvSpPr>
          <p:cNvPr id="3" name="标题 2"/>
          <p:cNvSpPr>
            <a:spLocks noGrp="1"/>
          </p:cNvSpPr>
          <p:nvPr>
            <p:ph type="title"/>
          </p:nvPr>
        </p:nvSpPr>
        <p:spPr/>
        <p:txBody>
          <a:bodyPr/>
          <a:lstStyle/>
          <a:p>
            <a:r>
              <a:rPr lang="zh-CN" altLang="en-US" dirty="0"/>
              <a:t>一、堆叠合并数据</a:t>
            </a:r>
          </a:p>
        </p:txBody>
      </p:sp>
      <p:sp>
        <p:nvSpPr>
          <p:cNvPr id="4" name="内容占位符 3"/>
          <p:cNvSpPr>
            <a:spLocks noGrp="1"/>
          </p:cNvSpPr>
          <p:nvPr>
            <p:ph idx="10"/>
          </p:nvPr>
        </p:nvSpPr>
        <p:spPr>
          <a:xfrm>
            <a:off x="423816" y="969238"/>
            <a:ext cx="11107601" cy="426469"/>
          </a:xfrm>
        </p:spPr>
        <p:txBody>
          <a:bodyPr/>
          <a:lstStyle/>
          <a:p>
            <a:r>
              <a:rPr lang="en-US" altLang="zh-CN" b="1" dirty="0"/>
              <a:t>1. </a:t>
            </a:r>
            <a:r>
              <a:rPr lang="zh-CN" altLang="en-US" b="1" dirty="0"/>
              <a:t>横向堆叠</a:t>
            </a:r>
          </a:p>
        </p:txBody>
      </p:sp>
      <p:graphicFrame>
        <p:nvGraphicFramePr>
          <p:cNvPr id="5" name="表格 5"/>
          <p:cNvGraphicFramePr>
            <a:graphicFrameLocks noGrp="1"/>
          </p:cNvGraphicFramePr>
          <p:nvPr>
            <p:extLst>
              <p:ext uri="{D42A27DB-BD31-4B8C-83A1-F6EECF244321}">
                <p14:modId xmlns:p14="http://schemas.microsoft.com/office/powerpoint/2010/main" val="4264943386"/>
              </p:ext>
            </p:extLst>
          </p:nvPr>
        </p:nvGraphicFramePr>
        <p:xfrm>
          <a:off x="918058" y="4268762"/>
          <a:ext cx="10119115" cy="1620000"/>
        </p:xfrm>
        <a:graphic>
          <a:graphicData uri="http://schemas.openxmlformats.org/drawingml/2006/table">
            <a:tbl>
              <a:tblPr firstRow="1" firstCol="1" bandRow="1">
                <a:tableStyleId>{5C22544A-7EE6-4342-B048-85BDC9FD1C3A}</a:tableStyleId>
              </a:tblPr>
              <a:tblGrid>
                <a:gridCol w="1421891">
                  <a:extLst>
                    <a:ext uri="{9D8B030D-6E8A-4147-A177-3AD203B41FA5}">
                      <a16:colId xmlns:a16="http://schemas.microsoft.com/office/drawing/2014/main" val="20000"/>
                    </a:ext>
                  </a:extLst>
                </a:gridCol>
                <a:gridCol w="8697224">
                  <a:extLst>
                    <a:ext uri="{9D8B030D-6E8A-4147-A177-3AD203B41FA5}">
                      <a16:colId xmlns:a16="http://schemas.microsoft.com/office/drawing/2014/main" val="20001"/>
                    </a:ext>
                  </a:extLst>
                </a:gridCol>
              </a:tblGrid>
              <a:tr h="540000">
                <a:tc>
                  <a:txBody>
                    <a:bodyPr/>
                    <a:lstStyle/>
                    <a:p>
                      <a:pPr algn="ctr"/>
                      <a:r>
                        <a:rPr lang="zh-CN" sz="1600" b="1" kern="100" baseline="0" dirty="0">
                          <a:effectLst/>
                          <a:latin typeface="Times New Roman" panose="02020603050405020304" pitchFamily="18" charset="0"/>
                          <a:ea typeface="宋体" panose="02010600030101010101" pitchFamily="2" charset="-122"/>
                          <a:cs typeface="Times New Roman" panose="02020603050405020304" pitchFamily="18" charset="0"/>
                        </a:rPr>
                        <a:t>参数名称</a:t>
                      </a:r>
                    </a:p>
                  </a:txBody>
                  <a:tcPr marL="68580" marR="68580" marT="0" marB="0" anchor="ctr"/>
                </a:tc>
                <a:tc>
                  <a:txBody>
                    <a:bodyPr/>
                    <a:lstStyle/>
                    <a:p>
                      <a:pPr algn="ctr"/>
                      <a:r>
                        <a:rPr lang="zh-CN" sz="1600" b="1" kern="100" baseline="0" dirty="0">
                          <a:effectLst/>
                          <a:latin typeface="Times New Roman" panose="02020603050405020304" pitchFamily="18" charset="0"/>
                          <a:ea typeface="宋体" panose="02010600030101010101" pitchFamily="2" charset="-122"/>
                          <a:cs typeface="Times New Roman" panose="02020603050405020304" pitchFamily="18" charset="0"/>
                        </a:rPr>
                        <a:t>参数说明</a:t>
                      </a:r>
                    </a:p>
                  </a:txBody>
                  <a:tcPr marL="68580" marR="68580" marT="0" marB="0" anchor="ctr"/>
                </a:tc>
                <a:extLst>
                  <a:ext uri="{0D108BD9-81ED-4DB2-BD59-A6C34878D82A}">
                    <a16:rowId xmlns:a16="http://schemas.microsoft.com/office/drawing/2014/main" val="10000"/>
                  </a:ext>
                </a:extLst>
              </a:tr>
              <a:tr h="540000">
                <a:tc>
                  <a:txBody>
                    <a:bodyPr/>
                    <a:lstStyle/>
                    <a:p>
                      <a:pPr algn="ctr"/>
                      <a:r>
                        <a:rPr lang="en-US" sz="1600" kern="100" baseline="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objs</a:t>
                      </a:r>
                      <a:endParaRPr lang="zh-CN" sz="16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接收多个</a:t>
                      </a:r>
                      <a:r>
                        <a:rPr lang="en-US"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Series</a:t>
                      </a:r>
                      <a:r>
                        <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1600" kern="100" baseline="0" dirty="0" err="1">
                          <a:effectLst/>
                          <a:latin typeface="Times New Roman" panose="02020603050405020304" pitchFamily="18" charset="0"/>
                          <a:ea typeface="宋体" panose="02010600030101010101" pitchFamily="2" charset="-122"/>
                          <a:cs typeface="Times New Roman" panose="02020603050405020304" pitchFamily="18" charset="0"/>
                        </a:rPr>
                        <a:t>DataFram</a:t>
                      </a:r>
                      <a:r>
                        <a:rPr lang="en-US" altLang="zh-CN" sz="1600" kern="100" baseline="0" dirty="0" err="1">
                          <a:effectLst/>
                          <a:latin typeface="Times New Roman" panose="02020603050405020304" pitchFamily="18" charset="0"/>
                          <a:ea typeface="宋体" panose="02010600030101010101" pitchFamily="2" charset="-122"/>
                          <a:cs typeface="Times New Roman" panose="02020603050405020304" pitchFamily="18" charset="0"/>
                        </a:rPr>
                        <a:t>e</a:t>
                      </a:r>
                      <a:r>
                        <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的组合。表示参与连接的</a:t>
                      </a:r>
                      <a:r>
                        <a:rPr lang="en-US"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pandas</a:t>
                      </a:r>
                      <a:r>
                        <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对象的列表的组合。无默认值</a:t>
                      </a:r>
                    </a:p>
                  </a:txBody>
                  <a:tcPr marL="68580" marR="68580" marT="0" marB="0" anchor="ctr"/>
                </a:tc>
                <a:extLst>
                  <a:ext uri="{0D108BD9-81ED-4DB2-BD59-A6C34878D82A}">
                    <a16:rowId xmlns:a16="http://schemas.microsoft.com/office/drawing/2014/main" val="10001"/>
                  </a:ext>
                </a:extLst>
              </a:tr>
              <a:tr h="540000">
                <a:tc>
                  <a:txBody>
                    <a:bodyPr/>
                    <a:lstStyle/>
                    <a:p>
                      <a:pPr algn="ctr"/>
                      <a:r>
                        <a:rPr lang="en-US" sz="16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axis</a:t>
                      </a:r>
                      <a:endParaRPr lang="zh-CN" sz="16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int</a:t>
                      </a:r>
                      <a:r>
                        <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。表示连接的轴向，可选</a:t>
                      </a:r>
                      <a:r>
                        <a:rPr lang="en-US"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0</a:t>
                      </a:r>
                      <a:r>
                        <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。默认为</a:t>
                      </a:r>
                      <a:r>
                        <a:rPr lang="en-US"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0(</a:t>
                      </a:r>
                      <a:r>
                        <a:rPr lang="zh-CN" altLang="en-US"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纵向，纵向堆叠的时候进一步讲解</a:t>
                      </a:r>
                      <a:r>
                        <a:rPr lang="en-US"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bl>
          </a:graphicData>
        </a:graphic>
      </p:graphicFrame>
      <p:sp>
        <p:nvSpPr>
          <p:cNvPr id="6" name="TextBox 5">
            <a:extLst>
              <a:ext uri="{FF2B5EF4-FFF2-40B4-BE49-F238E27FC236}">
                <a16:creationId xmlns:a16="http://schemas.microsoft.com/office/drawing/2014/main" id="{866F6514-892E-4DD9-9108-414FD63392FC}"/>
              </a:ext>
            </a:extLst>
          </p:cNvPr>
          <p:cNvSpPr txBox="1">
            <a:spLocks noChangeArrowheads="1"/>
          </p:cNvSpPr>
          <p:nvPr/>
        </p:nvSpPr>
        <p:spPr bwMode="auto">
          <a:xfrm>
            <a:off x="1262939" y="2329646"/>
            <a:ext cx="977423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8775">
              <a:spcBef>
                <a:spcPct val="20000"/>
              </a:spcBef>
              <a:buClr>
                <a:srgbClr val="000066"/>
              </a:buClr>
              <a:buFont typeface="Wingdings" panose="05000000000000000000" pitchFamily="2" charset="2"/>
              <a:buChar char="n"/>
              <a:defRPr kumimoji="1" sz="21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9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5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9pPr>
          </a:lstStyle>
          <a:p>
            <a:pPr eaLnBrk="1" hangingPunct="1">
              <a:spcBef>
                <a:spcPct val="0"/>
              </a:spcBef>
              <a:buClrTx/>
              <a:buFontTx/>
              <a:buNone/>
            </a:pPr>
            <a:r>
              <a:rPr kumimoji="0" lang="en-US" altLang="zh-CN" sz="2200" i="1" dirty="0" err="1">
                <a:latin typeface="Times New Roman" panose="02020603050405020304" pitchFamily="18" charset="0"/>
                <a:cs typeface="Times New Roman" panose="02020603050405020304" pitchFamily="18" charset="0"/>
              </a:rPr>
              <a:t>pandas.concat</a:t>
            </a:r>
            <a:r>
              <a:rPr kumimoji="0" lang="en-US" altLang="zh-CN" sz="2200" i="1" dirty="0">
                <a:latin typeface="Times New Roman" panose="02020603050405020304" pitchFamily="18" charset="0"/>
                <a:cs typeface="Times New Roman" panose="02020603050405020304" pitchFamily="18" charset="0"/>
              </a:rPr>
              <a:t>(</a:t>
            </a:r>
            <a:r>
              <a:rPr kumimoji="0" lang="en-US" altLang="zh-CN" sz="2200" i="1" dirty="0" err="1">
                <a:latin typeface="Times New Roman" panose="02020603050405020304" pitchFamily="18" charset="0"/>
                <a:cs typeface="Times New Roman" panose="02020603050405020304" pitchFamily="18" charset="0"/>
              </a:rPr>
              <a:t>objs</a:t>
            </a:r>
            <a:r>
              <a:rPr kumimoji="0" lang="en-US" altLang="zh-CN" sz="2200" i="1" dirty="0">
                <a:latin typeface="Times New Roman" panose="02020603050405020304" pitchFamily="18" charset="0"/>
                <a:cs typeface="Times New Roman" panose="02020603050405020304" pitchFamily="18" charset="0"/>
              </a:rPr>
              <a:t>, axis=0, join='outer', </a:t>
            </a:r>
            <a:r>
              <a:rPr kumimoji="0" lang="en-US" altLang="zh-CN" sz="2200" i="1" dirty="0" err="1">
                <a:latin typeface="Times New Roman" panose="02020603050405020304" pitchFamily="18" charset="0"/>
                <a:cs typeface="Times New Roman" panose="02020603050405020304" pitchFamily="18" charset="0"/>
              </a:rPr>
              <a:t>ignore_index</a:t>
            </a:r>
            <a:r>
              <a:rPr kumimoji="0" lang="en-US" altLang="zh-CN" sz="2200" i="1" dirty="0">
                <a:latin typeface="Times New Roman" panose="02020603050405020304" pitchFamily="18" charset="0"/>
                <a:cs typeface="Times New Roman" panose="02020603050405020304" pitchFamily="18" charset="0"/>
              </a:rPr>
              <a:t>=False, keys=None, levels=None, names=None, </a:t>
            </a:r>
            <a:r>
              <a:rPr kumimoji="0" lang="en-US" altLang="zh-CN" sz="2200" i="1" dirty="0" err="1">
                <a:latin typeface="Times New Roman" panose="02020603050405020304" pitchFamily="18" charset="0"/>
                <a:cs typeface="Times New Roman" panose="02020603050405020304" pitchFamily="18" charset="0"/>
              </a:rPr>
              <a:t>verify_integrity</a:t>
            </a:r>
            <a:r>
              <a:rPr kumimoji="0" lang="en-US" altLang="zh-CN" sz="2200" i="1" dirty="0">
                <a:latin typeface="Times New Roman" panose="02020603050405020304" pitchFamily="18" charset="0"/>
                <a:cs typeface="Times New Roman" panose="02020603050405020304" pitchFamily="18" charset="0"/>
              </a:rPr>
              <a:t>=False, sort=False, copy=True)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animEffect transition="in" filter="fade">
                                      <p:cBhvr>
                                        <p:cTn id="28" dur="1000"/>
                                        <p:tgtEl>
                                          <p:spTgt spid="2">
                                            <p:txEl>
                                              <p:pRg st="4" end="4"/>
                                            </p:txEl>
                                          </p:spTgt>
                                        </p:tgtEl>
                                      </p:cBhvr>
                                    </p:animEffect>
                                    <p:anim calcmode="lin" valueType="num">
                                      <p:cBhvr>
                                        <p:cTn id="29"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1000"/>
                                        <p:tgtEl>
                                          <p:spTgt spid="5"/>
                                        </p:tgtEl>
                                      </p:cBhvr>
                                    </p:animEffect>
                                    <p:anim calcmode="lin" valueType="num">
                                      <p:cBhvr>
                                        <p:cTn id="36" dur="1000" fill="hold"/>
                                        <p:tgtEl>
                                          <p:spTgt spid="5"/>
                                        </p:tgtEl>
                                        <p:attrNameLst>
                                          <p:attrName>ppt_x</p:attrName>
                                        </p:attrNameLst>
                                      </p:cBhvr>
                                      <p:tavLst>
                                        <p:tav tm="0">
                                          <p:val>
                                            <p:strVal val="#ppt_x"/>
                                          </p:val>
                                        </p:tav>
                                        <p:tav tm="100000">
                                          <p:val>
                                            <p:strVal val="#ppt_x"/>
                                          </p:val>
                                        </p:tav>
                                      </p:tavLst>
                                    </p:anim>
                                    <p:anim calcmode="lin" valueType="num">
                                      <p:cBhvr>
                                        <p:cTn id="3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build="p"/>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457200">
              <a:buNone/>
            </a:pPr>
            <a:r>
              <a:rPr lang="en-US" altLang="zh-CN" dirty="0" err="1"/>
              <a:t>concat</a:t>
            </a:r>
            <a:r>
              <a:rPr lang="zh-CN" altLang="zh-CN" dirty="0"/>
              <a:t>函数的常用参数及其说明</a:t>
            </a:r>
            <a:r>
              <a:rPr lang="zh-CN" altLang="en-US" dirty="0"/>
              <a:t>（续表）。</a:t>
            </a:r>
            <a:endParaRPr lang="en-US" altLang="zh-CN" dirty="0"/>
          </a:p>
          <a:p>
            <a:pPr marL="0" indent="0">
              <a:buNone/>
            </a:pPr>
            <a:endParaRPr lang="zh-CN" altLang="en-US" b="1" dirty="0"/>
          </a:p>
        </p:txBody>
      </p:sp>
      <p:sp>
        <p:nvSpPr>
          <p:cNvPr id="3" name="标题 2"/>
          <p:cNvSpPr>
            <a:spLocks noGrp="1"/>
          </p:cNvSpPr>
          <p:nvPr>
            <p:ph type="title"/>
          </p:nvPr>
        </p:nvSpPr>
        <p:spPr/>
        <p:txBody>
          <a:bodyPr/>
          <a:lstStyle/>
          <a:p>
            <a:r>
              <a:rPr lang="zh-CN" altLang="en-US" dirty="0"/>
              <a:t>堆叠合并数据</a:t>
            </a:r>
          </a:p>
        </p:txBody>
      </p:sp>
      <p:graphicFrame>
        <p:nvGraphicFramePr>
          <p:cNvPr id="6" name="表格 6"/>
          <p:cNvGraphicFramePr>
            <a:graphicFrameLocks noGrp="1"/>
          </p:cNvGraphicFramePr>
          <p:nvPr>
            <p:extLst>
              <p:ext uri="{D42A27DB-BD31-4B8C-83A1-F6EECF244321}">
                <p14:modId xmlns:p14="http://schemas.microsoft.com/office/powerpoint/2010/main" val="4179601634"/>
              </p:ext>
            </p:extLst>
          </p:nvPr>
        </p:nvGraphicFramePr>
        <p:xfrm>
          <a:off x="1049953" y="1555283"/>
          <a:ext cx="10092094" cy="4320000"/>
        </p:xfrm>
        <a:graphic>
          <a:graphicData uri="http://schemas.openxmlformats.org/drawingml/2006/table">
            <a:tbl>
              <a:tblPr firstRow="1" firstCol="1" bandRow="1">
                <a:tableStyleId>{5C22544A-7EE6-4342-B048-85BDC9FD1C3A}</a:tableStyleId>
              </a:tblPr>
              <a:tblGrid>
                <a:gridCol w="1556247">
                  <a:extLst>
                    <a:ext uri="{9D8B030D-6E8A-4147-A177-3AD203B41FA5}">
                      <a16:colId xmlns:a16="http://schemas.microsoft.com/office/drawing/2014/main" val="20000"/>
                    </a:ext>
                  </a:extLst>
                </a:gridCol>
                <a:gridCol w="8535847">
                  <a:extLst>
                    <a:ext uri="{9D8B030D-6E8A-4147-A177-3AD203B41FA5}">
                      <a16:colId xmlns:a16="http://schemas.microsoft.com/office/drawing/2014/main" val="20001"/>
                    </a:ext>
                  </a:extLst>
                </a:gridCol>
              </a:tblGrid>
              <a:tr h="540000">
                <a:tc>
                  <a:txBody>
                    <a:bodyPr/>
                    <a:lstStyle/>
                    <a:p>
                      <a:pPr algn="ctr"/>
                      <a:r>
                        <a:rPr lang="zh-CN" sz="1700" b="1" kern="100" baseline="0" dirty="0">
                          <a:effectLst/>
                          <a:latin typeface="Times New Roman" panose="02020603050405020304" pitchFamily="18" charset="0"/>
                          <a:ea typeface="宋体" panose="02010600030101010101" pitchFamily="2" charset="-122"/>
                          <a:cs typeface="Times New Roman" panose="02020603050405020304" pitchFamily="18" charset="0"/>
                        </a:rPr>
                        <a:t>参数名称</a:t>
                      </a:r>
                    </a:p>
                  </a:txBody>
                  <a:tcPr marL="68580" marR="68580" marT="0" marB="0" anchor="ctr"/>
                </a:tc>
                <a:tc>
                  <a:txBody>
                    <a:bodyPr/>
                    <a:lstStyle/>
                    <a:p>
                      <a:pPr algn="ctr"/>
                      <a:r>
                        <a:rPr lang="zh-CN" sz="1700" b="1" kern="100" baseline="0" dirty="0">
                          <a:effectLst/>
                          <a:latin typeface="Times New Roman" panose="02020603050405020304" pitchFamily="18" charset="0"/>
                          <a:ea typeface="宋体" panose="02010600030101010101" pitchFamily="2" charset="-122"/>
                          <a:cs typeface="Times New Roman" panose="02020603050405020304" pitchFamily="18" charset="0"/>
                        </a:rPr>
                        <a:t>参数说明</a:t>
                      </a:r>
                    </a:p>
                  </a:txBody>
                  <a:tcPr marL="68580" marR="68580" marT="0" marB="0" anchor="ctr"/>
                </a:tc>
                <a:extLst>
                  <a:ext uri="{0D108BD9-81ED-4DB2-BD59-A6C34878D82A}">
                    <a16:rowId xmlns:a16="http://schemas.microsoft.com/office/drawing/2014/main" val="10000"/>
                  </a:ext>
                </a:extLst>
              </a:tr>
              <a:tr h="540000">
                <a:tc>
                  <a:txBody>
                    <a:bodyPr/>
                    <a:lstStyle/>
                    <a:p>
                      <a:pPr algn="ctr"/>
                      <a:r>
                        <a:rPr lang="en-US"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join</a:t>
                      </a:r>
                      <a:endParaRPr lang="zh-CN"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str</a:t>
                      </a:r>
                      <a:r>
                        <a:rPr lang="zh-CN"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。表示其他轴向上的索引是按交集（</a:t>
                      </a:r>
                      <a:r>
                        <a:rPr lang="en-US"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inner</a:t>
                      </a:r>
                      <a:r>
                        <a:rPr lang="zh-CN"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）还是并集（</a:t>
                      </a:r>
                      <a:r>
                        <a:rPr lang="en-US"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outer</a:t>
                      </a:r>
                      <a:r>
                        <a:rPr lang="zh-CN"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）进行合并。默认为</a:t>
                      </a:r>
                      <a:r>
                        <a:rPr lang="en-US"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outer</a:t>
                      </a:r>
                      <a:endParaRPr lang="zh-CN"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185611599"/>
                  </a:ext>
                </a:extLst>
              </a:tr>
              <a:tr h="540000">
                <a:tc>
                  <a:txBody>
                    <a:bodyPr/>
                    <a:lstStyle/>
                    <a:p>
                      <a:pPr algn="ctr"/>
                      <a:r>
                        <a:rPr lang="en-US" sz="1700" kern="100" baseline="0" dirty="0" err="1">
                          <a:effectLst/>
                          <a:latin typeface="Times New Roman" panose="02020603050405020304" pitchFamily="18" charset="0"/>
                          <a:ea typeface="宋体" panose="02010600030101010101" pitchFamily="2" charset="-122"/>
                          <a:cs typeface="Times New Roman" panose="02020603050405020304" pitchFamily="18" charset="0"/>
                        </a:rPr>
                        <a:t>ignore_index</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just" defTabSz="967740" rtl="0" eaLnBrk="1" latinLnBrk="0" hangingPunct="1"/>
                      <a:r>
                        <a:rPr lang="zh-CN" altLang="en-US" sz="1700" kern="100" baseline="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bool</a:t>
                      </a:r>
                      <a:r>
                        <a:rPr lang="zh-CN" altLang="en-US" sz="1700" kern="100" baseline="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。表示是否不保留连接轴上的索引，产生一组新索引</a:t>
                      </a:r>
                      <a:r>
                        <a:rPr lang="en-US" sz="1700" kern="100" baseline="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range(</a:t>
                      </a:r>
                      <a:r>
                        <a:rPr lang="en-US" sz="1700" kern="100" baseline="0" dirty="0" err="1">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total_length</a:t>
                      </a:r>
                      <a:r>
                        <a:rPr lang="en-US" sz="1700" kern="100" baseline="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700" kern="100" baseline="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。默认为</a:t>
                      </a:r>
                      <a:r>
                        <a:rPr lang="en-US" sz="1700" kern="100" baseline="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altLang="en-US" sz="1700" kern="100" baseline="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03392947"/>
                  </a:ext>
                </a:extLst>
              </a:tr>
              <a:tr h="540000">
                <a:tc>
                  <a:txBody>
                    <a:bodyPr/>
                    <a:lstStyle/>
                    <a:p>
                      <a:pPr algn="ct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keys</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sequence</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。表示与连接对象有关的值，用于形成连接轴向上的层次化索引。默认为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None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540000">
                <a:tc>
                  <a:txBody>
                    <a:bodyPr/>
                    <a:lstStyle/>
                    <a:p>
                      <a:pPr algn="ct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levels</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接收包含多个</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sequence</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list</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。表示在指定</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keys</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参数后，指定用作层次化索引各级别上的索引。默认为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None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540000">
                <a:tc>
                  <a:txBody>
                    <a:bodyPr/>
                    <a:lstStyle/>
                    <a:p>
                      <a:pPr algn="ct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names</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list</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。表示在设置了</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keys</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levels</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参数后，用于创建分层级别的名称。默认为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None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540000">
                <a:tc>
                  <a:txBody>
                    <a:bodyPr/>
                    <a:lstStyle/>
                    <a:p>
                      <a:pPr algn="ctr"/>
                      <a:r>
                        <a:rPr lang="en-US" sz="1700" kern="100" baseline="0" dirty="0" err="1">
                          <a:effectLst/>
                          <a:latin typeface="Times New Roman" panose="02020603050405020304" pitchFamily="18" charset="0"/>
                          <a:ea typeface="宋体" panose="02010600030101010101" pitchFamily="2" charset="-122"/>
                          <a:cs typeface="Times New Roman" panose="02020603050405020304" pitchFamily="18" charset="0"/>
                        </a:rPr>
                        <a:t>verify_integrity</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bool</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。表示检查新连接的轴是否包含重复项，如果发现重复项，那么引发异常。默认为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540000">
                <a:tc>
                  <a:txBody>
                    <a:bodyPr/>
                    <a:lstStyle/>
                    <a:p>
                      <a:pPr algn="ct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sort</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bool</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。表示对非连接轴进行排序。默认为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solidFill>
                  <a:srgbClr val="FF0000"/>
                </a:solidFill>
              </a:rPr>
              <a:t>当参数</a:t>
            </a:r>
            <a:r>
              <a:rPr lang="en-US" altLang="zh-CN" dirty="0">
                <a:solidFill>
                  <a:srgbClr val="FF0000"/>
                </a:solidFill>
              </a:rPr>
              <a:t>axis=1</a:t>
            </a:r>
            <a:r>
              <a:rPr lang="zh-CN" altLang="en-US" dirty="0">
                <a:solidFill>
                  <a:srgbClr val="FF0000"/>
                </a:solidFill>
              </a:rPr>
              <a:t>时，</a:t>
            </a:r>
            <a:r>
              <a:rPr lang="en-US" altLang="zh-CN" dirty="0" err="1">
                <a:solidFill>
                  <a:srgbClr val="FF0000"/>
                </a:solidFill>
              </a:rPr>
              <a:t>concat</a:t>
            </a:r>
            <a:r>
              <a:rPr lang="zh-CN" altLang="en-US" dirty="0">
                <a:solidFill>
                  <a:srgbClr val="FF0000"/>
                </a:solidFill>
              </a:rPr>
              <a:t>函数可做行对齐</a:t>
            </a:r>
            <a:r>
              <a:rPr lang="zh-CN" altLang="en-US" dirty="0"/>
              <a:t>，然后将不同列名称的两张或多张表合并。</a:t>
            </a:r>
            <a:endParaRPr lang="en-US" altLang="zh-CN" dirty="0"/>
          </a:p>
          <a:p>
            <a:r>
              <a:rPr lang="zh-CN" altLang="en-US" dirty="0">
                <a:solidFill>
                  <a:srgbClr val="FF0000"/>
                </a:solidFill>
              </a:rPr>
              <a:t>当两个表索引不完全一样时</a:t>
            </a:r>
            <a:r>
              <a:rPr lang="zh-CN" altLang="en-US" dirty="0"/>
              <a:t>，可以设置</a:t>
            </a:r>
            <a:r>
              <a:rPr lang="en-US" altLang="zh-CN" dirty="0"/>
              <a:t>join</a:t>
            </a:r>
            <a:r>
              <a:rPr lang="zh-CN" altLang="en-US" dirty="0"/>
              <a:t>参数选择是内连接还是外连接。在内连接的情况下，仅仅返回索引重叠部分数据；在外连接的情况下，则显示索引的并集部分数据，</a:t>
            </a:r>
            <a:r>
              <a:rPr lang="zh-CN" altLang="en-US" dirty="0">
                <a:solidFill>
                  <a:srgbClr val="FF0000"/>
                </a:solidFill>
              </a:rPr>
              <a:t>不足的地方则使用空值填补，横向堆叠外连接示例如图所示。</a:t>
            </a:r>
            <a:endParaRPr lang="en-US" altLang="zh-CN" dirty="0">
              <a:solidFill>
                <a:srgbClr val="FF0000"/>
              </a:solidFill>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当两份数据索引完全一样时，不论</a:t>
            </a:r>
            <a:r>
              <a:rPr lang="en-US" altLang="zh-CN" sz="1800" dirty="0">
                <a:effectLst/>
                <a:latin typeface="Times New Roman" panose="02020603050405020304" pitchFamily="18" charset="0"/>
                <a:ea typeface="宋体" panose="02010600030101010101" pitchFamily="2" charset="-122"/>
              </a:rPr>
              <a:t>join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参数的取值是</a:t>
            </a:r>
            <a:r>
              <a:rPr lang="en-US" altLang="zh-CN" sz="1800" dirty="0">
                <a:effectLst/>
                <a:latin typeface="Times New Roman" panose="02020603050405020304" pitchFamily="18" charset="0"/>
                <a:ea typeface="宋体" panose="02010600030101010101" pitchFamily="2" charset="-122"/>
              </a:rPr>
              <a:t>inner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altLang="zh-CN" sz="1800" dirty="0">
                <a:effectLst/>
                <a:latin typeface="Times New Roman" panose="02020603050405020304" pitchFamily="18" charset="0"/>
                <a:ea typeface="宋体" panose="02010600030101010101" pitchFamily="2" charset="-122"/>
              </a:rPr>
              <a:t>outer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，结果都是将两个表完全按照</a:t>
            </a:r>
            <a:r>
              <a:rPr lang="en-US" altLang="zh-CN" sz="1800" i="1" dirty="0">
                <a:effectLst/>
                <a:latin typeface="Times New Roman" panose="02020603050405020304" pitchFamily="18" charset="0"/>
                <a:ea typeface="宋体" panose="02010600030101010101" pitchFamily="2" charset="-122"/>
              </a:rPr>
              <a:t>x</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轴拼接起来。</a:t>
            </a:r>
            <a:endParaRPr lang="en-US" altLang="zh-CN" dirty="0"/>
          </a:p>
          <a:p>
            <a:pPr marL="0" indent="0">
              <a:buNone/>
            </a:pPr>
            <a:endParaRPr lang="zh-CN" altLang="en-US" b="1" dirty="0"/>
          </a:p>
        </p:txBody>
      </p:sp>
      <p:sp>
        <p:nvSpPr>
          <p:cNvPr id="3" name="标题 2"/>
          <p:cNvSpPr>
            <a:spLocks noGrp="1"/>
          </p:cNvSpPr>
          <p:nvPr>
            <p:ph type="title"/>
          </p:nvPr>
        </p:nvSpPr>
        <p:spPr/>
        <p:txBody>
          <a:bodyPr/>
          <a:lstStyle/>
          <a:p>
            <a:r>
              <a:rPr lang="zh-CN" altLang="en-US" dirty="0"/>
              <a:t>堆叠合并数据</a:t>
            </a: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3278692" y="3854389"/>
            <a:ext cx="5634616" cy="2109993"/>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fade">
                                      <p:cBhvr>
                                        <p:cTn id="13" dur="1000"/>
                                        <p:tgtEl>
                                          <p:spTgt spid="2">
                                            <p:txEl>
                                              <p:pRg st="0" end="0"/>
                                            </p:txEl>
                                          </p:spTgt>
                                        </p:tgtEl>
                                      </p:cBhvr>
                                    </p:animEffect>
                                    <p:anim calcmode="lin" valueType="num">
                                      <p:cBhvr>
                                        <p:cTn id="14"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
                                            <p:txEl>
                                              <p:pRg st="1" end="1"/>
                                            </p:txEl>
                                          </p:spTgt>
                                        </p:tgtEl>
                                        <p:attrNameLst>
                                          <p:attrName>style.visibility</p:attrName>
                                        </p:attrNameLst>
                                      </p:cBhvr>
                                      <p:to>
                                        <p:strVal val="visible"/>
                                      </p:to>
                                    </p:set>
                                    <p:animEffect transition="in" filter="fade">
                                      <p:cBhvr>
                                        <p:cTn id="20" dur="1000"/>
                                        <p:tgtEl>
                                          <p:spTgt spid="2">
                                            <p:txEl>
                                              <p:pRg st="1" end="1"/>
                                            </p:txEl>
                                          </p:spTgt>
                                        </p:tgtEl>
                                      </p:cBhvr>
                                    </p:animEffect>
                                    <p:anim calcmode="lin" valueType="num">
                                      <p:cBhvr>
                                        <p:cTn id="21"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animEffect transition="in" filter="fade">
                                      <p:cBhvr>
                                        <p:cTn id="27" dur="1000"/>
                                        <p:tgtEl>
                                          <p:spTgt spid="2">
                                            <p:txEl>
                                              <p:pRg st="2" end="2"/>
                                            </p:txEl>
                                          </p:spTgt>
                                        </p:tgtEl>
                                      </p:cBhvr>
                                    </p:animEffect>
                                    <p:anim calcmode="lin" valueType="num">
                                      <p:cBhvr>
                                        <p:cTn id="2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堆叠合并数据</a:t>
            </a:r>
          </a:p>
        </p:txBody>
      </p:sp>
      <p:sp>
        <p:nvSpPr>
          <p:cNvPr id="8" name="矩形 7"/>
          <p:cNvSpPr/>
          <p:nvPr/>
        </p:nvSpPr>
        <p:spPr>
          <a:xfrm>
            <a:off x="85458" y="997771"/>
            <a:ext cx="8084322" cy="3970318"/>
          </a:xfrm>
          <a:prstGeom prst="rect">
            <a:avLst/>
          </a:prstGeom>
        </p:spPr>
        <p:txBody>
          <a:bodyPr wrap="square">
            <a:spAutoFit/>
          </a:bodyPr>
          <a:lstStyle/>
          <a:p>
            <a:r>
              <a:rPr lang="zh-CN" altLang="en-US" dirty="0"/>
              <a:t># 代码 1</a:t>
            </a:r>
          </a:p>
          <a:p>
            <a:r>
              <a:rPr lang="zh-CN" altLang="en-US" dirty="0"/>
              <a:t>import pandas as pd</a:t>
            </a:r>
          </a:p>
          <a:p>
            <a:endParaRPr lang="zh-CN" altLang="en-US" dirty="0"/>
          </a:p>
          <a:p>
            <a:r>
              <a:rPr lang="zh-CN" altLang="en-US" dirty="0"/>
              <a:t>user_all_info = pd.read_csv('./data/user_all_info.csv')</a:t>
            </a:r>
          </a:p>
          <a:p>
            <a:r>
              <a:rPr lang="zh-CN" altLang="en-US" dirty="0"/>
              <a:t>df1 = user_all_info.iloc[:, :3]  # 取出user_all_info的前3列数据</a:t>
            </a:r>
          </a:p>
          <a:p>
            <a:r>
              <a:rPr lang="zh-CN" altLang="en-US" dirty="0"/>
              <a:t>df2 = user_all_info.iloc[:, 3:]  # 取出user_all_info的第</a:t>
            </a:r>
            <a:r>
              <a:rPr lang="en-US" altLang="zh-CN" dirty="0"/>
              <a:t>4</a:t>
            </a:r>
            <a:r>
              <a:rPr lang="zh-CN" altLang="en-US" dirty="0"/>
              <a:t>列开始的数据</a:t>
            </a:r>
          </a:p>
          <a:p>
            <a:r>
              <a:rPr lang="zh-CN" altLang="en-US" dirty="0"/>
              <a:t>print(df1)</a:t>
            </a:r>
          </a:p>
          <a:p>
            <a:r>
              <a:rPr lang="zh-CN" altLang="en-US" dirty="0"/>
              <a:t>print("...........................................")</a:t>
            </a:r>
          </a:p>
          <a:p>
            <a:r>
              <a:rPr lang="zh-CN" altLang="en-US" dirty="0"/>
              <a:t>print(df2)</a:t>
            </a:r>
          </a:p>
          <a:p>
            <a:r>
              <a:rPr lang="zh-CN" altLang="en-US" dirty="0"/>
              <a:t>print('合并df1的大小为%s，df2的大小为%s' % (df1.shape, df2.shape))</a:t>
            </a:r>
          </a:p>
          <a:p>
            <a:r>
              <a:rPr lang="zh-CN" altLang="en-US" dirty="0"/>
              <a:t>print('外连接合并后的数据框大小为：', pd.concat([df1, df2], axis=1, join='outer').shape)</a:t>
            </a:r>
          </a:p>
          <a:p>
            <a:r>
              <a:rPr lang="zh-CN" altLang="en-US" dirty="0"/>
              <a:t>print('内连接合并后的数据框大小为：', pd.concat([df1, df2], axis=1, join='inner').shape)</a:t>
            </a:r>
          </a:p>
        </p:txBody>
      </p:sp>
      <p:pic>
        <p:nvPicPr>
          <p:cNvPr id="9" name="图片 8"/>
          <p:cNvPicPr>
            <a:picLocks noChangeAspect="1"/>
          </p:cNvPicPr>
          <p:nvPr/>
        </p:nvPicPr>
        <p:blipFill>
          <a:blip r:embed="rId2"/>
          <a:stretch>
            <a:fillRect/>
          </a:stretch>
        </p:blipFill>
        <p:spPr>
          <a:xfrm>
            <a:off x="7220042" y="5230182"/>
            <a:ext cx="3780952" cy="742857"/>
          </a:xfrm>
          <a:prstGeom prst="rect">
            <a:avLst/>
          </a:prstGeom>
        </p:spPr>
      </p:pic>
      <p:pic>
        <p:nvPicPr>
          <p:cNvPr id="10" name="图片 9"/>
          <p:cNvPicPr>
            <a:picLocks noChangeAspect="1"/>
          </p:cNvPicPr>
          <p:nvPr/>
        </p:nvPicPr>
        <p:blipFill>
          <a:blip r:embed="rId3"/>
          <a:stretch>
            <a:fillRect/>
          </a:stretch>
        </p:blipFill>
        <p:spPr>
          <a:xfrm>
            <a:off x="7648424" y="179462"/>
            <a:ext cx="2924189" cy="4871103"/>
          </a:xfrm>
          <a:prstGeom prst="rect">
            <a:avLst/>
          </a:prstGeom>
        </p:spPr>
      </p:pic>
    </p:spTree>
    <p:extLst>
      <p:ext uri="{BB962C8B-B14F-4D97-AF65-F5344CB8AC3E}">
        <p14:creationId xmlns:p14="http://schemas.microsoft.com/office/powerpoint/2010/main" val="1611797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3819" y="1713662"/>
            <a:ext cx="6403109" cy="4339721"/>
          </a:xfrm>
        </p:spPr>
        <p:txBody>
          <a:bodyPr/>
          <a:lstStyle/>
          <a:p>
            <a:r>
              <a:rPr lang="zh-CN"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使用</a:t>
            </a:r>
            <a:r>
              <a:rPr lang="en-US" altLang="zh-CN" sz="1800" dirty="0" err="1">
                <a:solidFill>
                  <a:srgbClr val="FF0000"/>
                </a:solidFill>
                <a:effectLst/>
                <a:latin typeface="Times New Roman" panose="02020603050405020304" pitchFamily="18" charset="0"/>
                <a:ea typeface="宋体" panose="02010600030101010101" pitchFamily="2" charset="-122"/>
              </a:rPr>
              <a:t>concat</a:t>
            </a:r>
            <a:r>
              <a:rPr lang="zh-CN"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函数时，在默认情况下，即</a:t>
            </a:r>
            <a:r>
              <a:rPr lang="en-US" altLang="zh-CN" sz="1800" dirty="0">
                <a:solidFill>
                  <a:srgbClr val="FF0000"/>
                </a:solidFill>
                <a:effectLst/>
                <a:latin typeface="Times New Roman" panose="02020603050405020304" pitchFamily="18" charset="0"/>
                <a:ea typeface="宋体" panose="02010600030101010101" pitchFamily="2" charset="-122"/>
              </a:rPr>
              <a:t>axis=0</a:t>
            </a:r>
            <a:r>
              <a:rPr lang="zh-CN"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solidFill>
                  <a:srgbClr val="FF0000"/>
                </a:solidFill>
                <a:effectLst/>
                <a:latin typeface="Times New Roman" panose="02020603050405020304" pitchFamily="18" charset="0"/>
                <a:ea typeface="宋体" panose="02010600030101010101" pitchFamily="2" charset="-122"/>
              </a:rPr>
              <a:t>concat</a:t>
            </a:r>
            <a:r>
              <a:rPr lang="zh-CN"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函数做列对齐，将不同行索引的两张或多张表纵向合并</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在两张表的列名并不完全相同的情况下，可以使用</a:t>
            </a:r>
            <a:r>
              <a:rPr lang="en-US" altLang="zh-CN" sz="1800" dirty="0">
                <a:effectLst/>
                <a:latin typeface="Times New Roman" panose="02020603050405020304" pitchFamily="18" charset="0"/>
                <a:ea typeface="宋体" panose="02010600030101010101" pitchFamily="2" charset="-122"/>
              </a:rPr>
              <a:t>join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参数</a:t>
            </a:r>
            <a:r>
              <a:rPr lang="zh-CN" altLang="en-US" dirty="0"/>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720000">
              <a:buFont typeface="Arial" panose="020B0604020202020204" pitchFamily="34" charset="0"/>
              <a:buChar cha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当</a:t>
            </a:r>
            <a:r>
              <a:rPr lang="en-US" altLang="zh-CN" sz="1800" dirty="0">
                <a:effectLst/>
                <a:latin typeface="Times New Roman" panose="02020603050405020304" pitchFamily="18" charset="0"/>
                <a:ea typeface="宋体" panose="02010600030101010101" pitchFamily="2" charset="-122"/>
              </a:rPr>
              <a:t>join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参数取值为</a:t>
            </a:r>
            <a:r>
              <a:rPr lang="en-US" altLang="zh-CN" sz="1800" dirty="0">
                <a:effectLst/>
                <a:latin typeface="Times New Roman" panose="02020603050405020304" pitchFamily="18" charset="0"/>
                <a:ea typeface="宋体" panose="02010600030101010101" pitchFamily="2" charset="-122"/>
              </a:rPr>
              <a:t>inner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时，返回的仅仅是列名的交集所代表的列</a:t>
            </a:r>
            <a:r>
              <a:rPr lang="zh-CN" altLang="en-US" dirty="0"/>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720000">
              <a:buFont typeface="Arial" panose="020B0604020202020204" pitchFamily="34" charset="0"/>
              <a:buChar char="•"/>
            </a:pPr>
            <a:r>
              <a:rPr lang="zh-CN"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当</a:t>
            </a:r>
            <a:r>
              <a:rPr lang="en-US" altLang="zh-CN" sz="1800" dirty="0">
                <a:solidFill>
                  <a:srgbClr val="FF0000"/>
                </a:solidFill>
                <a:effectLst/>
                <a:latin typeface="Times New Roman" panose="02020603050405020304" pitchFamily="18" charset="0"/>
                <a:ea typeface="宋体" panose="02010600030101010101" pitchFamily="2" charset="-122"/>
              </a:rPr>
              <a:t>join</a:t>
            </a:r>
            <a:r>
              <a:rPr lang="zh-CN"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参数取值为</a:t>
            </a:r>
            <a:r>
              <a:rPr lang="en-US" altLang="zh-CN" sz="1800" dirty="0">
                <a:solidFill>
                  <a:srgbClr val="FF0000"/>
                </a:solidFill>
                <a:effectLst/>
                <a:latin typeface="Times New Roman" panose="02020603050405020304" pitchFamily="18" charset="0"/>
                <a:ea typeface="宋体" panose="02010600030101010101" pitchFamily="2" charset="-122"/>
              </a:rPr>
              <a:t>outer</a:t>
            </a:r>
            <a:r>
              <a:rPr lang="zh-CN"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时，返回的是两者列名的并集所代表的列。</a:t>
            </a:r>
            <a:r>
              <a:rPr lang="zh-CN" altLang="en-US" dirty="0">
                <a:solidFill>
                  <a:srgbClr val="FF0000"/>
                </a:solidFill>
              </a:rPr>
              <a:t>其原理示意如图。</a:t>
            </a:r>
            <a:endParaRPr lang="en-US" altLang="zh-CN" sz="1800" dirty="0">
              <a:solidFill>
                <a:srgbClr val="FF0000"/>
              </a:solidFill>
              <a:effectLst/>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当两张表的列名完全相同时，不论</a:t>
            </a:r>
            <a:r>
              <a:rPr lang="en-US" altLang="zh-CN" sz="1800" dirty="0">
                <a:effectLst/>
                <a:latin typeface="Times New Roman" panose="02020603050405020304" pitchFamily="18" charset="0"/>
                <a:ea typeface="宋体" panose="02010600030101010101" pitchFamily="2" charset="-122"/>
              </a:rPr>
              <a:t>join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参数的取值是</a:t>
            </a:r>
            <a:r>
              <a:rPr lang="en-US" altLang="zh-CN" sz="1800" dirty="0">
                <a:effectLst/>
                <a:latin typeface="Times New Roman" panose="02020603050405020304" pitchFamily="18" charset="0"/>
                <a:ea typeface="宋体" panose="02010600030101010101" pitchFamily="2" charset="-122"/>
              </a:rPr>
              <a:t>inner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还是</a:t>
            </a:r>
            <a:r>
              <a:rPr lang="en-US" altLang="zh-CN" sz="1800" dirty="0">
                <a:effectLst/>
                <a:latin typeface="Times New Roman" panose="02020603050405020304" pitchFamily="18" charset="0"/>
                <a:ea typeface="宋体" panose="02010600030101010101" pitchFamily="2" charset="-122"/>
              </a:rPr>
              <a:t>outer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，结果都是将两个表完全按照</a:t>
            </a:r>
            <a:r>
              <a:rPr lang="en-US" altLang="zh-CN" sz="1800" i="1" dirty="0">
                <a:effectLst/>
                <a:latin typeface="Times New Roman" panose="02020603050405020304" pitchFamily="18" charset="0"/>
                <a:ea typeface="宋体" panose="02010600030101010101" pitchFamily="2" charset="-122"/>
              </a:rPr>
              <a:t>y</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轴拼接起来</a:t>
            </a:r>
            <a:r>
              <a:rPr lang="zh-CN" altLang="en-US" dirty="0"/>
              <a:t>。</a:t>
            </a:r>
            <a:endParaRPr lang="zh-CN" altLang="en-US" b="1" dirty="0"/>
          </a:p>
        </p:txBody>
      </p:sp>
      <p:sp>
        <p:nvSpPr>
          <p:cNvPr id="3" name="标题 2"/>
          <p:cNvSpPr>
            <a:spLocks noGrp="1"/>
          </p:cNvSpPr>
          <p:nvPr>
            <p:ph type="title"/>
          </p:nvPr>
        </p:nvSpPr>
        <p:spPr/>
        <p:txBody>
          <a:bodyPr/>
          <a:lstStyle/>
          <a:p>
            <a:r>
              <a:rPr lang="zh-CN" altLang="en-US" dirty="0"/>
              <a:t>堆叠合并数据</a:t>
            </a:r>
          </a:p>
        </p:txBody>
      </p:sp>
      <p:sp>
        <p:nvSpPr>
          <p:cNvPr id="4" name="内容占位符 3"/>
          <p:cNvSpPr>
            <a:spLocks noGrp="1"/>
          </p:cNvSpPr>
          <p:nvPr>
            <p:ph idx="10"/>
          </p:nvPr>
        </p:nvSpPr>
        <p:spPr/>
        <p:txBody>
          <a:bodyPr/>
          <a:lstStyle/>
          <a:p>
            <a:r>
              <a:rPr lang="en-US" altLang="zh-CN" b="1" dirty="0"/>
              <a:t>2. </a:t>
            </a:r>
            <a:r>
              <a:rPr lang="zh-CN" altLang="en-US" b="1" dirty="0"/>
              <a:t>纵向堆叠（按列）</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7354405" y="1983352"/>
            <a:ext cx="4413776" cy="3735668"/>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
                                            <p:txEl>
                                              <p:pRg st="0" end="0"/>
                                            </p:txEl>
                                          </p:spTgt>
                                        </p:tgtEl>
                                        <p:attrNameLst>
                                          <p:attrName>style.visibility</p:attrName>
                                        </p:attrNameLst>
                                      </p:cBhvr>
                                      <p:to>
                                        <p:strVal val="visible"/>
                                      </p:to>
                                    </p:set>
                                    <p:animEffect transition="in" filter="fade">
                                      <p:cBhvr>
                                        <p:cTn id="20" dur="1000"/>
                                        <p:tgtEl>
                                          <p:spTgt spid="2">
                                            <p:txEl>
                                              <p:pRg st="0" end="0"/>
                                            </p:txEl>
                                          </p:spTgt>
                                        </p:tgtEl>
                                      </p:cBhvr>
                                    </p:animEffect>
                                    <p:anim calcmode="lin" valueType="num">
                                      <p:cBhvr>
                                        <p:cTn id="21"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22"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animEffect transition="in" filter="fade">
                                      <p:cBhvr>
                                        <p:cTn id="27" dur="1000"/>
                                        <p:tgtEl>
                                          <p:spTgt spid="2">
                                            <p:txEl>
                                              <p:pRg st="1" end="1"/>
                                            </p:txEl>
                                          </p:spTgt>
                                        </p:tgtEl>
                                      </p:cBhvr>
                                    </p:animEffect>
                                    <p:anim calcmode="lin" valueType="num">
                                      <p:cBhvr>
                                        <p:cTn id="2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
                                            <p:txEl>
                                              <p:pRg st="2" end="2"/>
                                            </p:txEl>
                                          </p:spTgt>
                                        </p:tgtEl>
                                        <p:attrNameLst>
                                          <p:attrName>style.visibility</p:attrName>
                                        </p:attrNameLst>
                                      </p:cBhvr>
                                      <p:to>
                                        <p:strVal val="visible"/>
                                      </p:to>
                                    </p:set>
                                    <p:animEffect transition="in" filter="fade">
                                      <p:cBhvr>
                                        <p:cTn id="34" dur="1000"/>
                                        <p:tgtEl>
                                          <p:spTgt spid="2">
                                            <p:txEl>
                                              <p:pRg st="2" end="2"/>
                                            </p:txEl>
                                          </p:spTgt>
                                        </p:tgtEl>
                                      </p:cBhvr>
                                    </p:animEffect>
                                    <p:anim calcmode="lin" valueType="num">
                                      <p:cBhvr>
                                        <p:cTn id="3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2">
                                            <p:txEl>
                                              <p:pRg st="3" end="3"/>
                                            </p:txEl>
                                          </p:spTgt>
                                        </p:tgtEl>
                                        <p:attrNameLst>
                                          <p:attrName>style.visibility</p:attrName>
                                        </p:attrNameLst>
                                      </p:cBhvr>
                                      <p:to>
                                        <p:strVal val="visible"/>
                                      </p:to>
                                    </p:set>
                                    <p:animEffect transition="in" filter="fade">
                                      <p:cBhvr>
                                        <p:cTn id="41" dur="1000"/>
                                        <p:tgtEl>
                                          <p:spTgt spid="2">
                                            <p:txEl>
                                              <p:pRg st="3" end="3"/>
                                            </p:txEl>
                                          </p:spTgt>
                                        </p:tgtEl>
                                      </p:cBhvr>
                                    </p:animEffect>
                                    <p:anim calcmode="lin" valueType="num">
                                      <p:cBhvr>
                                        <p:cTn id="42"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43"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2">
                                            <p:txEl>
                                              <p:pRg st="4" end="4"/>
                                            </p:txEl>
                                          </p:spTgt>
                                        </p:tgtEl>
                                        <p:attrNameLst>
                                          <p:attrName>style.visibility</p:attrName>
                                        </p:attrNameLst>
                                      </p:cBhvr>
                                      <p:to>
                                        <p:strVal val="visible"/>
                                      </p:to>
                                    </p:set>
                                    <p:animEffect transition="in" filter="fade">
                                      <p:cBhvr>
                                        <p:cTn id="48" dur="1000"/>
                                        <p:tgtEl>
                                          <p:spTgt spid="2">
                                            <p:txEl>
                                              <p:pRg st="4" end="4"/>
                                            </p:txEl>
                                          </p:spTgt>
                                        </p:tgtEl>
                                      </p:cBhvr>
                                    </p:animEffect>
                                    <p:anim calcmode="lin" valueType="num">
                                      <p:cBhvr>
                                        <p:cTn id="49"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50"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堆叠合并数据</a:t>
            </a:r>
          </a:p>
        </p:txBody>
      </p:sp>
      <p:sp>
        <p:nvSpPr>
          <p:cNvPr id="2" name="矩形 1"/>
          <p:cNvSpPr/>
          <p:nvPr/>
        </p:nvSpPr>
        <p:spPr>
          <a:xfrm>
            <a:off x="340821" y="961703"/>
            <a:ext cx="11421688" cy="3693319"/>
          </a:xfrm>
          <a:prstGeom prst="rect">
            <a:avLst/>
          </a:prstGeom>
        </p:spPr>
        <p:txBody>
          <a:bodyPr wrap="square">
            <a:spAutoFit/>
          </a:bodyPr>
          <a:lstStyle/>
          <a:p>
            <a:endParaRPr lang="zh-CN" altLang="en-US" dirty="0"/>
          </a:p>
          <a:p>
            <a:r>
              <a:rPr lang="zh-CN" altLang="en-US" dirty="0"/>
              <a:t># 代码 2</a:t>
            </a:r>
          </a:p>
          <a:p>
            <a:r>
              <a:rPr lang="zh-CN" altLang="en-US" dirty="0"/>
              <a:t># 取出user_all_info前500行数据</a:t>
            </a:r>
          </a:p>
          <a:p>
            <a:r>
              <a:rPr lang="zh-CN" altLang="en-US" dirty="0"/>
              <a:t>df3 = user_all_info.iloc[:500, :] </a:t>
            </a:r>
          </a:p>
          <a:p>
            <a:r>
              <a:rPr lang="zh-CN" altLang="en-US" dirty="0"/>
              <a:t># 取出user_all_info的500后的数据</a:t>
            </a:r>
          </a:p>
          <a:p>
            <a:r>
              <a:rPr lang="zh-CN" altLang="en-US" dirty="0"/>
              <a:t>df4 = user_all_info.iloc[500:, :] </a:t>
            </a:r>
            <a:endParaRPr lang="en-US" altLang="zh-CN" dirty="0"/>
          </a:p>
          <a:p>
            <a:r>
              <a:rPr lang="en-US" altLang="zh-CN" dirty="0"/>
              <a:t>print(df3)</a:t>
            </a:r>
          </a:p>
          <a:p>
            <a:r>
              <a:rPr lang="en-US" altLang="zh-CN" dirty="0"/>
              <a:t>print(df4)</a:t>
            </a:r>
            <a:endParaRPr lang="zh-CN" altLang="en-US" dirty="0"/>
          </a:p>
          <a:p>
            <a:r>
              <a:rPr lang="zh-CN" altLang="en-US" dirty="0"/>
              <a:t>print('合并df3的大小为%s，df4的大小为%s' % (df3.shape, df4.shape))</a:t>
            </a:r>
          </a:p>
          <a:p>
            <a:r>
              <a:rPr lang="zh-CN" altLang="en-US" dirty="0"/>
              <a:t>print('内连接纵向合并后的数据框大小为：', pd.concat([df3, df4],</a:t>
            </a:r>
          </a:p>
          <a:p>
            <a:r>
              <a:rPr lang="zh-CN" altLang="en-US" dirty="0"/>
              <a:t>       axis=0, join='outer').shape) </a:t>
            </a:r>
          </a:p>
          <a:p>
            <a:r>
              <a:rPr lang="zh-CN" altLang="en-US" dirty="0"/>
              <a:t>print('外连接纵向合并后的数据框大小为：', pd.concat([df3, df4],</a:t>
            </a:r>
          </a:p>
          <a:p>
            <a:r>
              <a:rPr lang="zh-CN" altLang="en-US" dirty="0"/>
              <a:t>       axis=0, join='inner').shape)</a:t>
            </a:r>
          </a:p>
        </p:txBody>
      </p:sp>
      <p:pic>
        <p:nvPicPr>
          <p:cNvPr id="5" name="图片 4"/>
          <p:cNvPicPr>
            <a:picLocks noChangeAspect="1"/>
          </p:cNvPicPr>
          <p:nvPr/>
        </p:nvPicPr>
        <p:blipFill>
          <a:blip r:embed="rId2"/>
          <a:stretch>
            <a:fillRect/>
          </a:stretch>
        </p:blipFill>
        <p:spPr>
          <a:xfrm>
            <a:off x="7479255" y="1064028"/>
            <a:ext cx="3748422" cy="5332363"/>
          </a:xfrm>
          <a:prstGeom prst="rect">
            <a:avLst/>
          </a:prstGeom>
        </p:spPr>
      </p:pic>
    </p:spTree>
    <p:extLst>
      <p:ext uri="{BB962C8B-B14F-4D97-AF65-F5344CB8AC3E}">
        <p14:creationId xmlns:p14="http://schemas.microsoft.com/office/powerpoint/2010/main" val="3108139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主键合并，即通过一个或多个键将两个数据集的行连接起来，类似于</a:t>
            </a:r>
            <a:r>
              <a:rPr lang="en-US" altLang="zh-CN" sz="1800" dirty="0">
                <a:effectLst/>
                <a:latin typeface="Times New Roman" panose="02020603050405020304" pitchFamily="18" charset="0"/>
                <a:ea typeface="宋体" panose="02010600030101010101" pitchFamily="2" charset="-122"/>
              </a:rPr>
              <a:t>SQL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中的</a:t>
            </a:r>
            <a:r>
              <a:rPr lang="en-US" altLang="zh-CN" sz="1800" dirty="0">
                <a:effectLst/>
                <a:latin typeface="Times New Roman" panose="02020603050405020304" pitchFamily="18" charset="0"/>
                <a:ea typeface="宋体" panose="02010600030101010101" pitchFamily="2" charset="-122"/>
              </a:rPr>
              <a:t>join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针对两张包含不同特征的表，将根据某几个特征一一对应拼接起来，合并后数据的列数为两个原数据的列数和</a:t>
            </a:r>
            <a:r>
              <a:rPr lang="zh-CN"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减去连接键的数量</a:t>
            </a:r>
            <a:r>
              <a:rPr lang="zh-CN" altLang="en-US"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solidFill>
                  <a:srgbClr val="FF0000"/>
                </a:solidFill>
              </a:rPr>
              <a:t>即公共的列名数量</a:t>
            </a:r>
            <a:r>
              <a:rPr lang="zh-CN" altLang="en-US"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t>。</a:t>
            </a:r>
            <a:endParaRPr lang="en-US" altLang="zh-CN" dirty="0"/>
          </a:p>
          <a:p>
            <a:endParaRPr lang="zh-CN" altLang="en-US" dirty="0"/>
          </a:p>
        </p:txBody>
      </p:sp>
      <p:sp>
        <p:nvSpPr>
          <p:cNvPr id="3" name="标题 2"/>
          <p:cNvSpPr>
            <a:spLocks noGrp="1"/>
          </p:cNvSpPr>
          <p:nvPr>
            <p:ph type="title"/>
          </p:nvPr>
        </p:nvSpPr>
        <p:spPr/>
        <p:txBody>
          <a:bodyPr/>
          <a:lstStyle/>
          <a:p>
            <a:r>
              <a:rPr lang="zh-CN" altLang="en-US" b="1" dirty="0"/>
              <a:t>二、主键合并数据</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2581364" y="3035094"/>
            <a:ext cx="7029273" cy="2523417"/>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fade">
                                      <p:cBhvr>
                                        <p:cTn id="13" dur="1000"/>
                                        <p:tgtEl>
                                          <p:spTgt spid="2">
                                            <p:txEl>
                                              <p:pRg st="0" end="0"/>
                                            </p:txEl>
                                          </p:spTgt>
                                        </p:tgtEl>
                                      </p:cBhvr>
                                    </p:animEffect>
                                    <p:anim calcmode="lin" valueType="num">
                                      <p:cBhvr>
                                        <p:cTn id="14"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
                                            <p:txEl>
                                              <p:pRg st="1" end="1"/>
                                            </p:txEl>
                                          </p:spTgt>
                                        </p:tgtEl>
                                        <p:attrNameLst>
                                          <p:attrName>style.visibility</p:attrName>
                                        </p:attrNameLst>
                                      </p:cBhvr>
                                      <p:to>
                                        <p:strVal val="visible"/>
                                      </p:to>
                                    </p:set>
                                    <p:animEffect transition="in" filter="fade">
                                      <p:cBhvr>
                                        <p:cTn id="20" dur="1000"/>
                                        <p:tgtEl>
                                          <p:spTgt spid="2">
                                            <p:txEl>
                                              <p:pRg st="1" end="1"/>
                                            </p:txEl>
                                          </p:spTgt>
                                        </p:tgtEl>
                                      </p:cBhvr>
                                    </p:animEffect>
                                    <p:anim calcmode="lin" valueType="num">
                                      <p:cBhvr>
                                        <p:cTn id="21"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3819" y="1104181"/>
            <a:ext cx="11421817" cy="5052713"/>
          </a:xfrm>
        </p:spPr>
        <p:txBody>
          <a:bodyPr/>
          <a:lstStyle/>
          <a:p>
            <a:r>
              <a:rPr lang="zh-CN" altLang="en-US" dirty="0"/>
              <a:t>和数据库的</a:t>
            </a:r>
            <a:r>
              <a:rPr lang="en-US" altLang="zh-CN" dirty="0"/>
              <a:t>join</a:t>
            </a:r>
            <a:r>
              <a:rPr lang="zh-CN" altLang="en-US" dirty="0"/>
              <a:t>一样，</a:t>
            </a:r>
            <a:r>
              <a:rPr lang="en-US" altLang="zh-CN" dirty="0"/>
              <a:t>merge</a:t>
            </a:r>
            <a:r>
              <a:rPr lang="zh-CN" altLang="en-US" dirty="0"/>
              <a:t>函数也有左连接（</a:t>
            </a:r>
            <a:r>
              <a:rPr lang="en-US" altLang="zh-CN" dirty="0"/>
              <a:t>left</a:t>
            </a:r>
            <a:r>
              <a:rPr lang="zh-CN" altLang="en-US" dirty="0"/>
              <a:t>）、右连接（</a:t>
            </a:r>
            <a:r>
              <a:rPr lang="en-US" altLang="zh-CN" dirty="0"/>
              <a:t>right</a:t>
            </a:r>
            <a:r>
              <a:rPr lang="zh-CN" altLang="en-US" dirty="0"/>
              <a:t>）、内连接（</a:t>
            </a:r>
            <a:r>
              <a:rPr lang="en-US" altLang="zh-CN" dirty="0"/>
              <a:t>inner</a:t>
            </a:r>
            <a:r>
              <a:rPr lang="zh-CN" altLang="en-US" dirty="0"/>
              <a:t>）和外连接（</a:t>
            </a:r>
            <a:r>
              <a:rPr lang="en-US" altLang="zh-CN" dirty="0"/>
              <a:t>outer</a:t>
            </a:r>
            <a:r>
              <a:rPr lang="zh-CN" altLang="en-US" dirty="0"/>
              <a:t>）。</a:t>
            </a:r>
            <a:endParaRPr lang="en-US" altLang="zh-CN" dirty="0"/>
          </a:p>
          <a:p>
            <a:r>
              <a:rPr lang="zh-CN" altLang="en-US" dirty="0"/>
              <a:t>比起数据库</a:t>
            </a:r>
            <a:r>
              <a:rPr lang="en-US" altLang="zh-CN" dirty="0"/>
              <a:t>SQL</a:t>
            </a:r>
            <a:r>
              <a:rPr lang="zh-CN" altLang="en-US" dirty="0"/>
              <a:t>语言中的</a:t>
            </a:r>
            <a:r>
              <a:rPr lang="en-US" altLang="zh-CN" dirty="0"/>
              <a:t>join</a:t>
            </a:r>
            <a:r>
              <a:rPr lang="zh-CN" altLang="en-US" dirty="0"/>
              <a:t>，</a:t>
            </a:r>
            <a:r>
              <a:rPr lang="en-US" altLang="zh-CN" dirty="0"/>
              <a:t>merge</a:t>
            </a:r>
            <a:r>
              <a:rPr lang="zh-CN" altLang="en-US" dirty="0"/>
              <a:t>函数还有其自身独到之处，如可以在合并过程中对数据集中的数据进行排序等，</a:t>
            </a:r>
            <a:r>
              <a:rPr lang="en-US" altLang="zh-CN" dirty="0"/>
              <a:t>merge</a:t>
            </a:r>
            <a:r>
              <a:rPr lang="zh-CN" altLang="en-US" dirty="0"/>
              <a:t>函数的基本使用格式如下。</a:t>
            </a:r>
            <a:endParaRPr lang="en-US" altLang="zh-CN" dirty="0"/>
          </a:p>
          <a:p>
            <a:endParaRPr lang="en-US" altLang="zh-CN" dirty="0"/>
          </a:p>
          <a:p>
            <a:endParaRPr lang="en-US" altLang="zh-CN" dirty="0"/>
          </a:p>
          <a:p>
            <a:endParaRPr lang="en-US" altLang="zh-CN" dirty="0"/>
          </a:p>
          <a:p>
            <a:endParaRPr lang="zh-CN" altLang="en-US" dirty="0"/>
          </a:p>
          <a:p>
            <a:r>
              <a:rPr lang="zh-CN" altLang="en-US" dirty="0"/>
              <a:t>根据</a:t>
            </a:r>
            <a:r>
              <a:rPr lang="en-US" altLang="zh-CN" dirty="0"/>
              <a:t>merge</a:t>
            </a:r>
            <a:r>
              <a:rPr lang="zh-CN" altLang="en-US" dirty="0"/>
              <a:t>函数中的参数说明，并按照需求修改相关参数，即可以多种方法实现主键合并。</a:t>
            </a:r>
          </a:p>
        </p:txBody>
      </p:sp>
      <p:sp>
        <p:nvSpPr>
          <p:cNvPr id="3" name="标题 2"/>
          <p:cNvSpPr>
            <a:spLocks noGrp="1"/>
          </p:cNvSpPr>
          <p:nvPr>
            <p:ph type="title"/>
          </p:nvPr>
        </p:nvSpPr>
        <p:spPr/>
        <p:txBody>
          <a:bodyPr/>
          <a:lstStyle/>
          <a:p>
            <a:r>
              <a:rPr lang="zh-CN" altLang="en-US" b="1" dirty="0"/>
              <a:t>主键合并数据</a:t>
            </a:r>
            <a:endParaRPr lang="zh-CN" altLang="en-US" dirty="0"/>
          </a:p>
        </p:txBody>
      </p:sp>
      <p:sp>
        <p:nvSpPr>
          <p:cNvPr id="4" name="TextBox 5">
            <a:extLst>
              <a:ext uri="{FF2B5EF4-FFF2-40B4-BE49-F238E27FC236}">
                <a16:creationId xmlns:a16="http://schemas.microsoft.com/office/drawing/2014/main" id="{A36D2CDD-1679-4276-A427-AE997EA89AF8}"/>
              </a:ext>
            </a:extLst>
          </p:cNvPr>
          <p:cNvSpPr txBox="1">
            <a:spLocks noChangeArrowheads="1"/>
          </p:cNvSpPr>
          <p:nvPr/>
        </p:nvSpPr>
        <p:spPr bwMode="auto">
          <a:xfrm>
            <a:off x="1208882" y="2823723"/>
            <a:ext cx="9774237"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8775">
              <a:spcBef>
                <a:spcPct val="20000"/>
              </a:spcBef>
              <a:buClr>
                <a:srgbClr val="000066"/>
              </a:buClr>
              <a:buFont typeface="Wingdings" panose="05000000000000000000" pitchFamily="2" charset="2"/>
              <a:buChar char="n"/>
              <a:defRPr kumimoji="1" sz="21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9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5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9pPr>
          </a:lstStyle>
          <a:p>
            <a:pPr>
              <a:spcBef>
                <a:spcPct val="0"/>
              </a:spcBef>
              <a:buClrTx/>
              <a:buNone/>
            </a:pPr>
            <a:r>
              <a:rPr kumimoji="0" lang="en-US" altLang="zh-CN" sz="2200" i="1" dirty="0" err="1">
                <a:latin typeface="Times New Roman" panose="02020603050405020304" pitchFamily="18" charset="0"/>
                <a:cs typeface="Times New Roman" panose="02020603050405020304" pitchFamily="18" charset="0"/>
              </a:rPr>
              <a:t>pandas.merge</a:t>
            </a:r>
            <a:r>
              <a:rPr kumimoji="0" lang="en-US" altLang="zh-CN" sz="2200" i="1" dirty="0">
                <a:latin typeface="Times New Roman" panose="02020603050405020304" pitchFamily="18" charset="0"/>
                <a:cs typeface="Times New Roman" panose="02020603050405020304" pitchFamily="18" charset="0"/>
              </a:rPr>
              <a:t>(left, right, how='inner', on=None, </a:t>
            </a:r>
            <a:r>
              <a:rPr kumimoji="0" lang="en-US" altLang="zh-CN" sz="2200" i="1" dirty="0" err="1">
                <a:latin typeface="Times New Roman" panose="02020603050405020304" pitchFamily="18" charset="0"/>
                <a:cs typeface="Times New Roman" panose="02020603050405020304" pitchFamily="18" charset="0"/>
              </a:rPr>
              <a:t>left_on</a:t>
            </a:r>
            <a:r>
              <a:rPr kumimoji="0" lang="en-US" altLang="zh-CN" sz="2200" i="1" dirty="0">
                <a:latin typeface="Times New Roman" panose="02020603050405020304" pitchFamily="18" charset="0"/>
                <a:cs typeface="Times New Roman" panose="02020603050405020304" pitchFamily="18" charset="0"/>
              </a:rPr>
              <a:t>=None, </a:t>
            </a:r>
            <a:r>
              <a:rPr kumimoji="0" lang="en-US" altLang="zh-CN" sz="2200" i="1" dirty="0" err="1">
                <a:latin typeface="Times New Roman" panose="02020603050405020304" pitchFamily="18" charset="0"/>
                <a:cs typeface="Times New Roman" panose="02020603050405020304" pitchFamily="18" charset="0"/>
              </a:rPr>
              <a:t>right_on</a:t>
            </a:r>
            <a:r>
              <a:rPr kumimoji="0" lang="en-US" altLang="zh-CN" sz="2200" i="1" dirty="0">
                <a:latin typeface="Times New Roman" panose="02020603050405020304" pitchFamily="18" charset="0"/>
                <a:cs typeface="Times New Roman" panose="02020603050405020304" pitchFamily="18" charset="0"/>
              </a:rPr>
              <a:t>=None, </a:t>
            </a:r>
            <a:r>
              <a:rPr kumimoji="0" lang="en-US" altLang="zh-CN" sz="2200" i="1" dirty="0" err="1">
                <a:latin typeface="Times New Roman" panose="02020603050405020304" pitchFamily="18" charset="0"/>
                <a:cs typeface="Times New Roman" panose="02020603050405020304" pitchFamily="18" charset="0"/>
              </a:rPr>
              <a:t>left_index</a:t>
            </a:r>
            <a:r>
              <a:rPr kumimoji="0" lang="en-US" altLang="zh-CN" sz="2200" i="1" dirty="0">
                <a:latin typeface="Times New Roman" panose="02020603050405020304" pitchFamily="18" charset="0"/>
                <a:cs typeface="Times New Roman" panose="02020603050405020304" pitchFamily="18" charset="0"/>
              </a:rPr>
              <a:t>=False, </a:t>
            </a:r>
            <a:r>
              <a:rPr kumimoji="0" lang="en-US" altLang="zh-CN" sz="2200" i="1" dirty="0" err="1">
                <a:latin typeface="Times New Roman" panose="02020603050405020304" pitchFamily="18" charset="0"/>
                <a:cs typeface="Times New Roman" panose="02020603050405020304" pitchFamily="18" charset="0"/>
              </a:rPr>
              <a:t>right_index</a:t>
            </a:r>
            <a:r>
              <a:rPr kumimoji="0" lang="en-US" altLang="zh-CN" sz="2200" i="1" dirty="0">
                <a:latin typeface="Times New Roman" panose="02020603050405020304" pitchFamily="18" charset="0"/>
                <a:cs typeface="Times New Roman" panose="02020603050405020304" pitchFamily="18" charset="0"/>
              </a:rPr>
              <a:t>=False, sort=False, suffixes=('_x', '_y'), copy=True, indicator=False, validate=None)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fade">
                                      <p:cBhvr>
                                        <p:cTn id="28" dur="1000"/>
                                        <p:tgtEl>
                                          <p:spTgt spid="2">
                                            <p:txEl>
                                              <p:pRg st="6" end="6"/>
                                            </p:txEl>
                                          </p:spTgt>
                                        </p:tgtEl>
                                      </p:cBhvr>
                                    </p:animEffect>
                                    <p:anim calcmode="lin" valueType="num">
                                      <p:cBhvr>
                                        <p:cTn id="29"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457200">
              <a:buNone/>
            </a:pPr>
            <a:r>
              <a:rPr lang="en-US" altLang="zh-CN" dirty="0"/>
              <a:t>merge</a:t>
            </a:r>
            <a:r>
              <a:rPr lang="zh-CN" altLang="en-US" dirty="0"/>
              <a:t>函数的常用参数及其说明。</a:t>
            </a:r>
          </a:p>
          <a:p>
            <a:pPr marL="0" indent="0">
              <a:buNone/>
            </a:pPr>
            <a:endParaRPr lang="zh-CN" altLang="en-US" dirty="0"/>
          </a:p>
        </p:txBody>
      </p:sp>
      <p:sp>
        <p:nvSpPr>
          <p:cNvPr id="3" name="标题 2"/>
          <p:cNvSpPr>
            <a:spLocks noGrp="1"/>
          </p:cNvSpPr>
          <p:nvPr>
            <p:ph type="title"/>
          </p:nvPr>
        </p:nvSpPr>
        <p:spPr/>
        <p:txBody>
          <a:bodyPr/>
          <a:lstStyle/>
          <a:p>
            <a:r>
              <a:rPr lang="zh-CN" altLang="en-US" b="1" dirty="0"/>
              <a:t>主键合并数据</a:t>
            </a:r>
            <a:endParaRPr lang="zh-CN" altLang="en-US" dirty="0"/>
          </a:p>
        </p:txBody>
      </p:sp>
      <p:graphicFrame>
        <p:nvGraphicFramePr>
          <p:cNvPr id="5" name="表格 5">
            <a:extLst>
              <a:ext uri="{FF2B5EF4-FFF2-40B4-BE49-F238E27FC236}">
                <a16:creationId xmlns:a16="http://schemas.microsoft.com/office/drawing/2014/main" id="{6429AC3D-553A-4143-B7A0-923D20ACE32E}"/>
              </a:ext>
            </a:extLst>
          </p:cNvPr>
          <p:cNvGraphicFramePr>
            <a:graphicFrameLocks/>
          </p:cNvGraphicFramePr>
          <p:nvPr>
            <p:extLst>
              <p:ext uri="{D42A27DB-BD31-4B8C-83A1-F6EECF244321}">
                <p14:modId xmlns:p14="http://schemas.microsoft.com/office/powerpoint/2010/main" val="2436195993"/>
              </p:ext>
            </p:extLst>
          </p:nvPr>
        </p:nvGraphicFramePr>
        <p:xfrm>
          <a:off x="1192828" y="1948393"/>
          <a:ext cx="9806344" cy="3240000"/>
        </p:xfrm>
        <a:graphic>
          <a:graphicData uri="http://schemas.openxmlformats.org/drawingml/2006/table">
            <a:tbl>
              <a:tblPr firstRow="1" firstCol="1" bandRow="1">
                <a:tableStyleId>{5C22544A-7EE6-4342-B048-85BDC9FD1C3A}</a:tableStyleId>
              </a:tblPr>
              <a:tblGrid>
                <a:gridCol w="1307381">
                  <a:extLst>
                    <a:ext uri="{9D8B030D-6E8A-4147-A177-3AD203B41FA5}">
                      <a16:colId xmlns:a16="http://schemas.microsoft.com/office/drawing/2014/main" val="20000"/>
                    </a:ext>
                  </a:extLst>
                </a:gridCol>
                <a:gridCol w="8498963">
                  <a:extLst>
                    <a:ext uri="{9D8B030D-6E8A-4147-A177-3AD203B41FA5}">
                      <a16:colId xmlns:a16="http://schemas.microsoft.com/office/drawing/2014/main" val="20001"/>
                    </a:ext>
                  </a:extLst>
                </a:gridCol>
              </a:tblGrid>
              <a:tr h="540000">
                <a:tc>
                  <a:txBody>
                    <a:bodyPr/>
                    <a:lstStyle/>
                    <a:p>
                      <a:pPr algn="ctr"/>
                      <a:r>
                        <a:rPr lang="zh-CN" sz="1700" b="1" kern="100" baseline="0" dirty="0">
                          <a:effectLst/>
                          <a:latin typeface="Times New Roman" panose="02020603050405020304" pitchFamily="18" charset="0"/>
                          <a:ea typeface="宋体" panose="02010600030101010101" pitchFamily="2" charset="-122"/>
                          <a:cs typeface="Times New Roman" panose="02020603050405020304" pitchFamily="18" charset="0"/>
                        </a:rPr>
                        <a:t>参数名称</a:t>
                      </a:r>
                    </a:p>
                  </a:txBody>
                  <a:tcPr marL="68580" marR="68580" marT="0" marB="0" anchor="ctr"/>
                </a:tc>
                <a:tc>
                  <a:txBody>
                    <a:bodyPr/>
                    <a:lstStyle/>
                    <a:p>
                      <a:pPr algn="ctr"/>
                      <a:r>
                        <a:rPr lang="zh-CN" sz="1700" b="1" kern="100" baseline="0" dirty="0">
                          <a:effectLst/>
                          <a:latin typeface="Times New Roman" panose="02020603050405020304" pitchFamily="18" charset="0"/>
                          <a:ea typeface="宋体" panose="02010600030101010101" pitchFamily="2" charset="-122"/>
                          <a:cs typeface="Times New Roman" panose="02020603050405020304" pitchFamily="18" charset="0"/>
                        </a:rPr>
                        <a:t>参数说明</a:t>
                      </a:r>
                    </a:p>
                  </a:txBody>
                  <a:tcPr marL="68580" marR="68580" marT="0" marB="0" anchor="ctr"/>
                </a:tc>
                <a:extLst>
                  <a:ext uri="{0D108BD9-81ED-4DB2-BD59-A6C34878D82A}">
                    <a16:rowId xmlns:a16="http://schemas.microsoft.com/office/drawing/2014/main" val="10000"/>
                  </a:ext>
                </a:extLst>
              </a:tr>
              <a:tr h="540000">
                <a:tc>
                  <a:txBody>
                    <a:bodyPr/>
                    <a:lstStyle/>
                    <a:p>
                      <a:pPr algn="ctr"/>
                      <a:r>
                        <a:rPr lang="en-US"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left</a:t>
                      </a:r>
                      <a:endParaRPr lang="zh-CN"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err="1">
                          <a:effectLst/>
                          <a:latin typeface="Times New Roman" panose="02020603050405020304" pitchFamily="18" charset="0"/>
                          <a:ea typeface="宋体" panose="02010600030101010101" pitchFamily="2" charset="-122"/>
                          <a:cs typeface="Times New Roman" panose="02020603050405020304" pitchFamily="18" charset="0"/>
                        </a:rPr>
                        <a:t>DataFrame</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Series</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。表示要添加的新数据</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。无默认值</a:t>
                      </a:r>
                    </a:p>
                  </a:txBody>
                  <a:tcPr marL="68580" marR="68580" marT="0" marB="0" anchor="ctr"/>
                </a:tc>
                <a:extLst>
                  <a:ext uri="{0D108BD9-81ED-4DB2-BD59-A6C34878D82A}">
                    <a16:rowId xmlns:a16="http://schemas.microsoft.com/office/drawing/2014/main" val="10001"/>
                  </a:ext>
                </a:extLst>
              </a:tr>
              <a:tr h="540000">
                <a:tc>
                  <a:txBody>
                    <a:bodyPr/>
                    <a:lstStyle/>
                    <a:p>
                      <a:pPr algn="ctr"/>
                      <a:r>
                        <a:rPr lang="en-US"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right</a:t>
                      </a:r>
                      <a:endParaRPr lang="zh-CN"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err="1">
                          <a:effectLst/>
                          <a:latin typeface="Times New Roman" panose="02020603050405020304" pitchFamily="18" charset="0"/>
                          <a:ea typeface="宋体" panose="02010600030101010101" pitchFamily="2" charset="-122"/>
                          <a:cs typeface="Times New Roman" panose="02020603050405020304" pitchFamily="18" charset="0"/>
                        </a:rPr>
                        <a:t>DataFrame</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Series</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。表示要添加的新数据</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。无默认值</a:t>
                      </a:r>
                    </a:p>
                  </a:txBody>
                  <a:tcPr marL="68580" marR="68580" marT="0" marB="0" anchor="ctr"/>
                </a:tc>
                <a:extLst>
                  <a:ext uri="{0D108BD9-81ED-4DB2-BD59-A6C34878D82A}">
                    <a16:rowId xmlns:a16="http://schemas.microsoft.com/office/drawing/2014/main" val="10002"/>
                  </a:ext>
                </a:extLst>
              </a:tr>
              <a:tr h="540000">
                <a:tc>
                  <a:txBody>
                    <a:bodyPr/>
                    <a:lstStyle/>
                    <a:p>
                      <a:pPr algn="ctr"/>
                      <a:r>
                        <a:rPr lang="en-US"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how</a:t>
                      </a:r>
                      <a:endParaRPr lang="zh-CN"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inner</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outer</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left</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right</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”。表示数据的连接方式。</a:t>
                      </a:r>
                      <a:r>
                        <a:rPr lang="zh-CN"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默认为</a:t>
                      </a:r>
                      <a:r>
                        <a:rPr lang="en-US"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inner</a:t>
                      </a:r>
                      <a:r>
                        <a:rPr lang="zh-CN" altLang="en-US"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，交集</a:t>
                      </a:r>
                      <a:endParaRPr lang="zh-CN"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540000">
                <a:tc>
                  <a:txBody>
                    <a:bodyPr/>
                    <a:lstStyle/>
                    <a:p>
                      <a:pPr algn="ctr"/>
                      <a:r>
                        <a:rPr lang="en-US" sz="1700" kern="100" baseline="0">
                          <a:effectLst/>
                          <a:latin typeface="Times New Roman" panose="02020603050405020304" pitchFamily="18" charset="0"/>
                          <a:ea typeface="宋体" panose="02010600030101010101" pitchFamily="2" charset="-122"/>
                          <a:cs typeface="Times New Roman" panose="02020603050405020304" pitchFamily="18" charset="0"/>
                        </a:rPr>
                        <a:t>on</a:t>
                      </a:r>
                      <a:endParaRPr lang="zh-CN" sz="17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str</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sequence</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a:t>
                      </a:r>
                      <a:r>
                        <a:rPr lang="zh-CN"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表示两个数据合并的主键（必须一致）</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None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540000">
                <a:tc>
                  <a:txBody>
                    <a:bodyPr/>
                    <a:lstStyle/>
                    <a:p>
                      <a:pPr algn="ctr"/>
                      <a:r>
                        <a:rPr lang="en-US" sz="1700" kern="100" baseline="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left_on</a:t>
                      </a:r>
                      <a:endParaRPr lang="zh-CN"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str</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sequence</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left</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参数接收数据用于合并的主键。默认为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None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986109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457200">
              <a:buNone/>
            </a:pPr>
            <a:r>
              <a:rPr lang="en-US" altLang="zh-CN" dirty="0"/>
              <a:t>merge</a:t>
            </a:r>
            <a:r>
              <a:rPr lang="zh-CN" altLang="en-US" dirty="0"/>
              <a:t>函数的常用参数及其说明（续表）。</a:t>
            </a:r>
          </a:p>
          <a:p>
            <a:pPr marL="0" indent="0">
              <a:buNone/>
            </a:pPr>
            <a:endParaRPr lang="zh-CN" altLang="en-US" dirty="0"/>
          </a:p>
        </p:txBody>
      </p:sp>
      <p:sp>
        <p:nvSpPr>
          <p:cNvPr id="3" name="标题 2"/>
          <p:cNvSpPr>
            <a:spLocks noGrp="1"/>
          </p:cNvSpPr>
          <p:nvPr>
            <p:ph type="title"/>
          </p:nvPr>
        </p:nvSpPr>
        <p:spPr/>
        <p:txBody>
          <a:bodyPr/>
          <a:lstStyle/>
          <a:p>
            <a:r>
              <a:rPr lang="zh-CN" altLang="en-US" b="1" dirty="0"/>
              <a:t>主键合并数据</a:t>
            </a:r>
            <a:endParaRPr lang="zh-CN" altLang="en-US" dirty="0"/>
          </a:p>
        </p:txBody>
      </p:sp>
      <p:graphicFrame>
        <p:nvGraphicFramePr>
          <p:cNvPr id="8" name="表格 5">
            <a:extLst>
              <a:ext uri="{FF2B5EF4-FFF2-40B4-BE49-F238E27FC236}">
                <a16:creationId xmlns:a16="http://schemas.microsoft.com/office/drawing/2014/main" id="{582F4DB2-0E8C-47F9-975E-BEA606C92BD5}"/>
              </a:ext>
            </a:extLst>
          </p:cNvPr>
          <p:cNvGraphicFramePr>
            <a:graphicFrameLocks/>
          </p:cNvGraphicFramePr>
          <p:nvPr>
            <p:extLst>
              <p:ext uri="{D42A27DB-BD31-4B8C-83A1-F6EECF244321}">
                <p14:modId xmlns:p14="http://schemas.microsoft.com/office/powerpoint/2010/main" val="1671967402"/>
              </p:ext>
            </p:extLst>
          </p:nvPr>
        </p:nvGraphicFramePr>
        <p:xfrm>
          <a:off x="1192828" y="1948393"/>
          <a:ext cx="9806344" cy="3240000"/>
        </p:xfrm>
        <a:graphic>
          <a:graphicData uri="http://schemas.openxmlformats.org/drawingml/2006/table">
            <a:tbl>
              <a:tblPr firstRow="1" firstCol="1" bandRow="1">
                <a:tableStyleId>{5C22544A-7EE6-4342-B048-85BDC9FD1C3A}</a:tableStyleId>
              </a:tblPr>
              <a:tblGrid>
                <a:gridCol w="1307381">
                  <a:extLst>
                    <a:ext uri="{9D8B030D-6E8A-4147-A177-3AD203B41FA5}">
                      <a16:colId xmlns:a16="http://schemas.microsoft.com/office/drawing/2014/main" val="20000"/>
                    </a:ext>
                  </a:extLst>
                </a:gridCol>
                <a:gridCol w="8498963">
                  <a:extLst>
                    <a:ext uri="{9D8B030D-6E8A-4147-A177-3AD203B41FA5}">
                      <a16:colId xmlns:a16="http://schemas.microsoft.com/office/drawing/2014/main" val="20001"/>
                    </a:ext>
                  </a:extLst>
                </a:gridCol>
              </a:tblGrid>
              <a:tr h="540000">
                <a:tc>
                  <a:txBody>
                    <a:bodyPr/>
                    <a:lstStyle/>
                    <a:p>
                      <a:pPr algn="ctr"/>
                      <a:r>
                        <a:rPr lang="zh-CN" sz="1700" b="1" kern="100" baseline="0" dirty="0">
                          <a:effectLst/>
                          <a:latin typeface="Times New Roman" panose="02020603050405020304" pitchFamily="18" charset="0"/>
                          <a:ea typeface="宋体" panose="02010600030101010101" pitchFamily="2" charset="-122"/>
                          <a:cs typeface="Times New Roman" panose="02020603050405020304" pitchFamily="18" charset="0"/>
                        </a:rPr>
                        <a:t>参数名称</a:t>
                      </a:r>
                    </a:p>
                  </a:txBody>
                  <a:tcPr marL="68580" marR="68580" marT="0" marB="0" anchor="ctr"/>
                </a:tc>
                <a:tc>
                  <a:txBody>
                    <a:bodyPr/>
                    <a:lstStyle/>
                    <a:p>
                      <a:pPr algn="ctr"/>
                      <a:r>
                        <a:rPr lang="zh-CN" sz="1700" b="1" kern="100" baseline="0" dirty="0">
                          <a:effectLst/>
                          <a:latin typeface="Times New Roman" panose="02020603050405020304" pitchFamily="18" charset="0"/>
                          <a:ea typeface="宋体" panose="02010600030101010101" pitchFamily="2" charset="-122"/>
                          <a:cs typeface="Times New Roman" panose="02020603050405020304" pitchFamily="18" charset="0"/>
                        </a:rPr>
                        <a:t>参数说明</a:t>
                      </a:r>
                    </a:p>
                  </a:txBody>
                  <a:tcPr marL="68580" marR="68580" marT="0" marB="0" anchor="ctr"/>
                </a:tc>
                <a:extLst>
                  <a:ext uri="{0D108BD9-81ED-4DB2-BD59-A6C34878D82A}">
                    <a16:rowId xmlns:a16="http://schemas.microsoft.com/office/drawing/2014/main" val="10000"/>
                  </a:ext>
                </a:extLst>
              </a:tr>
              <a:tr h="540000">
                <a:tc>
                  <a:txBody>
                    <a:bodyPr/>
                    <a:lstStyle/>
                    <a:p>
                      <a:pPr algn="ctr"/>
                      <a:r>
                        <a:rPr lang="en-US" sz="1700" kern="100" baseline="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right_on</a:t>
                      </a:r>
                      <a:endParaRPr lang="zh-CN"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str</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sequence</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right</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参数接收数据用于合并的主键。默认为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None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540000">
                <a:tc>
                  <a:txBody>
                    <a:bodyPr/>
                    <a:lstStyle/>
                    <a:p>
                      <a:pPr algn="ctr"/>
                      <a:r>
                        <a:rPr lang="en-US" sz="1700" kern="100" baseline="0" dirty="0" err="1">
                          <a:effectLst/>
                          <a:latin typeface="Times New Roman" panose="02020603050405020304" pitchFamily="18" charset="0"/>
                          <a:ea typeface="宋体" panose="02010600030101010101" pitchFamily="2" charset="-122"/>
                          <a:cs typeface="Times New Roman" panose="02020603050405020304" pitchFamily="18" charset="0"/>
                        </a:rPr>
                        <a:t>left_index</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bool</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。表示是否将</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left</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参数接收数据的</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index</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作为连接主键。默认为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540000">
                <a:tc>
                  <a:txBody>
                    <a:bodyPr/>
                    <a:lstStyle/>
                    <a:p>
                      <a:pPr algn="ctr"/>
                      <a:r>
                        <a:rPr lang="en-US" sz="1700" kern="100" baseline="0" dirty="0" err="1">
                          <a:effectLst/>
                          <a:latin typeface="Times New Roman" panose="02020603050405020304" pitchFamily="18" charset="0"/>
                          <a:ea typeface="宋体" panose="02010600030101010101" pitchFamily="2" charset="-122"/>
                          <a:cs typeface="Times New Roman" panose="02020603050405020304" pitchFamily="18" charset="0"/>
                        </a:rPr>
                        <a:t>right_index</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bool</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。表示是否将</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right</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参数接收数据的</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index</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作为连接主键。默认为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540000">
                <a:tc>
                  <a:txBody>
                    <a:bodyPr/>
                    <a:lstStyle/>
                    <a:p>
                      <a:pPr algn="ct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sort</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bool</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。表示是否根据连接键对合并后的数据进行排序。默认为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540000">
                <a:tc>
                  <a:txBody>
                    <a:bodyPr/>
                    <a:lstStyle/>
                    <a:p>
                      <a:pPr algn="ct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suffixes</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tuple</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。表示用于追加到</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left</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right</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参数接收数据列名相同时的后缀。默认为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('_x', '_y')</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22527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b="1" dirty="0"/>
              <a:t>主键合并数据</a:t>
            </a:r>
            <a:endParaRPr lang="zh-CN" altLang="en-US" dirty="0"/>
          </a:p>
        </p:txBody>
      </p:sp>
      <p:pic>
        <p:nvPicPr>
          <p:cNvPr id="5" name="图片 4"/>
          <p:cNvPicPr>
            <a:picLocks noChangeAspect="1"/>
          </p:cNvPicPr>
          <p:nvPr/>
        </p:nvPicPr>
        <p:blipFill>
          <a:blip r:embed="rId2"/>
          <a:stretch>
            <a:fillRect/>
          </a:stretch>
        </p:blipFill>
        <p:spPr>
          <a:xfrm>
            <a:off x="2006934" y="1645093"/>
            <a:ext cx="7388994" cy="2418501"/>
          </a:xfrm>
          <a:prstGeom prst="rect">
            <a:avLst/>
          </a:prstGeom>
        </p:spPr>
      </p:pic>
      <p:sp>
        <p:nvSpPr>
          <p:cNvPr id="6" name="文本框 5"/>
          <p:cNvSpPr txBox="1"/>
          <p:nvPr/>
        </p:nvSpPr>
        <p:spPr>
          <a:xfrm>
            <a:off x="1464906" y="4655427"/>
            <a:ext cx="10422293" cy="369332"/>
          </a:xfrm>
          <a:prstGeom prst="rect">
            <a:avLst/>
          </a:prstGeom>
          <a:noFill/>
        </p:spPr>
        <p:txBody>
          <a:bodyPr wrap="square" rtlCol="0">
            <a:spAutoFit/>
          </a:bodyPr>
          <a:lstStyle/>
          <a:p>
            <a:r>
              <a:rPr lang="zh-CN" altLang="en-US" dirty="0"/>
              <a:t>按照</a:t>
            </a:r>
            <a:r>
              <a:rPr lang="en-US" altLang="zh-CN" dirty="0"/>
              <a:t>key1,key2</a:t>
            </a:r>
            <a:r>
              <a:rPr lang="zh-CN" altLang="en-US" dirty="0"/>
              <a:t>进行合并，由于是</a:t>
            </a:r>
            <a:r>
              <a:rPr lang="en-US" altLang="zh-CN" dirty="0"/>
              <a:t>inner</a:t>
            </a:r>
            <a:r>
              <a:rPr lang="zh-CN" altLang="en-US" dirty="0"/>
              <a:t>，所以是两个表的</a:t>
            </a:r>
            <a:r>
              <a:rPr lang="en-US" altLang="zh-CN" dirty="0"/>
              <a:t>pair (key1,key2)</a:t>
            </a:r>
            <a:r>
              <a:rPr lang="zh-CN" altLang="en-US" dirty="0"/>
              <a:t>共有的值被保留</a:t>
            </a:r>
            <a:r>
              <a:rPr lang="en-US" altLang="zh-CN" dirty="0"/>
              <a:t>;</a:t>
            </a:r>
          </a:p>
        </p:txBody>
      </p:sp>
    </p:spTree>
    <p:extLst>
      <p:ext uri="{BB962C8B-B14F-4D97-AF65-F5344CB8AC3E}">
        <p14:creationId xmlns:p14="http://schemas.microsoft.com/office/powerpoint/2010/main" val="2749243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b="1" dirty="0"/>
              <a:t>主键合并数据</a:t>
            </a:r>
            <a:endParaRPr lang="zh-CN" altLang="en-US" dirty="0"/>
          </a:p>
        </p:txBody>
      </p:sp>
      <p:sp>
        <p:nvSpPr>
          <p:cNvPr id="8" name="文本框 7"/>
          <p:cNvSpPr txBox="1"/>
          <p:nvPr/>
        </p:nvSpPr>
        <p:spPr>
          <a:xfrm>
            <a:off x="1156997" y="5028652"/>
            <a:ext cx="10245294" cy="646331"/>
          </a:xfrm>
          <a:prstGeom prst="rect">
            <a:avLst/>
          </a:prstGeom>
          <a:noFill/>
        </p:spPr>
        <p:txBody>
          <a:bodyPr wrap="square" rtlCol="0">
            <a:spAutoFit/>
          </a:bodyPr>
          <a:lstStyle/>
          <a:p>
            <a:r>
              <a:rPr lang="zh-CN" altLang="en-US" dirty="0"/>
              <a:t>按照</a:t>
            </a:r>
            <a:r>
              <a:rPr lang="en-US" altLang="zh-CN" dirty="0"/>
              <a:t>key1,key2</a:t>
            </a:r>
            <a:r>
              <a:rPr lang="zh-CN" altLang="en-US" dirty="0"/>
              <a:t>进行合并，由于是</a:t>
            </a:r>
            <a:r>
              <a:rPr lang="en-US" altLang="zh-CN" dirty="0"/>
              <a:t>outer</a:t>
            </a:r>
            <a:r>
              <a:rPr lang="zh-CN" altLang="en-US" dirty="0"/>
              <a:t>，所以是两个表的</a:t>
            </a:r>
            <a:r>
              <a:rPr lang="en-US" altLang="zh-CN" dirty="0"/>
              <a:t>pair (key1,key2)</a:t>
            </a:r>
            <a:r>
              <a:rPr lang="zh-CN" altLang="en-US" dirty="0"/>
              <a:t>并集被保留</a:t>
            </a:r>
            <a:endParaRPr lang="en-US" altLang="zh-CN" dirty="0"/>
          </a:p>
          <a:p>
            <a:endParaRPr lang="zh-CN" altLang="en-US" dirty="0"/>
          </a:p>
        </p:txBody>
      </p:sp>
      <p:pic>
        <p:nvPicPr>
          <p:cNvPr id="4" name="图片 3"/>
          <p:cNvPicPr>
            <a:picLocks noChangeAspect="1"/>
          </p:cNvPicPr>
          <p:nvPr/>
        </p:nvPicPr>
        <p:blipFill>
          <a:blip r:embed="rId2"/>
          <a:stretch>
            <a:fillRect/>
          </a:stretch>
        </p:blipFill>
        <p:spPr>
          <a:xfrm>
            <a:off x="1617466" y="1443668"/>
            <a:ext cx="8247619" cy="3028571"/>
          </a:xfrm>
          <a:prstGeom prst="rect">
            <a:avLst/>
          </a:prstGeom>
        </p:spPr>
      </p:pic>
    </p:spTree>
    <p:extLst>
      <p:ext uri="{BB962C8B-B14F-4D97-AF65-F5344CB8AC3E}">
        <p14:creationId xmlns:p14="http://schemas.microsoft.com/office/powerpoint/2010/main" val="1712891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在数据分析和数据处理过程中偶尔会出现两份数据的内容几乎一致的情况，但是某些特征在其中一张表上是完整的，而在另外一张表上的数据则是缺失的。</a:t>
            </a:r>
            <a:endParaRPr lang="en-US" altLang="zh-CN" dirty="0"/>
          </a:p>
          <a:p>
            <a:r>
              <a:rPr lang="en-US" altLang="zh-CN" dirty="0" err="1"/>
              <a:t>combine_first</a:t>
            </a:r>
            <a:r>
              <a:rPr lang="en-US" altLang="zh-CN" dirty="0"/>
              <a:t>()</a:t>
            </a:r>
            <a:r>
              <a:rPr lang="zh-CN" altLang="en-US" dirty="0"/>
              <a:t>方法来进行</a:t>
            </a:r>
            <a:r>
              <a:rPr lang="zh-CN" altLang="en-US" dirty="0">
                <a:solidFill>
                  <a:srgbClr val="FF0000"/>
                </a:solidFill>
              </a:rPr>
              <a:t>重叠数据合并</a:t>
            </a:r>
            <a:r>
              <a:rPr lang="zh-CN" altLang="en-US" dirty="0"/>
              <a:t>，其原理如下图所示。</a:t>
            </a:r>
            <a:endParaRPr lang="en-US" altLang="zh-CN" dirty="0"/>
          </a:p>
          <a:p>
            <a:endParaRPr lang="zh-CN" altLang="en-US" dirty="0"/>
          </a:p>
        </p:txBody>
      </p:sp>
      <p:sp>
        <p:nvSpPr>
          <p:cNvPr id="3" name="标题 2"/>
          <p:cNvSpPr>
            <a:spLocks noGrp="1"/>
          </p:cNvSpPr>
          <p:nvPr>
            <p:ph type="title"/>
          </p:nvPr>
        </p:nvSpPr>
        <p:spPr/>
        <p:txBody>
          <a:bodyPr/>
          <a:lstStyle/>
          <a:p>
            <a:r>
              <a:rPr lang="zh-CN" altLang="en-US" b="1" dirty="0"/>
              <a:t>三、重叠合并数据</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2500910" y="2834197"/>
            <a:ext cx="7190180" cy="2502372"/>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fade">
                                      <p:cBhvr>
                                        <p:cTn id="13" dur="1000"/>
                                        <p:tgtEl>
                                          <p:spTgt spid="2">
                                            <p:txEl>
                                              <p:pRg st="0" end="0"/>
                                            </p:txEl>
                                          </p:spTgt>
                                        </p:tgtEl>
                                      </p:cBhvr>
                                    </p:animEffect>
                                    <p:anim calcmode="lin" valueType="num">
                                      <p:cBhvr>
                                        <p:cTn id="14"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
                                            <p:txEl>
                                              <p:pRg st="1" end="1"/>
                                            </p:txEl>
                                          </p:spTgt>
                                        </p:tgtEl>
                                        <p:attrNameLst>
                                          <p:attrName>style.visibility</p:attrName>
                                        </p:attrNameLst>
                                      </p:cBhvr>
                                      <p:to>
                                        <p:strVal val="visible"/>
                                      </p:to>
                                    </p:set>
                                    <p:animEffect transition="in" filter="fade">
                                      <p:cBhvr>
                                        <p:cTn id="20" dur="1000"/>
                                        <p:tgtEl>
                                          <p:spTgt spid="2">
                                            <p:txEl>
                                              <p:pRg st="1" end="1"/>
                                            </p:txEl>
                                          </p:spTgt>
                                        </p:tgtEl>
                                      </p:cBhvr>
                                    </p:animEffect>
                                    <p:anim calcmode="lin" valueType="num">
                                      <p:cBhvr>
                                        <p:cTn id="21"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err="1"/>
              <a:t>combine_first</a:t>
            </a:r>
            <a:r>
              <a:rPr lang="en-US" altLang="zh-CN" dirty="0"/>
              <a:t>()</a:t>
            </a:r>
            <a:r>
              <a:rPr lang="zh-CN" altLang="en-US" dirty="0"/>
              <a:t>方法的基本使用格式如下。</a:t>
            </a:r>
            <a:endParaRPr lang="en-US" altLang="zh-CN" dirty="0"/>
          </a:p>
          <a:p>
            <a:endParaRPr lang="en-US" altLang="zh-CN" dirty="0"/>
          </a:p>
          <a:p>
            <a:pPr marL="0" indent="0">
              <a:buNone/>
            </a:pPr>
            <a:endParaRPr lang="en-US" altLang="zh-CN" dirty="0"/>
          </a:p>
          <a:p>
            <a:pPr marL="0" indent="0">
              <a:buNone/>
            </a:pPr>
            <a:endParaRPr lang="zh-CN" altLang="en-US" dirty="0"/>
          </a:p>
          <a:p>
            <a:r>
              <a:rPr lang="en-US" altLang="zh-CN" dirty="0" err="1"/>
              <a:t>combine_first</a:t>
            </a:r>
            <a:r>
              <a:rPr lang="en-US" altLang="zh-CN" dirty="0"/>
              <a:t>()</a:t>
            </a:r>
            <a:r>
              <a:rPr lang="zh-CN" altLang="en-US" dirty="0"/>
              <a:t>方法的常用参数及其说明表如下。</a:t>
            </a:r>
          </a:p>
          <a:p>
            <a:pPr marL="0" indent="0">
              <a:buNone/>
            </a:pPr>
            <a:endParaRPr lang="zh-CN" altLang="en-US" dirty="0"/>
          </a:p>
        </p:txBody>
      </p:sp>
      <p:sp>
        <p:nvSpPr>
          <p:cNvPr id="3" name="标题 2"/>
          <p:cNvSpPr>
            <a:spLocks noGrp="1"/>
          </p:cNvSpPr>
          <p:nvPr>
            <p:ph type="title"/>
          </p:nvPr>
        </p:nvSpPr>
        <p:spPr/>
        <p:txBody>
          <a:bodyPr/>
          <a:lstStyle/>
          <a:p>
            <a:r>
              <a:rPr lang="zh-CN" altLang="en-US" b="1" dirty="0"/>
              <a:t>重叠合并数据</a:t>
            </a:r>
            <a:endParaRPr lang="zh-CN" altLang="en-US" dirty="0"/>
          </a:p>
        </p:txBody>
      </p:sp>
      <p:graphicFrame>
        <p:nvGraphicFramePr>
          <p:cNvPr id="8" name="表格 8"/>
          <p:cNvGraphicFramePr>
            <a:graphicFrameLocks noGrp="1"/>
          </p:cNvGraphicFramePr>
          <p:nvPr>
            <p:extLst>
              <p:ext uri="{D42A27DB-BD31-4B8C-83A1-F6EECF244321}">
                <p14:modId xmlns:p14="http://schemas.microsoft.com/office/powerpoint/2010/main" val="4248155600"/>
              </p:ext>
            </p:extLst>
          </p:nvPr>
        </p:nvGraphicFramePr>
        <p:xfrm>
          <a:off x="1757948" y="3929157"/>
          <a:ext cx="8676105" cy="1080000"/>
        </p:xfrm>
        <a:graphic>
          <a:graphicData uri="http://schemas.openxmlformats.org/drawingml/2006/table">
            <a:tbl>
              <a:tblPr firstRow="1" firstCol="1" bandRow="1">
                <a:tableStyleId>{5C22544A-7EE6-4342-B048-85BDC9FD1C3A}</a:tableStyleId>
              </a:tblPr>
              <a:tblGrid>
                <a:gridCol w="1725744">
                  <a:extLst>
                    <a:ext uri="{9D8B030D-6E8A-4147-A177-3AD203B41FA5}">
                      <a16:colId xmlns:a16="http://schemas.microsoft.com/office/drawing/2014/main" val="20000"/>
                    </a:ext>
                  </a:extLst>
                </a:gridCol>
                <a:gridCol w="6950361">
                  <a:extLst>
                    <a:ext uri="{9D8B030D-6E8A-4147-A177-3AD203B41FA5}">
                      <a16:colId xmlns:a16="http://schemas.microsoft.com/office/drawing/2014/main" val="20001"/>
                    </a:ext>
                  </a:extLst>
                </a:gridCol>
              </a:tblGrid>
              <a:tr h="540000">
                <a:tc>
                  <a:txBody>
                    <a:bodyPr/>
                    <a:lstStyle/>
                    <a:p>
                      <a:pPr algn="ctr"/>
                      <a:r>
                        <a:rPr lang="zh-CN" sz="1800" b="1" kern="100" baseline="0" dirty="0">
                          <a:effectLst/>
                          <a:latin typeface="Times New Roman" panose="02020603050405020304" pitchFamily="18" charset="0"/>
                          <a:ea typeface="宋体" panose="02010600030101010101" pitchFamily="2" charset="-122"/>
                          <a:cs typeface="Times New Roman" panose="02020603050405020304" pitchFamily="18" charset="0"/>
                        </a:rPr>
                        <a:t>参数名称</a:t>
                      </a:r>
                      <a:endParaRPr lang="zh-CN" sz="2400" b="1"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zh-CN" sz="1800" b="1" kern="100" baseline="0" dirty="0">
                          <a:effectLst/>
                          <a:latin typeface="Times New Roman" panose="02020603050405020304" pitchFamily="18" charset="0"/>
                          <a:ea typeface="宋体" panose="02010600030101010101" pitchFamily="2" charset="-122"/>
                          <a:cs typeface="Times New Roman" panose="02020603050405020304" pitchFamily="18" charset="0"/>
                        </a:rPr>
                        <a:t>参数说明</a:t>
                      </a:r>
                      <a:endParaRPr lang="zh-CN" sz="2400" b="1"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540000">
                <a:tc>
                  <a:txBody>
                    <a:bodyPr/>
                    <a:lstStyle/>
                    <a:p>
                      <a:pPr algn="ctr"/>
                      <a:r>
                        <a:rPr lang="en-US" sz="1800" kern="100" baseline="0" dirty="0">
                          <a:effectLst/>
                          <a:latin typeface="Times New Roman" panose="02020603050405020304" pitchFamily="18" charset="0"/>
                          <a:ea typeface="宋体" panose="02010600030101010101" pitchFamily="2" charset="-122"/>
                          <a:cs typeface="Times New Roman" panose="02020603050405020304" pitchFamily="18" charset="0"/>
                        </a:rPr>
                        <a:t>other</a:t>
                      </a:r>
                      <a:endParaRPr lang="zh-CN" sz="2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8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err="1">
                          <a:effectLst/>
                          <a:latin typeface="Times New Roman" panose="02020603050405020304" pitchFamily="18" charset="0"/>
                          <a:ea typeface="宋体" panose="02010600030101010101" pitchFamily="2" charset="-122"/>
                          <a:cs typeface="Times New Roman" panose="02020603050405020304" pitchFamily="18" charset="0"/>
                        </a:rPr>
                        <a:t>DataFrame</a:t>
                      </a:r>
                      <a:r>
                        <a:rPr lang="zh-CN" sz="18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。表示参与重叠合并的另一个</a:t>
                      </a:r>
                      <a:r>
                        <a:rPr lang="en-US" sz="1800" kern="100" baseline="0" dirty="0" err="1">
                          <a:effectLst/>
                          <a:latin typeface="Times New Roman" panose="02020603050405020304" pitchFamily="18" charset="0"/>
                          <a:ea typeface="宋体" panose="02010600030101010101" pitchFamily="2" charset="-122"/>
                          <a:cs typeface="Times New Roman" panose="02020603050405020304" pitchFamily="18" charset="0"/>
                        </a:rPr>
                        <a:t>DataFrame</a:t>
                      </a:r>
                      <a:r>
                        <a:rPr lang="zh-CN" sz="1800" kern="100" baseline="0" dirty="0">
                          <a:effectLst/>
                          <a:latin typeface="Times New Roman" panose="02020603050405020304" pitchFamily="18" charset="0"/>
                          <a:ea typeface="宋体" panose="02010600030101010101" pitchFamily="2" charset="-122"/>
                          <a:cs typeface="Times New Roman" panose="02020603050405020304" pitchFamily="18" charset="0"/>
                        </a:rPr>
                        <a:t>。无默认值</a:t>
                      </a:r>
                      <a:endParaRPr lang="zh-CN" sz="2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bl>
          </a:graphicData>
        </a:graphic>
      </p:graphicFrame>
      <p:sp>
        <p:nvSpPr>
          <p:cNvPr id="5" name="TextBox 5">
            <a:extLst>
              <a:ext uri="{FF2B5EF4-FFF2-40B4-BE49-F238E27FC236}">
                <a16:creationId xmlns:a16="http://schemas.microsoft.com/office/drawing/2014/main" id="{BA734889-1367-492F-A1F8-4A8ADF3DDA22}"/>
              </a:ext>
            </a:extLst>
          </p:cNvPr>
          <p:cNvSpPr txBox="1">
            <a:spLocks noChangeArrowheads="1"/>
          </p:cNvSpPr>
          <p:nvPr/>
        </p:nvSpPr>
        <p:spPr bwMode="auto">
          <a:xfrm>
            <a:off x="3115330" y="2028978"/>
            <a:ext cx="558253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8775">
              <a:spcBef>
                <a:spcPct val="20000"/>
              </a:spcBef>
              <a:buClr>
                <a:srgbClr val="000066"/>
              </a:buClr>
              <a:buFont typeface="Wingdings" panose="05000000000000000000" pitchFamily="2" charset="2"/>
              <a:buChar char="n"/>
              <a:defRPr kumimoji="1" sz="21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9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5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9pPr>
          </a:lstStyle>
          <a:p>
            <a:pPr>
              <a:spcBef>
                <a:spcPct val="0"/>
              </a:spcBef>
              <a:buClrTx/>
              <a:buNone/>
            </a:pPr>
            <a:r>
              <a:rPr kumimoji="0" lang="en-US" altLang="zh-CN" sz="2200" i="1" dirty="0" err="1">
                <a:latin typeface="Times New Roman" panose="02020603050405020304" pitchFamily="18" charset="0"/>
                <a:cs typeface="Times New Roman" panose="02020603050405020304" pitchFamily="18" charset="0"/>
              </a:rPr>
              <a:t>pandas.DataFrame.combine_first</a:t>
            </a:r>
            <a:r>
              <a:rPr kumimoji="0" lang="en-US" altLang="zh-CN" sz="2200" i="1" dirty="0">
                <a:latin typeface="Times New Roman" panose="02020603050405020304" pitchFamily="18" charset="0"/>
                <a:cs typeface="Times New Roman" panose="02020603050405020304" pitchFamily="18" charset="0"/>
              </a:rPr>
              <a:t>(other)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1000"/>
                                        <p:tgtEl>
                                          <p:spTgt spid="2">
                                            <p:txEl>
                                              <p:pRg st="4" end="4"/>
                                            </p:txEl>
                                          </p:spTgt>
                                        </p:tgtEl>
                                      </p:cBhvr>
                                    </p:animEffect>
                                    <p:anim calcmode="lin" valueType="num">
                                      <p:cBhvr>
                                        <p:cTn id="2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b="1" dirty="0"/>
              <a:t>重叠合并数据</a:t>
            </a:r>
            <a:endParaRPr lang="zh-CN" altLang="en-US" dirty="0"/>
          </a:p>
        </p:txBody>
      </p:sp>
      <p:sp>
        <p:nvSpPr>
          <p:cNvPr id="6" name="矩形 5"/>
          <p:cNvSpPr/>
          <p:nvPr/>
        </p:nvSpPr>
        <p:spPr>
          <a:xfrm>
            <a:off x="645621" y="1116967"/>
            <a:ext cx="6096000" cy="4524315"/>
          </a:xfrm>
          <a:prstGeom prst="rect">
            <a:avLst/>
          </a:prstGeom>
        </p:spPr>
        <p:txBody>
          <a:bodyPr>
            <a:spAutoFit/>
          </a:bodyPr>
          <a:lstStyle/>
          <a:p>
            <a:r>
              <a:rPr lang="zh-CN" altLang="en-US" dirty="0"/>
              <a:t>import numpy as np</a:t>
            </a:r>
          </a:p>
          <a:p>
            <a:r>
              <a:rPr lang="zh-CN" altLang="en-US" dirty="0"/>
              <a:t>#建立两个字典，除了ID外，别的特征互补</a:t>
            </a:r>
          </a:p>
          <a:p>
            <a:r>
              <a:rPr lang="zh-CN" altLang="en-US" dirty="0"/>
              <a:t>dict1 = {'ID': [1, 2, 3, 4, 5, 6, 7, 8, 9],</a:t>
            </a:r>
          </a:p>
          <a:p>
            <a:r>
              <a:rPr lang="zh-CN" altLang="en-US" dirty="0"/>
              <a:t>         'System': ['win10', 'win10', np.nan, 'win10',</a:t>
            </a:r>
          </a:p>
          <a:p>
            <a:r>
              <a:rPr lang="zh-CN" altLang="en-US" dirty="0"/>
              <a:t>                np.nan, np.nan, 'win7', 'win7', 'win8'], </a:t>
            </a:r>
          </a:p>
          <a:p>
            <a:r>
              <a:rPr lang="zh-CN" altLang="en-US" dirty="0"/>
              <a:t>      'cpu': ['i7', 'i5', np.nan, 'i7', np.nan, np.nan, </a:t>
            </a:r>
          </a:p>
          <a:p>
            <a:r>
              <a:rPr lang="zh-CN" altLang="en-US" dirty="0"/>
              <a:t>             'i5', 'i5', 'i3']}</a:t>
            </a:r>
          </a:p>
          <a:p>
            <a:r>
              <a:rPr lang="zh-CN" altLang="en-US" dirty="0"/>
              <a:t>dict2 = {'ID': [1, 2, 3, 4, 5, 6, 7, 8, 9], </a:t>
            </a:r>
          </a:p>
          <a:p>
            <a:r>
              <a:rPr lang="zh-CN" altLang="en-US" dirty="0"/>
              <a:t>         'System': [np.nan, np.nan, 'win7', np.nan, </a:t>
            </a:r>
          </a:p>
          <a:p>
            <a:r>
              <a:rPr lang="zh-CN" altLang="en-US" dirty="0"/>
              <a:t>                'win8', 'win7', np.nan, np.nan, np.nan], </a:t>
            </a:r>
          </a:p>
          <a:p>
            <a:r>
              <a:rPr lang="zh-CN" altLang="en-US" dirty="0"/>
              <a:t>        'cpu': [np.nan, np.nan, 'i3', np.nan, 'i7', </a:t>
            </a:r>
          </a:p>
          <a:p>
            <a:r>
              <a:rPr lang="zh-CN" altLang="en-US" dirty="0"/>
              <a:t>                'i5', np.nan, np.nan, np.nan]}</a:t>
            </a:r>
          </a:p>
          <a:p>
            <a:r>
              <a:rPr lang="zh-CN" altLang="en-US" dirty="0"/>
              <a:t># 变换两个字典为DataFrame</a:t>
            </a:r>
          </a:p>
          <a:p>
            <a:r>
              <a:rPr lang="zh-CN" altLang="en-US" dirty="0"/>
              <a:t>df1 = pd.DataFrame(dict1)</a:t>
            </a:r>
          </a:p>
          <a:p>
            <a:r>
              <a:rPr lang="zh-CN" altLang="en-US" dirty="0"/>
              <a:t>df2 = pd.DataFrame(dict2)</a:t>
            </a:r>
          </a:p>
          <a:p>
            <a:r>
              <a:rPr lang="zh-CN" altLang="en-US" dirty="0"/>
              <a:t>print('经过重叠合并后的数据为：\n', df1.combine_first(df2))</a:t>
            </a:r>
          </a:p>
        </p:txBody>
      </p:sp>
      <p:pic>
        <p:nvPicPr>
          <p:cNvPr id="9" name="图片 8"/>
          <p:cNvPicPr>
            <a:picLocks noChangeAspect="1"/>
          </p:cNvPicPr>
          <p:nvPr/>
        </p:nvPicPr>
        <p:blipFill>
          <a:blip r:embed="rId2"/>
          <a:stretch>
            <a:fillRect/>
          </a:stretch>
        </p:blipFill>
        <p:spPr>
          <a:xfrm>
            <a:off x="7717097" y="1244703"/>
            <a:ext cx="1285674" cy="4673960"/>
          </a:xfrm>
          <a:prstGeom prst="rect">
            <a:avLst/>
          </a:prstGeom>
        </p:spPr>
      </p:pic>
    </p:spTree>
    <p:extLst>
      <p:ext uri="{BB962C8B-B14F-4D97-AF65-F5344CB8AC3E}">
        <p14:creationId xmlns:p14="http://schemas.microsoft.com/office/powerpoint/2010/main" val="1956490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直接连接符 6">
            <a:extLst>
              <a:ext uri="{FF2B5EF4-FFF2-40B4-BE49-F238E27FC236}">
                <a16:creationId xmlns:a16="http://schemas.microsoft.com/office/drawing/2014/main" id="{0655586B-F6B4-426E-80D1-04ADB3C76375}"/>
              </a:ext>
            </a:extLst>
          </p:cNvPr>
          <p:cNvCxnSpPr>
            <a:cxnSpLocks/>
          </p:cNvCxnSpPr>
          <p:nvPr/>
        </p:nvCxnSpPr>
        <p:spPr>
          <a:xfrm>
            <a:off x="3264947" y="1348062"/>
            <a:ext cx="5910" cy="4354238"/>
          </a:xfrm>
          <a:prstGeom prst="line">
            <a:avLst/>
          </a:prstGeom>
        </p:spPr>
        <p:style>
          <a:lnRef idx="2">
            <a:schemeClr val="dk1"/>
          </a:lnRef>
          <a:fillRef idx="0">
            <a:schemeClr val="dk1"/>
          </a:fillRef>
          <a:effectRef idx="1">
            <a:schemeClr val="dk1"/>
          </a:effectRef>
          <a:fontRef idx="minor">
            <a:schemeClr val="tx1"/>
          </a:fontRef>
        </p:style>
      </p:cxnSp>
      <p:sp>
        <p:nvSpPr>
          <p:cNvPr id="19" name="Line 2">
            <a:extLst>
              <a:ext uri="{FF2B5EF4-FFF2-40B4-BE49-F238E27FC236}">
                <a16:creationId xmlns:a16="http://schemas.microsoft.com/office/drawing/2014/main" id="{E878D2EE-7AD5-42B3-80C8-BF594574CC4F}"/>
              </a:ext>
            </a:extLst>
          </p:cNvPr>
          <p:cNvSpPr>
            <a:spLocks noChangeShapeType="1"/>
          </p:cNvSpPr>
          <p:nvPr/>
        </p:nvSpPr>
        <p:spPr bwMode="auto">
          <a:xfrm>
            <a:off x="2649786" y="2947315"/>
            <a:ext cx="6604980" cy="0"/>
          </a:xfrm>
          <a:prstGeom prst="line">
            <a:avLst/>
          </a:prstGeom>
        </p:spPr>
        <p:style>
          <a:lnRef idx="2">
            <a:schemeClr val="dk1"/>
          </a:lnRef>
          <a:fillRef idx="0">
            <a:schemeClr val="dk1"/>
          </a:fillRef>
          <a:effectRef idx="1">
            <a:schemeClr val="dk1"/>
          </a:effectRef>
          <a:fontRef idx="minor">
            <a:schemeClr val="tx1"/>
          </a:fontRef>
        </p:style>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sp>
        <p:nvSpPr>
          <p:cNvPr id="20" name="Oval 15">
            <a:extLst>
              <a:ext uri="{FF2B5EF4-FFF2-40B4-BE49-F238E27FC236}">
                <a16:creationId xmlns:a16="http://schemas.microsoft.com/office/drawing/2014/main" id="{4AA2E115-B5CF-48D7-AAF4-34243C4DB9F7}"/>
              </a:ext>
            </a:extLst>
          </p:cNvPr>
          <p:cNvSpPr>
            <a:spLocks noChangeArrowheads="1"/>
          </p:cNvSpPr>
          <p:nvPr/>
        </p:nvSpPr>
        <p:spPr bwMode="auto">
          <a:xfrm>
            <a:off x="2904947" y="1651743"/>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zh-CN"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itchFamily="2" charset="-122"/>
                <a:cs typeface="+mn-cs"/>
              </a:rPr>
              <a:t>1</a:t>
            </a:r>
            <a:endParaRPr kumimoji="0" lang="en-US" altLang="zh-CN"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itchFamily="2" charset="-122"/>
              <a:cs typeface="+mn-cs"/>
            </a:endParaRPr>
          </a:p>
        </p:txBody>
      </p:sp>
      <p:sp>
        <p:nvSpPr>
          <p:cNvPr id="23"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00531" y="2608672"/>
            <a:ext cx="4859850" cy="684000"/>
          </a:xfrm>
          <a:prstGeom prst="actionButtonBlank">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dirty="0">
                <a:solidFill>
                  <a:srgbClr val="FFFFFF"/>
                </a:solidFill>
                <a:latin typeface="Times New Roman" panose="02020603050405020304" pitchFamily="18" charset="0"/>
                <a:ea typeface="宋体" panose="02010600030101010101" pitchFamily="2" charset="-122"/>
                <a:sym typeface="微软雅黑" pitchFamily="34" charset="-122"/>
              </a:rPr>
              <a:t>清洗数据</a:t>
            </a:r>
            <a:endParaRPr kumimoji="0" lang="zh-CN"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 name="标题 3">
            <a:extLst>
              <a:ext uri="{FF2B5EF4-FFF2-40B4-BE49-F238E27FC236}">
                <a16:creationId xmlns:a16="http://schemas.microsoft.com/office/drawing/2014/main" id="{23AA43DE-EC22-42DF-863E-F4636BE2010D}"/>
              </a:ext>
            </a:extLst>
          </p:cNvPr>
          <p:cNvSpPr>
            <a:spLocks noGrp="1"/>
          </p:cNvSpPr>
          <p:nvPr>
            <p:ph type="title"/>
          </p:nvPr>
        </p:nvSpPr>
        <p:spPr/>
        <p:txBody>
          <a:bodyPr/>
          <a:lstStyle/>
          <a:p>
            <a:r>
              <a:rPr lang="zh-CN" altLang="en-US" sz="2800" dirty="0">
                <a:latin typeface="Times New Roman" panose="02020603050405020304" pitchFamily="18" charset="0"/>
              </a:rPr>
              <a:t>目录</a:t>
            </a:r>
          </a:p>
        </p:txBody>
      </p:sp>
      <p:sp>
        <p:nvSpPr>
          <p:cNvPr id="13"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00531" y="1579743"/>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dirty="0">
                <a:solidFill>
                  <a:srgbClr val="FFFFFF"/>
                </a:solidFill>
                <a:latin typeface="Times New Roman" panose="02020603050405020304" pitchFamily="18" charset="0"/>
                <a:ea typeface="宋体" panose="02010600030101010101" pitchFamily="2" charset="-122"/>
                <a:sym typeface="微软雅黑" pitchFamily="34" charset="-122"/>
              </a:rPr>
              <a:t>合并数据</a:t>
            </a:r>
            <a:endParaRPr kumimoji="0" lang="zh-CN"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5" name="Oval 15">
            <a:extLst>
              <a:ext uri="{FF2B5EF4-FFF2-40B4-BE49-F238E27FC236}">
                <a16:creationId xmlns:a16="http://schemas.microsoft.com/office/drawing/2014/main" id="{4AA2E115-B5CF-48D7-AAF4-34243C4DB9F7}"/>
              </a:ext>
            </a:extLst>
          </p:cNvPr>
          <p:cNvSpPr>
            <a:spLocks noChangeArrowheads="1"/>
          </p:cNvSpPr>
          <p:nvPr/>
        </p:nvSpPr>
        <p:spPr bwMode="auto">
          <a:xfrm>
            <a:off x="2928857" y="2626672"/>
            <a:ext cx="684000" cy="648000"/>
          </a:xfrm>
          <a:prstGeom prst="ellipse">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itchFamily="2" charset="-122"/>
                <a:cs typeface="+mn-cs"/>
              </a:rPr>
              <a:t>2</a:t>
            </a:r>
          </a:p>
        </p:txBody>
      </p:sp>
      <p:sp>
        <p:nvSpPr>
          <p:cNvPr id="21"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12450" y="3660873"/>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dirty="0">
                <a:solidFill>
                  <a:srgbClr val="FFFFFF"/>
                </a:solidFill>
                <a:latin typeface="Times New Roman" panose="02020603050405020304" pitchFamily="18" charset="0"/>
                <a:ea typeface="宋体" panose="02010600030101010101" pitchFamily="2" charset="-122"/>
              </a:rPr>
              <a:t>标准化数据</a:t>
            </a:r>
            <a:endParaRPr kumimoji="0" lang="zh-CN"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2" name="Oval 15">
            <a:extLst>
              <a:ext uri="{FF2B5EF4-FFF2-40B4-BE49-F238E27FC236}">
                <a16:creationId xmlns:a16="http://schemas.microsoft.com/office/drawing/2014/main" id="{4AA2E115-B5CF-48D7-AAF4-34243C4DB9F7}"/>
              </a:ext>
            </a:extLst>
          </p:cNvPr>
          <p:cNvSpPr>
            <a:spLocks noChangeArrowheads="1"/>
          </p:cNvSpPr>
          <p:nvPr/>
        </p:nvSpPr>
        <p:spPr bwMode="auto">
          <a:xfrm>
            <a:off x="2928857" y="3678873"/>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itchFamily="2" charset="-122"/>
                <a:cs typeface="+mn-cs"/>
              </a:rPr>
              <a:t>3</a:t>
            </a:r>
          </a:p>
        </p:txBody>
      </p:sp>
      <p:sp>
        <p:nvSpPr>
          <p:cNvPr id="28"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12450" y="4715497"/>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dirty="0">
                <a:solidFill>
                  <a:srgbClr val="FFFFFF"/>
                </a:solidFill>
                <a:latin typeface="Times New Roman" panose="02020603050405020304" pitchFamily="18" charset="0"/>
                <a:ea typeface="宋体" panose="02010600030101010101" pitchFamily="2" charset="-122"/>
              </a:rPr>
              <a:t>转换数据</a:t>
            </a:r>
            <a:endParaRPr kumimoji="0" lang="zh-CN"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9" name="Oval 15">
            <a:extLst>
              <a:ext uri="{FF2B5EF4-FFF2-40B4-BE49-F238E27FC236}">
                <a16:creationId xmlns:a16="http://schemas.microsoft.com/office/drawing/2014/main" id="{4AA2E115-B5CF-48D7-AAF4-34243C4DB9F7}"/>
              </a:ext>
            </a:extLst>
          </p:cNvPr>
          <p:cNvSpPr>
            <a:spLocks noChangeArrowheads="1"/>
          </p:cNvSpPr>
          <p:nvPr/>
        </p:nvSpPr>
        <p:spPr bwMode="auto">
          <a:xfrm>
            <a:off x="2904947" y="4733497"/>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itchFamily="2" charset="-122"/>
                <a:cs typeface="+mn-cs"/>
              </a:rPr>
              <a:t>4</a:t>
            </a:r>
          </a:p>
        </p:txBody>
      </p:sp>
    </p:spTree>
    <p:extLst>
      <p:ext uri="{BB962C8B-B14F-4D97-AF65-F5344CB8AC3E}">
        <p14:creationId xmlns:p14="http://schemas.microsoft.com/office/powerpoint/2010/main" val="2500337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42200" y="1713662"/>
            <a:ext cx="11107601" cy="4642750"/>
          </a:xfrm>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记录重复，即一个或多个特征的某几条记录的值完全相同</a:t>
            </a:r>
            <a:r>
              <a:rPr lang="zh-CN" altLang="en-US" sz="1800" b="1"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b="1"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dirty="0"/>
              <a:t>方法一：</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利用列表（</a:t>
            </a:r>
            <a:r>
              <a:rPr lang="en-US" altLang="zh-CN" sz="1800" dirty="0">
                <a:effectLst/>
                <a:latin typeface="Times New Roman" panose="02020603050405020304" pitchFamily="18" charset="0"/>
                <a:ea typeface="宋体" panose="02010600030101010101" pitchFamily="2" charset="-122"/>
              </a:rPr>
              <a:t>list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）去重</a:t>
            </a:r>
            <a:r>
              <a:rPr lang="zh-CN" altLang="en-US" dirty="0"/>
              <a:t>，自定义去重函数。</a:t>
            </a:r>
            <a:endParaRPr lang="en-US" altLang="zh-CN" dirty="0"/>
          </a:p>
          <a:p>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方法二：</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利用集合（</a:t>
            </a:r>
            <a:r>
              <a:rPr lang="en-US" altLang="zh-CN" sz="1800" dirty="0">
                <a:effectLst/>
                <a:latin typeface="Times New Roman" panose="02020603050405020304" pitchFamily="18" charset="0"/>
                <a:ea typeface="宋体" panose="02010600030101010101" pitchFamily="2" charset="-122"/>
              </a:rPr>
              <a:t>set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）元素唯一的特性去重</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dirty="0">
                <a:solidFill>
                  <a:srgbClr val="FF0000"/>
                </a:solidFill>
              </a:rPr>
              <a:t>比较上述两种方法可以发现，方法一代码冗长。方法二看似代码简洁了许多，但是会导致数据的排列发生改变</a:t>
            </a:r>
            <a:r>
              <a:rPr lang="zh-CN" altLang="en-US" dirty="0"/>
              <a:t>。</a:t>
            </a:r>
          </a:p>
        </p:txBody>
      </p:sp>
      <p:sp>
        <p:nvSpPr>
          <p:cNvPr id="3" name="标题 2"/>
          <p:cNvSpPr>
            <a:spLocks noGrp="1"/>
          </p:cNvSpPr>
          <p:nvPr>
            <p:ph type="title"/>
          </p:nvPr>
        </p:nvSpPr>
        <p:spPr/>
        <p:txBody>
          <a:bodyPr/>
          <a:lstStyle/>
          <a:p>
            <a:r>
              <a:rPr lang="zh-CN" altLang="en-US" b="1" dirty="0"/>
              <a:t>一、检测与处理重复值</a:t>
            </a:r>
            <a:endParaRPr lang="zh-CN" altLang="en-US" dirty="0"/>
          </a:p>
        </p:txBody>
      </p:sp>
      <p:sp>
        <p:nvSpPr>
          <p:cNvPr id="4" name="内容占位符 3"/>
          <p:cNvSpPr>
            <a:spLocks noGrp="1"/>
          </p:cNvSpPr>
          <p:nvPr>
            <p:ph idx="10"/>
          </p:nvPr>
        </p:nvSpPr>
        <p:spPr/>
        <p:txBody>
          <a:bodyPr/>
          <a:lstStyle/>
          <a:p>
            <a:r>
              <a:rPr lang="en-US" altLang="zh-CN" b="1" dirty="0"/>
              <a:t>1. </a:t>
            </a:r>
            <a:r>
              <a:rPr lang="zh-CN" altLang="en-US" b="1" dirty="0"/>
              <a:t>记录重复</a:t>
            </a:r>
            <a:endParaRPr lang="en-US" altLang="zh-C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pandas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提供了一个名为</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drop_duplicates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的去重方法，</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使用该方法进行去重不会改变数据原始排列</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，并且兼具代码简洁和运行稳定的特点。</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不仅支持单一特征的数据去重，还能够依据</a:t>
            </a:r>
            <a:r>
              <a:rPr lang="en-US" altLang="zh-CN" sz="1800" dirty="0" err="1">
                <a:effectLst/>
                <a:latin typeface="Times New Roman" panose="02020603050405020304" pitchFamily="18" charset="0"/>
                <a:ea typeface="宋体" panose="02010600030101010101" pitchFamily="2" charset="-122"/>
              </a:rPr>
              <a:t>DataFrame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的其中一个或多个特征进行去重操作</a:t>
            </a:r>
            <a:r>
              <a:rPr lang="zh-CN" altLang="en-US" dirty="0"/>
              <a:t>。</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drop_duplicates</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方法的基本使用格式如下。</a:t>
            </a:r>
          </a:p>
          <a:p>
            <a:pPr indent="0">
              <a:buNone/>
            </a:pPr>
            <a:endParaRPr lang="en-US" altLang="zh-CN" sz="1800" b="1" i="1"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标题 2"/>
          <p:cNvSpPr>
            <a:spLocks noGrp="1"/>
          </p:cNvSpPr>
          <p:nvPr>
            <p:ph type="title"/>
          </p:nvPr>
        </p:nvSpPr>
        <p:spPr/>
        <p:txBody>
          <a:bodyPr/>
          <a:lstStyle/>
          <a:p>
            <a:r>
              <a:rPr lang="zh-CN" altLang="en-US" b="1" dirty="0"/>
              <a:t>检测与处理重复值</a:t>
            </a:r>
            <a:endParaRPr lang="zh-CN" altLang="en-US" dirty="0"/>
          </a:p>
        </p:txBody>
      </p:sp>
      <p:sp>
        <p:nvSpPr>
          <p:cNvPr id="6" name="TextBox 5">
            <a:extLst>
              <a:ext uri="{FF2B5EF4-FFF2-40B4-BE49-F238E27FC236}">
                <a16:creationId xmlns:a16="http://schemas.microsoft.com/office/drawing/2014/main" id="{CBCF7CFB-873D-46C1-8BAB-FE5932B6E714}"/>
              </a:ext>
            </a:extLst>
          </p:cNvPr>
          <p:cNvSpPr txBox="1">
            <a:spLocks noChangeArrowheads="1"/>
          </p:cNvSpPr>
          <p:nvPr/>
        </p:nvSpPr>
        <p:spPr bwMode="auto">
          <a:xfrm>
            <a:off x="9057" y="3466866"/>
            <a:ext cx="1193712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8775">
              <a:spcBef>
                <a:spcPct val="20000"/>
              </a:spcBef>
              <a:buClr>
                <a:srgbClr val="000066"/>
              </a:buClr>
              <a:buFont typeface="Wingdings" panose="05000000000000000000" pitchFamily="2" charset="2"/>
              <a:buChar char="n"/>
              <a:defRPr kumimoji="1" sz="21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9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5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9pPr>
          </a:lstStyle>
          <a:p>
            <a:pPr>
              <a:spcBef>
                <a:spcPct val="0"/>
              </a:spcBef>
              <a:buClrTx/>
              <a:buNone/>
            </a:pPr>
            <a:r>
              <a:rPr kumimoji="0" lang="en-US" altLang="zh-CN" sz="2200" i="1" dirty="0" err="1">
                <a:latin typeface="Times New Roman" panose="02020603050405020304" pitchFamily="18" charset="0"/>
                <a:cs typeface="Times New Roman" panose="02020603050405020304" pitchFamily="18" charset="0"/>
              </a:rPr>
              <a:t>pandas.DataFrame.drop_duplicates</a:t>
            </a:r>
            <a:r>
              <a:rPr kumimoji="0" lang="en-US" altLang="zh-CN" sz="2200" i="1" dirty="0">
                <a:latin typeface="Times New Roman" panose="02020603050405020304" pitchFamily="18" charset="0"/>
                <a:cs typeface="Times New Roman" panose="02020603050405020304" pitchFamily="18" charset="0"/>
              </a:rPr>
              <a:t>(subset=None, keep='first', </a:t>
            </a:r>
            <a:r>
              <a:rPr kumimoji="0" lang="en-US" altLang="zh-CN" sz="2200" i="1" dirty="0" err="1">
                <a:latin typeface="Times New Roman" panose="02020603050405020304" pitchFamily="18" charset="0"/>
                <a:cs typeface="Times New Roman" panose="02020603050405020304" pitchFamily="18" charset="0"/>
              </a:rPr>
              <a:t>inplace</a:t>
            </a:r>
            <a:r>
              <a:rPr kumimoji="0" lang="en-US" altLang="zh-CN" sz="2200" i="1" dirty="0">
                <a:latin typeface="Times New Roman" panose="02020603050405020304" pitchFamily="18" charset="0"/>
                <a:cs typeface="Times New Roman" panose="02020603050405020304" pitchFamily="18" charset="0"/>
              </a:rPr>
              <a:t>=False, </a:t>
            </a:r>
            <a:r>
              <a:rPr kumimoji="0" lang="en-US" altLang="zh-CN" sz="2200" i="1" dirty="0" err="1">
                <a:latin typeface="Times New Roman" panose="02020603050405020304" pitchFamily="18" charset="0"/>
                <a:cs typeface="Times New Roman" panose="02020603050405020304" pitchFamily="18" charset="0"/>
              </a:rPr>
              <a:t>ignore_index</a:t>
            </a:r>
            <a:r>
              <a:rPr kumimoji="0" lang="en-US" altLang="zh-CN" sz="2200" i="1" dirty="0">
                <a:latin typeface="Times New Roman" panose="02020603050405020304" pitchFamily="18" charset="0"/>
                <a:cs typeface="Times New Roman" panose="02020603050405020304" pitchFamily="18" charset="0"/>
              </a:rPr>
              <a:t>=False)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457200">
              <a:buNone/>
            </a:pPr>
            <a:r>
              <a:rPr lang="en-US" altLang="zh-CN" dirty="0" err="1"/>
              <a:t>drop_duplicates</a:t>
            </a:r>
            <a:r>
              <a:rPr lang="en-US" altLang="zh-CN" dirty="0"/>
              <a:t>()</a:t>
            </a:r>
            <a:r>
              <a:rPr lang="zh-CN" altLang="en-US" dirty="0"/>
              <a:t>方法的常用参数及其说明。</a:t>
            </a:r>
            <a:endParaRPr lang="en-US" altLang="zh-CN" sz="1800" dirty="0">
              <a:effectLst/>
            </a:endParaRPr>
          </a:p>
        </p:txBody>
      </p:sp>
      <p:sp>
        <p:nvSpPr>
          <p:cNvPr id="3" name="标题 2"/>
          <p:cNvSpPr>
            <a:spLocks noGrp="1"/>
          </p:cNvSpPr>
          <p:nvPr>
            <p:ph type="title"/>
          </p:nvPr>
        </p:nvSpPr>
        <p:spPr/>
        <p:txBody>
          <a:bodyPr/>
          <a:lstStyle/>
          <a:p>
            <a:r>
              <a:rPr lang="zh-CN" altLang="en-US" b="1" dirty="0"/>
              <a:t>检测与处理重复值</a:t>
            </a:r>
            <a:endParaRPr lang="zh-CN" altLang="en-US" dirty="0"/>
          </a:p>
        </p:txBody>
      </p:sp>
      <p:graphicFrame>
        <p:nvGraphicFramePr>
          <p:cNvPr id="8" name="表格 8"/>
          <p:cNvGraphicFramePr>
            <a:graphicFrameLocks noGrp="1"/>
          </p:cNvGraphicFramePr>
          <p:nvPr>
            <p:extLst>
              <p:ext uri="{D42A27DB-BD31-4B8C-83A1-F6EECF244321}">
                <p14:modId xmlns:p14="http://schemas.microsoft.com/office/powerpoint/2010/main" val="685537003"/>
              </p:ext>
            </p:extLst>
          </p:nvPr>
        </p:nvGraphicFramePr>
        <p:xfrm>
          <a:off x="1786376" y="2025001"/>
          <a:ext cx="8619249" cy="2700000"/>
        </p:xfrm>
        <a:graphic>
          <a:graphicData uri="http://schemas.openxmlformats.org/drawingml/2006/table">
            <a:tbl>
              <a:tblPr firstRow="1" firstCol="1" bandRow="1">
                <a:tableStyleId>{5C22544A-7EE6-4342-B048-85BDC9FD1C3A}</a:tableStyleId>
              </a:tblPr>
              <a:tblGrid>
                <a:gridCol w="1339560">
                  <a:extLst>
                    <a:ext uri="{9D8B030D-6E8A-4147-A177-3AD203B41FA5}">
                      <a16:colId xmlns:a16="http://schemas.microsoft.com/office/drawing/2014/main" val="20000"/>
                    </a:ext>
                  </a:extLst>
                </a:gridCol>
                <a:gridCol w="7279689">
                  <a:extLst>
                    <a:ext uri="{9D8B030D-6E8A-4147-A177-3AD203B41FA5}">
                      <a16:colId xmlns:a16="http://schemas.microsoft.com/office/drawing/2014/main" val="20001"/>
                    </a:ext>
                  </a:extLst>
                </a:gridCol>
              </a:tblGrid>
              <a:tr h="540000">
                <a:tc>
                  <a:txBody>
                    <a:bodyPr/>
                    <a:lstStyle/>
                    <a:p>
                      <a:pPr marL="0" algn="ctr" defTabSz="967740" rtl="0" eaLnBrk="1" latinLnBrk="0" hangingPunct="1"/>
                      <a:r>
                        <a:rPr lang="zh-CN" altLang="en-US" sz="1700" b="1" kern="100" baseline="0" dirty="0">
                          <a:solidFill>
                            <a:schemeClr val="lt1"/>
                          </a:solidFill>
                          <a:effectLst/>
                          <a:latin typeface="Times New Roman" panose="02020603050405020304" pitchFamily="18" charset="0"/>
                          <a:ea typeface="宋体" panose="02010600030101010101" pitchFamily="2" charset="-122"/>
                          <a:cs typeface="Times New Roman" panose="02020603050405020304" pitchFamily="18" charset="0"/>
                        </a:rPr>
                        <a:t>参数名称</a:t>
                      </a:r>
                    </a:p>
                  </a:txBody>
                  <a:tcPr marL="68580" marR="68580" marT="0" marB="0" anchor="ctr"/>
                </a:tc>
                <a:tc>
                  <a:txBody>
                    <a:bodyPr/>
                    <a:lstStyle/>
                    <a:p>
                      <a:pPr marL="0" algn="ctr" defTabSz="967740" rtl="0" eaLnBrk="1" latinLnBrk="0" hangingPunct="1"/>
                      <a:r>
                        <a:rPr lang="zh-CN" altLang="en-US" sz="1700" b="1" kern="100" baseline="0" dirty="0">
                          <a:solidFill>
                            <a:schemeClr val="lt1"/>
                          </a:solidFill>
                          <a:effectLst/>
                          <a:latin typeface="Times New Roman" panose="02020603050405020304" pitchFamily="18" charset="0"/>
                          <a:ea typeface="宋体" panose="02010600030101010101" pitchFamily="2" charset="-122"/>
                          <a:cs typeface="Times New Roman" panose="02020603050405020304" pitchFamily="18" charset="0"/>
                        </a:rPr>
                        <a:t>参数说明</a:t>
                      </a:r>
                    </a:p>
                  </a:txBody>
                  <a:tcPr marL="68580" marR="68580" marT="0" marB="0" anchor="ctr"/>
                </a:tc>
                <a:extLst>
                  <a:ext uri="{0D108BD9-81ED-4DB2-BD59-A6C34878D82A}">
                    <a16:rowId xmlns:a16="http://schemas.microsoft.com/office/drawing/2014/main" val="10000"/>
                  </a:ext>
                </a:extLst>
              </a:tr>
              <a:tr h="540000">
                <a:tc>
                  <a:txBody>
                    <a:bodyPr/>
                    <a:lstStyle/>
                    <a:p>
                      <a:pPr algn="ct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subset</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str</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sequence</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。表示进行去重的列。默认为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None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540000">
                <a:tc>
                  <a:txBody>
                    <a:bodyPr/>
                    <a:lstStyle/>
                    <a:p>
                      <a:pPr algn="ct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keep</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接收特定</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str</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。表示重复时保留第几个数据，“</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first</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”表示保留第一个；“</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last</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”表示保留最后一个；</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False</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表示只要有重复都不保留。默认为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first</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540000">
                <a:tc>
                  <a:txBody>
                    <a:bodyPr/>
                    <a:lstStyle/>
                    <a:p>
                      <a:pPr algn="ctr"/>
                      <a:r>
                        <a:rPr lang="en-US" sz="1700" kern="100" baseline="0">
                          <a:effectLst/>
                          <a:latin typeface="Times New Roman" panose="02020603050405020304" pitchFamily="18" charset="0"/>
                          <a:ea typeface="宋体" panose="02010600030101010101" pitchFamily="2" charset="-122"/>
                          <a:cs typeface="Times New Roman" panose="02020603050405020304" pitchFamily="18" charset="0"/>
                        </a:rPr>
                        <a:t>inplace</a:t>
                      </a:r>
                      <a:endParaRPr lang="zh-CN" sz="17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bool</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。表示是否在原表上进行操作。默认为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540000">
                <a:tc>
                  <a:txBody>
                    <a:bodyPr/>
                    <a:lstStyle/>
                    <a:p>
                      <a:pPr algn="ctr"/>
                      <a:r>
                        <a:rPr lang="en-US" sz="1700" kern="100" baseline="0" dirty="0" err="1">
                          <a:effectLst/>
                          <a:latin typeface="Times New Roman" panose="02020603050405020304" pitchFamily="18" charset="0"/>
                          <a:ea typeface="宋体" panose="02010600030101010101" pitchFamily="2" charset="-122"/>
                          <a:cs typeface="Times New Roman" panose="02020603050405020304" pitchFamily="18" charset="0"/>
                        </a:rPr>
                        <a:t>ignore_index</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bool</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。表示是否忽略索引。默认为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303050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b="1" dirty="0"/>
              <a:t>检测与处理重复值</a:t>
            </a:r>
            <a:endParaRPr lang="zh-CN" altLang="en-US" dirty="0"/>
          </a:p>
        </p:txBody>
      </p:sp>
      <p:sp>
        <p:nvSpPr>
          <p:cNvPr id="5" name="矩形 4"/>
          <p:cNvSpPr/>
          <p:nvPr/>
        </p:nvSpPr>
        <p:spPr>
          <a:xfrm>
            <a:off x="105295" y="1485128"/>
            <a:ext cx="5990705" cy="2031325"/>
          </a:xfrm>
          <a:prstGeom prst="rect">
            <a:avLst/>
          </a:prstGeom>
        </p:spPr>
        <p:txBody>
          <a:bodyPr wrap="square">
            <a:spAutoFit/>
          </a:bodyPr>
          <a:lstStyle/>
          <a:p>
            <a:r>
              <a:rPr lang="zh-CN" altLang="en-US" dirty="0"/>
              <a:t># 对下载意愿去重</a:t>
            </a:r>
          </a:p>
          <a:p>
            <a:r>
              <a:rPr lang="zh-CN" altLang="en-US" dirty="0"/>
              <a:t>download = pd.read_csv('./data/user_download.csv', </a:t>
            </a:r>
          </a:p>
          <a:p>
            <a:r>
              <a:rPr lang="zh-CN" altLang="en-US" dirty="0"/>
              <a:t>                       encoding='gbk')</a:t>
            </a:r>
          </a:p>
          <a:p>
            <a:r>
              <a:rPr lang="zh-CN" altLang="en-US" dirty="0"/>
              <a:t>download_select = download['是否愿意下载'].drop_duplicates() </a:t>
            </a:r>
          </a:p>
          <a:p>
            <a:r>
              <a:rPr lang="zh-CN" altLang="en-US" dirty="0"/>
              <a:t>print('drop_duplicates方法去重之后下载意愿选项总数为：', </a:t>
            </a:r>
          </a:p>
          <a:p>
            <a:r>
              <a:rPr lang="zh-CN" altLang="en-US" dirty="0"/>
              <a:t>      len(download_select))</a:t>
            </a:r>
          </a:p>
        </p:txBody>
      </p:sp>
      <p:pic>
        <p:nvPicPr>
          <p:cNvPr id="6" name="图片 5"/>
          <p:cNvPicPr>
            <a:picLocks noChangeAspect="1"/>
          </p:cNvPicPr>
          <p:nvPr/>
        </p:nvPicPr>
        <p:blipFill>
          <a:blip r:embed="rId2"/>
          <a:stretch>
            <a:fillRect/>
          </a:stretch>
        </p:blipFill>
        <p:spPr>
          <a:xfrm>
            <a:off x="254876" y="3560884"/>
            <a:ext cx="3752381" cy="390476"/>
          </a:xfrm>
          <a:prstGeom prst="rect">
            <a:avLst/>
          </a:prstGeom>
        </p:spPr>
      </p:pic>
      <p:sp>
        <p:nvSpPr>
          <p:cNvPr id="7" name="矩形 6"/>
          <p:cNvSpPr/>
          <p:nvPr/>
        </p:nvSpPr>
        <p:spPr>
          <a:xfrm>
            <a:off x="6328757" y="1485128"/>
            <a:ext cx="6096000" cy="1754326"/>
          </a:xfrm>
          <a:prstGeom prst="rect">
            <a:avLst/>
          </a:prstGeom>
        </p:spPr>
        <p:txBody>
          <a:bodyPr>
            <a:spAutoFit/>
          </a:bodyPr>
          <a:lstStyle/>
          <a:p>
            <a:r>
              <a:rPr lang="zh-CN" altLang="en-US" dirty="0"/>
              <a:t>all_info = pd.read_csv('./data/user_all_info.csv')</a:t>
            </a:r>
          </a:p>
          <a:p>
            <a:r>
              <a:rPr lang="zh-CN" altLang="en-US" dirty="0"/>
              <a:t>print('去重之前用户的形状为：', all_info.shape)</a:t>
            </a:r>
          </a:p>
          <a:p>
            <a:r>
              <a:rPr lang="zh-CN" altLang="en-US" dirty="0"/>
              <a:t>shape_det = all_info.drop_duplicates(subset = ['用户编号', </a:t>
            </a:r>
          </a:p>
          <a:p>
            <a:r>
              <a:rPr lang="zh-CN" altLang="en-US" dirty="0"/>
              <a:t>                                               '编号']).shape</a:t>
            </a:r>
          </a:p>
          <a:p>
            <a:r>
              <a:rPr lang="zh-CN" altLang="en-US" dirty="0"/>
              <a:t>print('依照用户编号，编号去重之后用户总信息表大小为:', shape_det)</a:t>
            </a:r>
          </a:p>
        </p:txBody>
      </p:sp>
      <p:pic>
        <p:nvPicPr>
          <p:cNvPr id="9" name="图片 8"/>
          <p:cNvPicPr>
            <a:picLocks noChangeAspect="1"/>
          </p:cNvPicPr>
          <p:nvPr/>
        </p:nvPicPr>
        <p:blipFill>
          <a:blip r:embed="rId3"/>
          <a:stretch>
            <a:fillRect/>
          </a:stretch>
        </p:blipFill>
        <p:spPr>
          <a:xfrm>
            <a:off x="7113108" y="3670407"/>
            <a:ext cx="4333333" cy="561905"/>
          </a:xfrm>
          <a:prstGeom prst="rect">
            <a:avLst/>
          </a:prstGeom>
        </p:spPr>
      </p:pic>
    </p:spTree>
    <p:extLst>
      <p:ext uri="{BB962C8B-B14F-4D97-AF65-F5344CB8AC3E}">
        <p14:creationId xmlns:p14="http://schemas.microsoft.com/office/powerpoint/2010/main" val="20089845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4876" y="1565449"/>
            <a:ext cx="11107601" cy="4339721"/>
          </a:xfrm>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结合相关的数学和统计学知识，可以利用特征间的相似度将两个相似度为</a:t>
            </a:r>
            <a:r>
              <a:rPr lang="en-US" altLang="zh-CN" sz="1800" dirty="0">
                <a:effectLst/>
                <a:latin typeface="Times New Roman" panose="02020603050405020304" pitchFamily="18" charset="0"/>
                <a:ea typeface="宋体" panose="02010600030101010101" pitchFamily="2" charset="-122"/>
              </a:rPr>
              <a:t>1</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的特征去除其中一个。</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effectLst/>
                <a:latin typeface="Times New Roman" panose="02020603050405020304" pitchFamily="18" charset="0"/>
                <a:ea typeface="宋体" panose="02010600030101010101" pitchFamily="2" charset="-122"/>
              </a:rPr>
              <a:t>pandas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中，相似度的计算方法为</a:t>
            </a:r>
            <a:r>
              <a:rPr lang="en-US" altLang="zh-CN" sz="1800" dirty="0" err="1">
                <a:effectLst/>
                <a:latin typeface="Times New Roman" panose="02020603050405020304" pitchFamily="18" charset="0"/>
                <a:ea typeface="宋体" panose="02010600030101010101" pitchFamily="2" charset="-122"/>
              </a:rPr>
              <a:t>corr</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。使用该方法计算相似度时，默认为</a:t>
            </a:r>
            <a:r>
              <a:rPr lang="en-US" altLang="zh-CN" sz="1800" dirty="0" err="1">
                <a:effectLst/>
                <a:latin typeface="Times New Roman" panose="02020603050405020304" pitchFamily="18" charset="0"/>
                <a:ea typeface="宋体" panose="02010600030101010101" pitchFamily="2" charset="-122"/>
              </a:rPr>
              <a:t>pearson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法，可以通过</a:t>
            </a:r>
            <a:r>
              <a:rPr lang="en-US" altLang="zh-CN" sz="1800" dirty="0">
                <a:effectLst/>
                <a:latin typeface="Times New Roman" panose="02020603050405020304" pitchFamily="18" charset="0"/>
                <a:ea typeface="宋体" panose="02010600030101010101" pitchFamily="2" charset="-122"/>
              </a:rPr>
              <a:t>method</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参数进行调节，目前还支持</a:t>
            </a:r>
            <a:r>
              <a:rPr lang="en-US" altLang="zh-CN" sz="1800" dirty="0">
                <a:effectLst/>
                <a:latin typeface="Times New Roman" panose="02020603050405020304" pitchFamily="18" charset="0"/>
                <a:ea typeface="宋体" panose="02010600030101010101" pitchFamily="2" charset="-122"/>
              </a:rPr>
              <a:t>spearman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法和</a:t>
            </a:r>
            <a:r>
              <a:rPr lang="en-US" altLang="zh-CN" sz="1800" dirty="0" err="1">
                <a:effectLst/>
                <a:latin typeface="Times New Roman" panose="02020603050405020304" pitchFamily="18" charset="0"/>
                <a:ea typeface="宋体" panose="02010600030101010101" pitchFamily="2" charset="-122"/>
              </a:rPr>
              <a:t>kendall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法。</a:t>
            </a:r>
            <a:b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b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en-US" altLang="zh-CN" dirty="0"/>
              <a:t># </a:t>
            </a:r>
            <a:r>
              <a:rPr lang="zh-CN" altLang="en-US" dirty="0"/>
              <a:t>求取年龄和每月支出的相似度。</a:t>
            </a:r>
            <a:r>
              <a:rPr lang="zh-CN" altLang="en-US" dirty="0">
                <a:solidFill>
                  <a:srgbClr val="FF0000"/>
                </a:solidFill>
              </a:rPr>
              <a:t>即年龄和支出是否有关系</a:t>
            </a:r>
            <a:endParaRPr lang="en-US" altLang="zh-CN" dirty="0">
              <a:solidFill>
                <a:srgbClr val="FF0000"/>
              </a:solidFill>
            </a:endParaRPr>
          </a:p>
          <a:p>
            <a:pPr marL="0" indent="0">
              <a:buNone/>
            </a:pPr>
            <a:r>
              <a:rPr lang="en-US" altLang="zh-CN" dirty="0"/>
              <a:t>print(</a:t>
            </a:r>
            <a:r>
              <a:rPr lang="en-US" altLang="zh-CN" dirty="0" err="1"/>
              <a:t>all_info</a:t>
            </a:r>
            <a:r>
              <a:rPr lang="en-US" altLang="zh-CN" dirty="0"/>
              <a:t>[['</a:t>
            </a:r>
            <a:r>
              <a:rPr lang="zh-CN" altLang="en-US" dirty="0"/>
              <a:t>年龄</a:t>
            </a:r>
            <a:r>
              <a:rPr lang="en-US" altLang="zh-CN" dirty="0"/>
              <a:t>', '</a:t>
            </a:r>
            <a:r>
              <a:rPr lang="zh-CN" altLang="en-US" dirty="0"/>
              <a:t>每月支出</a:t>
            </a:r>
            <a:r>
              <a:rPr lang="en-US" altLang="zh-CN" dirty="0"/>
              <a:t>']])</a:t>
            </a:r>
          </a:p>
          <a:p>
            <a:pPr marL="0" indent="0">
              <a:buNone/>
            </a:pPr>
            <a:r>
              <a:rPr lang="en-US" altLang="zh-CN" dirty="0" err="1"/>
              <a:t>corr_det</a:t>
            </a:r>
            <a:r>
              <a:rPr lang="en-US" altLang="zh-CN" dirty="0"/>
              <a:t> = </a:t>
            </a:r>
            <a:r>
              <a:rPr lang="en-US" altLang="zh-CN" dirty="0" err="1"/>
              <a:t>all_info</a:t>
            </a:r>
            <a:r>
              <a:rPr lang="en-US" altLang="zh-CN" dirty="0"/>
              <a:t>[['</a:t>
            </a:r>
            <a:r>
              <a:rPr lang="zh-CN" altLang="en-US" dirty="0"/>
              <a:t>年龄</a:t>
            </a:r>
            <a:r>
              <a:rPr lang="en-US" altLang="zh-CN" dirty="0"/>
              <a:t>', '</a:t>
            </a:r>
            <a:r>
              <a:rPr lang="zh-CN" altLang="en-US" dirty="0"/>
              <a:t>每月支出</a:t>
            </a:r>
            <a:r>
              <a:rPr lang="en-US" altLang="zh-CN" dirty="0"/>
              <a:t>']].</a:t>
            </a:r>
            <a:r>
              <a:rPr lang="en-US" altLang="zh-CN" dirty="0" err="1"/>
              <a:t>corr</a:t>
            </a:r>
            <a:r>
              <a:rPr lang="en-US" altLang="zh-CN" dirty="0"/>
              <a:t>('</a:t>
            </a:r>
            <a:r>
              <a:rPr lang="en-US" altLang="zh-CN" dirty="0" err="1"/>
              <a:t>kendall</a:t>
            </a:r>
            <a:r>
              <a:rPr lang="en-US" altLang="zh-CN" dirty="0"/>
              <a:t>')</a:t>
            </a:r>
          </a:p>
          <a:p>
            <a:pPr marL="0" indent="0">
              <a:buNone/>
            </a:pPr>
            <a:r>
              <a:rPr lang="en-US" altLang="zh-CN" dirty="0"/>
              <a:t>print('</a:t>
            </a:r>
            <a:r>
              <a:rPr lang="zh-CN" altLang="en-US" dirty="0"/>
              <a:t>年龄和每月支出的相似度矩阵为：</a:t>
            </a:r>
            <a:r>
              <a:rPr lang="en-US" altLang="zh-CN" dirty="0"/>
              <a:t>\n', </a:t>
            </a:r>
            <a:r>
              <a:rPr lang="en-US" altLang="zh-CN" dirty="0" err="1"/>
              <a:t>corr_det</a:t>
            </a:r>
            <a:r>
              <a:rPr lang="en-US" altLang="zh-CN" dirty="0"/>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标题 2"/>
          <p:cNvSpPr>
            <a:spLocks noGrp="1"/>
          </p:cNvSpPr>
          <p:nvPr>
            <p:ph type="title"/>
          </p:nvPr>
        </p:nvSpPr>
        <p:spPr/>
        <p:txBody>
          <a:bodyPr/>
          <a:lstStyle/>
          <a:p>
            <a:r>
              <a:rPr lang="zh-CN" altLang="en-US" b="1" dirty="0"/>
              <a:t>检测与处理重复值</a:t>
            </a:r>
            <a:endParaRPr lang="zh-CN" altLang="en-US" dirty="0"/>
          </a:p>
        </p:txBody>
      </p:sp>
      <p:sp>
        <p:nvSpPr>
          <p:cNvPr id="4" name="内容占位符 3"/>
          <p:cNvSpPr>
            <a:spLocks noGrp="1"/>
          </p:cNvSpPr>
          <p:nvPr>
            <p:ph idx="10"/>
          </p:nvPr>
        </p:nvSpPr>
        <p:spPr>
          <a:xfrm>
            <a:off x="407193" y="1013117"/>
            <a:ext cx="11107601" cy="426469"/>
          </a:xfrm>
        </p:spPr>
        <p:txBody>
          <a:bodyPr/>
          <a:lstStyle/>
          <a:p>
            <a:r>
              <a:rPr lang="en-US" altLang="zh-CN" b="1" dirty="0"/>
              <a:t>2. </a:t>
            </a:r>
            <a:r>
              <a:rPr lang="zh-CN" altLang="en-US" b="1" dirty="0"/>
              <a:t>特征重复</a:t>
            </a:r>
            <a:endParaRPr lang="en-US" altLang="zh-CN" b="1" dirty="0"/>
          </a:p>
        </p:txBody>
      </p:sp>
      <p:pic>
        <p:nvPicPr>
          <p:cNvPr id="5" name="图片 4"/>
          <p:cNvPicPr>
            <a:picLocks noChangeAspect="1"/>
          </p:cNvPicPr>
          <p:nvPr/>
        </p:nvPicPr>
        <p:blipFill>
          <a:blip r:embed="rId2"/>
          <a:stretch>
            <a:fillRect/>
          </a:stretch>
        </p:blipFill>
        <p:spPr>
          <a:xfrm>
            <a:off x="7002095" y="2925454"/>
            <a:ext cx="2504726" cy="3367281"/>
          </a:xfrm>
          <a:prstGeom prst="rect">
            <a:avLst/>
          </a:prstGeom>
        </p:spPr>
      </p:pic>
      <p:sp>
        <p:nvSpPr>
          <p:cNvPr id="6" name="文本框 5"/>
          <p:cNvSpPr txBox="1"/>
          <p:nvPr/>
        </p:nvSpPr>
        <p:spPr>
          <a:xfrm>
            <a:off x="9983586" y="3159226"/>
            <a:ext cx="1102775" cy="2585323"/>
          </a:xfrm>
          <a:prstGeom prst="rect">
            <a:avLst/>
          </a:prstGeom>
          <a:noFill/>
        </p:spPr>
        <p:txBody>
          <a:bodyPr wrap="square" rtlCol="0">
            <a:spAutoFit/>
          </a:bodyPr>
          <a:lstStyle/>
          <a:p>
            <a:r>
              <a:rPr lang="zh-CN" altLang="en-US" dirty="0"/>
              <a:t>这里的结论是年龄和支出成正相关，但相似度不高。因为</a:t>
            </a:r>
            <a:r>
              <a:rPr lang="en-US" altLang="zh-CN" dirty="0" err="1"/>
              <a:t>kendall</a:t>
            </a:r>
            <a:r>
              <a:rPr lang="zh-CN" altLang="en-US" dirty="0"/>
              <a:t>取值范围为</a:t>
            </a:r>
            <a:r>
              <a:rPr lang="en-US" altLang="zh-CN" dirty="0"/>
              <a:t>[-1,1]</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 calcmode="lin" valueType="num">
                                      <p:cBhvr additive="base">
                                        <p:cTn id="42"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2">
                                            <p:txEl>
                                              <p:pRg st="4" end="4"/>
                                            </p:txEl>
                                          </p:spTgt>
                                        </p:tgtEl>
                                        <p:attrNameLst>
                                          <p:attrName>ppt_y</p:attrName>
                                        </p:attrNameLst>
                                      </p:cBhvr>
                                      <p:tavLst>
                                        <p:tav tm="0">
                                          <p:val>
                                            <p:strVal val="1+#ppt_h/2"/>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2">
                                            <p:txEl>
                                              <p:pRg st="5" end="5"/>
                                            </p:txEl>
                                          </p:spTgt>
                                        </p:tgtEl>
                                        <p:attrNameLst>
                                          <p:attrName>style.visibility</p:attrName>
                                        </p:attrNameLst>
                                      </p:cBhvr>
                                      <p:to>
                                        <p:strVal val="visible"/>
                                      </p:to>
                                    </p:set>
                                    <p:anim calcmode="lin" valueType="num">
                                      <p:cBhvr additive="base">
                                        <p:cTn id="46"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 calcmode="lin" valueType="num">
                                      <p:cBhvr additive="base">
                                        <p:cTn id="52" dur="500" fill="hold"/>
                                        <p:tgtEl>
                                          <p:spTgt spid="5"/>
                                        </p:tgtEl>
                                        <p:attrNameLst>
                                          <p:attrName>ppt_x</p:attrName>
                                        </p:attrNameLst>
                                      </p:cBhvr>
                                      <p:tavLst>
                                        <p:tav tm="0">
                                          <p:val>
                                            <p:strVal val="#ppt_x"/>
                                          </p:val>
                                        </p:tav>
                                        <p:tav tm="100000">
                                          <p:val>
                                            <p:strVal val="#ppt_x"/>
                                          </p:val>
                                        </p:tav>
                                      </p:tavLst>
                                    </p:anim>
                                    <p:anim calcmode="lin" valueType="num">
                                      <p:cBhvr additive="base">
                                        <p:cTn id="5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6"/>
                                        </p:tgtEl>
                                        <p:attrNameLst>
                                          <p:attrName>style.visibility</p:attrName>
                                        </p:attrNameLst>
                                      </p:cBhvr>
                                      <p:to>
                                        <p:strVal val="visible"/>
                                      </p:to>
                                    </p:set>
                                    <p:anim calcmode="lin" valueType="num">
                                      <p:cBhvr additive="base">
                                        <p:cTn id="58" dur="500" fill="hold"/>
                                        <p:tgtEl>
                                          <p:spTgt spid="6"/>
                                        </p:tgtEl>
                                        <p:attrNameLst>
                                          <p:attrName>ppt_x</p:attrName>
                                        </p:attrNameLst>
                                      </p:cBhvr>
                                      <p:tavLst>
                                        <p:tav tm="0">
                                          <p:val>
                                            <p:strVal val="#ppt_x"/>
                                          </p:val>
                                        </p:tav>
                                        <p:tav tm="100000">
                                          <p:val>
                                            <p:strVal val="#ppt_x"/>
                                          </p:val>
                                        </p:tav>
                                      </p:tavLst>
                                    </p:anim>
                                    <p:anim calcmode="lin" valueType="num">
                                      <p:cBhvr additive="base">
                                        <p:cTn id="5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build="p"/>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49135" y="1713662"/>
            <a:ext cx="11745883" cy="4339721"/>
          </a:xfrm>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通过相似度矩阵去重存在一个弊端是</a:t>
            </a:r>
            <a:r>
              <a:rPr lang="zh-CN"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只能对数值型重复特征去重</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，因此无法根据相似度矩阵对</a:t>
            </a:r>
            <a:r>
              <a:rPr lang="zh-CN" altLang="en-US" dirty="0"/>
              <a:t>非数值型的特征</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进行去重处</a:t>
            </a:r>
            <a:r>
              <a:rPr lang="zh-CN" altLang="zh-CN" sz="1800" spc="-20" dirty="0">
                <a:effectLst/>
                <a:latin typeface="Times New Roman" panose="02020603050405020304" pitchFamily="18" charset="0"/>
                <a:ea typeface="宋体" panose="02010600030101010101" pitchFamily="2" charset="-122"/>
                <a:cs typeface="Times New Roman" panose="02020603050405020304" pitchFamily="18" charset="0"/>
              </a:rPr>
              <a:t>理。</a:t>
            </a:r>
            <a:endParaRPr lang="en-US" altLang="zh-CN" sz="1800" spc="-2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en-US" altLang="zh-CN" spc="-20" dirty="0">
                <a:solidFill>
                  <a:srgbClr val="FF0000"/>
                </a:solidFill>
              </a:rPr>
              <a:t>#</a:t>
            </a:r>
            <a:r>
              <a:rPr lang="zh-CN" altLang="en-US" spc="-20" dirty="0">
                <a:solidFill>
                  <a:srgbClr val="FF0000"/>
                </a:solidFill>
              </a:rPr>
              <a:t>报错误，因为</a:t>
            </a:r>
            <a:r>
              <a:rPr lang="en-US" altLang="zh-CN" spc="-20" dirty="0">
                <a:solidFill>
                  <a:srgbClr val="FF0000"/>
                </a:solidFill>
              </a:rPr>
              <a:t>.</a:t>
            </a:r>
            <a:r>
              <a:rPr lang="en-US" altLang="zh-CN" spc="-20" dirty="0" err="1">
                <a:solidFill>
                  <a:srgbClr val="FF0000"/>
                </a:solidFill>
              </a:rPr>
              <a:t>corr</a:t>
            </a:r>
            <a:r>
              <a:rPr lang="zh-CN" altLang="en-US" spc="-20" dirty="0">
                <a:solidFill>
                  <a:srgbClr val="FF0000"/>
                </a:solidFill>
              </a:rPr>
              <a:t>只能处理数值型的特征的相似型，因此居住类型的特征是字符串</a:t>
            </a:r>
          </a:p>
          <a:p>
            <a:pPr marL="0" indent="0">
              <a:buNone/>
            </a:pPr>
            <a:r>
              <a:rPr lang="en-US" altLang="zh-CN" spc="-20" dirty="0"/>
              <a:t>corr_det1 = </a:t>
            </a:r>
            <a:r>
              <a:rPr lang="en-US" altLang="zh-CN" spc="-20" dirty="0" err="1"/>
              <a:t>all_info</a:t>
            </a:r>
            <a:r>
              <a:rPr lang="en-US" altLang="zh-CN" spc="-20" dirty="0"/>
              <a:t>[['</a:t>
            </a:r>
            <a:r>
              <a:rPr lang="zh-CN" altLang="en-US" spc="-20" dirty="0"/>
              <a:t>居住类型</a:t>
            </a:r>
            <a:r>
              <a:rPr lang="en-US" altLang="zh-CN" spc="-20" dirty="0"/>
              <a:t>', '</a:t>
            </a:r>
            <a:r>
              <a:rPr lang="zh-CN" altLang="en-US" spc="-20" dirty="0"/>
              <a:t>年龄</a:t>
            </a:r>
            <a:r>
              <a:rPr lang="en-US" altLang="zh-CN" spc="-20" dirty="0"/>
              <a:t>', '</a:t>
            </a:r>
            <a:r>
              <a:rPr lang="zh-CN" altLang="en-US" spc="-20" dirty="0"/>
              <a:t>每月支出</a:t>
            </a:r>
            <a:r>
              <a:rPr lang="en-US" altLang="zh-CN" spc="-20" dirty="0"/>
              <a:t>']].</a:t>
            </a:r>
            <a:r>
              <a:rPr lang="en-US" altLang="zh-CN" spc="-20" dirty="0" err="1"/>
              <a:t>corr</a:t>
            </a:r>
            <a:r>
              <a:rPr lang="en-US" altLang="zh-CN" spc="-20" dirty="0"/>
              <a:t>(method='</a:t>
            </a:r>
            <a:r>
              <a:rPr lang="en-US" altLang="zh-CN" spc="-20" dirty="0" err="1"/>
              <a:t>pearson</a:t>
            </a:r>
            <a:r>
              <a:rPr lang="en-US" altLang="zh-CN" spc="-20" dirty="0"/>
              <a:t>')</a:t>
            </a:r>
          </a:p>
          <a:p>
            <a:pPr marL="0" indent="0">
              <a:buNone/>
            </a:pPr>
            <a:r>
              <a:rPr lang="en-US" altLang="zh-CN" spc="-20" dirty="0"/>
              <a:t>print('</a:t>
            </a:r>
            <a:r>
              <a:rPr lang="zh-CN" altLang="en-US" spc="-20" dirty="0"/>
              <a:t>居住类型、年龄和每月支出的</a:t>
            </a:r>
            <a:r>
              <a:rPr lang="en-US" altLang="zh-CN" spc="-20" dirty="0" err="1"/>
              <a:t>pearson</a:t>
            </a:r>
            <a:r>
              <a:rPr lang="zh-CN" altLang="en-US" spc="-20" dirty="0"/>
              <a:t>法相似度矩阵为：</a:t>
            </a:r>
            <a:r>
              <a:rPr lang="en-US" altLang="zh-CN" spc="-20" dirty="0"/>
              <a:t>\n', corr_det1)</a:t>
            </a:r>
          </a:p>
        </p:txBody>
      </p:sp>
      <p:sp>
        <p:nvSpPr>
          <p:cNvPr id="3" name="标题 2"/>
          <p:cNvSpPr>
            <a:spLocks noGrp="1"/>
          </p:cNvSpPr>
          <p:nvPr>
            <p:ph type="title"/>
          </p:nvPr>
        </p:nvSpPr>
        <p:spPr/>
        <p:txBody>
          <a:bodyPr/>
          <a:lstStyle/>
          <a:p>
            <a:r>
              <a:rPr lang="zh-CN" altLang="en-US" b="1" dirty="0"/>
              <a:t>检测与处理重复值</a:t>
            </a:r>
            <a:endParaRPr lang="zh-CN" altLang="en-US" dirty="0"/>
          </a:p>
        </p:txBody>
      </p:sp>
      <p:sp>
        <p:nvSpPr>
          <p:cNvPr id="4" name="内容占位符 3"/>
          <p:cNvSpPr>
            <a:spLocks noGrp="1"/>
          </p:cNvSpPr>
          <p:nvPr>
            <p:ph idx="10"/>
          </p:nvPr>
        </p:nvSpPr>
        <p:spPr/>
        <p:txBody>
          <a:bodyPr/>
          <a:lstStyle/>
          <a:p>
            <a:r>
              <a:rPr lang="en-US" altLang="zh-CN" b="1" dirty="0"/>
              <a:t>2. </a:t>
            </a:r>
            <a:r>
              <a:rPr lang="zh-CN" altLang="en-US" b="1" dirty="0"/>
              <a:t>特征重复</a:t>
            </a:r>
            <a:endParaRPr lang="en-US" altLang="zh-CN" b="1" dirty="0"/>
          </a:p>
        </p:txBody>
      </p:sp>
      <p:pic>
        <p:nvPicPr>
          <p:cNvPr id="8" name="图片 7"/>
          <p:cNvPicPr>
            <a:picLocks noChangeAspect="1"/>
          </p:cNvPicPr>
          <p:nvPr/>
        </p:nvPicPr>
        <p:blipFill>
          <a:blip r:embed="rId2"/>
          <a:stretch>
            <a:fillRect/>
          </a:stretch>
        </p:blipFill>
        <p:spPr>
          <a:xfrm>
            <a:off x="423819" y="3962645"/>
            <a:ext cx="10100939" cy="2379332"/>
          </a:xfrm>
          <a:prstGeom prst="rect">
            <a:avLst/>
          </a:prstGeom>
        </p:spPr>
      </p:pic>
    </p:spTree>
    <p:extLst>
      <p:ext uri="{BB962C8B-B14F-4D97-AF65-F5344CB8AC3E}">
        <p14:creationId xmlns:p14="http://schemas.microsoft.com/office/powerpoint/2010/main" val="1237605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cBhvr additive="base">
                                        <p:cTn id="42" dur="500" fill="hold"/>
                                        <p:tgtEl>
                                          <p:spTgt spid="8"/>
                                        </p:tgtEl>
                                        <p:attrNameLst>
                                          <p:attrName>ppt_x</p:attrName>
                                        </p:attrNameLst>
                                      </p:cBhvr>
                                      <p:tavLst>
                                        <p:tav tm="0">
                                          <p:val>
                                            <p:strVal val="#ppt_x"/>
                                          </p:val>
                                        </p:tav>
                                        <p:tav tm="100000">
                                          <p:val>
                                            <p:strVal val="#ppt_x"/>
                                          </p:val>
                                        </p:tav>
                                      </p:tavLst>
                                    </p:anim>
                                    <p:anim calcmode="lin" valueType="num">
                                      <p:cBhvr additive="base">
                                        <p:cTn id="4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49135" y="1713662"/>
            <a:ext cx="11745883" cy="4339721"/>
          </a:xfrm>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除了使用相似度矩阵进行特征去重之外，还可以通过</a:t>
            </a:r>
            <a:r>
              <a:rPr lang="en-US" altLang="zh-CN" sz="1800" dirty="0">
                <a:effectLst/>
                <a:latin typeface="Times New Roman" panose="02020603050405020304" pitchFamily="18" charset="0"/>
                <a:ea typeface="宋体" panose="02010600030101010101" pitchFamily="2" charset="-122"/>
              </a:rPr>
              <a:t>equals()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方法进行特征去重</a:t>
            </a:r>
            <a:r>
              <a:rPr lang="zh-CN" altLang="en-US" sz="1800" spc="-2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b="1" dirty="0"/>
          </a:p>
        </p:txBody>
      </p:sp>
      <p:sp>
        <p:nvSpPr>
          <p:cNvPr id="3" name="标题 2"/>
          <p:cNvSpPr>
            <a:spLocks noGrp="1"/>
          </p:cNvSpPr>
          <p:nvPr>
            <p:ph type="title"/>
          </p:nvPr>
        </p:nvSpPr>
        <p:spPr/>
        <p:txBody>
          <a:bodyPr/>
          <a:lstStyle/>
          <a:p>
            <a:r>
              <a:rPr lang="zh-CN" altLang="en-US" b="1" dirty="0"/>
              <a:t>检测与处理重复值</a:t>
            </a:r>
            <a:endParaRPr lang="zh-CN" altLang="en-US" dirty="0"/>
          </a:p>
        </p:txBody>
      </p:sp>
      <p:sp>
        <p:nvSpPr>
          <p:cNvPr id="4" name="内容占位符 3"/>
          <p:cNvSpPr>
            <a:spLocks noGrp="1"/>
          </p:cNvSpPr>
          <p:nvPr>
            <p:ph idx="10"/>
          </p:nvPr>
        </p:nvSpPr>
        <p:spPr/>
        <p:txBody>
          <a:bodyPr/>
          <a:lstStyle/>
          <a:p>
            <a:r>
              <a:rPr lang="en-US" altLang="zh-CN" b="1" dirty="0"/>
              <a:t>2. </a:t>
            </a:r>
            <a:r>
              <a:rPr lang="zh-CN" altLang="en-US" b="1" dirty="0"/>
              <a:t>特征重复</a:t>
            </a:r>
            <a:endParaRPr lang="en-US" altLang="zh-CN" b="1" dirty="0"/>
          </a:p>
        </p:txBody>
      </p:sp>
      <p:graphicFrame>
        <p:nvGraphicFramePr>
          <p:cNvPr id="5" name="表格 10"/>
          <p:cNvGraphicFramePr>
            <a:graphicFrameLocks noGrp="1"/>
          </p:cNvGraphicFramePr>
          <p:nvPr>
            <p:extLst>
              <p:ext uri="{D42A27DB-BD31-4B8C-83A1-F6EECF244321}">
                <p14:modId xmlns:p14="http://schemas.microsoft.com/office/powerpoint/2010/main" val="2139419186"/>
              </p:ext>
            </p:extLst>
          </p:nvPr>
        </p:nvGraphicFramePr>
        <p:xfrm>
          <a:off x="830535" y="3836904"/>
          <a:ext cx="9821482" cy="1080000"/>
        </p:xfrm>
        <a:graphic>
          <a:graphicData uri="http://schemas.openxmlformats.org/drawingml/2006/table">
            <a:tbl>
              <a:tblPr firstRow="1" firstCol="1" bandRow="1">
                <a:tableStyleId>{5C22544A-7EE6-4342-B048-85BDC9FD1C3A}</a:tableStyleId>
              </a:tblPr>
              <a:tblGrid>
                <a:gridCol w="1781678">
                  <a:extLst>
                    <a:ext uri="{9D8B030D-6E8A-4147-A177-3AD203B41FA5}">
                      <a16:colId xmlns:a16="http://schemas.microsoft.com/office/drawing/2014/main" val="20000"/>
                    </a:ext>
                  </a:extLst>
                </a:gridCol>
                <a:gridCol w="8039804">
                  <a:extLst>
                    <a:ext uri="{9D8B030D-6E8A-4147-A177-3AD203B41FA5}">
                      <a16:colId xmlns:a16="http://schemas.microsoft.com/office/drawing/2014/main" val="20001"/>
                    </a:ext>
                  </a:extLst>
                </a:gridCol>
              </a:tblGrid>
              <a:tr h="540000">
                <a:tc>
                  <a:txBody>
                    <a:bodyPr/>
                    <a:lstStyle/>
                    <a:p>
                      <a:pPr algn="ctr"/>
                      <a:r>
                        <a:rPr lang="zh-CN" sz="1600" b="1" kern="100" baseline="0" dirty="0">
                          <a:effectLst/>
                          <a:latin typeface="Times New Roman" panose="02020603050405020304" pitchFamily="18" charset="0"/>
                          <a:ea typeface="宋体" panose="02010600030101010101" pitchFamily="2" charset="-122"/>
                          <a:cs typeface="Times New Roman" panose="02020603050405020304" pitchFamily="18" charset="0"/>
                        </a:rPr>
                        <a:t>参数名称</a:t>
                      </a:r>
                    </a:p>
                  </a:txBody>
                  <a:tcPr marL="68580" marR="68580" marT="0" marB="0" anchor="ctr"/>
                </a:tc>
                <a:tc>
                  <a:txBody>
                    <a:bodyPr/>
                    <a:lstStyle/>
                    <a:p>
                      <a:pPr algn="ctr"/>
                      <a:r>
                        <a:rPr lang="zh-CN" sz="1600" b="1" kern="100" baseline="0" dirty="0">
                          <a:effectLst/>
                          <a:latin typeface="Times New Roman" panose="02020603050405020304" pitchFamily="18" charset="0"/>
                          <a:ea typeface="宋体" panose="02010600030101010101" pitchFamily="2" charset="-122"/>
                          <a:cs typeface="Times New Roman" panose="02020603050405020304" pitchFamily="18" charset="0"/>
                        </a:rPr>
                        <a:t>参数说明</a:t>
                      </a:r>
                    </a:p>
                  </a:txBody>
                  <a:tcPr marL="68580" marR="68580" marT="0" marB="0" anchor="ctr"/>
                </a:tc>
                <a:extLst>
                  <a:ext uri="{0D108BD9-81ED-4DB2-BD59-A6C34878D82A}">
                    <a16:rowId xmlns:a16="http://schemas.microsoft.com/office/drawing/2014/main" val="10000"/>
                  </a:ext>
                </a:extLst>
              </a:tr>
              <a:tr h="540000">
                <a:tc>
                  <a:txBody>
                    <a:bodyPr/>
                    <a:lstStyle/>
                    <a:p>
                      <a:pPr algn="ctr"/>
                      <a:r>
                        <a:rPr lang="en-US"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other</a:t>
                      </a:r>
                      <a:endPar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Series</a:t>
                      </a:r>
                      <a:r>
                        <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sz="1600" kern="100" baseline="0" dirty="0" err="1">
                          <a:effectLst/>
                          <a:latin typeface="Times New Roman" panose="02020603050405020304" pitchFamily="18" charset="0"/>
                          <a:ea typeface="宋体" panose="02010600030101010101" pitchFamily="2" charset="-122"/>
                          <a:cs typeface="Times New Roman" panose="02020603050405020304" pitchFamily="18" charset="0"/>
                        </a:rPr>
                        <a:t>DataFrame</a:t>
                      </a:r>
                      <a:r>
                        <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。表示要与第一个进行比较的另一个</a:t>
                      </a:r>
                      <a:r>
                        <a:rPr lang="en-US"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Series</a:t>
                      </a:r>
                      <a:r>
                        <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sz="1600" kern="100" baseline="0" dirty="0" err="1">
                          <a:effectLst/>
                          <a:latin typeface="Times New Roman" panose="02020603050405020304" pitchFamily="18" charset="0"/>
                          <a:ea typeface="宋体" panose="02010600030101010101" pitchFamily="2" charset="-122"/>
                          <a:cs typeface="Times New Roman" panose="02020603050405020304" pitchFamily="18" charset="0"/>
                        </a:rPr>
                        <a:t>DataFrame</a:t>
                      </a:r>
                      <a:r>
                        <a:rPr lang="zh-CN" sz="1600" kern="100" baseline="0" dirty="0">
                          <a:effectLst/>
                          <a:latin typeface="Times New Roman" panose="02020603050405020304" pitchFamily="18" charset="0"/>
                          <a:ea typeface="宋体" panose="02010600030101010101" pitchFamily="2" charset="-122"/>
                          <a:cs typeface="Times New Roman" panose="02020603050405020304" pitchFamily="18" charset="0"/>
                        </a:rPr>
                        <a:t>。无默认值</a:t>
                      </a:r>
                    </a:p>
                  </a:txBody>
                  <a:tcPr marL="68580" marR="68580" marT="0" marB="0" anchor="ctr"/>
                </a:tc>
                <a:extLst>
                  <a:ext uri="{0D108BD9-81ED-4DB2-BD59-A6C34878D82A}">
                    <a16:rowId xmlns:a16="http://schemas.microsoft.com/office/drawing/2014/main" val="10001"/>
                  </a:ext>
                </a:extLst>
              </a:tr>
            </a:tbl>
          </a:graphicData>
        </a:graphic>
      </p:graphicFrame>
      <p:sp>
        <p:nvSpPr>
          <p:cNvPr id="6" name="TextBox 5">
            <a:extLst>
              <a:ext uri="{FF2B5EF4-FFF2-40B4-BE49-F238E27FC236}">
                <a16:creationId xmlns:a16="http://schemas.microsoft.com/office/drawing/2014/main" id="{1A2113AB-5832-469E-B6B3-DB3B4D48C503}"/>
              </a:ext>
            </a:extLst>
          </p:cNvPr>
          <p:cNvSpPr txBox="1">
            <a:spLocks noChangeArrowheads="1"/>
          </p:cNvSpPr>
          <p:nvPr/>
        </p:nvSpPr>
        <p:spPr bwMode="auto">
          <a:xfrm>
            <a:off x="2305201" y="2912635"/>
            <a:ext cx="558253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8775">
              <a:spcBef>
                <a:spcPct val="20000"/>
              </a:spcBef>
              <a:buClr>
                <a:srgbClr val="000066"/>
              </a:buClr>
              <a:buFont typeface="Wingdings" panose="05000000000000000000" pitchFamily="2" charset="2"/>
              <a:buChar char="n"/>
              <a:defRPr kumimoji="1" sz="21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9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5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9pPr>
          </a:lstStyle>
          <a:p>
            <a:pPr>
              <a:spcBef>
                <a:spcPct val="0"/>
              </a:spcBef>
              <a:buClrTx/>
              <a:buNone/>
            </a:pPr>
            <a:r>
              <a:rPr kumimoji="0" lang="en-US" altLang="zh-CN" sz="2200" i="1" dirty="0" err="1">
                <a:latin typeface="Times New Roman" panose="02020603050405020304" pitchFamily="18" charset="0"/>
                <a:cs typeface="Times New Roman" panose="02020603050405020304" pitchFamily="18" charset="0"/>
              </a:rPr>
              <a:t>pandas.DataFrame.equals</a:t>
            </a:r>
            <a:r>
              <a:rPr kumimoji="0" lang="en-US" altLang="zh-CN" sz="2200" i="1" dirty="0">
                <a:latin typeface="Times New Roman" panose="02020603050405020304" pitchFamily="18" charset="0"/>
                <a:cs typeface="Times New Roman" panose="02020603050405020304" pitchFamily="18" charset="0"/>
              </a:rPr>
              <a:t>(other)</a:t>
            </a:r>
          </a:p>
        </p:txBody>
      </p:sp>
      <p:sp>
        <p:nvSpPr>
          <p:cNvPr id="7" name="矩形 6"/>
          <p:cNvSpPr/>
          <p:nvPr/>
        </p:nvSpPr>
        <p:spPr>
          <a:xfrm>
            <a:off x="349135" y="2268599"/>
            <a:ext cx="3708066" cy="369332"/>
          </a:xfrm>
          <a:prstGeom prst="rect">
            <a:avLst/>
          </a:prstGeom>
        </p:spPr>
        <p:txBody>
          <a:bodyPr wrap="none">
            <a:spAutoFit/>
          </a:bodyPr>
          <a:lstStyle/>
          <a:p>
            <a:r>
              <a:rPr lang="en-US" altLang="zh-CN" dirty="0"/>
              <a:t>equals()</a:t>
            </a:r>
            <a:r>
              <a:rPr lang="zh-CN" altLang="en-US" dirty="0"/>
              <a:t>方法的基本使用格式如下。</a:t>
            </a:r>
          </a:p>
        </p:txBody>
      </p:sp>
    </p:spTree>
    <p:extLst>
      <p:ext uri="{BB962C8B-B14F-4D97-AF65-F5344CB8AC3E}">
        <p14:creationId xmlns:p14="http://schemas.microsoft.com/office/powerpoint/2010/main" val="173840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 calcmode="lin" valueType="num">
                                      <p:cBhvr additive="base">
                                        <p:cTn id="14"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7">
                                            <p:txEl>
                                              <p:pRg st="0" end="0"/>
                                            </p:txEl>
                                          </p:spTgt>
                                        </p:tgtEl>
                                        <p:attrNameLst>
                                          <p:attrName>style.visibility</p:attrName>
                                        </p:attrNameLst>
                                      </p:cBhvr>
                                      <p:to>
                                        <p:strVal val="visible"/>
                                      </p:to>
                                    </p:set>
                                    <p:anim calcmode="lin" valueType="num">
                                      <p:cBhvr additive="base">
                                        <p:cTn id="20"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1000"/>
                                        <p:tgtEl>
                                          <p:spTgt spid="5"/>
                                        </p:tgtEl>
                                      </p:cBhvr>
                                    </p:animEffect>
                                    <p:anim calcmode="lin" valueType="num">
                                      <p:cBhvr>
                                        <p:cTn id="34" dur="1000" fill="hold"/>
                                        <p:tgtEl>
                                          <p:spTgt spid="5"/>
                                        </p:tgtEl>
                                        <p:attrNameLst>
                                          <p:attrName>ppt_x</p:attrName>
                                        </p:attrNameLst>
                                      </p:cBhvr>
                                      <p:tavLst>
                                        <p:tav tm="0">
                                          <p:val>
                                            <p:strVal val="#ppt_x"/>
                                          </p:val>
                                        </p:tav>
                                        <p:tav tm="100000">
                                          <p:val>
                                            <p:strVal val="#ppt_x"/>
                                          </p:val>
                                        </p:tav>
                                      </p:tavLst>
                                    </p:anim>
                                    <p:anim calcmode="lin" valueType="num">
                                      <p:cBhvr>
                                        <p:cTn id="3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build="p"/>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b="1" dirty="0"/>
              <a:t>检测与处理重复值</a:t>
            </a:r>
            <a:endParaRPr lang="zh-CN" altLang="en-US" dirty="0"/>
          </a:p>
        </p:txBody>
      </p:sp>
      <p:sp>
        <p:nvSpPr>
          <p:cNvPr id="5" name="矩形 4"/>
          <p:cNvSpPr/>
          <p:nvPr/>
        </p:nvSpPr>
        <p:spPr>
          <a:xfrm>
            <a:off x="936567" y="1260823"/>
            <a:ext cx="6096000" cy="3139321"/>
          </a:xfrm>
          <a:prstGeom prst="rect">
            <a:avLst/>
          </a:prstGeom>
        </p:spPr>
        <p:txBody>
          <a:bodyPr>
            <a:spAutoFit/>
          </a:bodyPr>
          <a:lstStyle/>
          <a:p>
            <a:r>
              <a:rPr lang="zh-CN" altLang="en-US" dirty="0"/>
              <a:t># 定义求取特征是否完全相同的矩阵的函数</a:t>
            </a:r>
          </a:p>
          <a:p>
            <a:r>
              <a:rPr lang="zh-CN" altLang="en-US" dirty="0"/>
              <a:t>def feature_equals(df):</a:t>
            </a:r>
          </a:p>
          <a:p>
            <a:r>
              <a:rPr lang="zh-CN" altLang="en-US" dirty="0"/>
              <a:t>    df_equals = pd.DataFrame([])</a:t>
            </a:r>
          </a:p>
          <a:p>
            <a:r>
              <a:rPr lang="zh-CN" altLang="en-US" dirty="0"/>
              <a:t>    for i in df.columns:</a:t>
            </a:r>
          </a:p>
          <a:p>
            <a:r>
              <a:rPr lang="zh-CN" altLang="en-US" dirty="0"/>
              <a:t>        for j in df.columns:</a:t>
            </a:r>
          </a:p>
          <a:p>
            <a:r>
              <a:rPr lang="zh-CN" altLang="en-US" dirty="0"/>
              <a:t>            df_equals.loc[i, j] = df.loc[:, i].equals(df.loc[:, j])</a:t>
            </a:r>
          </a:p>
          <a:p>
            <a:r>
              <a:rPr lang="zh-CN" altLang="en-US" dirty="0"/>
              <a:t>    return df_equals</a:t>
            </a:r>
          </a:p>
          <a:p>
            <a:r>
              <a:rPr lang="zh-CN" altLang="en-US" dirty="0"/>
              <a:t># 应用上述函数</a:t>
            </a:r>
          </a:p>
          <a:p>
            <a:r>
              <a:rPr lang="zh-CN" altLang="en-US" dirty="0"/>
              <a:t>app_desire = feature_equals(all_info)</a:t>
            </a:r>
          </a:p>
          <a:p>
            <a:r>
              <a:rPr lang="zh-CN" altLang="en-US" dirty="0"/>
              <a:t>print('app_desire的特征相等矩阵的前7行7列为：\n', </a:t>
            </a:r>
          </a:p>
          <a:p>
            <a:r>
              <a:rPr lang="zh-CN" altLang="en-US" dirty="0"/>
              <a:t>      app_desire.iloc[:7, :7])</a:t>
            </a:r>
          </a:p>
        </p:txBody>
      </p:sp>
      <p:pic>
        <p:nvPicPr>
          <p:cNvPr id="7" name="图片 6"/>
          <p:cNvPicPr>
            <a:picLocks noChangeAspect="1"/>
          </p:cNvPicPr>
          <p:nvPr/>
        </p:nvPicPr>
        <p:blipFill>
          <a:blip r:embed="rId2"/>
          <a:stretch>
            <a:fillRect/>
          </a:stretch>
        </p:blipFill>
        <p:spPr>
          <a:xfrm>
            <a:off x="6132650" y="1560925"/>
            <a:ext cx="5895238" cy="1990476"/>
          </a:xfrm>
          <a:prstGeom prst="rect">
            <a:avLst/>
          </a:prstGeom>
        </p:spPr>
      </p:pic>
    </p:spTree>
    <p:extLst>
      <p:ext uri="{BB962C8B-B14F-4D97-AF65-F5344CB8AC3E}">
        <p14:creationId xmlns:p14="http://schemas.microsoft.com/office/powerpoint/2010/main" val="26067669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在数据中的某个或某些特征的值是不完整的，这些值称为</a:t>
            </a:r>
            <a:r>
              <a:rPr lang="zh-CN"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缺失值</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p>
          <a:p>
            <a:r>
              <a:rPr lang="en-US" altLang="zh-CN" sz="1800" dirty="0">
                <a:effectLst/>
                <a:latin typeface="Times New Roman" panose="02020603050405020304" pitchFamily="18" charset="0"/>
                <a:ea typeface="宋体" panose="02010600030101010101" pitchFamily="2" charset="-122"/>
              </a:rPr>
              <a:t>pandas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提供了识别缺失值的</a:t>
            </a:r>
            <a:r>
              <a:rPr lang="en-US" altLang="zh-CN" sz="1800" dirty="0" err="1">
                <a:effectLst/>
                <a:latin typeface="Times New Roman" panose="02020603050405020304" pitchFamily="18" charset="0"/>
                <a:ea typeface="宋体" panose="02010600030101010101" pitchFamily="2" charset="-122"/>
              </a:rPr>
              <a:t>isnull</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方法以及识别非缺失值的</a:t>
            </a:r>
            <a:r>
              <a:rPr lang="en-US" altLang="zh-CN" sz="1800" dirty="0" err="1">
                <a:effectLst/>
                <a:latin typeface="Times New Roman" panose="02020603050405020304" pitchFamily="18" charset="0"/>
                <a:ea typeface="宋体" panose="02010600030101010101" pitchFamily="2" charset="-122"/>
              </a:rPr>
              <a:t>notnull</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方法，</a:t>
            </a:r>
            <a:r>
              <a:rPr lang="zh-CN"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这两种方法在使用时返回的都是布尔值，即</a:t>
            </a:r>
            <a:r>
              <a:rPr lang="en-US" altLang="zh-CN" sz="1800" dirty="0">
                <a:solidFill>
                  <a:srgbClr val="FF0000"/>
                </a:solidFill>
                <a:effectLst/>
                <a:latin typeface="Times New Roman" panose="02020603050405020304" pitchFamily="18" charset="0"/>
                <a:ea typeface="宋体" panose="02010600030101010101" pitchFamily="2" charset="-122"/>
              </a:rPr>
              <a:t>True</a:t>
            </a:r>
            <a:r>
              <a:rPr lang="zh-CN"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solidFill>
                  <a:srgbClr val="FF0000"/>
                </a:solidFill>
                <a:effectLst/>
                <a:latin typeface="Times New Roman" panose="02020603050405020304" pitchFamily="18" charset="0"/>
                <a:ea typeface="宋体" panose="02010600030101010101" pitchFamily="2" charset="-122"/>
              </a:rPr>
              <a:t>False</a:t>
            </a:r>
            <a:r>
              <a:rPr lang="zh-CN"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结合</a:t>
            </a:r>
            <a:r>
              <a:rPr lang="en-US" altLang="zh-CN" sz="1800" dirty="0">
                <a:effectLst/>
                <a:latin typeface="Times New Roman" panose="02020603050405020304" pitchFamily="18" charset="0"/>
                <a:ea typeface="宋体" panose="02010600030101010101" pitchFamily="2" charset="-122"/>
              </a:rPr>
              <a:t>sum</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函数、</a:t>
            </a:r>
            <a:r>
              <a:rPr lang="en-US" altLang="zh-CN" sz="1800" dirty="0" err="1">
                <a:effectLst/>
                <a:latin typeface="Times New Roman" panose="02020603050405020304" pitchFamily="18" charset="0"/>
                <a:ea typeface="宋体" panose="02010600030101010101" pitchFamily="2" charset="-122"/>
              </a:rPr>
              <a:t>isnull</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方法和</a:t>
            </a:r>
            <a:r>
              <a:rPr lang="en-US" altLang="zh-CN" sz="1800" dirty="0" err="1">
                <a:effectLst/>
                <a:latin typeface="Times New Roman" panose="02020603050405020304" pitchFamily="18" charset="0"/>
                <a:ea typeface="宋体" panose="02010600030101010101" pitchFamily="2" charset="-122"/>
              </a:rPr>
              <a:t>notnull</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方法，可以检测数据中缺失值的分布以及数据中一共含有多少缺失值</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rPr>
              <a:t>isnull</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方法和</a:t>
            </a:r>
            <a:r>
              <a:rPr lang="en-US" altLang="zh-CN" sz="1800" dirty="0" err="1">
                <a:effectLst/>
                <a:latin typeface="Times New Roman" panose="02020603050405020304" pitchFamily="18" charset="0"/>
                <a:ea typeface="宋体" panose="02010600030101010101" pitchFamily="2" charset="-122"/>
              </a:rPr>
              <a:t>notnull</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方法的结果正好相反，因此使用其中任意一个都可以识别出数据是否存在缺失值。</a:t>
            </a:r>
            <a:endParaRPr lang="zh-CN" altLang="en-US" dirty="0"/>
          </a:p>
        </p:txBody>
      </p:sp>
      <p:sp>
        <p:nvSpPr>
          <p:cNvPr id="3" name="标题 2"/>
          <p:cNvSpPr>
            <a:spLocks noGrp="1"/>
          </p:cNvSpPr>
          <p:nvPr>
            <p:ph type="title"/>
          </p:nvPr>
        </p:nvSpPr>
        <p:spPr/>
        <p:txBody>
          <a:bodyPr/>
          <a:lstStyle/>
          <a:p>
            <a:r>
              <a:rPr lang="zh-CN" altLang="en-US" b="1" dirty="0"/>
              <a:t>二、检测与处理缺失值</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b="1" dirty="0"/>
              <a:t>二、检测与处理缺失值</a:t>
            </a:r>
            <a:endParaRPr lang="zh-CN" altLang="en-US" dirty="0"/>
          </a:p>
        </p:txBody>
      </p:sp>
      <p:sp>
        <p:nvSpPr>
          <p:cNvPr id="5" name="矩形 4"/>
          <p:cNvSpPr/>
          <p:nvPr/>
        </p:nvSpPr>
        <p:spPr>
          <a:xfrm>
            <a:off x="387926" y="1482174"/>
            <a:ext cx="8598131" cy="646331"/>
          </a:xfrm>
          <a:prstGeom prst="rect">
            <a:avLst/>
          </a:prstGeom>
        </p:spPr>
        <p:txBody>
          <a:bodyPr wrap="square">
            <a:spAutoFit/>
          </a:bodyPr>
          <a:lstStyle/>
          <a:p>
            <a:r>
              <a:rPr lang="zh-CN" altLang="en-US" dirty="0"/>
              <a:t>print('all_info每个特征缺失的数目为：\n', all_info.isnull().sum())</a:t>
            </a:r>
          </a:p>
          <a:p>
            <a:r>
              <a:rPr lang="zh-CN" altLang="en-US" dirty="0"/>
              <a:t>print('all_info每个特征非缺失的数目为：\n', all_info.notnull().sum())</a:t>
            </a:r>
          </a:p>
        </p:txBody>
      </p:sp>
      <p:pic>
        <p:nvPicPr>
          <p:cNvPr id="7" name="图片 6"/>
          <p:cNvPicPr>
            <a:picLocks noChangeAspect="1"/>
          </p:cNvPicPr>
          <p:nvPr/>
        </p:nvPicPr>
        <p:blipFill>
          <a:blip r:embed="rId2"/>
          <a:stretch>
            <a:fillRect/>
          </a:stretch>
        </p:blipFill>
        <p:spPr>
          <a:xfrm>
            <a:off x="4081187" y="2305635"/>
            <a:ext cx="2533333" cy="3809524"/>
          </a:xfrm>
          <a:prstGeom prst="rect">
            <a:avLst/>
          </a:prstGeom>
        </p:spPr>
      </p:pic>
    </p:spTree>
    <p:extLst>
      <p:ext uri="{BB962C8B-B14F-4D97-AF65-F5344CB8AC3E}">
        <p14:creationId xmlns:p14="http://schemas.microsoft.com/office/powerpoint/2010/main" val="12185678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3819" y="1713662"/>
            <a:ext cx="11193217" cy="4339721"/>
          </a:xfrm>
        </p:spPr>
        <p:txBody>
          <a:bodyPr/>
          <a:lstStyle/>
          <a:p>
            <a:r>
              <a:rPr lang="zh-CN" altLang="en-US" dirty="0"/>
              <a:t>删除法是指将含有缺失值的特征或记录删除。</a:t>
            </a:r>
            <a:endParaRPr lang="en-US" altLang="zh-CN" dirty="0"/>
          </a:p>
          <a:p>
            <a:r>
              <a:rPr lang="zh-CN" altLang="en-US" dirty="0"/>
              <a:t>删除法分为</a:t>
            </a:r>
            <a:r>
              <a:rPr lang="zh-CN" altLang="en-US" dirty="0">
                <a:solidFill>
                  <a:srgbClr val="FF0000"/>
                </a:solidFill>
              </a:rPr>
              <a:t>删除观测记录</a:t>
            </a:r>
            <a:r>
              <a:rPr lang="en-US" altLang="zh-CN" dirty="0">
                <a:solidFill>
                  <a:srgbClr val="FF0000"/>
                </a:solidFill>
              </a:rPr>
              <a:t>(</a:t>
            </a:r>
            <a:r>
              <a:rPr lang="zh-CN" altLang="en-US" dirty="0">
                <a:solidFill>
                  <a:srgbClr val="FF0000"/>
                </a:solidFill>
              </a:rPr>
              <a:t>即删除缺失的行</a:t>
            </a:r>
            <a:r>
              <a:rPr lang="en-US" altLang="zh-CN" dirty="0">
                <a:solidFill>
                  <a:srgbClr val="FF0000"/>
                </a:solidFill>
              </a:rPr>
              <a:t>)</a:t>
            </a:r>
            <a:r>
              <a:rPr lang="zh-CN" altLang="en-US" dirty="0"/>
              <a:t>和</a:t>
            </a:r>
            <a:r>
              <a:rPr lang="zh-CN" altLang="en-US" dirty="0">
                <a:solidFill>
                  <a:srgbClr val="064BB2"/>
                </a:solidFill>
              </a:rPr>
              <a:t>删除特征</a:t>
            </a:r>
            <a:r>
              <a:rPr lang="en-US" altLang="zh-CN" dirty="0">
                <a:solidFill>
                  <a:srgbClr val="064BB2"/>
                </a:solidFill>
              </a:rPr>
              <a:t>(</a:t>
            </a:r>
            <a:r>
              <a:rPr lang="zh-CN" altLang="en-US" dirty="0">
                <a:solidFill>
                  <a:srgbClr val="064BB2"/>
                </a:solidFill>
              </a:rPr>
              <a:t>即删除缺失的列</a:t>
            </a:r>
            <a:r>
              <a:rPr lang="en-US" altLang="zh-CN" dirty="0">
                <a:solidFill>
                  <a:srgbClr val="064BB2"/>
                </a:solidFill>
              </a:rPr>
              <a:t>)</a:t>
            </a:r>
            <a:r>
              <a:rPr lang="zh-CN" altLang="en-US" dirty="0"/>
              <a:t>两种，它属于通过减少样本量来换取信息完整度的一种方法，是一种较为简单的缺失值处理方法。</a:t>
            </a:r>
            <a:endParaRPr lang="en-US" altLang="zh-CN" dirty="0"/>
          </a:p>
          <a:p>
            <a:r>
              <a:rPr lang="en-US" altLang="zh-CN" dirty="0"/>
              <a:t>pandas</a:t>
            </a:r>
            <a:r>
              <a:rPr lang="zh-CN" altLang="en-US" dirty="0"/>
              <a:t>中提供了简便的删除缺失值的</a:t>
            </a:r>
            <a:r>
              <a:rPr lang="en-US" altLang="zh-CN" dirty="0" err="1"/>
              <a:t>dropna</a:t>
            </a:r>
            <a:r>
              <a:rPr lang="en-US" altLang="zh-CN" dirty="0"/>
              <a:t>()</a:t>
            </a:r>
            <a:r>
              <a:rPr lang="zh-CN" altLang="en-US" dirty="0"/>
              <a:t>方法，通过控制参数，既可以删除观测记录，又可以删除特征。</a:t>
            </a:r>
            <a:endParaRPr lang="en-US" altLang="zh-CN" i="1" dirty="0"/>
          </a:p>
          <a:p>
            <a:endParaRPr lang="zh-CN" altLang="en-US" b="1" dirty="0"/>
          </a:p>
        </p:txBody>
      </p:sp>
      <p:sp>
        <p:nvSpPr>
          <p:cNvPr id="3" name="标题 2"/>
          <p:cNvSpPr>
            <a:spLocks noGrp="1"/>
          </p:cNvSpPr>
          <p:nvPr>
            <p:ph type="title"/>
          </p:nvPr>
        </p:nvSpPr>
        <p:spPr/>
        <p:txBody>
          <a:bodyPr/>
          <a:lstStyle/>
          <a:p>
            <a:r>
              <a:rPr lang="zh-CN" altLang="en-US" b="1" dirty="0"/>
              <a:t>检测与处理缺失值</a:t>
            </a:r>
            <a:endParaRPr lang="zh-CN" altLang="en-US" dirty="0"/>
          </a:p>
        </p:txBody>
      </p:sp>
      <p:sp>
        <p:nvSpPr>
          <p:cNvPr id="4" name="内容占位符 3"/>
          <p:cNvSpPr>
            <a:spLocks noGrp="1"/>
          </p:cNvSpPr>
          <p:nvPr>
            <p:ph idx="10"/>
          </p:nvPr>
        </p:nvSpPr>
        <p:spPr/>
        <p:txBody>
          <a:bodyPr/>
          <a:lstStyle/>
          <a:p>
            <a:r>
              <a:rPr lang="en-US" altLang="zh-CN" b="1" dirty="0"/>
              <a:t>1. </a:t>
            </a:r>
            <a:r>
              <a:rPr lang="zh-CN" altLang="en-US" b="1" dirty="0"/>
              <a:t>删除法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err="1"/>
              <a:t>dropna</a:t>
            </a:r>
            <a:r>
              <a:rPr lang="en-US" altLang="zh-CN" dirty="0"/>
              <a:t>()</a:t>
            </a:r>
            <a:r>
              <a:rPr lang="zh-CN" altLang="en-US" dirty="0"/>
              <a:t>方法的基本使用格式如下。</a:t>
            </a:r>
            <a:endParaRPr lang="en-US" altLang="zh-CN" dirty="0"/>
          </a:p>
          <a:p>
            <a:pPr marL="0" indent="457200">
              <a:buNone/>
            </a:pPr>
            <a:endParaRPr lang="en-US" altLang="zh-CN" dirty="0"/>
          </a:p>
          <a:p>
            <a:pPr marL="0" indent="457200">
              <a:buNone/>
            </a:pPr>
            <a:endParaRPr lang="en-US" altLang="zh-CN" dirty="0"/>
          </a:p>
          <a:p>
            <a:pPr marL="0" indent="457200">
              <a:buNone/>
            </a:pPr>
            <a:r>
              <a:rPr lang="en-US" altLang="zh-CN" dirty="0" err="1"/>
              <a:t>dropna</a:t>
            </a:r>
            <a:r>
              <a:rPr lang="en-US" altLang="zh-CN" dirty="0"/>
              <a:t>()</a:t>
            </a:r>
            <a:r>
              <a:rPr lang="zh-CN" altLang="zh-CN" dirty="0"/>
              <a:t>方法的常用参数及其说明</a:t>
            </a:r>
            <a:r>
              <a:rPr lang="zh-CN" altLang="en-US" dirty="0"/>
              <a:t>。</a:t>
            </a:r>
            <a:endParaRPr lang="en-US" altLang="zh-CN" i="1" dirty="0"/>
          </a:p>
          <a:p>
            <a:endParaRPr lang="zh-CN" altLang="en-US" b="1" dirty="0"/>
          </a:p>
        </p:txBody>
      </p:sp>
      <p:sp>
        <p:nvSpPr>
          <p:cNvPr id="3" name="标题 2"/>
          <p:cNvSpPr>
            <a:spLocks noGrp="1"/>
          </p:cNvSpPr>
          <p:nvPr>
            <p:ph type="title"/>
          </p:nvPr>
        </p:nvSpPr>
        <p:spPr/>
        <p:txBody>
          <a:bodyPr/>
          <a:lstStyle/>
          <a:p>
            <a:r>
              <a:rPr lang="zh-CN" altLang="en-US" b="1" dirty="0"/>
              <a:t>检测与处理缺失值</a:t>
            </a:r>
            <a:endParaRPr lang="zh-CN" altLang="en-US" dirty="0"/>
          </a:p>
        </p:txBody>
      </p:sp>
      <p:graphicFrame>
        <p:nvGraphicFramePr>
          <p:cNvPr id="5" name="表格 5"/>
          <p:cNvGraphicFramePr>
            <a:graphicFrameLocks noGrp="1"/>
          </p:cNvGraphicFramePr>
          <p:nvPr>
            <p:extLst>
              <p:ext uri="{D42A27DB-BD31-4B8C-83A1-F6EECF244321}">
                <p14:modId xmlns:p14="http://schemas.microsoft.com/office/powerpoint/2010/main" val="1284407111"/>
              </p:ext>
            </p:extLst>
          </p:nvPr>
        </p:nvGraphicFramePr>
        <p:xfrm>
          <a:off x="1020044" y="3234931"/>
          <a:ext cx="9786152" cy="2700000"/>
        </p:xfrm>
        <a:graphic>
          <a:graphicData uri="http://schemas.openxmlformats.org/drawingml/2006/table">
            <a:tbl>
              <a:tblPr firstRow="1" firstCol="1" bandRow="1">
                <a:tableStyleId>{5C22544A-7EE6-4342-B048-85BDC9FD1C3A}</a:tableStyleId>
              </a:tblPr>
              <a:tblGrid>
                <a:gridCol w="1593385">
                  <a:extLst>
                    <a:ext uri="{9D8B030D-6E8A-4147-A177-3AD203B41FA5}">
                      <a16:colId xmlns:a16="http://schemas.microsoft.com/office/drawing/2014/main" val="20000"/>
                    </a:ext>
                  </a:extLst>
                </a:gridCol>
                <a:gridCol w="8192767">
                  <a:extLst>
                    <a:ext uri="{9D8B030D-6E8A-4147-A177-3AD203B41FA5}">
                      <a16:colId xmlns:a16="http://schemas.microsoft.com/office/drawing/2014/main" val="20001"/>
                    </a:ext>
                  </a:extLst>
                </a:gridCol>
              </a:tblGrid>
              <a:tr h="540000">
                <a:tc>
                  <a:txBody>
                    <a:bodyPr/>
                    <a:lstStyle/>
                    <a:p>
                      <a:pPr algn="ctr"/>
                      <a:r>
                        <a:rPr lang="zh-CN" sz="1700" b="1" kern="100" baseline="0" dirty="0">
                          <a:effectLst/>
                          <a:latin typeface="Times New Roman" panose="02020603050405020304" pitchFamily="18" charset="0"/>
                          <a:ea typeface="宋体" panose="02010600030101010101" pitchFamily="2" charset="-122"/>
                          <a:cs typeface="Times New Roman" panose="02020603050405020304" pitchFamily="18" charset="0"/>
                        </a:rPr>
                        <a:t>参数名称</a:t>
                      </a:r>
                    </a:p>
                  </a:txBody>
                  <a:tcPr marL="68580" marR="68580" marT="0" marB="0" anchor="ctr"/>
                </a:tc>
                <a:tc>
                  <a:txBody>
                    <a:bodyPr/>
                    <a:lstStyle/>
                    <a:p>
                      <a:pPr algn="ctr"/>
                      <a:r>
                        <a:rPr lang="zh-CN" sz="1700" b="1" kern="100" baseline="0" dirty="0">
                          <a:effectLst/>
                          <a:latin typeface="Times New Roman" panose="02020603050405020304" pitchFamily="18" charset="0"/>
                          <a:ea typeface="宋体" panose="02010600030101010101" pitchFamily="2" charset="-122"/>
                          <a:cs typeface="Times New Roman" panose="02020603050405020304" pitchFamily="18" charset="0"/>
                        </a:rPr>
                        <a:t>参数说明</a:t>
                      </a:r>
                    </a:p>
                  </a:txBody>
                  <a:tcPr marL="68580" marR="68580" marT="0" marB="0" anchor="ctr"/>
                </a:tc>
                <a:extLst>
                  <a:ext uri="{0D108BD9-81ED-4DB2-BD59-A6C34878D82A}">
                    <a16:rowId xmlns:a16="http://schemas.microsoft.com/office/drawing/2014/main" val="10000"/>
                  </a:ext>
                </a:extLst>
              </a:tr>
              <a:tr h="540000">
                <a:tc>
                  <a:txBody>
                    <a:bodyPr/>
                    <a:lstStyle/>
                    <a:p>
                      <a:pPr algn="ct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axis</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0</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。表示轴向，</a:t>
                      </a:r>
                      <a:r>
                        <a:rPr lang="en-US"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zh-CN"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为删除观测记录（行），</a:t>
                      </a:r>
                      <a:r>
                        <a:rPr lang="en-US"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为删除特征（列）。默认为</a:t>
                      </a:r>
                      <a:r>
                        <a:rPr lang="en-US"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1700" kern="100" baseline="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540000">
                <a:tc>
                  <a:txBody>
                    <a:bodyPr/>
                    <a:lstStyle/>
                    <a:p>
                      <a:pPr algn="ctr"/>
                      <a:r>
                        <a:rPr lang="en-US" sz="1700" kern="100" baseline="0">
                          <a:effectLst/>
                          <a:latin typeface="Times New Roman" panose="02020603050405020304" pitchFamily="18" charset="0"/>
                          <a:ea typeface="宋体" panose="02010600030101010101" pitchFamily="2" charset="-122"/>
                          <a:cs typeface="Times New Roman" panose="02020603050405020304" pitchFamily="18" charset="0"/>
                        </a:rPr>
                        <a:t>how</a:t>
                      </a:r>
                      <a:endParaRPr lang="zh-CN" sz="17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接收特定</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str</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。表示删除的形式，当取值为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any</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时，表示只要有缺失值存在就执行删除操作；当取值为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all</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时，表示当且仅当全部为缺失值时才执行删除操作。默认为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any</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540000">
                <a:tc>
                  <a:txBody>
                    <a:bodyPr/>
                    <a:lstStyle/>
                    <a:p>
                      <a:pPr algn="ct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subset</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array</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。表示进行去重的列</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行。默认为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None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540000">
                <a:tc>
                  <a:txBody>
                    <a:bodyPr/>
                    <a:lstStyle/>
                    <a:p>
                      <a:pPr algn="ctr"/>
                      <a:r>
                        <a:rPr lang="en-US" sz="1700" kern="100" baseline="0" dirty="0" err="1">
                          <a:effectLst/>
                          <a:latin typeface="Times New Roman" panose="02020603050405020304" pitchFamily="18" charset="0"/>
                          <a:ea typeface="宋体" panose="02010600030101010101" pitchFamily="2" charset="-122"/>
                          <a:cs typeface="Times New Roman" panose="02020603050405020304" pitchFamily="18" charset="0"/>
                        </a:rPr>
                        <a:t>inplace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bool</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。表示是否在原表上进行操作。默认为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6" name="TextBox 5">
            <a:extLst>
              <a:ext uri="{FF2B5EF4-FFF2-40B4-BE49-F238E27FC236}">
                <a16:creationId xmlns:a16="http://schemas.microsoft.com/office/drawing/2014/main" id="{F764C0B1-B3C2-4601-A54E-E44079389FA7}"/>
              </a:ext>
            </a:extLst>
          </p:cNvPr>
          <p:cNvSpPr txBox="1">
            <a:spLocks noChangeArrowheads="1"/>
          </p:cNvSpPr>
          <p:nvPr/>
        </p:nvSpPr>
        <p:spPr bwMode="auto">
          <a:xfrm>
            <a:off x="381010" y="1738669"/>
            <a:ext cx="1119321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8775">
              <a:spcBef>
                <a:spcPct val="20000"/>
              </a:spcBef>
              <a:buClr>
                <a:srgbClr val="000066"/>
              </a:buClr>
              <a:buFont typeface="Wingdings" panose="05000000000000000000" pitchFamily="2" charset="2"/>
              <a:buChar char="n"/>
              <a:defRPr kumimoji="1" sz="21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9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5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9pPr>
          </a:lstStyle>
          <a:p>
            <a:pPr>
              <a:spcBef>
                <a:spcPct val="0"/>
              </a:spcBef>
              <a:buClrTx/>
              <a:buNone/>
            </a:pPr>
            <a:r>
              <a:rPr kumimoji="0" lang="en-US" altLang="zh-CN" sz="2200" i="1" dirty="0" err="1">
                <a:latin typeface="Times New Roman" panose="02020603050405020304" pitchFamily="18" charset="0"/>
                <a:cs typeface="Times New Roman" panose="02020603050405020304" pitchFamily="18" charset="0"/>
              </a:rPr>
              <a:t>pandas.DataFrame.dropna</a:t>
            </a:r>
            <a:r>
              <a:rPr kumimoji="0" lang="en-US" altLang="zh-CN" sz="2200" i="1" dirty="0">
                <a:latin typeface="Times New Roman" panose="02020603050405020304" pitchFamily="18" charset="0"/>
                <a:cs typeface="Times New Roman" panose="02020603050405020304" pitchFamily="18" charset="0"/>
              </a:rPr>
              <a:t>(axis=0, how='any', thresh=None, subset=None, </a:t>
            </a:r>
            <a:r>
              <a:rPr kumimoji="0" lang="en-US" altLang="zh-CN" sz="2200" i="1" dirty="0" err="1">
                <a:latin typeface="Times New Roman" panose="02020603050405020304" pitchFamily="18" charset="0"/>
                <a:cs typeface="Times New Roman" panose="02020603050405020304" pitchFamily="18" charset="0"/>
              </a:rPr>
              <a:t>inplace</a:t>
            </a:r>
            <a:r>
              <a:rPr kumimoji="0" lang="en-US" altLang="zh-CN" sz="2200" i="1" dirty="0">
                <a:latin typeface="Times New Roman" panose="02020603050405020304" pitchFamily="18" charset="0"/>
                <a:cs typeface="Times New Roman" panose="02020603050405020304" pitchFamily="18" charset="0"/>
              </a:rPr>
              <a:t>=False)</a:t>
            </a:r>
          </a:p>
        </p:txBody>
      </p:sp>
    </p:spTree>
    <p:extLst>
      <p:ext uri="{BB962C8B-B14F-4D97-AF65-F5344CB8AC3E}">
        <p14:creationId xmlns:p14="http://schemas.microsoft.com/office/powerpoint/2010/main" val="2637033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 calcmode="lin" valueType="num">
                                      <p:cBhvr additive="base">
                                        <p:cTn id="21"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 calcmode="lin" valueType="num">
                                      <p:cBhvr additive="base">
                                        <p:cTn id="27"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1000"/>
                                        <p:tgtEl>
                                          <p:spTgt spid="5"/>
                                        </p:tgtEl>
                                      </p:cBhvr>
                                    </p:animEffect>
                                    <p:anim calcmode="lin" valueType="num">
                                      <p:cBhvr>
                                        <p:cTn id="34" dur="1000" fill="hold"/>
                                        <p:tgtEl>
                                          <p:spTgt spid="5"/>
                                        </p:tgtEl>
                                        <p:attrNameLst>
                                          <p:attrName>ppt_x</p:attrName>
                                        </p:attrNameLst>
                                      </p:cBhvr>
                                      <p:tavLst>
                                        <p:tav tm="0">
                                          <p:val>
                                            <p:strVal val="#ppt_x"/>
                                          </p:val>
                                        </p:tav>
                                        <p:tav tm="100000">
                                          <p:val>
                                            <p:strVal val="#ppt_x"/>
                                          </p:val>
                                        </p:tav>
                                      </p:tavLst>
                                    </p:anim>
                                    <p:anim calcmode="lin" valueType="num">
                                      <p:cBhvr>
                                        <p:cTn id="3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b="1" dirty="0"/>
              <a:t>检测与处理缺失值</a:t>
            </a:r>
            <a:endParaRPr lang="zh-CN" altLang="en-US" dirty="0"/>
          </a:p>
        </p:txBody>
      </p:sp>
      <p:sp>
        <p:nvSpPr>
          <p:cNvPr id="7" name="矩形 6"/>
          <p:cNvSpPr/>
          <p:nvPr/>
        </p:nvSpPr>
        <p:spPr>
          <a:xfrm>
            <a:off x="803563" y="1473861"/>
            <a:ext cx="6686203" cy="1200329"/>
          </a:xfrm>
          <a:prstGeom prst="rect">
            <a:avLst/>
          </a:prstGeom>
        </p:spPr>
        <p:txBody>
          <a:bodyPr wrap="square">
            <a:spAutoFit/>
          </a:bodyPr>
          <a:lstStyle/>
          <a:p>
            <a:r>
              <a:rPr lang="zh-CN" altLang="en-US" dirty="0"/>
              <a:t>print('去除缺失的行前all_info的形状为：', all_info.shape)</a:t>
            </a:r>
          </a:p>
          <a:p>
            <a:r>
              <a:rPr lang="zh-CN" altLang="en-US" dirty="0"/>
              <a:t>all_info1 = all_info.dropna(axis=0, how='any')</a:t>
            </a:r>
          </a:p>
          <a:p>
            <a:r>
              <a:rPr lang="zh-CN" altLang="en-US" dirty="0"/>
              <a:t>print('去除缺失的行后all_info的形状为：', all_info1.shape)</a:t>
            </a:r>
          </a:p>
          <a:p>
            <a:r>
              <a:rPr lang="zh-CN" altLang="en-US" dirty="0"/>
              <a:t>all_info1.to_csv('./tmp/all_info_notnull.csv', index=False)</a:t>
            </a:r>
          </a:p>
        </p:txBody>
      </p:sp>
      <p:pic>
        <p:nvPicPr>
          <p:cNvPr id="8" name="图片 7"/>
          <p:cNvPicPr>
            <a:picLocks noChangeAspect="1"/>
          </p:cNvPicPr>
          <p:nvPr/>
        </p:nvPicPr>
        <p:blipFill>
          <a:blip r:embed="rId2"/>
          <a:stretch>
            <a:fillRect/>
          </a:stretch>
        </p:blipFill>
        <p:spPr>
          <a:xfrm>
            <a:off x="1607686" y="3196795"/>
            <a:ext cx="3390476" cy="514286"/>
          </a:xfrm>
          <a:prstGeom prst="rect">
            <a:avLst/>
          </a:prstGeom>
        </p:spPr>
      </p:pic>
    </p:spTree>
    <p:extLst>
      <p:ext uri="{BB962C8B-B14F-4D97-AF65-F5344CB8AC3E}">
        <p14:creationId xmlns:p14="http://schemas.microsoft.com/office/powerpoint/2010/main" val="22630792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3819" y="1713662"/>
            <a:ext cx="11432208" cy="4339721"/>
          </a:xfrm>
        </p:spPr>
        <p:txBody>
          <a:bodyPr/>
          <a:lstStyle/>
          <a:p>
            <a:r>
              <a:rPr lang="zh-CN" altLang="en-US" dirty="0"/>
              <a:t>替换法是指用一个</a:t>
            </a:r>
            <a:r>
              <a:rPr lang="zh-CN" altLang="en-US" dirty="0">
                <a:solidFill>
                  <a:srgbClr val="FF0000"/>
                </a:solidFill>
              </a:rPr>
              <a:t>特定的值替换缺失值</a:t>
            </a:r>
            <a:r>
              <a:rPr lang="zh-CN" altLang="en-US" dirty="0"/>
              <a:t>。</a:t>
            </a:r>
            <a:endParaRPr lang="en-US" altLang="zh-CN" dirty="0"/>
          </a:p>
          <a:p>
            <a:r>
              <a:rPr lang="zh-CN" altLang="en-US" dirty="0">
                <a:solidFill>
                  <a:srgbClr val="FF0000"/>
                </a:solidFill>
              </a:rPr>
              <a:t>特征可分为数值型和类别型</a:t>
            </a:r>
            <a:r>
              <a:rPr lang="zh-CN" altLang="en-US" dirty="0"/>
              <a:t>，两者出现缺失值时的处理方法也是不同的。</a:t>
            </a:r>
            <a:endParaRPr lang="en-US" altLang="zh-CN" dirty="0"/>
          </a:p>
          <a:p>
            <a:pPr marL="720090">
              <a:spcBef>
                <a:spcPts val="900"/>
              </a:spcBef>
              <a:buFont typeface="Arial" panose="020B0604020202020204" pitchFamily="34" charset="0"/>
              <a:buChar char="•"/>
              <a:defRPr/>
            </a:pPr>
            <a:r>
              <a:rPr lang="zh-CN" altLang="en-US" dirty="0"/>
              <a:t>当缺失值所在特征为数值型时，</a:t>
            </a:r>
            <a:r>
              <a:rPr lang="zh-CN" altLang="en-US" dirty="0">
                <a:solidFill>
                  <a:srgbClr val="FF0000"/>
                </a:solidFill>
              </a:rPr>
              <a:t>通常利用其均值、中位数或众数</a:t>
            </a:r>
            <a:r>
              <a:rPr lang="zh-CN" altLang="en-US" dirty="0"/>
              <a:t>等描述其集中趋势的统计量来代替缺失值。</a:t>
            </a:r>
            <a:endParaRPr lang="en-US" altLang="zh-CN" dirty="0"/>
          </a:p>
          <a:p>
            <a:pPr marL="720090">
              <a:spcBef>
                <a:spcPts val="900"/>
              </a:spcBef>
              <a:buFont typeface="Arial" panose="020B0604020202020204" pitchFamily="34" charset="0"/>
              <a:buChar char="•"/>
              <a:defRPr/>
            </a:pPr>
            <a:r>
              <a:rPr lang="zh-CN" altLang="en-US" dirty="0"/>
              <a:t>当缺失值所在特征为类别型时，则选择使用</a:t>
            </a:r>
            <a:r>
              <a:rPr lang="zh-CN" altLang="en-US" dirty="0">
                <a:solidFill>
                  <a:srgbClr val="FF0000"/>
                </a:solidFill>
              </a:rPr>
              <a:t>众数来替换缺失值</a:t>
            </a:r>
            <a:r>
              <a:rPr lang="zh-CN" altLang="en-US" dirty="0"/>
              <a:t>。</a:t>
            </a:r>
            <a:endParaRPr lang="en-US" altLang="zh-CN" dirty="0"/>
          </a:p>
        </p:txBody>
      </p:sp>
      <p:sp>
        <p:nvSpPr>
          <p:cNvPr id="3" name="标题 2"/>
          <p:cNvSpPr>
            <a:spLocks noGrp="1"/>
          </p:cNvSpPr>
          <p:nvPr>
            <p:ph type="title"/>
          </p:nvPr>
        </p:nvSpPr>
        <p:spPr/>
        <p:txBody>
          <a:bodyPr/>
          <a:lstStyle/>
          <a:p>
            <a:r>
              <a:rPr lang="zh-CN" altLang="en-US" b="1" dirty="0"/>
              <a:t>检测与处理缺失值</a:t>
            </a:r>
            <a:endParaRPr lang="zh-CN" altLang="en-US" dirty="0"/>
          </a:p>
        </p:txBody>
      </p:sp>
      <p:sp>
        <p:nvSpPr>
          <p:cNvPr id="4" name="内容占位符 3"/>
          <p:cNvSpPr>
            <a:spLocks noGrp="1"/>
          </p:cNvSpPr>
          <p:nvPr>
            <p:ph idx="10"/>
          </p:nvPr>
        </p:nvSpPr>
        <p:spPr/>
        <p:txBody>
          <a:bodyPr/>
          <a:lstStyle/>
          <a:p>
            <a:r>
              <a:rPr lang="en-US" altLang="zh-CN" b="1" dirty="0"/>
              <a:t>2. </a:t>
            </a:r>
            <a:r>
              <a:rPr lang="zh-CN" altLang="en-US" b="1" dirty="0"/>
              <a:t>替换法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pandas</a:t>
            </a:r>
            <a:r>
              <a:rPr lang="zh-CN" altLang="en-US" dirty="0"/>
              <a:t>库中提供了缺失值替换的</a:t>
            </a:r>
            <a:r>
              <a:rPr lang="en-US" altLang="zh-CN" dirty="0" err="1"/>
              <a:t>fillna</a:t>
            </a:r>
            <a:r>
              <a:rPr lang="en-US" altLang="zh-CN" dirty="0"/>
              <a:t>()</a:t>
            </a:r>
            <a:r>
              <a:rPr lang="zh-CN" altLang="en-US" dirty="0"/>
              <a:t>方法，</a:t>
            </a:r>
            <a:r>
              <a:rPr lang="en-US" altLang="zh-CN" dirty="0" err="1"/>
              <a:t>fillna</a:t>
            </a:r>
            <a:r>
              <a:rPr lang="en-US" altLang="zh-CN" dirty="0"/>
              <a:t>()</a:t>
            </a:r>
            <a:r>
              <a:rPr lang="zh-CN" altLang="en-US" dirty="0"/>
              <a:t>方法的基本使用格式如下。</a:t>
            </a:r>
            <a:endParaRPr lang="en-US" altLang="zh-CN" dirty="0"/>
          </a:p>
          <a:p>
            <a:pPr marL="0" indent="0">
              <a:buNone/>
            </a:pPr>
            <a:endParaRPr lang="en-US" altLang="zh-CN" i="1" dirty="0"/>
          </a:p>
          <a:p>
            <a:pPr marL="0" indent="0">
              <a:buNone/>
            </a:pPr>
            <a:endParaRPr lang="en-US" altLang="zh-CN" i="1" dirty="0"/>
          </a:p>
          <a:p>
            <a:endParaRPr lang="en-US" altLang="zh-CN" i="1" dirty="0"/>
          </a:p>
          <a:p>
            <a:r>
              <a:rPr lang="en-US" altLang="zh-CN" dirty="0" err="1"/>
              <a:t>fillna</a:t>
            </a:r>
            <a:r>
              <a:rPr lang="en-US" altLang="zh-CN" dirty="0"/>
              <a:t>()</a:t>
            </a:r>
            <a:r>
              <a:rPr lang="zh-CN" altLang="en-US" dirty="0"/>
              <a:t>方法的常用参数及其说明如下。</a:t>
            </a:r>
            <a:endParaRPr lang="en-US" altLang="zh-CN" i="1" dirty="0"/>
          </a:p>
          <a:p>
            <a:pPr marL="0" indent="0">
              <a:buNone/>
            </a:pPr>
            <a:endParaRPr lang="en-US" altLang="zh-CN" i="1" dirty="0"/>
          </a:p>
        </p:txBody>
      </p:sp>
      <p:sp>
        <p:nvSpPr>
          <p:cNvPr id="3" name="标题 2"/>
          <p:cNvSpPr>
            <a:spLocks noGrp="1"/>
          </p:cNvSpPr>
          <p:nvPr>
            <p:ph type="title"/>
          </p:nvPr>
        </p:nvSpPr>
        <p:spPr/>
        <p:txBody>
          <a:bodyPr/>
          <a:lstStyle/>
          <a:p>
            <a:r>
              <a:rPr lang="zh-CN" altLang="en-US" b="1" dirty="0"/>
              <a:t>检测与处理缺失值</a:t>
            </a:r>
            <a:endParaRPr lang="zh-CN" altLang="en-US" dirty="0"/>
          </a:p>
        </p:txBody>
      </p:sp>
      <p:sp>
        <p:nvSpPr>
          <p:cNvPr id="6" name="TextBox 5">
            <a:extLst>
              <a:ext uri="{FF2B5EF4-FFF2-40B4-BE49-F238E27FC236}">
                <a16:creationId xmlns:a16="http://schemas.microsoft.com/office/drawing/2014/main" id="{38F4D23E-20F7-4998-9453-12A53FC405C9}"/>
              </a:ext>
            </a:extLst>
          </p:cNvPr>
          <p:cNvSpPr txBox="1">
            <a:spLocks noChangeArrowheads="1"/>
          </p:cNvSpPr>
          <p:nvPr/>
        </p:nvSpPr>
        <p:spPr bwMode="auto">
          <a:xfrm>
            <a:off x="1791348" y="1950675"/>
            <a:ext cx="860930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8775">
              <a:spcBef>
                <a:spcPct val="20000"/>
              </a:spcBef>
              <a:buClr>
                <a:srgbClr val="000066"/>
              </a:buClr>
              <a:buFont typeface="Wingdings" panose="05000000000000000000" pitchFamily="2" charset="2"/>
              <a:buChar char="n"/>
              <a:defRPr kumimoji="1" sz="21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9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5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9pPr>
          </a:lstStyle>
          <a:p>
            <a:pPr>
              <a:spcBef>
                <a:spcPct val="0"/>
              </a:spcBef>
              <a:buClrTx/>
              <a:buNone/>
            </a:pPr>
            <a:r>
              <a:rPr kumimoji="0" lang="en-US" altLang="zh-CN" sz="2200" i="1" dirty="0" err="1">
                <a:latin typeface="Times New Roman" panose="02020603050405020304" pitchFamily="18" charset="0"/>
                <a:cs typeface="Times New Roman" panose="02020603050405020304" pitchFamily="18" charset="0"/>
              </a:rPr>
              <a:t>pandas.DataFrame.fillna</a:t>
            </a:r>
            <a:r>
              <a:rPr kumimoji="0" lang="en-US" altLang="zh-CN" sz="2200" i="1" dirty="0">
                <a:latin typeface="Times New Roman" panose="02020603050405020304" pitchFamily="18" charset="0"/>
                <a:cs typeface="Times New Roman" panose="02020603050405020304" pitchFamily="18" charset="0"/>
              </a:rPr>
              <a:t>(value=None, method=None, axis=None, </a:t>
            </a:r>
            <a:r>
              <a:rPr kumimoji="0" lang="en-US" altLang="zh-CN" sz="2200" i="1" dirty="0" err="1">
                <a:latin typeface="Times New Roman" panose="02020603050405020304" pitchFamily="18" charset="0"/>
                <a:cs typeface="Times New Roman" panose="02020603050405020304" pitchFamily="18" charset="0"/>
              </a:rPr>
              <a:t>inplace</a:t>
            </a:r>
            <a:r>
              <a:rPr kumimoji="0" lang="en-US" altLang="zh-CN" sz="2200" i="1" dirty="0">
                <a:latin typeface="Times New Roman" panose="02020603050405020304" pitchFamily="18" charset="0"/>
                <a:cs typeface="Times New Roman" panose="02020603050405020304" pitchFamily="18" charset="0"/>
              </a:rPr>
              <a:t>=False, limit=None, downcast=None)</a:t>
            </a:r>
          </a:p>
        </p:txBody>
      </p:sp>
      <p:graphicFrame>
        <p:nvGraphicFramePr>
          <p:cNvPr id="4" name="表格 3">
            <a:extLst>
              <a:ext uri="{FF2B5EF4-FFF2-40B4-BE49-F238E27FC236}">
                <a16:creationId xmlns:a16="http://schemas.microsoft.com/office/drawing/2014/main" id="{148C289A-184B-4D50-83D8-4CCC392AACDE}"/>
              </a:ext>
            </a:extLst>
          </p:cNvPr>
          <p:cNvGraphicFramePr>
            <a:graphicFrameLocks noGrp="1"/>
          </p:cNvGraphicFramePr>
          <p:nvPr>
            <p:extLst>
              <p:ext uri="{D42A27DB-BD31-4B8C-83A1-F6EECF244321}">
                <p14:modId xmlns:p14="http://schemas.microsoft.com/office/powerpoint/2010/main" val="870543211"/>
              </p:ext>
            </p:extLst>
          </p:nvPr>
        </p:nvGraphicFramePr>
        <p:xfrm>
          <a:off x="1491538" y="3824117"/>
          <a:ext cx="9208924" cy="1857240"/>
        </p:xfrm>
        <a:graphic>
          <a:graphicData uri="http://schemas.openxmlformats.org/drawingml/2006/table">
            <a:tbl>
              <a:tblPr firstRow="1" firstCol="1" bandRow="1">
                <a:tableStyleId>{5C22544A-7EE6-4342-B048-85BDC9FD1C3A}</a:tableStyleId>
              </a:tblPr>
              <a:tblGrid>
                <a:gridCol w="1110189">
                  <a:extLst>
                    <a:ext uri="{9D8B030D-6E8A-4147-A177-3AD203B41FA5}">
                      <a16:colId xmlns:a16="http://schemas.microsoft.com/office/drawing/2014/main" val="3926998866"/>
                    </a:ext>
                  </a:extLst>
                </a:gridCol>
                <a:gridCol w="8098735">
                  <a:extLst>
                    <a:ext uri="{9D8B030D-6E8A-4147-A177-3AD203B41FA5}">
                      <a16:colId xmlns:a16="http://schemas.microsoft.com/office/drawing/2014/main" val="759133195"/>
                    </a:ext>
                  </a:extLst>
                </a:gridCol>
              </a:tblGrid>
              <a:tr h="540000">
                <a:tc>
                  <a:txBody>
                    <a:bodyPr/>
                    <a:lstStyle/>
                    <a:p>
                      <a:pPr algn="ctr"/>
                      <a:r>
                        <a:rPr lang="zh-CN" sz="1700" b="1" kern="100" baseline="0" dirty="0">
                          <a:effectLst/>
                          <a:latin typeface="Times New Roman" panose="02020603050405020304" pitchFamily="18" charset="0"/>
                          <a:ea typeface="宋体" panose="02010600030101010101" pitchFamily="2" charset="-122"/>
                          <a:cs typeface="Times New Roman" panose="02020603050405020304" pitchFamily="18" charset="0"/>
                        </a:rPr>
                        <a:t>参数名称</a:t>
                      </a:r>
                    </a:p>
                  </a:txBody>
                  <a:tcPr marL="68580" marR="68580" marT="0" marB="0" anchor="ctr"/>
                </a:tc>
                <a:tc>
                  <a:txBody>
                    <a:bodyPr/>
                    <a:lstStyle/>
                    <a:p>
                      <a:pPr algn="ctr"/>
                      <a:r>
                        <a:rPr lang="zh-CN" sz="1700" b="1" kern="100" baseline="0" dirty="0">
                          <a:effectLst/>
                          <a:latin typeface="Times New Roman" panose="02020603050405020304" pitchFamily="18" charset="0"/>
                          <a:ea typeface="宋体" panose="02010600030101010101" pitchFamily="2" charset="-122"/>
                          <a:cs typeface="Times New Roman" panose="02020603050405020304" pitchFamily="18" charset="0"/>
                        </a:rPr>
                        <a:t>参数说明</a:t>
                      </a:r>
                    </a:p>
                  </a:txBody>
                  <a:tcPr marL="68580" marR="68580" marT="0" marB="0" anchor="ctr"/>
                </a:tc>
                <a:extLst>
                  <a:ext uri="{0D108BD9-81ED-4DB2-BD59-A6C34878D82A}">
                    <a16:rowId xmlns:a16="http://schemas.microsoft.com/office/drawing/2014/main" val="1138720377"/>
                  </a:ext>
                </a:extLst>
              </a:tr>
              <a:tr h="540000">
                <a:tc>
                  <a:txBody>
                    <a:bodyPr/>
                    <a:lstStyle/>
                    <a:p>
                      <a:pPr algn="ct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value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scalar</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1700" kern="100" baseline="0" dirty="0" err="1">
                          <a:effectLst/>
                          <a:latin typeface="Times New Roman" panose="02020603050405020304" pitchFamily="18" charset="0"/>
                          <a:ea typeface="宋体" panose="02010600030101010101" pitchFamily="2" charset="-122"/>
                          <a:cs typeface="Times New Roman" panose="02020603050405020304" pitchFamily="18" charset="0"/>
                        </a:rPr>
                        <a:t>dict</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Series</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sz="1700" kern="100" baseline="0" dirty="0" err="1">
                          <a:effectLst/>
                          <a:latin typeface="Times New Roman" panose="02020603050405020304" pitchFamily="18" charset="0"/>
                          <a:ea typeface="宋体" panose="02010600030101010101" pitchFamily="2" charset="-122"/>
                          <a:cs typeface="Times New Roman" panose="02020603050405020304" pitchFamily="18" charset="0"/>
                        </a:rPr>
                        <a:t>DataFrame</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。表示用于替换缺失值的值。默认为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None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863403433"/>
                  </a:ext>
                </a:extLst>
              </a:tr>
              <a:tr h="540000">
                <a:tc>
                  <a:txBody>
                    <a:bodyPr/>
                    <a:lstStyle/>
                    <a:p>
                      <a:pPr algn="ctr"/>
                      <a:r>
                        <a:rPr lang="en-US" sz="1700" kern="100" baseline="0">
                          <a:effectLst/>
                          <a:latin typeface="Times New Roman" panose="02020603050405020304" pitchFamily="18" charset="0"/>
                          <a:ea typeface="宋体" panose="02010600030101010101" pitchFamily="2" charset="-122"/>
                          <a:cs typeface="Times New Roman" panose="02020603050405020304" pitchFamily="18" charset="0"/>
                        </a:rPr>
                        <a:t>method</a:t>
                      </a:r>
                      <a:endParaRPr lang="zh-CN" sz="17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接收特定</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str</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。表示填补缺失值的方式。</a:t>
                      </a:r>
                    </a:p>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当取值为“</a:t>
                      </a:r>
                      <a:r>
                        <a:rPr lang="en-US" sz="1700" kern="100" baseline="0" dirty="0" err="1">
                          <a:effectLst/>
                          <a:latin typeface="Times New Roman" panose="02020603050405020304" pitchFamily="18" charset="0"/>
                          <a:ea typeface="宋体" panose="02010600030101010101" pitchFamily="2" charset="-122"/>
                          <a:cs typeface="Times New Roman" panose="02020603050405020304" pitchFamily="18" charset="0"/>
                        </a:rPr>
                        <a:t>backfilll</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sz="1700" kern="100" baseline="0" dirty="0" err="1">
                          <a:effectLst/>
                          <a:latin typeface="Times New Roman" panose="02020603050405020304" pitchFamily="18" charset="0"/>
                          <a:ea typeface="宋体" panose="02010600030101010101" pitchFamily="2" charset="-122"/>
                          <a:cs typeface="Times New Roman" panose="02020603050405020304" pitchFamily="18" charset="0"/>
                        </a:rPr>
                        <a:t>bfill</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”时表示使用下一个非缺失值来填补缺失值；</a:t>
                      </a:r>
                    </a:p>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当取值为“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pad</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sz="1700" kern="100" baseline="0" dirty="0" err="1">
                          <a:effectLst/>
                          <a:latin typeface="Times New Roman" panose="02020603050405020304" pitchFamily="18" charset="0"/>
                          <a:ea typeface="宋体" panose="02010600030101010101" pitchFamily="2" charset="-122"/>
                          <a:cs typeface="Times New Roman" panose="02020603050405020304" pitchFamily="18" charset="0"/>
                        </a:rPr>
                        <a:t>ffill</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”时表示使用上一个非缺失值来填补缺失值。默认为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None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5171718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1000"/>
                                        <p:tgtEl>
                                          <p:spTgt spid="2">
                                            <p:txEl>
                                              <p:pRg st="4" end="4"/>
                                            </p:txEl>
                                          </p:spTgt>
                                        </p:tgtEl>
                                      </p:cBhvr>
                                    </p:animEffect>
                                    <p:anim calcmode="lin" valueType="num">
                                      <p:cBhvr>
                                        <p:cTn id="2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457200">
              <a:buNone/>
            </a:pPr>
            <a:r>
              <a:rPr lang="en-US" altLang="zh-CN" dirty="0" err="1"/>
              <a:t>fillna</a:t>
            </a:r>
            <a:r>
              <a:rPr lang="en-US" altLang="zh-CN" dirty="0"/>
              <a:t>()</a:t>
            </a:r>
            <a:r>
              <a:rPr lang="zh-CN" altLang="en-US" dirty="0"/>
              <a:t>方法的常用参数及其说明（续表）。</a:t>
            </a:r>
            <a:endParaRPr lang="en-US" altLang="zh-CN" i="1" dirty="0"/>
          </a:p>
        </p:txBody>
      </p:sp>
      <p:sp>
        <p:nvSpPr>
          <p:cNvPr id="3" name="标题 2"/>
          <p:cNvSpPr>
            <a:spLocks noGrp="1"/>
          </p:cNvSpPr>
          <p:nvPr>
            <p:ph type="title"/>
          </p:nvPr>
        </p:nvSpPr>
        <p:spPr/>
        <p:txBody>
          <a:bodyPr/>
          <a:lstStyle/>
          <a:p>
            <a:r>
              <a:rPr lang="zh-CN" altLang="en-US" b="1" dirty="0"/>
              <a:t>检测与处理缺失值</a:t>
            </a:r>
            <a:endParaRPr lang="zh-CN" altLang="en-US" dirty="0"/>
          </a:p>
        </p:txBody>
      </p:sp>
      <p:graphicFrame>
        <p:nvGraphicFramePr>
          <p:cNvPr id="5" name="表格 5"/>
          <p:cNvGraphicFramePr>
            <a:graphicFrameLocks noGrp="1"/>
          </p:cNvGraphicFramePr>
          <p:nvPr>
            <p:extLst>
              <p:ext uri="{D42A27DB-BD31-4B8C-83A1-F6EECF244321}">
                <p14:modId xmlns:p14="http://schemas.microsoft.com/office/powerpoint/2010/main" val="373996891"/>
              </p:ext>
            </p:extLst>
          </p:nvPr>
        </p:nvGraphicFramePr>
        <p:xfrm>
          <a:off x="1491538" y="1924964"/>
          <a:ext cx="9208924" cy="2700000"/>
        </p:xfrm>
        <a:graphic>
          <a:graphicData uri="http://schemas.openxmlformats.org/drawingml/2006/table">
            <a:tbl>
              <a:tblPr firstRow="1" firstCol="1" bandRow="1">
                <a:tableStyleId>{5C22544A-7EE6-4342-B048-85BDC9FD1C3A}</a:tableStyleId>
              </a:tblPr>
              <a:tblGrid>
                <a:gridCol w="1110189">
                  <a:extLst>
                    <a:ext uri="{9D8B030D-6E8A-4147-A177-3AD203B41FA5}">
                      <a16:colId xmlns:a16="http://schemas.microsoft.com/office/drawing/2014/main" val="20000"/>
                    </a:ext>
                  </a:extLst>
                </a:gridCol>
                <a:gridCol w="8098735">
                  <a:extLst>
                    <a:ext uri="{9D8B030D-6E8A-4147-A177-3AD203B41FA5}">
                      <a16:colId xmlns:a16="http://schemas.microsoft.com/office/drawing/2014/main" val="20001"/>
                    </a:ext>
                  </a:extLst>
                </a:gridCol>
              </a:tblGrid>
              <a:tr h="540000">
                <a:tc>
                  <a:txBody>
                    <a:bodyPr/>
                    <a:lstStyle/>
                    <a:p>
                      <a:pPr algn="ctr"/>
                      <a:r>
                        <a:rPr lang="zh-CN" sz="1700" b="1" kern="100" baseline="0" dirty="0">
                          <a:effectLst/>
                          <a:latin typeface="Times New Roman" panose="02020603050405020304" pitchFamily="18" charset="0"/>
                          <a:ea typeface="宋体" panose="02010600030101010101" pitchFamily="2" charset="-122"/>
                          <a:cs typeface="Times New Roman" panose="02020603050405020304" pitchFamily="18" charset="0"/>
                        </a:rPr>
                        <a:t>参数名称</a:t>
                      </a:r>
                    </a:p>
                  </a:txBody>
                  <a:tcPr marL="68580" marR="68580" marT="0" marB="0" anchor="ctr"/>
                </a:tc>
                <a:tc>
                  <a:txBody>
                    <a:bodyPr/>
                    <a:lstStyle/>
                    <a:p>
                      <a:pPr algn="ctr"/>
                      <a:r>
                        <a:rPr lang="zh-CN" sz="1700" b="1" kern="100" baseline="0" dirty="0">
                          <a:effectLst/>
                          <a:latin typeface="Times New Roman" panose="02020603050405020304" pitchFamily="18" charset="0"/>
                          <a:ea typeface="宋体" panose="02010600030101010101" pitchFamily="2" charset="-122"/>
                          <a:cs typeface="Times New Roman" panose="02020603050405020304" pitchFamily="18" charset="0"/>
                        </a:rPr>
                        <a:t>参数说明</a:t>
                      </a:r>
                    </a:p>
                  </a:txBody>
                  <a:tcPr marL="68580" marR="68580" marT="0" marB="0" anchor="ctr"/>
                </a:tc>
                <a:extLst>
                  <a:ext uri="{0D108BD9-81ED-4DB2-BD59-A6C34878D82A}">
                    <a16:rowId xmlns:a16="http://schemas.microsoft.com/office/drawing/2014/main" val="10000"/>
                  </a:ext>
                </a:extLst>
              </a:tr>
              <a:tr h="540000">
                <a:tc>
                  <a:txBody>
                    <a:bodyPr/>
                    <a:lstStyle/>
                    <a:p>
                      <a:pPr algn="ctr"/>
                      <a:r>
                        <a:rPr lang="en-US" sz="1700" kern="100" baseline="0">
                          <a:effectLst/>
                          <a:latin typeface="Times New Roman" panose="02020603050405020304" pitchFamily="18" charset="0"/>
                          <a:ea typeface="宋体" panose="02010600030101010101" pitchFamily="2" charset="-122"/>
                          <a:cs typeface="Times New Roman" panose="02020603050405020304" pitchFamily="18" charset="0"/>
                        </a:rPr>
                        <a:t>axis</a:t>
                      </a:r>
                      <a:endParaRPr lang="zh-CN" sz="17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0</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。表示轴向。默认为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None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540000">
                <a:tc>
                  <a:txBody>
                    <a:bodyPr/>
                    <a:lstStyle/>
                    <a:p>
                      <a:pPr algn="ctr"/>
                      <a:r>
                        <a:rPr lang="en-US" sz="1700" kern="100" baseline="0">
                          <a:effectLst/>
                          <a:latin typeface="Times New Roman" panose="02020603050405020304" pitchFamily="18" charset="0"/>
                          <a:ea typeface="宋体" panose="02010600030101010101" pitchFamily="2" charset="-122"/>
                          <a:cs typeface="Times New Roman" panose="02020603050405020304" pitchFamily="18" charset="0"/>
                        </a:rPr>
                        <a:t>inplace</a:t>
                      </a:r>
                      <a:endParaRPr lang="zh-CN" sz="17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bool</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。表示是否在原表上进行操作。默认为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540000">
                <a:tc>
                  <a:txBody>
                    <a:bodyPr/>
                    <a:lstStyle/>
                    <a:p>
                      <a:pPr algn="ctr"/>
                      <a:r>
                        <a:rPr lang="en-US" sz="1700" kern="100" baseline="0">
                          <a:effectLst/>
                          <a:latin typeface="Times New Roman" panose="02020603050405020304" pitchFamily="18" charset="0"/>
                          <a:ea typeface="宋体" panose="02010600030101010101" pitchFamily="2" charset="-122"/>
                          <a:cs typeface="Times New Roman" panose="02020603050405020304" pitchFamily="18" charset="0"/>
                        </a:rPr>
                        <a:t>limit</a:t>
                      </a:r>
                      <a:endParaRPr lang="zh-CN" sz="17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int</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。表示填补缺失值个数上限，超过则不进行填补。默认为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None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540000">
                <a:tc>
                  <a:txBody>
                    <a:bodyPr/>
                    <a:lstStyle/>
                    <a:p>
                      <a:pPr algn="ct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downcast</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baseline="0" dirty="0" err="1">
                          <a:effectLst/>
                          <a:latin typeface="Times New Roman" panose="02020603050405020304" pitchFamily="18" charset="0"/>
                          <a:ea typeface="宋体" panose="02010600030101010101" pitchFamily="2" charset="-122"/>
                          <a:cs typeface="Times New Roman" panose="02020603050405020304" pitchFamily="18" charset="0"/>
                        </a:rPr>
                        <a:t>dict</a:t>
                      </a:r>
                      <a:r>
                        <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。表示转换数据类型。默认为</a:t>
                      </a:r>
                      <a:r>
                        <a:rPr lang="en-US" sz="1700" kern="100" baseline="0" dirty="0">
                          <a:effectLst/>
                          <a:latin typeface="Times New Roman" panose="02020603050405020304" pitchFamily="18" charset="0"/>
                          <a:ea typeface="宋体" panose="02010600030101010101" pitchFamily="2" charset="-122"/>
                          <a:cs typeface="Times New Roman" panose="02020603050405020304" pitchFamily="18" charset="0"/>
                        </a:rPr>
                        <a:t>None</a:t>
                      </a:r>
                      <a:endParaRPr lang="zh-CN" sz="17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072234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b="1" dirty="0"/>
              <a:t>检测与处理缺失值</a:t>
            </a:r>
            <a:endParaRPr lang="zh-CN" altLang="en-US" dirty="0"/>
          </a:p>
        </p:txBody>
      </p:sp>
      <p:sp>
        <p:nvSpPr>
          <p:cNvPr id="6" name="矩形 5"/>
          <p:cNvSpPr/>
          <p:nvPr/>
        </p:nvSpPr>
        <p:spPr>
          <a:xfrm>
            <a:off x="1011382" y="1354804"/>
            <a:ext cx="6096000" cy="2308324"/>
          </a:xfrm>
          <a:prstGeom prst="rect">
            <a:avLst/>
          </a:prstGeom>
        </p:spPr>
        <p:txBody>
          <a:bodyPr>
            <a:spAutoFit/>
          </a:bodyPr>
          <a:lstStyle/>
          <a:p>
            <a:r>
              <a:rPr lang="en-US" altLang="zh-CN" dirty="0"/>
              <a:t># </a:t>
            </a:r>
            <a:r>
              <a:rPr lang="zh-CN" altLang="en-US" dirty="0"/>
              <a:t>求每月支出平均值</a:t>
            </a:r>
          </a:p>
          <a:p>
            <a:r>
              <a:rPr lang="en-US" altLang="zh-CN" dirty="0"/>
              <a:t>print('</a:t>
            </a:r>
            <a:r>
              <a:rPr lang="zh-CN" altLang="en-US" dirty="0"/>
              <a:t>每月支出特征缺失的数目为：</a:t>
            </a:r>
            <a:r>
              <a:rPr lang="en-US" altLang="zh-CN" dirty="0"/>
              <a:t>\n',</a:t>
            </a:r>
          </a:p>
          <a:p>
            <a:r>
              <a:rPr lang="en-US" altLang="zh-CN" dirty="0"/>
              <a:t>      </a:t>
            </a:r>
            <a:r>
              <a:rPr lang="en-US" altLang="zh-CN" dirty="0" err="1"/>
              <a:t>all_info</a:t>
            </a:r>
            <a:r>
              <a:rPr lang="en-US" altLang="zh-CN" dirty="0"/>
              <a:t>['</a:t>
            </a:r>
            <a:r>
              <a:rPr lang="zh-CN" altLang="en-US" dirty="0"/>
              <a:t>每月支出</a:t>
            </a:r>
            <a:r>
              <a:rPr lang="en-US" altLang="zh-CN" dirty="0"/>
              <a:t>'].</a:t>
            </a:r>
            <a:r>
              <a:rPr lang="en-US" altLang="zh-CN" dirty="0" err="1"/>
              <a:t>isnull</a:t>
            </a:r>
            <a:r>
              <a:rPr lang="en-US" altLang="zh-CN" dirty="0"/>
              <a:t>().sum())</a:t>
            </a:r>
          </a:p>
          <a:p>
            <a:r>
              <a:rPr lang="en-US" altLang="zh-CN" dirty="0" err="1"/>
              <a:t>mean_num</a:t>
            </a:r>
            <a:r>
              <a:rPr lang="en-US" altLang="zh-CN" dirty="0"/>
              <a:t> = </a:t>
            </a:r>
            <a:r>
              <a:rPr lang="en-US" altLang="zh-CN" dirty="0" err="1"/>
              <a:t>all_info</a:t>
            </a:r>
            <a:r>
              <a:rPr lang="en-US" altLang="zh-CN" dirty="0"/>
              <a:t>['</a:t>
            </a:r>
            <a:r>
              <a:rPr lang="zh-CN" altLang="en-US" dirty="0"/>
              <a:t>每月支出</a:t>
            </a:r>
            <a:r>
              <a:rPr lang="en-US" altLang="zh-CN" dirty="0"/>
              <a:t>'].mean()</a:t>
            </a:r>
          </a:p>
          <a:p>
            <a:r>
              <a:rPr lang="en-US" altLang="zh-CN" dirty="0"/>
              <a:t># </a:t>
            </a:r>
            <a:r>
              <a:rPr lang="zh-CN" altLang="en-US" dirty="0"/>
              <a:t>缺失值替换为均值</a:t>
            </a:r>
          </a:p>
          <a:p>
            <a:r>
              <a:rPr lang="en-US" altLang="zh-CN" dirty="0" err="1"/>
              <a:t>all_info</a:t>
            </a:r>
            <a:r>
              <a:rPr lang="en-US" altLang="zh-CN" dirty="0"/>
              <a:t>['</a:t>
            </a:r>
            <a:r>
              <a:rPr lang="zh-CN" altLang="en-US" dirty="0"/>
              <a:t>每月支出</a:t>
            </a:r>
            <a:r>
              <a:rPr lang="en-US" altLang="zh-CN" dirty="0"/>
              <a:t>'] = </a:t>
            </a:r>
            <a:r>
              <a:rPr lang="en-US" altLang="zh-CN" dirty="0" err="1"/>
              <a:t>all_info</a:t>
            </a:r>
            <a:r>
              <a:rPr lang="en-US" altLang="zh-CN" dirty="0"/>
              <a:t>['</a:t>
            </a:r>
            <a:r>
              <a:rPr lang="zh-CN" altLang="en-US" dirty="0"/>
              <a:t>每月支出</a:t>
            </a:r>
            <a:r>
              <a:rPr lang="en-US" altLang="zh-CN" dirty="0"/>
              <a:t>'].</a:t>
            </a:r>
            <a:r>
              <a:rPr lang="en-US" altLang="zh-CN" dirty="0" err="1"/>
              <a:t>fillna</a:t>
            </a:r>
            <a:r>
              <a:rPr lang="en-US" altLang="zh-CN" dirty="0"/>
              <a:t>(</a:t>
            </a:r>
            <a:r>
              <a:rPr lang="en-US" altLang="zh-CN" dirty="0" err="1"/>
              <a:t>mean_num</a:t>
            </a:r>
            <a:r>
              <a:rPr lang="en-US" altLang="zh-CN" dirty="0"/>
              <a:t>)</a:t>
            </a:r>
          </a:p>
          <a:p>
            <a:r>
              <a:rPr lang="en-US" altLang="zh-CN" dirty="0"/>
              <a:t>print('</a:t>
            </a:r>
            <a:r>
              <a:rPr lang="zh-CN" altLang="en-US" dirty="0"/>
              <a:t>每月支出替换特征缺失后的缺失数目为：</a:t>
            </a:r>
            <a:r>
              <a:rPr lang="en-US" altLang="zh-CN" dirty="0"/>
              <a:t>\n',</a:t>
            </a:r>
          </a:p>
          <a:p>
            <a:r>
              <a:rPr lang="en-US" altLang="zh-CN" dirty="0"/>
              <a:t>      </a:t>
            </a:r>
            <a:r>
              <a:rPr lang="en-US" altLang="zh-CN" dirty="0" err="1"/>
              <a:t>all_info</a:t>
            </a:r>
            <a:r>
              <a:rPr lang="en-US" altLang="zh-CN" dirty="0"/>
              <a:t>['</a:t>
            </a:r>
            <a:r>
              <a:rPr lang="zh-CN" altLang="en-US" dirty="0"/>
              <a:t>每月支出</a:t>
            </a:r>
            <a:r>
              <a:rPr lang="en-US" altLang="zh-CN" dirty="0"/>
              <a:t>'].</a:t>
            </a:r>
            <a:r>
              <a:rPr lang="en-US" altLang="zh-CN" dirty="0" err="1"/>
              <a:t>isnull</a:t>
            </a:r>
            <a:r>
              <a:rPr lang="en-US" altLang="zh-CN" dirty="0"/>
              <a:t>().sum())</a:t>
            </a:r>
            <a:endParaRPr lang="zh-CN" altLang="en-US" dirty="0"/>
          </a:p>
        </p:txBody>
      </p:sp>
      <p:pic>
        <p:nvPicPr>
          <p:cNvPr id="9" name="图片 8"/>
          <p:cNvPicPr>
            <a:picLocks noChangeAspect="1"/>
          </p:cNvPicPr>
          <p:nvPr/>
        </p:nvPicPr>
        <p:blipFill>
          <a:blip r:embed="rId2"/>
          <a:stretch>
            <a:fillRect/>
          </a:stretch>
        </p:blipFill>
        <p:spPr>
          <a:xfrm>
            <a:off x="1878397" y="4130677"/>
            <a:ext cx="2466667" cy="923810"/>
          </a:xfrm>
          <a:prstGeom prst="rect">
            <a:avLst/>
          </a:prstGeom>
        </p:spPr>
      </p:pic>
    </p:spTree>
    <p:extLst>
      <p:ext uri="{BB962C8B-B14F-4D97-AF65-F5344CB8AC3E}">
        <p14:creationId xmlns:p14="http://schemas.microsoft.com/office/powerpoint/2010/main" val="27262299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zh-CN" dirty="0"/>
              <a:t>删除法简单易行，但是会引起数据结构变动，样本减少；替换法使用难度较低，但是会影响数据的标准差，导致信息量变动。</a:t>
            </a:r>
            <a:endParaRPr lang="en-US" altLang="zh-CN" dirty="0"/>
          </a:p>
          <a:p>
            <a:r>
              <a:rPr lang="zh-CN" altLang="zh-CN" dirty="0"/>
              <a:t>线性插值是一种较为简单的插值方法，它针对</a:t>
            </a:r>
            <a:r>
              <a:rPr lang="zh-CN" altLang="zh-CN" dirty="0">
                <a:solidFill>
                  <a:srgbClr val="FF0000"/>
                </a:solidFill>
              </a:rPr>
              <a:t>已知的值求出线性方程，通过求解线性方程得到缺失值</a:t>
            </a:r>
            <a:r>
              <a:rPr lang="zh-CN" altLang="zh-CN" dirty="0"/>
              <a:t>。</a:t>
            </a:r>
            <a:endParaRPr lang="en-US" altLang="zh-CN" dirty="0"/>
          </a:p>
          <a:p>
            <a:pPr marL="0" indent="0">
              <a:buNone/>
            </a:pPr>
            <a:endParaRPr lang="en-US" altLang="zh-CN" i="1" dirty="0"/>
          </a:p>
        </p:txBody>
      </p:sp>
      <p:sp>
        <p:nvSpPr>
          <p:cNvPr id="3" name="标题 2"/>
          <p:cNvSpPr>
            <a:spLocks noGrp="1"/>
          </p:cNvSpPr>
          <p:nvPr>
            <p:ph type="title"/>
          </p:nvPr>
        </p:nvSpPr>
        <p:spPr/>
        <p:txBody>
          <a:bodyPr/>
          <a:lstStyle/>
          <a:p>
            <a:r>
              <a:rPr lang="zh-CN" altLang="en-US" b="1" dirty="0"/>
              <a:t>检测与处理缺失值</a:t>
            </a:r>
            <a:endParaRPr lang="zh-CN" altLang="en-US" dirty="0"/>
          </a:p>
        </p:txBody>
      </p:sp>
      <p:sp>
        <p:nvSpPr>
          <p:cNvPr id="4" name="内容占位符 3"/>
          <p:cNvSpPr>
            <a:spLocks noGrp="1"/>
          </p:cNvSpPr>
          <p:nvPr>
            <p:ph idx="10"/>
          </p:nvPr>
        </p:nvSpPr>
        <p:spPr/>
        <p:txBody>
          <a:bodyPr/>
          <a:lstStyle/>
          <a:p>
            <a:r>
              <a:rPr lang="en-US" altLang="zh-CN" b="1" dirty="0"/>
              <a:t>3. </a:t>
            </a:r>
            <a:r>
              <a:rPr lang="zh-CN" altLang="en-US" b="1" dirty="0"/>
              <a:t>插值法</a:t>
            </a:r>
          </a:p>
        </p:txBody>
      </p:sp>
    </p:spTree>
    <p:extLst>
      <p:ext uri="{BB962C8B-B14F-4D97-AF65-F5344CB8AC3E}">
        <p14:creationId xmlns:p14="http://schemas.microsoft.com/office/powerpoint/2010/main" val="1701639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zh-CN" dirty="0"/>
              <a:t>多项式插值是利用已知的值拟合一个多项式，使得现有的数据满足这个多项式，再利用这个多项式求解缺失值，</a:t>
            </a:r>
            <a:r>
              <a:rPr lang="zh-CN" altLang="zh-CN" dirty="0">
                <a:solidFill>
                  <a:srgbClr val="FF0000"/>
                </a:solidFill>
              </a:rPr>
              <a:t>常见的多项式插值又分有拉格朗日插值和牛顿插值等</a:t>
            </a:r>
            <a:r>
              <a:rPr lang="zh-CN" altLang="zh-CN" dirty="0"/>
              <a:t>。</a:t>
            </a:r>
            <a:endParaRPr lang="en-US" altLang="zh-CN" dirty="0"/>
          </a:p>
          <a:p>
            <a:r>
              <a:rPr lang="zh-CN" altLang="zh-CN" dirty="0"/>
              <a:t>样条插值是以可变样条来做出一条经过一系列点的光滑曲线的插值方法。插值样条由一些多项式组成，每一个多项式都由相邻两个数据点决定，这样可以保证两个相邻多项式及其导数在连接处连续。</a:t>
            </a:r>
          </a:p>
          <a:p>
            <a:pPr marL="0" indent="0">
              <a:buNone/>
            </a:pPr>
            <a:endParaRPr lang="en-US" altLang="zh-CN" i="1" dirty="0"/>
          </a:p>
        </p:txBody>
      </p:sp>
      <p:sp>
        <p:nvSpPr>
          <p:cNvPr id="3" name="标题 2"/>
          <p:cNvSpPr>
            <a:spLocks noGrp="1"/>
          </p:cNvSpPr>
          <p:nvPr>
            <p:ph type="title"/>
          </p:nvPr>
        </p:nvSpPr>
        <p:spPr/>
        <p:txBody>
          <a:bodyPr/>
          <a:lstStyle/>
          <a:p>
            <a:r>
              <a:rPr lang="zh-CN" altLang="en-US" b="1" dirty="0"/>
              <a:t>检测与处理缺失值</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zh-CN" dirty="0"/>
              <a:t>从拟合结果可以看出，在多项式插值和样条插值两种情况下的拟合都非常出色，线性插值法只在自变量和因变量为线性关系的情况下拟合才较为出色。</a:t>
            </a:r>
            <a:endParaRPr lang="en-US" altLang="zh-CN" dirty="0"/>
          </a:p>
          <a:p>
            <a:r>
              <a:rPr lang="zh-CN" altLang="zh-CN" dirty="0"/>
              <a:t>在实际分析过程中，由于自变量与因变量的关系是线性的情况非常少见，</a:t>
            </a:r>
            <a:r>
              <a:rPr lang="zh-CN" altLang="zh-CN" dirty="0">
                <a:solidFill>
                  <a:srgbClr val="FF0000"/>
                </a:solidFill>
              </a:rPr>
              <a:t>所以在大多数情况下，多项式插值和样条插值是较为合适的选择。</a:t>
            </a:r>
          </a:p>
          <a:p>
            <a:r>
              <a:rPr lang="en-US" altLang="zh-CN" dirty="0"/>
              <a:t>SciPy</a:t>
            </a:r>
            <a:r>
              <a:rPr lang="zh-CN" altLang="zh-CN" dirty="0"/>
              <a:t>库中的</a:t>
            </a:r>
            <a:r>
              <a:rPr lang="en-US" altLang="zh-CN" dirty="0"/>
              <a:t>interpolate</a:t>
            </a:r>
            <a:r>
              <a:rPr lang="zh-CN" altLang="zh-CN" dirty="0"/>
              <a:t>模块除了提供常规的插值法外，还提供了如在图形学领域具有重要作用的重心坐标插值（</a:t>
            </a:r>
            <a:r>
              <a:rPr lang="en-US" altLang="zh-CN" dirty="0" err="1"/>
              <a:t>BarycentricInterpolator</a:t>
            </a:r>
            <a:r>
              <a:rPr lang="zh-CN" altLang="zh-CN" dirty="0"/>
              <a:t>）等。在实际应用中，需要根据不同的场景选择合适的插值方法。</a:t>
            </a:r>
            <a:endParaRPr lang="en-US" altLang="zh-CN" dirty="0"/>
          </a:p>
          <a:p>
            <a:pPr marL="0" indent="0">
              <a:buNone/>
            </a:pPr>
            <a:endParaRPr lang="zh-CN" altLang="zh-CN" dirty="0"/>
          </a:p>
          <a:p>
            <a:pPr marL="0" indent="0">
              <a:buNone/>
            </a:pPr>
            <a:endParaRPr lang="en-US" altLang="zh-CN" i="1" dirty="0"/>
          </a:p>
        </p:txBody>
      </p:sp>
      <p:sp>
        <p:nvSpPr>
          <p:cNvPr id="3" name="标题 2"/>
          <p:cNvSpPr>
            <a:spLocks noGrp="1"/>
          </p:cNvSpPr>
          <p:nvPr>
            <p:ph type="title"/>
          </p:nvPr>
        </p:nvSpPr>
        <p:spPr/>
        <p:txBody>
          <a:bodyPr/>
          <a:lstStyle/>
          <a:p>
            <a:r>
              <a:rPr lang="zh-CN" altLang="en-US" b="1" dirty="0"/>
              <a:t>检测与处理缺失值</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3σ</a:t>
            </a:r>
            <a:r>
              <a:rPr lang="zh-CN" altLang="en-US" dirty="0"/>
              <a:t>原则又称为拉依达准则，其原则就是先假设一组检测数据只含有随机误差，对原始数据进行计算处理得到标准差，然后按一定的概率确定一个区间，</a:t>
            </a:r>
            <a:r>
              <a:rPr lang="zh-CN" altLang="en-US" dirty="0">
                <a:solidFill>
                  <a:srgbClr val="FF0000"/>
                </a:solidFill>
              </a:rPr>
              <a:t>认为误差超过这个区间就属于异常。</a:t>
            </a:r>
            <a:endParaRPr lang="en-US" altLang="zh-CN" dirty="0">
              <a:solidFill>
                <a:srgbClr val="FF0000"/>
              </a:solidFill>
            </a:endParaRPr>
          </a:p>
          <a:p>
            <a:r>
              <a:rPr lang="en-US" altLang="zh-CN" dirty="0"/>
              <a:t>3σ</a:t>
            </a:r>
            <a:r>
              <a:rPr lang="zh-CN" altLang="en-US" dirty="0"/>
              <a:t>原则仅适用于</a:t>
            </a:r>
            <a:r>
              <a:rPr lang="zh-CN" altLang="en-US" dirty="0">
                <a:solidFill>
                  <a:srgbClr val="FF0000"/>
                </a:solidFill>
              </a:rPr>
              <a:t>对正态或近似正态分布的样本数据进行处理</a:t>
            </a:r>
            <a:r>
              <a:rPr lang="zh-CN" altLang="en-US" dirty="0"/>
              <a:t>。正态分布数据的</a:t>
            </a:r>
            <a:r>
              <a:rPr lang="en-US" altLang="zh-CN" dirty="0"/>
              <a:t>3σ</a:t>
            </a:r>
            <a:r>
              <a:rPr lang="zh-CN" altLang="en-US" dirty="0"/>
              <a:t>原则如下表所示，其中</a:t>
            </a:r>
            <a:r>
              <a:rPr lang="en-US" altLang="zh-CN" dirty="0"/>
              <a:t>σ</a:t>
            </a:r>
            <a:r>
              <a:rPr lang="zh-CN" altLang="en-US" dirty="0"/>
              <a:t>代表标准差，</a:t>
            </a:r>
            <a:r>
              <a:rPr lang="en-US" altLang="zh-CN" dirty="0"/>
              <a:t>μ</a:t>
            </a:r>
            <a:r>
              <a:rPr lang="zh-CN" altLang="en-US" dirty="0"/>
              <a:t>代表均值。</a:t>
            </a:r>
            <a:endParaRPr lang="en-US" altLang="zh-CN" dirty="0"/>
          </a:p>
          <a:p>
            <a:r>
              <a:rPr lang="zh-CN" altLang="zh-CN" dirty="0"/>
              <a:t>数据的数值分布几乎全部集中在区间</a:t>
            </a:r>
            <a:r>
              <a:rPr lang="en-US" altLang="zh-CN" dirty="0"/>
              <a:t>(</a:t>
            </a:r>
            <a:r>
              <a:rPr lang="en-US" altLang="zh-CN" i="1" dirty="0"/>
              <a:t>μ</a:t>
            </a:r>
            <a:r>
              <a:rPr lang="en-US" altLang="zh-CN" dirty="0">
                <a:sym typeface="Symbol" panose="05050102010706020507" pitchFamily="18" charset="2"/>
              </a:rPr>
              <a:t></a:t>
            </a:r>
            <a:r>
              <a:rPr lang="en-US" altLang="zh-CN" dirty="0"/>
              <a:t>3</a:t>
            </a:r>
            <a:r>
              <a:rPr lang="en-US" altLang="zh-CN" i="1" dirty="0"/>
              <a:t>σ</a:t>
            </a:r>
            <a:r>
              <a:rPr lang="en-US" altLang="zh-CN" dirty="0"/>
              <a:t>,</a:t>
            </a:r>
            <a:r>
              <a:rPr lang="en-US" altLang="zh-CN" i="1" dirty="0"/>
              <a:t>μ</a:t>
            </a:r>
            <a:r>
              <a:rPr lang="en-US" altLang="zh-CN" dirty="0"/>
              <a:t>+3</a:t>
            </a:r>
            <a:r>
              <a:rPr lang="en-US" altLang="zh-CN" i="1" dirty="0"/>
              <a:t>σ</a:t>
            </a:r>
            <a:r>
              <a:rPr lang="en-US" altLang="zh-CN" dirty="0"/>
              <a:t>)</a:t>
            </a:r>
            <a:r>
              <a:rPr lang="zh-CN" altLang="zh-CN" dirty="0"/>
              <a:t>内，超出这个范围的数据仅占不到</a:t>
            </a:r>
            <a:r>
              <a:rPr lang="en-US" altLang="zh-CN" dirty="0"/>
              <a:t>0.3%</a:t>
            </a:r>
            <a:r>
              <a:rPr lang="zh-CN" altLang="zh-CN" dirty="0"/>
              <a:t>。</a:t>
            </a:r>
            <a:r>
              <a:rPr lang="zh-CN" altLang="zh-CN" dirty="0">
                <a:solidFill>
                  <a:srgbClr val="FF0000"/>
                </a:solidFill>
              </a:rPr>
              <a:t>故根据小概率原理，可以认为超出</a:t>
            </a:r>
            <a:r>
              <a:rPr lang="en-US" altLang="zh-CN" dirty="0">
                <a:solidFill>
                  <a:srgbClr val="FF0000"/>
                </a:solidFill>
              </a:rPr>
              <a:t>3</a:t>
            </a:r>
            <a:r>
              <a:rPr lang="en-US" altLang="zh-CN" i="1" dirty="0">
                <a:solidFill>
                  <a:srgbClr val="FF0000"/>
                </a:solidFill>
              </a:rPr>
              <a:t>σ</a:t>
            </a:r>
            <a:r>
              <a:rPr lang="zh-CN" altLang="zh-CN" dirty="0">
                <a:solidFill>
                  <a:srgbClr val="FF0000"/>
                </a:solidFill>
              </a:rPr>
              <a:t>的部分为异常数据</a:t>
            </a:r>
            <a:r>
              <a:rPr lang="zh-CN" altLang="zh-CN" dirty="0"/>
              <a:t>。</a:t>
            </a:r>
          </a:p>
          <a:p>
            <a:endParaRPr lang="en-US" altLang="zh-CN" i="1" dirty="0"/>
          </a:p>
        </p:txBody>
      </p:sp>
      <p:sp>
        <p:nvSpPr>
          <p:cNvPr id="3" name="标题 2"/>
          <p:cNvSpPr>
            <a:spLocks noGrp="1"/>
          </p:cNvSpPr>
          <p:nvPr>
            <p:ph type="title"/>
          </p:nvPr>
        </p:nvSpPr>
        <p:spPr/>
        <p:txBody>
          <a:bodyPr/>
          <a:lstStyle/>
          <a:p>
            <a:r>
              <a:rPr lang="zh-CN" altLang="en-US" b="1" dirty="0"/>
              <a:t>三、检测与处理异常值</a:t>
            </a:r>
            <a:endParaRPr lang="zh-CN" altLang="en-US" dirty="0"/>
          </a:p>
        </p:txBody>
      </p:sp>
      <p:sp>
        <p:nvSpPr>
          <p:cNvPr id="4" name="内容占位符 3"/>
          <p:cNvSpPr>
            <a:spLocks noGrp="1"/>
          </p:cNvSpPr>
          <p:nvPr>
            <p:ph idx="10"/>
          </p:nvPr>
        </p:nvSpPr>
        <p:spPr/>
        <p:txBody>
          <a:bodyPr/>
          <a:lstStyle/>
          <a:p>
            <a:r>
              <a:rPr lang="en-US" altLang="zh-CN" b="1" dirty="0"/>
              <a:t>1.</a:t>
            </a:r>
            <a:r>
              <a:rPr lang="el-GR" altLang="zh-CN" b="1" dirty="0"/>
              <a:t> </a:t>
            </a:r>
            <a:r>
              <a:rPr lang="en-US" altLang="zh-CN" b="1" dirty="0"/>
              <a:t>  </a:t>
            </a:r>
            <a:r>
              <a:rPr lang="el-GR" altLang="zh-CN" b="1" dirty="0"/>
              <a:t>3σ</a:t>
            </a:r>
            <a:r>
              <a:rPr lang="zh-CN" altLang="en-US" b="1" dirty="0"/>
              <a:t>原则</a:t>
            </a:r>
          </a:p>
        </p:txBody>
      </p:sp>
      <p:graphicFrame>
        <p:nvGraphicFramePr>
          <p:cNvPr id="6" name="表格 6"/>
          <p:cNvGraphicFramePr>
            <a:graphicFrameLocks noGrp="1"/>
          </p:cNvGraphicFramePr>
          <p:nvPr/>
        </p:nvGraphicFramePr>
        <p:xfrm>
          <a:off x="3264023" y="4570023"/>
          <a:ext cx="5663954" cy="1483360"/>
        </p:xfrm>
        <a:graphic>
          <a:graphicData uri="http://schemas.openxmlformats.org/drawingml/2006/table">
            <a:tbl>
              <a:tblPr firstRow="1" bandRow="1">
                <a:tableStyleId>{5C22544A-7EE6-4342-B048-85BDC9FD1C3A}</a:tableStyleId>
              </a:tblPr>
              <a:tblGrid>
                <a:gridCol w="2831977">
                  <a:extLst>
                    <a:ext uri="{9D8B030D-6E8A-4147-A177-3AD203B41FA5}">
                      <a16:colId xmlns:a16="http://schemas.microsoft.com/office/drawing/2014/main" val="20000"/>
                    </a:ext>
                  </a:extLst>
                </a:gridCol>
                <a:gridCol w="2831977">
                  <a:extLst>
                    <a:ext uri="{9D8B030D-6E8A-4147-A177-3AD203B41FA5}">
                      <a16:colId xmlns:a16="http://schemas.microsoft.com/office/drawing/2014/main" val="20001"/>
                    </a:ext>
                  </a:extLst>
                </a:gridCol>
              </a:tblGrid>
              <a:tr h="370840">
                <a:tc>
                  <a:txBody>
                    <a:bodyPr/>
                    <a:lstStyle/>
                    <a:p>
                      <a:pPr algn="ctr"/>
                      <a:r>
                        <a:rPr lang="zh-CN" sz="1800" b="1" kern="100" baseline="0" dirty="0">
                          <a:effectLst/>
                          <a:latin typeface="Times New Roman" panose="02020603050405020304" pitchFamily="18" charset="0"/>
                          <a:ea typeface="宋体" panose="02010600030101010101" pitchFamily="2" charset="-122"/>
                          <a:cs typeface="Times New Roman" panose="02020603050405020304" pitchFamily="18" charset="0"/>
                        </a:rPr>
                        <a:t>数值分布</a:t>
                      </a:r>
                    </a:p>
                  </a:txBody>
                  <a:tcPr marL="68580" marR="68580" marT="0" marB="0" anchor="ctr"/>
                </a:tc>
                <a:tc>
                  <a:txBody>
                    <a:bodyPr/>
                    <a:lstStyle/>
                    <a:p>
                      <a:pPr algn="ctr"/>
                      <a:r>
                        <a:rPr lang="zh-CN" sz="1800" b="1" kern="100" baseline="0">
                          <a:effectLst/>
                          <a:latin typeface="Times New Roman" panose="02020603050405020304" pitchFamily="18" charset="0"/>
                          <a:ea typeface="宋体" panose="02010600030101010101" pitchFamily="2" charset="-122"/>
                          <a:cs typeface="Times New Roman" panose="02020603050405020304" pitchFamily="18" charset="0"/>
                        </a:rPr>
                        <a:t>在数据中的占比</a:t>
                      </a:r>
                    </a:p>
                  </a:txBody>
                  <a:tcPr marL="68580" marR="68580" marT="0" marB="0" anchor="ctr"/>
                </a:tc>
                <a:extLst>
                  <a:ext uri="{0D108BD9-81ED-4DB2-BD59-A6C34878D82A}">
                    <a16:rowId xmlns:a16="http://schemas.microsoft.com/office/drawing/2014/main" val="10000"/>
                  </a:ext>
                </a:extLst>
              </a:tr>
              <a:tr h="370840">
                <a:tc>
                  <a:txBody>
                    <a:bodyPr/>
                    <a:lstStyle/>
                    <a:p>
                      <a:pPr algn="ctr"/>
                      <a:r>
                        <a:rPr lang="en-US" sz="1800" kern="100" baseline="0">
                          <a:effectLst/>
                          <a:latin typeface="Times New Roman" panose="02020603050405020304" pitchFamily="18" charset="0"/>
                          <a:ea typeface="宋体" panose="02010600030101010101" pitchFamily="2" charset="-122"/>
                          <a:cs typeface="Times New Roman" panose="02020603050405020304" pitchFamily="18" charset="0"/>
                        </a:rPr>
                        <a:t>(</a:t>
                      </a:r>
                      <a:r>
                        <a:rPr lang="en-US" sz="1800" i="1" kern="100" baseline="0">
                          <a:effectLst/>
                          <a:latin typeface="Times New Roman" panose="02020603050405020304" pitchFamily="18" charset="0"/>
                          <a:ea typeface="宋体" panose="02010600030101010101" pitchFamily="2" charset="-122"/>
                          <a:cs typeface="Times New Roman" panose="02020603050405020304" pitchFamily="18" charset="0"/>
                        </a:rPr>
                        <a:t>μ</a:t>
                      </a:r>
                      <a:r>
                        <a:rPr lang="en-US" sz="1800" kern="100" baseline="0">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sz="1800" i="1" kern="100" baseline="0">
                          <a:effectLst/>
                          <a:latin typeface="Times New Roman" panose="02020603050405020304" pitchFamily="18" charset="0"/>
                          <a:ea typeface="宋体" panose="02010600030101010101" pitchFamily="2" charset="-122"/>
                          <a:cs typeface="Times New Roman" panose="02020603050405020304" pitchFamily="18" charset="0"/>
                        </a:rPr>
                        <a:t>σ</a:t>
                      </a:r>
                      <a:r>
                        <a:rPr lang="en-US" sz="1800" kern="100" baseline="0">
                          <a:effectLst/>
                          <a:latin typeface="Times New Roman" panose="02020603050405020304" pitchFamily="18" charset="0"/>
                          <a:ea typeface="宋体" panose="02010600030101010101" pitchFamily="2" charset="-122"/>
                          <a:cs typeface="Times New Roman" panose="02020603050405020304" pitchFamily="18" charset="0"/>
                        </a:rPr>
                        <a:t>,</a:t>
                      </a:r>
                      <a:r>
                        <a:rPr lang="en-US" sz="1800" i="1" kern="100" baseline="0">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sz="1800" kern="100" baseline="0">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sz="1800" i="1" kern="100" baseline="0">
                          <a:effectLst/>
                          <a:latin typeface="Times New Roman" panose="02020603050405020304" pitchFamily="18" charset="0"/>
                          <a:ea typeface="宋体" panose="02010600030101010101" pitchFamily="2" charset="-122"/>
                          <a:cs typeface="Times New Roman" panose="02020603050405020304" pitchFamily="18" charset="0"/>
                        </a:rPr>
                        <a:t>σ</a:t>
                      </a:r>
                      <a:r>
                        <a:rPr lang="en-US" sz="1800" kern="100" baseline="0">
                          <a:effectLst/>
                          <a:latin typeface="Times New Roman" panose="02020603050405020304" pitchFamily="18" charset="0"/>
                          <a:ea typeface="宋体" panose="02010600030101010101" pitchFamily="2" charset="-122"/>
                          <a:cs typeface="Times New Roman" panose="02020603050405020304" pitchFamily="18" charset="0"/>
                        </a:rPr>
                        <a:t>)</a:t>
                      </a:r>
                      <a:endParaRPr lang="zh-CN" sz="18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800" kern="100" baseline="0">
                          <a:effectLst/>
                          <a:latin typeface="Times New Roman" panose="02020603050405020304" pitchFamily="18" charset="0"/>
                          <a:ea typeface="宋体" panose="02010600030101010101" pitchFamily="2" charset="-122"/>
                          <a:cs typeface="Times New Roman" panose="02020603050405020304" pitchFamily="18" charset="0"/>
                        </a:rPr>
                        <a:t>0.6827</a:t>
                      </a:r>
                      <a:endParaRPr lang="zh-CN" sz="18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370840">
                <a:tc>
                  <a:txBody>
                    <a:bodyPr/>
                    <a:lstStyle/>
                    <a:p>
                      <a:pPr algn="ctr"/>
                      <a:r>
                        <a:rPr lang="en-US" sz="1800" kern="100" baseline="0">
                          <a:effectLst/>
                          <a:latin typeface="Times New Roman" panose="02020603050405020304" pitchFamily="18" charset="0"/>
                          <a:ea typeface="宋体" panose="02010600030101010101" pitchFamily="2" charset="-122"/>
                          <a:cs typeface="Times New Roman" panose="02020603050405020304" pitchFamily="18" charset="0"/>
                        </a:rPr>
                        <a:t>(</a:t>
                      </a:r>
                      <a:r>
                        <a:rPr lang="en-US" sz="1800" i="1" kern="100" baseline="0">
                          <a:effectLst/>
                          <a:latin typeface="Times New Roman" panose="02020603050405020304" pitchFamily="18" charset="0"/>
                          <a:ea typeface="宋体" panose="02010600030101010101" pitchFamily="2" charset="-122"/>
                          <a:cs typeface="Times New Roman" panose="02020603050405020304" pitchFamily="18" charset="0"/>
                        </a:rPr>
                        <a:t>μ</a:t>
                      </a:r>
                      <a:r>
                        <a:rPr lang="en-US" sz="1800" kern="100" baseline="0">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sz="1800" kern="100" baseline="0">
                          <a:effectLst/>
                          <a:latin typeface="Times New Roman" panose="02020603050405020304" pitchFamily="18" charset="0"/>
                          <a:ea typeface="宋体" panose="02010600030101010101" pitchFamily="2" charset="-122"/>
                          <a:cs typeface="Times New Roman" panose="02020603050405020304" pitchFamily="18" charset="0"/>
                        </a:rPr>
                        <a:t>2</a:t>
                      </a:r>
                      <a:r>
                        <a:rPr lang="en-US" sz="1800" i="1" kern="100" baseline="0">
                          <a:effectLst/>
                          <a:latin typeface="Times New Roman" panose="02020603050405020304" pitchFamily="18" charset="0"/>
                          <a:ea typeface="宋体" panose="02010600030101010101" pitchFamily="2" charset="-122"/>
                          <a:cs typeface="Times New Roman" panose="02020603050405020304" pitchFamily="18" charset="0"/>
                        </a:rPr>
                        <a:t>σ</a:t>
                      </a:r>
                      <a:r>
                        <a:rPr lang="en-US" sz="1800" kern="100" baseline="0">
                          <a:effectLst/>
                          <a:latin typeface="Times New Roman" panose="02020603050405020304" pitchFamily="18" charset="0"/>
                          <a:ea typeface="宋体" panose="02010600030101010101" pitchFamily="2" charset="-122"/>
                          <a:cs typeface="Times New Roman" panose="02020603050405020304" pitchFamily="18" charset="0"/>
                        </a:rPr>
                        <a:t>,</a:t>
                      </a:r>
                      <a:r>
                        <a:rPr lang="en-US" sz="1800" i="1" kern="100" baseline="0">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sz="1800" kern="100" baseline="0">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sz="1800" kern="100" baseline="0">
                          <a:effectLst/>
                          <a:latin typeface="Times New Roman" panose="02020603050405020304" pitchFamily="18" charset="0"/>
                          <a:ea typeface="宋体" panose="02010600030101010101" pitchFamily="2" charset="-122"/>
                          <a:cs typeface="Times New Roman" panose="02020603050405020304" pitchFamily="18" charset="0"/>
                        </a:rPr>
                        <a:t>2</a:t>
                      </a:r>
                      <a:r>
                        <a:rPr lang="en-US" sz="1800" i="1" kern="100" baseline="0">
                          <a:effectLst/>
                          <a:latin typeface="Times New Roman" panose="02020603050405020304" pitchFamily="18" charset="0"/>
                          <a:ea typeface="宋体" panose="02010600030101010101" pitchFamily="2" charset="-122"/>
                          <a:cs typeface="Times New Roman" panose="02020603050405020304" pitchFamily="18" charset="0"/>
                        </a:rPr>
                        <a:t>σ</a:t>
                      </a:r>
                      <a:r>
                        <a:rPr lang="en-US" sz="1800" kern="100" baseline="0">
                          <a:effectLst/>
                          <a:latin typeface="Times New Roman" panose="02020603050405020304" pitchFamily="18" charset="0"/>
                          <a:ea typeface="宋体" panose="02010600030101010101" pitchFamily="2" charset="-122"/>
                          <a:cs typeface="Times New Roman" panose="02020603050405020304" pitchFamily="18" charset="0"/>
                        </a:rPr>
                        <a:t>)</a:t>
                      </a:r>
                      <a:endParaRPr lang="zh-CN" sz="18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800" kern="100" baseline="0">
                          <a:effectLst/>
                          <a:latin typeface="Times New Roman" panose="02020603050405020304" pitchFamily="18" charset="0"/>
                          <a:ea typeface="宋体" panose="02010600030101010101" pitchFamily="2" charset="-122"/>
                          <a:cs typeface="Times New Roman" panose="02020603050405020304" pitchFamily="18" charset="0"/>
                        </a:rPr>
                        <a:t>0.9545</a:t>
                      </a:r>
                      <a:endParaRPr lang="zh-CN" sz="18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370840">
                <a:tc>
                  <a:txBody>
                    <a:bodyPr/>
                    <a:lstStyle/>
                    <a:p>
                      <a:pPr algn="ctr"/>
                      <a:r>
                        <a:rPr lang="en-US" sz="1800" kern="100" baseline="0">
                          <a:effectLst/>
                          <a:latin typeface="Times New Roman" panose="02020603050405020304" pitchFamily="18" charset="0"/>
                          <a:ea typeface="宋体" panose="02010600030101010101" pitchFamily="2" charset="-122"/>
                          <a:cs typeface="Times New Roman" panose="02020603050405020304" pitchFamily="18" charset="0"/>
                        </a:rPr>
                        <a:t>(</a:t>
                      </a:r>
                      <a:r>
                        <a:rPr lang="en-US" sz="1800" i="1" kern="100" baseline="0">
                          <a:effectLst/>
                          <a:latin typeface="Times New Roman" panose="02020603050405020304" pitchFamily="18" charset="0"/>
                          <a:ea typeface="宋体" panose="02010600030101010101" pitchFamily="2" charset="-122"/>
                          <a:cs typeface="Times New Roman" panose="02020603050405020304" pitchFamily="18" charset="0"/>
                        </a:rPr>
                        <a:t>μ</a:t>
                      </a:r>
                      <a:r>
                        <a:rPr lang="en-US" sz="1800" kern="100" baseline="0">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sz="1800" kern="100" baseline="0">
                          <a:effectLst/>
                          <a:latin typeface="Times New Roman" panose="02020603050405020304" pitchFamily="18" charset="0"/>
                          <a:ea typeface="宋体" panose="02010600030101010101" pitchFamily="2" charset="-122"/>
                          <a:cs typeface="Times New Roman" panose="02020603050405020304" pitchFamily="18" charset="0"/>
                        </a:rPr>
                        <a:t>3</a:t>
                      </a:r>
                      <a:r>
                        <a:rPr lang="en-US" sz="1800" i="1" kern="100" baseline="0">
                          <a:effectLst/>
                          <a:latin typeface="Times New Roman" panose="02020603050405020304" pitchFamily="18" charset="0"/>
                          <a:ea typeface="宋体" panose="02010600030101010101" pitchFamily="2" charset="-122"/>
                          <a:cs typeface="Times New Roman" panose="02020603050405020304" pitchFamily="18" charset="0"/>
                        </a:rPr>
                        <a:t>σ</a:t>
                      </a:r>
                      <a:r>
                        <a:rPr lang="en-US" sz="1800" kern="100" baseline="0">
                          <a:effectLst/>
                          <a:latin typeface="Times New Roman" panose="02020603050405020304" pitchFamily="18" charset="0"/>
                          <a:ea typeface="宋体" panose="02010600030101010101" pitchFamily="2" charset="-122"/>
                          <a:cs typeface="Times New Roman" panose="02020603050405020304" pitchFamily="18" charset="0"/>
                        </a:rPr>
                        <a:t>,</a:t>
                      </a:r>
                      <a:r>
                        <a:rPr lang="en-US" sz="1800" i="1" kern="100" baseline="0">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sz="1800" kern="100" baseline="0">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sz="1800" kern="100" baseline="0">
                          <a:effectLst/>
                          <a:latin typeface="Times New Roman" panose="02020603050405020304" pitchFamily="18" charset="0"/>
                          <a:ea typeface="宋体" panose="02010600030101010101" pitchFamily="2" charset="-122"/>
                          <a:cs typeface="Times New Roman" panose="02020603050405020304" pitchFamily="18" charset="0"/>
                        </a:rPr>
                        <a:t>3</a:t>
                      </a:r>
                      <a:r>
                        <a:rPr lang="en-US" sz="1800" i="1" kern="100" baseline="0">
                          <a:effectLst/>
                          <a:latin typeface="Times New Roman" panose="02020603050405020304" pitchFamily="18" charset="0"/>
                          <a:ea typeface="宋体" panose="02010600030101010101" pitchFamily="2" charset="-122"/>
                          <a:cs typeface="Times New Roman" panose="02020603050405020304" pitchFamily="18" charset="0"/>
                        </a:rPr>
                        <a:t>σ</a:t>
                      </a:r>
                      <a:r>
                        <a:rPr lang="en-US" sz="1800" kern="100" baseline="0">
                          <a:effectLst/>
                          <a:latin typeface="Times New Roman" panose="02020603050405020304" pitchFamily="18" charset="0"/>
                          <a:ea typeface="宋体" panose="02010600030101010101" pitchFamily="2" charset="-122"/>
                          <a:cs typeface="Times New Roman" panose="02020603050405020304" pitchFamily="18" charset="0"/>
                        </a:rPr>
                        <a:t>)</a:t>
                      </a:r>
                      <a:endParaRPr lang="zh-CN" sz="18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en-US" sz="1800" kern="100" baseline="0" dirty="0">
                          <a:effectLst/>
                          <a:latin typeface="Times New Roman" panose="02020603050405020304" pitchFamily="18" charset="0"/>
                          <a:ea typeface="宋体" panose="02010600030101010101" pitchFamily="2" charset="-122"/>
                          <a:cs typeface="Times New Roman" panose="02020603050405020304" pitchFamily="18" charset="0"/>
                        </a:rPr>
                        <a:t>0.9973</a:t>
                      </a:r>
                      <a:endParaRPr lang="zh-CN" sz="18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2" end="2"/>
                                            </p:txEl>
                                          </p:spTgt>
                                        </p:tgtEl>
                                        <p:attrNameLst>
                                          <p:attrName>style.visibility</p:attrName>
                                        </p:attrNameLst>
                                      </p:cBhvr>
                                      <p:to>
                                        <p:strVal val="visible"/>
                                      </p:to>
                                    </p:set>
                                    <p:animEffect transition="in" filter="fade">
                                      <p:cBhvr>
                                        <p:cTn id="35" dur="1000"/>
                                        <p:tgtEl>
                                          <p:spTgt spid="2">
                                            <p:txEl>
                                              <p:pRg st="2" end="2"/>
                                            </p:txEl>
                                          </p:spTgt>
                                        </p:tgtEl>
                                      </p:cBhvr>
                                    </p:animEffect>
                                    <p:anim calcmode="lin" valueType="num">
                                      <p:cBhvr>
                                        <p:cTn id="36"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b="1" dirty="0"/>
              <a:t>三、检测与处理异常值</a:t>
            </a:r>
            <a:endParaRPr lang="zh-CN" altLang="en-US" dirty="0"/>
          </a:p>
        </p:txBody>
      </p:sp>
      <p:sp>
        <p:nvSpPr>
          <p:cNvPr id="8" name="矩形 7"/>
          <p:cNvSpPr/>
          <p:nvPr/>
        </p:nvSpPr>
        <p:spPr>
          <a:xfrm>
            <a:off x="1269077" y="1291395"/>
            <a:ext cx="6096000" cy="3693319"/>
          </a:xfrm>
          <a:prstGeom prst="rect">
            <a:avLst/>
          </a:prstGeom>
        </p:spPr>
        <p:txBody>
          <a:bodyPr>
            <a:spAutoFit/>
          </a:bodyPr>
          <a:lstStyle/>
          <a:p>
            <a:r>
              <a:rPr lang="zh-CN" altLang="en-US" dirty="0"/>
              <a:t>import numpy as np</a:t>
            </a:r>
          </a:p>
          <a:p>
            <a:r>
              <a:rPr lang="zh-CN" altLang="en-US" dirty="0"/>
              <a:t>all_info = pd.read_csv('./tmp/all_info_notnull.csv')</a:t>
            </a:r>
          </a:p>
          <a:p>
            <a:r>
              <a:rPr lang="zh-CN" altLang="en-US" dirty="0"/>
              <a:t># 定义3σ原则来识别异常值函数</a:t>
            </a:r>
          </a:p>
          <a:p>
            <a:r>
              <a:rPr lang="zh-CN" altLang="en-US" dirty="0"/>
              <a:t>def out_range(ser1):</a:t>
            </a:r>
          </a:p>
          <a:p>
            <a:r>
              <a:rPr lang="zh-CN" altLang="en-US" dirty="0"/>
              <a:t>    bool_ind = (ser1.mean() - 3 * ser1.std() &gt; ser1) | \</a:t>
            </a:r>
          </a:p>
          <a:p>
            <a:r>
              <a:rPr lang="zh-CN" altLang="en-US" dirty="0"/>
              <a:t>    (ser1.mean() + 3 * ser1.var() &lt; ser1)</a:t>
            </a:r>
          </a:p>
          <a:p>
            <a:r>
              <a:rPr lang="zh-CN" altLang="en-US" dirty="0"/>
              <a:t>    index = np.arange(ser1.shape[0])[bool_ind]</a:t>
            </a:r>
          </a:p>
          <a:p>
            <a:r>
              <a:rPr lang="zh-CN" altLang="en-US" dirty="0"/>
              <a:t>    outrange = ser1.iloc[index]</a:t>
            </a:r>
          </a:p>
          <a:p>
            <a:r>
              <a:rPr lang="zh-CN" altLang="en-US" dirty="0"/>
              <a:t>    return outrange</a:t>
            </a:r>
          </a:p>
          <a:p>
            <a:r>
              <a:rPr lang="zh-CN" altLang="en-US" dirty="0"/>
              <a:t>outlier = out_range(all_info['年龄'])</a:t>
            </a:r>
          </a:p>
          <a:p>
            <a:r>
              <a:rPr lang="zh-CN" altLang="en-US" dirty="0"/>
              <a:t>print('使用3σ原则判定异常值个数为:', outlier.shape[0])</a:t>
            </a:r>
          </a:p>
          <a:p>
            <a:r>
              <a:rPr lang="zh-CN" altLang="en-US" dirty="0"/>
              <a:t>print('异常值的最大值为：', outlier.max())</a:t>
            </a:r>
          </a:p>
          <a:p>
            <a:r>
              <a:rPr lang="zh-CN" altLang="en-US" dirty="0"/>
              <a:t>print('异常值的最小值为：', outlier.min())</a:t>
            </a:r>
          </a:p>
        </p:txBody>
      </p:sp>
      <p:pic>
        <p:nvPicPr>
          <p:cNvPr id="9" name="图片 8"/>
          <p:cNvPicPr>
            <a:picLocks noChangeAspect="1"/>
          </p:cNvPicPr>
          <p:nvPr/>
        </p:nvPicPr>
        <p:blipFill>
          <a:blip r:embed="rId2"/>
          <a:stretch>
            <a:fillRect/>
          </a:stretch>
        </p:blipFill>
        <p:spPr>
          <a:xfrm>
            <a:off x="7976141" y="2862745"/>
            <a:ext cx="2657143" cy="800000"/>
          </a:xfrm>
          <a:prstGeom prst="rect">
            <a:avLst/>
          </a:prstGeom>
        </p:spPr>
      </p:pic>
    </p:spTree>
    <p:extLst>
      <p:ext uri="{BB962C8B-B14F-4D97-AF65-F5344CB8AC3E}">
        <p14:creationId xmlns:p14="http://schemas.microsoft.com/office/powerpoint/2010/main" val="24452180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4876" y="1565449"/>
            <a:ext cx="11800275" cy="4339721"/>
          </a:xfrm>
        </p:spPr>
        <p:txBody>
          <a:bodyPr/>
          <a:lstStyle/>
          <a:p>
            <a:pPr marL="0" indent="0">
              <a:buNone/>
            </a:pPr>
            <a:r>
              <a:rPr lang="zh-CN" altLang="en-US" dirty="0"/>
              <a:t>箱线图提供了识别异常值的一个标准，即异常值通常被定义为小于</a:t>
            </a:r>
            <a:r>
              <a:rPr lang="en-US" altLang="zh-CN" dirty="0"/>
              <a:t>QL-1.5IQR</a:t>
            </a:r>
            <a:r>
              <a:rPr lang="zh-CN" altLang="en-US" dirty="0"/>
              <a:t>（</a:t>
            </a:r>
            <a:r>
              <a:rPr lang="zh-CN" altLang="en-US" dirty="0">
                <a:solidFill>
                  <a:srgbClr val="FF0000"/>
                </a:solidFill>
              </a:rPr>
              <a:t>下界</a:t>
            </a:r>
            <a:r>
              <a:rPr lang="zh-CN" altLang="en-US" dirty="0"/>
              <a:t>）或大于</a:t>
            </a:r>
            <a:r>
              <a:rPr lang="en-US" altLang="zh-CN" dirty="0"/>
              <a:t>QU+1.5IQR</a:t>
            </a:r>
            <a:r>
              <a:rPr lang="zh-CN" altLang="en-US" dirty="0"/>
              <a:t>的值</a:t>
            </a:r>
            <a:r>
              <a:rPr lang="en-US" altLang="zh-CN" dirty="0"/>
              <a:t>(</a:t>
            </a:r>
            <a:r>
              <a:rPr lang="zh-CN" altLang="en-US" dirty="0">
                <a:solidFill>
                  <a:srgbClr val="FF0000"/>
                </a:solidFill>
              </a:rPr>
              <a:t>上界</a:t>
            </a:r>
            <a:r>
              <a:rPr lang="en-US" altLang="zh-CN" dirty="0"/>
              <a:t>)</a:t>
            </a:r>
            <a:r>
              <a:rPr lang="zh-CN" altLang="en-US" dirty="0"/>
              <a:t>。</a:t>
            </a:r>
            <a:endParaRPr lang="en-US" altLang="zh-CN" dirty="0"/>
          </a:p>
          <a:p>
            <a:pPr marL="720090">
              <a:buFont typeface="Arial" panose="020B0604020202020204" pitchFamily="34" charset="0"/>
              <a:buChar char="•"/>
            </a:pPr>
            <a:r>
              <a:rPr lang="en-US" altLang="zh-CN" dirty="0"/>
              <a:t>QL</a:t>
            </a:r>
            <a:r>
              <a:rPr lang="zh-CN" altLang="en-US" dirty="0"/>
              <a:t>称为下四分位数，表示全部观察值中有四分之一的数据取值比它小；</a:t>
            </a:r>
            <a:endParaRPr lang="en-US" altLang="zh-CN" dirty="0"/>
          </a:p>
          <a:p>
            <a:pPr marL="720090">
              <a:buFont typeface="Arial" panose="020B0604020202020204" pitchFamily="34" charset="0"/>
              <a:buChar char="•"/>
            </a:pPr>
            <a:r>
              <a:rPr lang="en-US" altLang="zh-CN" dirty="0"/>
              <a:t>QU</a:t>
            </a:r>
            <a:r>
              <a:rPr lang="zh-CN" altLang="en-US" dirty="0"/>
              <a:t>称为上四分位数，表示全部观察值中有四分之一的数据取值比它大；</a:t>
            </a:r>
            <a:endParaRPr lang="en-US" altLang="zh-CN" dirty="0"/>
          </a:p>
          <a:p>
            <a:pPr marL="720090">
              <a:buFont typeface="Arial" panose="020B0604020202020204" pitchFamily="34" charset="0"/>
              <a:buChar char="•"/>
            </a:pPr>
            <a:r>
              <a:rPr lang="en-US" altLang="zh-CN" dirty="0"/>
              <a:t>IQR</a:t>
            </a:r>
            <a:r>
              <a:rPr lang="zh-CN" altLang="en-US" dirty="0"/>
              <a:t>称为四分位数间距，是上四分位数</a:t>
            </a:r>
            <a:r>
              <a:rPr lang="en-US" altLang="zh-CN" dirty="0"/>
              <a:t>QU</a:t>
            </a:r>
            <a:r>
              <a:rPr lang="zh-CN" altLang="en-US" dirty="0"/>
              <a:t>与下四分位数</a:t>
            </a:r>
            <a:r>
              <a:rPr lang="en-US" altLang="zh-CN" dirty="0"/>
              <a:t>QL</a:t>
            </a:r>
            <a:r>
              <a:rPr lang="zh-CN" altLang="en-US" dirty="0"/>
              <a:t>之差，其间包含了全部观察值的一半。</a:t>
            </a:r>
          </a:p>
          <a:p>
            <a:pPr marL="0" indent="0">
              <a:buNone/>
            </a:pPr>
            <a:endParaRPr lang="en-US" altLang="zh-CN" dirty="0"/>
          </a:p>
        </p:txBody>
      </p:sp>
      <p:sp>
        <p:nvSpPr>
          <p:cNvPr id="3" name="标题 2"/>
          <p:cNvSpPr>
            <a:spLocks noGrp="1"/>
          </p:cNvSpPr>
          <p:nvPr>
            <p:ph type="title"/>
          </p:nvPr>
        </p:nvSpPr>
        <p:spPr/>
        <p:txBody>
          <a:bodyPr/>
          <a:lstStyle/>
          <a:p>
            <a:r>
              <a:rPr lang="zh-CN" altLang="en-US" b="1" dirty="0"/>
              <a:t>检测与处理异常值</a:t>
            </a:r>
            <a:endParaRPr lang="zh-CN" altLang="en-US" dirty="0"/>
          </a:p>
        </p:txBody>
      </p:sp>
      <p:sp>
        <p:nvSpPr>
          <p:cNvPr id="4" name="内容占位符 3"/>
          <p:cNvSpPr>
            <a:spLocks noGrp="1"/>
          </p:cNvSpPr>
          <p:nvPr>
            <p:ph idx="10"/>
          </p:nvPr>
        </p:nvSpPr>
        <p:spPr/>
        <p:txBody>
          <a:bodyPr/>
          <a:lstStyle/>
          <a:p>
            <a:r>
              <a:rPr lang="en-US" altLang="zh-CN" b="1" dirty="0"/>
              <a:t>2.</a:t>
            </a:r>
            <a:r>
              <a:rPr lang="el-GR" altLang="zh-CN" b="1" dirty="0"/>
              <a:t> </a:t>
            </a:r>
            <a:r>
              <a:rPr lang="zh-CN" altLang="en-US" b="1" dirty="0"/>
              <a:t>箱线图分析</a:t>
            </a:r>
          </a:p>
        </p:txBody>
      </p:sp>
      <p:pic>
        <p:nvPicPr>
          <p:cNvPr id="5" name="图片 4"/>
          <p:cNvPicPr>
            <a:picLocks noChangeAspect="1"/>
          </p:cNvPicPr>
          <p:nvPr/>
        </p:nvPicPr>
        <p:blipFill>
          <a:blip r:embed="rId2"/>
          <a:stretch>
            <a:fillRect/>
          </a:stretch>
        </p:blipFill>
        <p:spPr>
          <a:xfrm>
            <a:off x="5299487" y="3497836"/>
            <a:ext cx="2390878" cy="26790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箱线图依据实际数据绘制，真实、直观地表现出了数据分布的本来面貌，且没有对数据做任何限制性要求，其判断异常值的标准以四分位数和四分位数间距为基础。</a:t>
            </a:r>
            <a:endParaRPr lang="en-US" altLang="zh-CN" dirty="0"/>
          </a:p>
          <a:p>
            <a:r>
              <a:rPr lang="zh-CN" altLang="en-US" dirty="0"/>
              <a:t>四分位数给出了数据分布的中心、散布和形状的某种指示，具有一定的鲁棒性，即</a:t>
            </a:r>
            <a:r>
              <a:rPr lang="en-US" altLang="zh-CN" dirty="0"/>
              <a:t>25%</a:t>
            </a:r>
            <a:r>
              <a:rPr lang="zh-CN" altLang="en-US" dirty="0"/>
              <a:t>的数据可以变得任意远，而不会很大地扰动四分位数，所以异常值通常不能对这个标准施加影响。鉴于此，箱线图识别异常值的结果比较客观，因此在识别异常值方面具有一定的优越性。</a:t>
            </a:r>
          </a:p>
          <a:p>
            <a:endParaRPr lang="en-US" altLang="zh-CN" dirty="0"/>
          </a:p>
        </p:txBody>
      </p:sp>
      <p:sp>
        <p:nvSpPr>
          <p:cNvPr id="3" name="标题 2"/>
          <p:cNvSpPr>
            <a:spLocks noGrp="1"/>
          </p:cNvSpPr>
          <p:nvPr>
            <p:ph type="title"/>
          </p:nvPr>
        </p:nvSpPr>
        <p:spPr/>
        <p:txBody>
          <a:bodyPr/>
          <a:lstStyle/>
          <a:p>
            <a:r>
              <a:rPr lang="zh-CN" altLang="en-US" b="1" dirty="0"/>
              <a:t>检测与处理异常值</a:t>
            </a:r>
            <a:endParaRPr lang="zh-CN" altLang="en-US" dirty="0"/>
          </a:p>
        </p:txBody>
      </p:sp>
    </p:spTree>
    <p:extLst>
      <p:ext uri="{BB962C8B-B14F-4D97-AF65-F5344CB8AC3E}">
        <p14:creationId xmlns:p14="http://schemas.microsoft.com/office/powerpoint/2010/main" val="1252516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b="1" dirty="0"/>
              <a:t>检测与处理异常值</a:t>
            </a:r>
            <a:endParaRPr lang="zh-CN" altLang="en-US" dirty="0"/>
          </a:p>
        </p:txBody>
      </p:sp>
      <p:sp>
        <p:nvSpPr>
          <p:cNvPr id="5" name="矩形 4"/>
          <p:cNvSpPr/>
          <p:nvPr/>
        </p:nvSpPr>
        <p:spPr>
          <a:xfrm>
            <a:off x="778625" y="1233068"/>
            <a:ext cx="6096000" cy="2862322"/>
          </a:xfrm>
          <a:prstGeom prst="rect">
            <a:avLst/>
          </a:prstGeom>
        </p:spPr>
        <p:txBody>
          <a:bodyPr>
            <a:spAutoFit/>
          </a:bodyPr>
          <a:lstStyle/>
          <a:p>
            <a:r>
              <a:rPr lang="zh-CN" altLang="en-US" dirty="0"/>
              <a:t>#matplotlib下一节课会讲，这里知道结果就行，原理后面讲</a:t>
            </a:r>
          </a:p>
          <a:p>
            <a:r>
              <a:rPr lang="zh-CN" altLang="en-US" dirty="0"/>
              <a:t>import matplotlib.pyplot as plt</a:t>
            </a:r>
          </a:p>
          <a:p>
            <a:r>
              <a:rPr lang="zh-CN" altLang="en-US" dirty="0"/>
              <a:t>plt.figure(figsize=(10, 8), dpi=80) </a:t>
            </a:r>
          </a:p>
          <a:p>
            <a:r>
              <a:rPr lang="zh-CN" altLang="en-US" dirty="0"/>
              <a:t>p = plt.boxplot(list(all_info['年龄'].values))  # 画出箱线图</a:t>
            </a:r>
          </a:p>
          <a:p>
            <a:r>
              <a:rPr lang="zh-CN" altLang="en-US" dirty="0"/>
              <a:t>outlier1 = p['fliers'][0].get_ydata()  # fliers为异常值的标签</a:t>
            </a:r>
          </a:p>
          <a:p>
            <a:r>
              <a:rPr lang="zh-CN" altLang="en-US" dirty="0"/>
              <a:t>plt.savefig('./tmp/用户年龄异常数据识别.jpg')</a:t>
            </a:r>
          </a:p>
          <a:p>
            <a:r>
              <a:rPr lang="zh-CN" altLang="en-US" dirty="0"/>
              <a:t>plt.show()</a:t>
            </a:r>
          </a:p>
          <a:p>
            <a:r>
              <a:rPr lang="zh-CN" altLang="en-US" dirty="0"/>
              <a:t>print('年龄数据异常值个数为：', len(outlier1))</a:t>
            </a:r>
          </a:p>
          <a:p>
            <a:r>
              <a:rPr lang="zh-CN" altLang="en-US" dirty="0"/>
              <a:t>print('年龄数据异常值的最大值为：', max(outlier1))</a:t>
            </a:r>
          </a:p>
          <a:p>
            <a:r>
              <a:rPr lang="zh-CN" altLang="en-US" dirty="0"/>
              <a:t>print('年龄数据异常值的最小值为：', min(outlier1))</a:t>
            </a:r>
          </a:p>
        </p:txBody>
      </p:sp>
      <p:pic>
        <p:nvPicPr>
          <p:cNvPr id="6" name="图片 5"/>
          <p:cNvPicPr>
            <a:picLocks noChangeAspect="1"/>
          </p:cNvPicPr>
          <p:nvPr/>
        </p:nvPicPr>
        <p:blipFill>
          <a:blip r:embed="rId2"/>
          <a:stretch>
            <a:fillRect/>
          </a:stretch>
        </p:blipFill>
        <p:spPr>
          <a:xfrm>
            <a:off x="8137634" y="1233068"/>
            <a:ext cx="2666667" cy="790476"/>
          </a:xfrm>
          <a:prstGeom prst="rect">
            <a:avLst/>
          </a:prstGeom>
        </p:spPr>
      </p:pic>
      <p:pic>
        <p:nvPicPr>
          <p:cNvPr id="7" name="图片 6"/>
          <p:cNvPicPr>
            <a:picLocks noChangeAspect="1"/>
          </p:cNvPicPr>
          <p:nvPr/>
        </p:nvPicPr>
        <p:blipFill>
          <a:blip r:embed="rId3"/>
          <a:stretch>
            <a:fillRect/>
          </a:stretch>
        </p:blipFill>
        <p:spPr>
          <a:xfrm>
            <a:off x="7166224" y="2236124"/>
            <a:ext cx="4209437" cy="3518968"/>
          </a:xfrm>
          <a:prstGeom prst="rect">
            <a:avLst/>
          </a:prstGeom>
        </p:spPr>
      </p:pic>
      <p:sp>
        <p:nvSpPr>
          <p:cNvPr id="8" name="文本框 7"/>
          <p:cNvSpPr txBox="1"/>
          <p:nvPr/>
        </p:nvSpPr>
        <p:spPr>
          <a:xfrm>
            <a:off x="9270942" y="5755092"/>
            <a:ext cx="2192316" cy="369332"/>
          </a:xfrm>
          <a:prstGeom prst="rect">
            <a:avLst/>
          </a:prstGeom>
          <a:noFill/>
        </p:spPr>
        <p:txBody>
          <a:bodyPr wrap="square" rtlCol="0">
            <a:spAutoFit/>
          </a:bodyPr>
          <a:lstStyle/>
          <a:p>
            <a:r>
              <a:rPr lang="zh-CN" altLang="en-US" dirty="0"/>
              <a:t>箱图</a:t>
            </a:r>
          </a:p>
        </p:txBody>
      </p:sp>
    </p:spTree>
    <p:extLst>
      <p:ext uri="{BB962C8B-B14F-4D97-AF65-F5344CB8AC3E}">
        <p14:creationId xmlns:p14="http://schemas.microsoft.com/office/powerpoint/2010/main" val="8601094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直接连接符 6">
            <a:extLst>
              <a:ext uri="{FF2B5EF4-FFF2-40B4-BE49-F238E27FC236}">
                <a16:creationId xmlns:a16="http://schemas.microsoft.com/office/drawing/2014/main" id="{0655586B-F6B4-426E-80D1-04ADB3C76375}"/>
              </a:ext>
            </a:extLst>
          </p:cNvPr>
          <p:cNvCxnSpPr>
            <a:cxnSpLocks/>
          </p:cNvCxnSpPr>
          <p:nvPr/>
        </p:nvCxnSpPr>
        <p:spPr>
          <a:xfrm>
            <a:off x="3264947" y="1348062"/>
            <a:ext cx="5910" cy="4354238"/>
          </a:xfrm>
          <a:prstGeom prst="line">
            <a:avLst/>
          </a:prstGeom>
        </p:spPr>
        <p:style>
          <a:lnRef idx="2">
            <a:schemeClr val="dk1"/>
          </a:lnRef>
          <a:fillRef idx="0">
            <a:schemeClr val="dk1"/>
          </a:fillRef>
          <a:effectRef idx="1">
            <a:schemeClr val="dk1"/>
          </a:effectRef>
          <a:fontRef idx="minor">
            <a:schemeClr val="tx1"/>
          </a:fontRef>
        </p:style>
      </p:cxnSp>
      <p:sp>
        <p:nvSpPr>
          <p:cNvPr id="19" name="Line 2">
            <a:extLst>
              <a:ext uri="{FF2B5EF4-FFF2-40B4-BE49-F238E27FC236}">
                <a16:creationId xmlns:a16="http://schemas.microsoft.com/office/drawing/2014/main" id="{E878D2EE-7AD5-42B3-80C8-BF594574CC4F}"/>
              </a:ext>
            </a:extLst>
          </p:cNvPr>
          <p:cNvSpPr>
            <a:spLocks noChangeShapeType="1"/>
          </p:cNvSpPr>
          <p:nvPr/>
        </p:nvSpPr>
        <p:spPr bwMode="auto">
          <a:xfrm>
            <a:off x="2649786" y="4002873"/>
            <a:ext cx="6604980" cy="0"/>
          </a:xfrm>
          <a:prstGeom prst="line">
            <a:avLst/>
          </a:prstGeom>
        </p:spPr>
        <p:style>
          <a:lnRef idx="2">
            <a:schemeClr val="dk1"/>
          </a:lnRef>
          <a:fillRef idx="0">
            <a:schemeClr val="dk1"/>
          </a:fillRef>
          <a:effectRef idx="1">
            <a:schemeClr val="dk1"/>
          </a:effectRef>
          <a:fontRef idx="minor">
            <a:schemeClr val="tx1"/>
          </a:fontRef>
        </p:style>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sp>
        <p:nvSpPr>
          <p:cNvPr id="20" name="Oval 15">
            <a:extLst>
              <a:ext uri="{FF2B5EF4-FFF2-40B4-BE49-F238E27FC236}">
                <a16:creationId xmlns:a16="http://schemas.microsoft.com/office/drawing/2014/main" id="{4AA2E115-B5CF-48D7-AAF4-34243C4DB9F7}"/>
              </a:ext>
            </a:extLst>
          </p:cNvPr>
          <p:cNvSpPr>
            <a:spLocks noChangeArrowheads="1"/>
          </p:cNvSpPr>
          <p:nvPr/>
        </p:nvSpPr>
        <p:spPr bwMode="auto">
          <a:xfrm>
            <a:off x="2904947" y="1651743"/>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zh-CN"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itchFamily="2" charset="-122"/>
                <a:cs typeface="+mn-cs"/>
              </a:rPr>
              <a:t>1</a:t>
            </a:r>
            <a:endParaRPr kumimoji="0" lang="en-US" altLang="zh-CN"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itchFamily="2" charset="-122"/>
              <a:cs typeface="+mn-cs"/>
            </a:endParaRPr>
          </a:p>
        </p:txBody>
      </p:sp>
      <p:sp>
        <p:nvSpPr>
          <p:cNvPr id="23"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00531" y="2608672"/>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dirty="0">
                <a:solidFill>
                  <a:srgbClr val="FFFFFF"/>
                </a:solidFill>
                <a:latin typeface="Times New Roman" panose="02020603050405020304" pitchFamily="18" charset="0"/>
                <a:ea typeface="宋体" panose="02010600030101010101" pitchFamily="2" charset="-122"/>
                <a:sym typeface="微软雅黑" pitchFamily="34" charset="-122"/>
              </a:rPr>
              <a:t>清洗数据</a:t>
            </a:r>
            <a:endParaRPr kumimoji="0" lang="zh-CN"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 name="标题 3">
            <a:extLst>
              <a:ext uri="{FF2B5EF4-FFF2-40B4-BE49-F238E27FC236}">
                <a16:creationId xmlns:a16="http://schemas.microsoft.com/office/drawing/2014/main" id="{23AA43DE-EC22-42DF-863E-F4636BE2010D}"/>
              </a:ext>
            </a:extLst>
          </p:cNvPr>
          <p:cNvSpPr>
            <a:spLocks noGrp="1"/>
          </p:cNvSpPr>
          <p:nvPr>
            <p:ph type="title"/>
          </p:nvPr>
        </p:nvSpPr>
        <p:spPr/>
        <p:txBody>
          <a:bodyPr/>
          <a:lstStyle/>
          <a:p>
            <a:r>
              <a:rPr lang="zh-CN" altLang="en-US" sz="2800" dirty="0">
                <a:latin typeface="Times New Roman" panose="02020603050405020304" pitchFamily="18" charset="0"/>
              </a:rPr>
              <a:t>目录</a:t>
            </a:r>
          </a:p>
        </p:txBody>
      </p:sp>
      <p:sp>
        <p:nvSpPr>
          <p:cNvPr id="13"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00531" y="1579743"/>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rPr>
              <a:t>合并数据</a:t>
            </a:r>
          </a:p>
        </p:txBody>
      </p:sp>
      <p:sp>
        <p:nvSpPr>
          <p:cNvPr id="15" name="Oval 15">
            <a:extLst>
              <a:ext uri="{FF2B5EF4-FFF2-40B4-BE49-F238E27FC236}">
                <a16:creationId xmlns:a16="http://schemas.microsoft.com/office/drawing/2014/main" id="{4AA2E115-B5CF-48D7-AAF4-34243C4DB9F7}"/>
              </a:ext>
            </a:extLst>
          </p:cNvPr>
          <p:cNvSpPr>
            <a:spLocks noChangeArrowheads="1"/>
          </p:cNvSpPr>
          <p:nvPr/>
        </p:nvSpPr>
        <p:spPr bwMode="auto">
          <a:xfrm>
            <a:off x="2928857" y="2626672"/>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itchFamily="2" charset="-122"/>
                <a:cs typeface="+mn-cs"/>
              </a:rPr>
              <a:t>2</a:t>
            </a:r>
          </a:p>
        </p:txBody>
      </p:sp>
      <p:sp>
        <p:nvSpPr>
          <p:cNvPr id="21"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12450" y="3660873"/>
            <a:ext cx="4859850" cy="684000"/>
          </a:xfrm>
          <a:prstGeom prst="actionButtonBlank">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dirty="0">
                <a:solidFill>
                  <a:srgbClr val="FFFFFF"/>
                </a:solidFill>
                <a:latin typeface="Times New Roman" panose="02020603050405020304" pitchFamily="18" charset="0"/>
                <a:ea typeface="宋体" panose="02010600030101010101" pitchFamily="2" charset="-122"/>
              </a:rPr>
              <a:t>标准化数据</a:t>
            </a:r>
            <a:endParaRPr kumimoji="0" lang="zh-CN"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2" name="Oval 15">
            <a:extLst>
              <a:ext uri="{FF2B5EF4-FFF2-40B4-BE49-F238E27FC236}">
                <a16:creationId xmlns:a16="http://schemas.microsoft.com/office/drawing/2014/main" id="{4AA2E115-B5CF-48D7-AAF4-34243C4DB9F7}"/>
              </a:ext>
            </a:extLst>
          </p:cNvPr>
          <p:cNvSpPr>
            <a:spLocks noChangeArrowheads="1"/>
          </p:cNvSpPr>
          <p:nvPr/>
        </p:nvSpPr>
        <p:spPr bwMode="auto">
          <a:xfrm>
            <a:off x="2928857" y="3678873"/>
            <a:ext cx="684000" cy="648000"/>
          </a:xfrm>
          <a:prstGeom prst="ellipse">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itchFamily="2" charset="-122"/>
                <a:cs typeface="+mn-cs"/>
              </a:rPr>
              <a:t>3</a:t>
            </a:r>
          </a:p>
        </p:txBody>
      </p:sp>
      <p:sp>
        <p:nvSpPr>
          <p:cNvPr id="28"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12450" y="4715497"/>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rPr>
              <a:t>转换数据</a:t>
            </a:r>
          </a:p>
        </p:txBody>
      </p:sp>
      <p:sp>
        <p:nvSpPr>
          <p:cNvPr id="29" name="Oval 15">
            <a:extLst>
              <a:ext uri="{FF2B5EF4-FFF2-40B4-BE49-F238E27FC236}">
                <a16:creationId xmlns:a16="http://schemas.microsoft.com/office/drawing/2014/main" id="{4AA2E115-B5CF-48D7-AAF4-34243C4DB9F7}"/>
              </a:ext>
            </a:extLst>
          </p:cNvPr>
          <p:cNvSpPr>
            <a:spLocks noChangeArrowheads="1"/>
          </p:cNvSpPr>
          <p:nvPr/>
        </p:nvSpPr>
        <p:spPr bwMode="auto">
          <a:xfrm>
            <a:off x="2904947" y="4733497"/>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itchFamily="2" charset="-122"/>
                <a:cs typeface="+mn-cs"/>
              </a:rPr>
              <a:t>4</a:t>
            </a:r>
          </a:p>
        </p:txBody>
      </p:sp>
    </p:spTree>
    <p:extLst>
      <p:ext uri="{BB962C8B-B14F-4D97-AF65-F5344CB8AC3E}">
        <p14:creationId xmlns:p14="http://schemas.microsoft.com/office/powerpoint/2010/main" val="16290157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离差标准化是对原始数据的一种线性变换，结果是将原始数据的数值映射到</a:t>
            </a:r>
            <a:r>
              <a:rPr lang="en-US" altLang="zh-CN" dirty="0"/>
              <a:t>[0,1]</a:t>
            </a:r>
            <a:r>
              <a:rPr lang="zh-CN" altLang="en-US" dirty="0"/>
              <a:t>区间，转换公式如下。</a:t>
            </a:r>
            <a:endParaRPr lang="en-US" altLang="zh-CN" dirty="0"/>
          </a:p>
          <a:p>
            <a:endParaRPr lang="en-US" altLang="zh-CN" dirty="0"/>
          </a:p>
          <a:p>
            <a:endParaRPr lang="en-US" altLang="zh-CN" dirty="0"/>
          </a:p>
          <a:p>
            <a:endParaRPr lang="en-US" altLang="zh-CN" dirty="0"/>
          </a:p>
          <a:p>
            <a:r>
              <a:rPr lang="zh-CN" altLang="en-US" dirty="0"/>
              <a:t>其中，</a:t>
            </a:r>
            <a:r>
              <a:rPr lang="en-US" altLang="zh-CN" dirty="0"/>
              <a:t>max</a:t>
            </a:r>
            <a:r>
              <a:rPr lang="zh-CN" altLang="en-US" dirty="0"/>
              <a:t>为样本数据的最大值，</a:t>
            </a:r>
            <a:r>
              <a:rPr lang="en-US" altLang="zh-CN" dirty="0"/>
              <a:t>min</a:t>
            </a:r>
            <a:r>
              <a:rPr lang="zh-CN" altLang="en-US" dirty="0"/>
              <a:t>为样本数据的最小值，</a:t>
            </a:r>
            <a:r>
              <a:rPr lang="en-US" altLang="zh-CN" dirty="0"/>
              <a:t>max-min</a:t>
            </a:r>
            <a:r>
              <a:rPr lang="zh-CN" altLang="en-US" dirty="0"/>
              <a:t>为极差。离差标准化保留了原始数据值之间的联系，是消除量纲和数据取值范围影响较为简单的方法。</a:t>
            </a:r>
            <a:endParaRPr lang="en-US" altLang="zh-CN" dirty="0"/>
          </a:p>
          <a:p>
            <a:r>
              <a:rPr lang="zh-CN" altLang="zh-CN" dirty="0"/>
              <a:t>离差标准化前后的数据的整体分布情况并未发生改变，原先取值较大的数据，在做完离差标准化后的值依旧较大。</a:t>
            </a:r>
            <a:endParaRPr lang="en-US" altLang="zh-CN" dirty="0"/>
          </a:p>
          <a:p>
            <a:r>
              <a:rPr lang="zh-CN" altLang="zh-CN" dirty="0"/>
              <a:t>离差标准化的缺点：若数值集中某个数值很大，则规范化后各其余值会接近于</a:t>
            </a:r>
            <a:r>
              <a:rPr lang="en-US" altLang="zh-CN" dirty="0"/>
              <a:t>0</a:t>
            </a:r>
            <a:r>
              <a:rPr lang="zh-CN" altLang="zh-CN" dirty="0"/>
              <a:t>，并且将会相差不大。</a:t>
            </a:r>
            <a:endParaRPr lang="en-US" altLang="zh-CN" dirty="0"/>
          </a:p>
          <a:p>
            <a:pPr marL="0" indent="0">
              <a:buNone/>
            </a:pPr>
            <a:endParaRPr lang="zh-CN" altLang="en-US" dirty="0"/>
          </a:p>
          <a:p>
            <a:endParaRPr lang="en-US" altLang="zh-CN" dirty="0"/>
          </a:p>
        </p:txBody>
      </p:sp>
      <p:sp>
        <p:nvSpPr>
          <p:cNvPr id="3" name="标题 2"/>
          <p:cNvSpPr>
            <a:spLocks noGrp="1"/>
          </p:cNvSpPr>
          <p:nvPr>
            <p:ph type="title"/>
          </p:nvPr>
        </p:nvSpPr>
        <p:spPr/>
        <p:txBody>
          <a:bodyPr/>
          <a:lstStyle/>
          <a:p>
            <a:r>
              <a:rPr lang="zh-CN" altLang="en-US" dirty="0"/>
              <a:t>一、离差标准化数据</a:t>
            </a:r>
          </a:p>
        </p:txBody>
      </p:sp>
      <p:sp>
        <p:nvSpPr>
          <p:cNvPr id="9"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0" name="对象 9"/>
          <p:cNvGraphicFramePr>
            <a:graphicFrameLocks noChangeAspect="1"/>
          </p:cNvGraphicFramePr>
          <p:nvPr/>
        </p:nvGraphicFramePr>
        <p:xfrm>
          <a:off x="5146669" y="1991435"/>
          <a:ext cx="1898661" cy="683518"/>
        </p:xfrm>
        <a:graphic>
          <a:graphicData uri="http://schemas.openxmlformats.org/presentationml/2006/ole">
            <mc:AlternateContent xmlns:mc="http://schemas.openxmlformats.org/markup-compatibility/2006">
              <mc:Choice xmlns:v="urn:schemas-microsoft-com:vml" Requires="v">
                <p:oleObj name="Equation" r:id="rId2" imgW="951865" imgH="355600" progId="Equation.DSMT4">
                  <p:embed/>
                </p:oleObj>
              </mc:Choice>
              <mc:Fallback>
                <p:oleObj name="Equation" r:id="rId2" imgW="951865" imgH="355600" progId="Equation.DSMT4">
                  <p:embed/>
                  <p:pic>
                    <p:nvPicPr>
                      <p:cNvPr id="10" name="对象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6669" y="1991435"/>
                        <a:ext cx="1898661" cy="683518"/>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1000"/>
                                        <p:tgtEl>
                                          <p:spTgt spid="2">
                                            <p:txEl>
                                              <p:pRg st="4" end="4"/>
                                            </p:txEl>
                                          </p:spTgt>
                                        </p:tgtEl>
                                      </p:cBhvr>
                                    </p:animEffect>
                                    <p:anim calcmode="lin" valueType="num">
                                      <p:cBhvr>
                                        <p:cTn id="2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5" end="5"/>
                                            </p:txEl>
                                          </p:spTgt>
                                        </p:tgtEl>
                                        <p:attrNameLst>
                                          <p:attrName>style.visibility</p:attrName>
                                        </p:attrNameLst>
                                      </p:cBhvr>
                                      <p:to>
                                        <p:strVal val="visible"/>
                                      </p:to>
                                    </p:set>
                                    <p:animEffect transition="in" filter="fade">
                                      <p:cBhvr>
                                        <p:cTn id="28" dur="1000"/>
                                        <p:tgtEl>
                                          <p:spTgt spid="2">
                                            <p:txEl>
                                              <p:pRg st="5" end="5"/>
                                            </p:txEl>
                                          </p:spTgt>
                                        </p:tgtEl>
                                      </p:cBhvr>
                                    </p:animEffect>
                                    <p:anim calcmode="lin" valueType="num">
                                      <p:cBhvr>
                                        <p:cTn id="29"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animEffect transition="in" filter="fade">
                                      <p:cBhvr>
                                        <p:cTn id="35" dur="1000"/>
                                        <p:tgtEl>
                                          <p:spTgt spid="2">
                                            <p:txEl>
                                              <p:pRg st="6" end="6"/>
                                            </p:txEl>
                                          </p:spTgt>
                                        </p:tgtEl>
                                      </p:cBhvr>
                                    </p:animEffect>
                                    <p:anim calcmode="lin" valueType="num">
                                      <p:cBhvr>
                                        <p:cTn id="36"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一、离差标准化数据</a:t>
            </a:r>
          </a:p>
        </p:txBody>
      </p:sp>
      <p:sp>
        <p:nvSpPr>
          <p:cNvPr id="9"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矩形 4"/>
          <p:cNvSpPr/>
          <p:nvPr/>
        </p:nvSpPr>
        <p:spPr>
          <a:xfrm>
            <a:off x="928255" y="1246333"/>
            <a:ext cx="6096000" cy="3416320"/>
          </a:xfrm>
          <a:prstGeom prst="rect">
            <a:avLst/>
          </a:prstGeom>
        </p:spPr>
        <p:txBody>
          <a:bodyPr>
            <a:spAutoFit/>
          </a:bodyPr>
          <a:lstStyle/>
          <a:p>
            <a:r>
              <a:rPr lang="zh-CN" altLang="en-US" dirty="0"/>
              <a:t>import pandas as pd</a:t>
            </a:r>
          </a:p>
          <a:p>
            <a:r>
              <a:rPr lang="zh-CN" altLang="en-US" dirty="0"/>
              <a:t>pay = pd.read_csv('./data/user_pay_info.csv', index_col=0)</a:t>
            </a:r>
          </a:p>
          <a:p>
            <a:r>
              <a:rPr lang="zh-CN" altLang="en-US" dirty="0"/>
              <a:t># 自定义离差标准化函数</a:t>
            </a:r>
          </a:p>
          <a:p>
            <a:r>
              <a:rPr lang="zh-CN" altLang="en-US" dirty="0"/>
              <a:t>def min_max_scale(data):</a:t>
            </a:r>
          </a:p>
          <a:p>
            <a:r>
              <a:rPr lang="zh-CN" altLang="en-US" dirty="0"/>
              <a:t>    data = (data - data.min()) / (data.max() - data.min())</a:t>
            </a:r>
          </a:p>
          <a:p>
            <a:r>
              <a:rPr lang="zh-CN" altLang="en-US" dirty="0"/>
              <a:t>    return data</a:t>
            </a:r>
          </a:p>
          <a:p>
            <a:r>
              <a:rPr lang="zh-CN" altLang="en-US" dirty="0"/>
              <a:t># 对用户每月支出信息表的每月支出数据做离差标准化</a:t>
            </a:r>
          </a:p>
          <a:p>
            <a:r>
              <a:rPr lang="zh-CN" altLang="en-US" dirty="0"/>
              <a:t>pay_min_max = min_max_scale(pay['每月支出'])</a:t>
            </a:r>
          </a:p>
          <a:p>
            <a:r>
              <a:rPr lang="zh-CN" altLang="en-US" dirty="0"/>
              <a:t>print('离差标准化之前每月支出数据为：\n', pay['每月支出'].head())</a:t>
            </a:r>
          </a:p>
          <a:p>
            <a:r>
              <a:rPr lang="zh-CN" altLang="en-US" dirty="0"/>
              <a:t>print('离差标准化之后每月支出数据为\n', pay_min_max.head())</a:t>
            </a:r>
          </a:p>
        </p:txBody>
      </p:sp>
      <p:pic>
        <p:nvPicPr>
          <p:cNvPr id="6" name="图片 5"/>
          <p:cNvPicPr>
            <a:picLocks noChangeAspect="1"/>
          </p:cNvPicPr>
          <p:nvPr/>
        </p:nvPicPr>
        <p:blipFill>
          <a:blip r:embed="rId2"/>
          <a:stretch>
            <a:fillRect/>
          </a:stretch>
        </p:blipFill>
        <p:spPr>
          <a:xfrm>
            <a:off x="7999869" y="1307391"/>
            <a:ext cx="2676190" cy="3428571"/>
          </a:xfrm>
          <a:prstGeom prst="rect">
            <a:avLst/>
          </a:prstGeom>
        </p:spPr>
      </p:pic>
    </p:spTree>
    <p:extLst>
      <p:ext uri="{BB962C8B-B14F-4D97-AF65-F5344CB8AC3E}">
        <p14:creationId xmlns:p14="http://schemas.microsoft.com/office/powerpoint/2010/main" val="12761904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标准差标准化也叫零均值标准化或 分数标准化，是当前使用较为广泛的数据标准化方法，经过该方法处理的数据均值为</a:t>
            </a:r>
            <a:r>
              <a:rPr lang="en-US" altLang="zh-CN" dirty="0"/>
              <a:t>0</a:t>
            </a:r>
            <a:r>
              <a:rPr lang="zh-CN" altLang="en-US" dirty="0"/>
              <a:t>，标准差为</a:t>
            </a:r>
            <a:r>
              <a:rPr lang="en-US" altLang="zh-CN" dirty="0"/>
              <a:t>1</a:t>
            </a:r>
            <a:r>
              <a:rPr lang="zh-CN" altLang="en-US" dirty="0"/>
              <a:t>，转化公式如下式。</a:t>
            </a:r>
            <a:endParaRPr lang="en-US" altLang="zh-CN" dirty="0"/>
          </a:p>
          <a:p>
            <a:endParaRPr lang="en-US" altLang="zh-CN" dirty="0"/>
          </a:p>
          <a:p>
            <a:endParaRPr lang="en-US" altLang="zh-CN" dirty="0"/>
          </a:p>
          <a:p>
            <a:endParaRPr lang="zh-CN" altLang="en-US" dirty="0"/>
          </a:p>
          <a:p>
            <a:r>
              <a:rPr lang="zh-CN" altLang="en-US" dirty="0"/>
              <a:t>其中， 为原始数据的均值，</a:t>
            </a:r>
            <a:r>
              <a:rPr lang="en-US" altLang="zh-CN" i="1" dirty="0">
                <a:sym typeface="Symbol" panose="05050102010706020507" pitchFamily="18" charset="2"/>
              </a:rPr>
              <a:t></a:t>
            </a:r>
            <a:r>
              <a:rPr lang="zh-CN" altLang="en-US" dirty="0"/>
              <a:t>为原始数据的标准差。</a:t>
            </a:r>
            <a:r>
              <a:rPr lang="zh-CN" altLang="zh-CN" dirty="0">
                <a:solidFill>
                  <a:srgbClr val="FF0000"/>
                </a:solidFill>
              </a:rPr>
              <a:t>标准差标准化后的值区间不局限于</a:t>
            </a:r>
            <a:r>
              <a:rPr lang="en-US" altLang="zh-CN" dirty="0">
                <a:solidFill>
                  <a:srgbClr val="FF0000"/>
                </a:solidFill>
              </a:rPr>
              <a:t>[0,1]</a:t>
            </a:r>
            <a:r>
              <a:rPr lang="zh-CN" altLang="zh-CN" dirty="0">
                <a:solidFill>
                  <a:srgbClr val="FF0000"/>
                </a:solidFill>
              </a:rPr>
              <a:t>，并且存在负值</a:t>
            </a:r>
            <a:r>
              <a:rPr lang="zh-CN" altLang="zh-CN" dirty="0"/>
              <a:t>。同时也不难发现，标准差标准化和离差标准化一样不会改变数据的分布情况。</a:t>
            </a:r>
          </a:p>
          <a:p>
            <a:pPr marL="0" indent="0">
              <a:buNone/>
            </a:pPr>
            <a:endParaRPr lang="en-US" altLang="zh-CN" dirty="0"/>
          </a:p>
        </p:txBody>
      </p:sp>
      <p:sp>
        <p:nvSpPr>
          <p:cNvPr id="3" name="标题 2"/>
          <p:cNvSpPr>
            <a:spLocks noGrp="1"/>
          </p:cNvSpPr>
          <p:nvPr>
            <p:ph type="title"/>
          </p:nvPr>
        </p:nvSpPr>
        <p:spPr/>
        <p:txBody>
          <a:bodyPr/>
          <a:lstStyle/>
          <a:p>
            <a:r>
              <a:rPr lang="zh-CN" altLang="en-US" dirty="0"/>
              <a:t>二、标准差标准化数据</a:t>
            </a:r>
          </a:p>
        </p:txBody>
      </p:sp>
      <p:sp>
        <p:nvSpPr>
          <p:cNvPr id="9"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751703614"/>
              </p:ext>
            </p:extLst>
          </p:nvPr>
        </p:nvGraphicFramePr>
        <p:xfrm>
          <a:off x="1411549" y="3499445"/>
          <a:ext cx="216898" cy="262184"/>
        </p:xfrm>
        <a:graphic>
          <a:graphicData uri="http://schemas.openxmlformats.org/presentationml/2006/ole">
            <mc:AlternateContent xmlns:mc="http://schemas.openxmlformats.org/markup-compatibility/2006">
              <mc:Choice xmlns:v="urn:schemas-microsoft-com:vml" Requires="v">
                <p:oleObj name="Equation" r:id="rId2" imgW="152400" imgH="165100" progId="Equation.DSMT4">
                  <p:embed/>
                </p:oleObj>
              </mc:Choice>
              <mc:Fallback>
                <p:oleObj name="Equation" r:id="rId2" imgW="152400" imgH="165100" progId="Equation.DSMT4">
                  <p:embed/>
                  <p:pic>
                    <p:nvPicPr>
                      <p:cNvPr id="5"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1549" y="3499445"/>
                        <a:ext cx="216898" cy="262184"/>
                      </a:xfrm>
                      <a:prstGeom prst="rect">
                        <a:avLst/>
                      </a:prstGeom>
                      <a:noFill/>
                    </p:spPr>
                  </p:pic>
                </p:oleObj>
              </mc:Fallback>
            </mc:AlternateContent>
          </a:graphicData>
        </a:graphic>
      </p:graphicFrame>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7" name="对象 6"/>
          <p:cNvGraphicFramePr>
            <a:graphicFrameLocks noChangeAspect="1"/>
          </p:cNvGraphicFramePr>
          <p:nvPr/>
        </p:nvGraphicFramePr>
        <p:xfrm>
          <a:off x="5137212" y="2183906"/>
          <a:ext cx="1917576" cy="958789"/>
        </p:xfrm>
        <a:graphic>
          <a:graphicData uri="http://schemas.openxmlformats.org/presentationml/2006/ole">
            <mc:AlternateContent xmlns:mc="http://schemas.openxmlformats.org/markup-compatibility/2006">
              <mc:Choice xmlns:v="urn:schemas-microsoft-com:vml" Requires="v">
                <p:oleObj name="Equation" r:id="rId4" imgW="698500" imgH="368300" progId="Equation.DSMT4">
                  <p:embed/>
                </p:oleObj>
              </mc:Choice>
              <mc:Fallback>
                <p:oleObj name="Equation" r:id="rId4" imgW="698500" imgH="368300" progId="Equation.DSMT4">
                  <p:embed/>
                  <p:pic>
                    <p:nvPicPr>
                      <p:cNvPr id="7"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37212" y="2183906"/>
                        <a:ext cx="1917576" cy="958789"/>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1000"/>
                                        <p:tgtEl>
                                          <p:spTgt spid="2">
                                            <p:txEl>
                                              <p:pRg st="4" end="4"/>
                                            </p:txEl>
                                          </p:spTgt>
                                        </p:tgtEl>
                                      </p:cBhvr>
                                    </p:animEffect>
                                    <p:anim calcmode="lin" valueType="num">
                                      <p:cBhvr>
                                        <p:cTn id="2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4" end="4"/>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1000"/>
                                        <p:tgtEl>
                                          <p:spTgt spid="5"/>
                                        </p:tgtEl>
                                      </p:cBhvr>
                                    </p:animEffect>
                                    <p:anim calcmode="lin" valueType="num">
                                      <p:cBhvr>
                                        <p:cTn id="27" dur="1000" fill="hold"/>
                                        <p:tgtEl>
                                          <p:spTgt spid="5"/>
                                        </p:tgtEl>
                                        <p:attrNameLst>
                                          <p:attrName>ppt_x</p:attrName>
                                        </p:attrNameLst>
                                      </p:cBhvr>
                                      <p:tavLst>
                                        <p:tav tm="0">
                                          <p:val>
                                            <p:strVal val="#ppt_x"/>
                                          </p:val>
                                        </p:tav>
                                        <p:tav tm="100000">
                                          <p:val>
                                            <p:strVal val="#ppt_x"/>
                                          </p:val>
                                        </p:tav>
                                      </p:tavLst>
                                    </p:anim>
                                    <p:anim calcmode="lin" valueType="num">
                                      <p:cBhvr>
                                        <p:cTn id="2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二、标准差标准化数据</a:t>
            </a:r>
          </a:p>
        </p:txBody>
      </p:sp>
      <p:sp>
        <p:nvSpPr>
          <p:cNvPr id="9"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矩形 9"/>
          <p:cNvSpPr/>
          <p:nvPr/>
        </p:nvSpPr>
        <p:spPr>
          <a:xfrm>
            <a:off x="728749" y="1116690"/>
            <a:ext cx="6096000" cy="2862322"/>
          </a:xfrm>
          <a:prstGeom prst="rect">
            <a:avLst/>
          </a:prstGeom>
        </p:spPr>
        <p:txBody>
          <a:bodyPr>
            <a:spAutoFit/>
          </a:bodyPr>
          <a:lstStyle/>
          <a:p>
            <a:r>
              <a:rPr lang="zh-CN" altLang="en-US" dirty="0"/>
              <a:t># 自定义标准差标准化函数</a:t>
            </a:r>
          </a:p>
          <a:p>
            <a:r>
              <a:rPr lang="zh-CN" altLang="en-US" dirty="0"/>
              <a:t>def standard_scaler(data):</a:t>
            </a:r>
          </a:p>
          <a:p>
            <a:r>
              <a:rPr lang="zh-CN" altLang="en-US" dirty="0"/>
              <a:t>    data = (data - data.mean()) / data.std()</a:t>
            </a:r>
          </a:p>
          <a:p>
            <a:r>
              <a:rPr lang="zh-CN" altLang="en-US" dirty="0"/>
              <a:t>    return data</a:t>
            </a:r>
          </a:p>
          <a:p>
            <a:r>
              <a:rPr lang="zh-CN" altLang="en-US" dirty="0"/>
              <a:t># 对用户每月支出信息表的每月支出数据做标准差标准化</a:t>
            </a:r>
          </a:p>
          <a:p>
            <a:r>
              <a:rPr lang="zh-CN" altLang="en-US" dirty="0"/>
              <a:t>pay_standard = standard_scaler(pay['每月支出'])</a:t>
            </a:r>
          </a:p>
          <a:p>
            <a:r>
              <a:rPr lang="zh-CN" altLang="en-US" dirty="0"/>
              <a:t>print('标准差标准化之前每月支出数据为：\n', pay['每月支出'].head())</a:t>
            </a:r>
          </a:p>
          <a:p>
            <a:r>
              <a:rPr lang="zh-CN" altLang="en-US" dirty="0"/>
              <a:t>print('标准差标准化之后每月支出数据为：\n', pay_standard.head())</a:t>
            </a:r>
          </a:p>
        </p:txBody>
      </p:sp>
      <p:pic>
        <p:nvPicPr>
          <p:cNvPr id="11" name="图片 10"/>
          <p:cNvPicPr>
            <a:picLocks noChangeAspect="1"/>
          </p:cNvPicPr>
          <p:nvPr/>
        </p:nvPicPr>
        <p:blipFill>
          <a:blip r:embed="rId2"/>
          <a:stretch>
            <a:fillRect/>
          </a:stretch>
        </p:blipFill>
        <p:spPr>
          <a:xfrm>
            <a:off x="8217210" y="1246333"/>
            <a:ext cx="2657143" cy="3438095"/>
          </a:xfrm>
          <a:prstGeom prst="rect">
            <a:avLst/>
          </a:prstGeom>
        </p:spPr>
      </p:pic>
    </p:spTree>
    <p:extLst>
      <p:ext uri="{BB962C8B-B14F-4D97-AF65-F5344CB8AC3E}">
        <p14:creationId xmlns:p14="http://schemas.microsoft.com/office/powerpoint/2010/main" val="17339773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通过移动数据的小数位数，将数据映射到区间</a:t>
            </a:r>
            <a:r>
              <a:rPr lang="en-US" altLang="zh-CN" dirty="0"/>
              <a:t>[-1,1]</a:t>
            </a:r>
            <a:r>
              <a:rPr lang="zh-CN" altLang="en-US" dirty="0"/>
              <a:t>，移动的小数位数取决于数据绝对值的最大值，其转化公式如下式。</a:t>
            </a:r>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p:txBody>
      </p:sp>
      <p:sp>
        <p:nvSpPr>
          <p:cNvPr id="3" name="标题 2"/>
          <p:cNvSpPr>
            <a:spLocks noGrp="1"/>
          </p:cNvSpPr>
          <p:nvPr>
            <p:ph type="title"/>
          </p:nvPr>
        </p:nvSpPr>
        <p:spPr/>
        <p:txBody>
          <a:bodyPr/>
          <a:lstStyle/>
          <a:p>
            <a:r>
              <a:rPr lang="zh-CN" altLang="en-US" dirty="0"/>
              <a:t>三、小数定标标准化数据</a:t>
            </a:r>
          </a:p>
        </p:txBody>
      </p:sp>
      <p:sp>
        <p:nvSpPr>
          <p:cNvPr id="9"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3" name="对象 12"/>
          <p:cNvGraphicFramePr>
            <a:graphicFrameLocks noChangeAspect="1"/>
          </p:cNvGraphicFramePr>
          <p:nvPr/>
        </p:nvGraphicFramePr>
        <p:xfrm>
          <a:off x="5204904" y="2148397"/>
          <a:ext cx="1586883" cy="974172"/>
        </p:xfrm>
        <a:graphic>
          <a:graphicData uri="http://schemas.openxmlformats.org/presentationml/2006/ole">
            <mc:AlternateContent xmlns:mc="http://schemas.openxmlformats.org/markup-compatibility/2006">
              <mc:Choice xmlns:v="urn:schemas-microsoft-com:vml" Requires="v">
                <p:oleObj name="Equation" r:id="rId2" imgW="571500" imgH="368300" progId="Equation.DSMT4">
                  <p:embed/>
                </p:oleObj>
              </mc:Choice>
              <mc:Fallback>
                <p:oleObj name="Equation" r:id="rId2" imgW="571500" imgH="368300" progId="Equation.DSMT4">
                  <p:embed/>
                  <p:pic>
                    <p:nvPicPr>
                      <p:cNvPr id="13" name="对象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4904" y="2148397"/>
                        <a:ext cx="1586883" cy="974172"/>
                      </a:xfrm>
                      <a:prstGeom prst="rect">
                        <a:avLst/>
                      </a:prstGeom>
                      <a:noFill/>
                    </p:spPr>
                  </p:pic>
                </p:oleObj>
              </mc:Fallback>
            </mc:AlternateContent>
          </a:graphicData>
        </a:graphic>
      </p:graphicFrame>
      <p:sp>
        <p:nvSpPr>
          <p:cNvPr id="10" name="矩形 9"/>
          <p:cNvSpPr/>
          <p:nvPr/>
        </p:nvSpPr>
        <p:spPr>
          <a:xfrm>
            <a:off x="1522530" y="3139501"/>
            <a:ext cx="6096000" cy="3139321"/>
          </a:xfrm>
          <a:prstGeom prst="rect">
            <a:avLst/>
          </a:prstGeom>
        </p:spPr>
        <p:txBody>
          <a:bodyPr>
            <a:spAutoFit/>
          </a:bodyPr>
          <a:lstStyle/>
          <a:p>
            <a:r>
              <a:rPr lang="zh-CN" altLang="en-US" dirty="0"/>
              <a:t># 自定义小数定标标准化函数</a:t>
            </a:r>
          </a:p>
          <a:p>
            <a:r>
              <a:rPr lang="zh-CN" altLang="en-US" dirty="0"/>
              <a:t>import numpy as np</a:t>
            </a:r>
          </a:p>
          <a:p>
            <a:r>
              <a:rPr lang="zh-CN" altLang="en-US" dirty="0"/>
              <a:t>def decimal_scaler(data):</a:t>
            </a:r>
          </a:p>
          <a:p>
            <a:r>
              <a:rPr lang="zh-CN" altLang="en-US" dirty="0"/>
              <a:t>    data = data / 10 ** np.ceil(np.log10(data.abs().max()))</a:t>
            </a:r>
          </a:p>
          <a:p>
            <a:r>
              <a:rPr lang="zh-CN" altLang="en-US" dirty="0"/>
              <a:t>    return data</a:t>
            </a:r>
          </a:p>
          <a:p>
            <a:r>
              <a:rPr lang="zh-CN" altLang="en-US" dirty="0"/>
              <a:t># 对用户每月支出信息表的每月支出数据做小数定标标准化</a:t>
            </a:r>
          </a:p>
          <a:p>
            <a:r>
              <a:rPr lang="zh-CN" altLang="en-US" dirty="0"/>
              <a:t>pay_decimal = decimal_scaler(pay['每月支出'])</a:t>
            </a:r>
          </a:p>
          <a:p>
            <a:r>
              <a:rPr lang="zh-CN" altLang="en-US" dirty="0"/>
              <a:t>print('小数定标标准化之前的每月支出数据：\n', pay['每月支出'].head())</a:t>
            </a:r>
          </a:p>
          <a:p>
            <a:r>
              <a:rPr lang="zh-CN" altLang="en-US" dirty="0"/>
              <a:t>print('小数定标标准化之后的每月支出数据：\n', pay_decimal.head())</a:t>
            </a:r>
          </a:p>
        </p:txBody>
      </p:sp>
      <p:pic>
        <p:nvPicPr>
          <p:cNvPr id="11" name="图片 10"/>
          <p:cNvPicPr>
            <a:picLocks noChangeAspect="1"/>
          </p:cNvPicPr>
          <p:nvPr/>
        </p:nvPicPr>
        <p:blipFill>
          <a:blip r:embed="rId4"/>
          <a:stretch>
            <a:fillRect/>
          </a:stretch>
        </p:blipFill>
        <p:spPr>
          <a:xfrm>
            <a:off x="8189582" y="2718799"/>
            <a:ext cx="3038095" cy="3438095"/>
          </a:xfrm>
          <a:prstGeom prst="rect">
            <a:avLst/>
          </a:prstGeom>
        </p:spPr>
      </p:pic>
    </p:spTree>
    <p:extLst>
      <p:ext uri="{BB962C8B-B14F-4D97-AF65-F5344CB8AC3E}">
        <p14:creationId xmlns:p14="http://schemas.microsoft.com/office/powerpoint/2010/main" val="2049670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1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0">
              <a:buNone/>
            </a:pPr>
            <a:endParaRPr lang="en-US" altLang="zh-CN" dirty="0"/>
          </a:p>
          <a:p>
            <a:pPr marL="0" indent="0">
              <a:buNone/>
            </a:pPr>
            <a:endParaRPr lang="en-US" altLang="zh-CN" dirty="0"/>
          </a:p>
          <a:p>
            <a:r>
              <a:rPr lang="en-US" altLang="zh-CN" dirty="0"/>
              <a:t>3</a:t>
            </a:r>
            <a:r>
              <a:rPr lang="zh-CN" altLang="zh-CN" dirty="0"/>
              <a:t>种标准化方法各有其优势</a:t>
            </a:r>
            <a:r>
              <a:rPr lang="zh-CN" altLang="en-US" dirty="0"/>
              <a:t>。</a:t>
            </a:r>
            <a:endParaRPr lang="en-US" altLang="zh-CN" dirty="0"/>
          </a:p>
          <a:p>
            <a:pPr marL="720000">
              <a:buFont typeface="Arial" panose="020B0604020202020204" pitchFamily="34" charset="0"/>
              <a:buChar char="•"/>
            </a:pPr>
            <a:r>
              <a:rPr lang="zh-CN" altLang="zh-CN" dirty="0"/>
              <a:t>离差标准化方法简单，便于理解，标准化后的数据限定在</a:t>
            </a:r>
            <a:r>
              <a:rPr lang="en-US" altLang="zh-CN" dirty="0"/>
              <a:t>[0,1]</a:t>
            </a:r>
            <a:r>
              <a:rPr lang="zh-CN" altLang="zh-CN" dirty="0"/>
              <a:t>区间内</a:t>
            </a:r>
            <a:r>
              <a:rPr lang="zh-CN" altLang="en-US" dirty="0"/>
              <a:t>。</a:t>
            </a:r>
            <a:endParaRPr lang="en-US" altLang="zh-CN" dirty="0"/>
          </a:p>
          <a:p>
            <a:pPr marL="720000">
              <a:buFont typeface="Arial" panose="020B0604020202020204" pitchFamily="34" charset="0"/>
              <a:buChar char="•"/>
            </a:pPr>
            <a:r>
              <a:rPr lang="zh-CN" altLang="zh-CN" dirty="0"/>
              <a:t>标准差标准化受数据分布的影响较小</a:t>
            </a:r>
            <a:r>
              <a:rPr lang="zh-CN" altLang="en-US" dirty="0"/>
              <a:t>。</a:t>
            </a:r>
            <a:endParaRPr lang="en-US" altLang="zh-CN" dirty="0"/>
          </a:p>
          <a:p>
            <a:pPr marL="720000">
              <a:buFont typeface="Arial" panose="020B0604020202020204" pitchFamily="34" charset="0"/>
              <a:buChar char="•"/>
            </a:pPr>
            <a:r>
              <a:rPr lang="zh-CN" altLang="zh-CN" dirty="0"/>
              <a:t>小数定标标准化方法的适用范围广，并且受数据分布的影响较小，相比较于前两种方法，该方法适用程度适中。</a:t>
            </a:r>
            <a:endParaRPr lang="zh-CN" altLang="en-US" dirty="0"/>
          </a:p>
          <a:p>
            <a:pPr marL="0" indent="0">
              <a:buNone/>
            </a:pPr>
            <a:endParaRPr lang="en-US" altLang="zh-CN" dirty="0"/>
          </a:p>
        </p:txBody>
      </p:sp>
      <p:sp>
        <p:nvSpPr>
          <p:cNvPr id="3" name="标题 2"/>
          <p:cNvSpPr>
            <a:spLocks noGrp="1"/>
          </p:cNvSpPr>
          <p:nvPr>
            <p:ph type="title"/>
          </p:nvPr>
        </p:nvSpPr>
        <p:spPr/>
        <p:txBody>
          <a:bodyPr/>
          <a:lstStyle/>
          <a:p>
            <a:r>
              <a:rPr lang="zh-CN" altLang="en-US" dirty="0"/>
              <a:t>标准化总结</a:t>
            </a:r>
          </a:p>
        </p:txBody>
      </p:sp>
      <p:sp>
        <p:nvSpPr>
          <p:cNvPr id="9"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1000"/>
                                        <p:tgtEl>
                                          <p:spTgt spid="2">
                                            <p:txEl>
                                              <p:pRg st="2" end="2"/>
                                            </p:txEl>
                                          </p:spTgt>
                                        </p:tgtEl>
                                      </p:cBhvr>
                                    </p:animEffect>
                                    <p:anim calcmode="lin" valueType="num">
                                      <p:cBhvr>
                                        <p:cTn id="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3" end="3"/>
                                            </p:txEl>
                                          </p:spTgt>
                                        </p:tgtEl>
                                        <p:attrNameLst>
                                          <p:attrName>style.visibility</p:attrName>
                                        </p:attrNameLst>
                                      </p:cBhvr>
                                      <p:to>
                                        <p:strVal val="visible"/>
                                      </p:to>
                                    </p:set>
                                    <p:animEffect transition="in" filter="fade">
                                      <p:cBhvr>
                                        <p:cTn id="14" dur="1000"/>
                                        <p:tgtEl>
                                          <p:spTgt spid="2">
                                            <p:txEl>
                                              <p:pRg st="3" end="3"/>
                                            </p:txEl>
                                          </p:spTgt>
                                        </p:tgtEl>
                                      </p:cBhvr>
                                    </p:animEffect>
                                    <p:anim calcmode="lin" valueType="num">
                                      <p:cBhvr>
                                        <p:cTn id="15"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1000"/>
                                        <p:tgtEl>
                                          <p:spTgt spid="2">
                                            <p:txEl>
                                              <p:pRg st="4" end="4"/>
                                            </p:txEl>
                                          </p:spTgt>
                                        </p:tgtEl>
                                      </p:cBhvr>
                                    </p:animEffect>
                                    <p:anim calcmode="lin" valueType="num">
                                      <p:cBhvr>
                                        <p:cTn id="2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5" end="5"/>
                                            </p:txEl>
                                          </p:spTgt>
                                        </p:tgtEl>
                                        <p:attrNameLst>
                                          <p:attrName>style.visibility</p:attrName>
                                        </p:attrNameLst>
                                      </p:cBhvr>
                                      <p:to>
                                        <p:strVal val="visible"/>
                                      </p:to>
                                    </p:set>
                                    <p:animEffect transition="in" filter="fade">
                                      <p:cBhvr>
                                        <p:cTn id="28" dur="1000"/>
                                        <p:tgtEl>
                                          <p:spTgt spid="2">
                                            <p:txEl>
                                              <p:pRg st="5" end="5"/>
                                            </p:txEl>
                                          </p:spTgt>
                                        </p:tgtEl>
                                      </p:cBhvr>
                                    </p:animEffect>
                                    <p:anim calcmode="lin" valueType="num">
                                      <p:cBhvr>
                                        <p:cTn id="29"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直接连接符 6">
            <a:extLst>
              <a:ext uri="{FF2B5EF4-FFF2-40B4-BE49-F238E27FC236}">
                <a16:creationId xmlns:a16="http://schemas.microsoft.com/office/drawing/2014/main" id="{0655586B-F6B4-426E-80D1-04ADB3C76375}"/>
              </a:ext>
            </a:extLst>
          </p:cNvPr>
          <p:cNvCxnSpPr>
            <a:cxnSpLocks/>
          </p:cNvCxnSpPr>
          <p:nvPr/>
        </p:nvCxnSpPr>
        <p:spPr>
          <a:xfrm>
            <a:off x="3264947" y="1348062"/>
            <a:ext cx="5910" cy="4354238"/>
          </a:xfrm>
          <a:prstGeom prst="line">
            <a:avLst/>
          </a:prstGeom>
        </p:spPr>
        <p:style>
          <a:lnRef idx="2">
            <a:schemeClr val="dk1"/>
          </a:lnRef>
          <a:fillRef idx="0">
            <a:schemeClr val="dk1"/>
          </a:fillRef>
          <a:effectRef idx="1">
            <a:schemeClr val="dk1"/>
          </a:effectRef>
          <a:fontRef idx="minor">
            <a:schemeClr val="tx1"/>
          </a:fontRef>
        </p:style>
      </p:cxnSp>
      <p:sp>
        <p:nvSpPr>
          <p:cNvPr id="19" name="Line 2">
            <a:extLst>
              <a:ext uri="{FF2B5EF4-FFF2-40B4-BE49-F238E27FC236}">
                <a16:creationId xmlns:a16="http://schemas.microsoft.com/office/drawing/2014/main" id="{E878D2EE-7AD5-42B3-80C8-BF594574CC4F}"/>
              </a:ext>
            </a:extLst>
          </p:cNvPr>
          <p:cNvSpPr>
            <a:spLocks noChangeShapeType="1"/>
          </p:cNvSpPr>
          <p:nvPr/>
        </p:nvSpPr>
        <p:spPr bwMode="auto">
          <a:xfrm>
            <a:off x="2649786" y="5092240"/>
            <a:ext cx="6604980" cy="0"/>
          </a:xfrm>
          <a:prstGeom prst="line">
            <a:avLst/>
          </a:prstGeom>
        </p:spPr>
        <p:style>
          <a:lnRef idx="2">
            <a:schemeClr val="dk1"/>
          </a:lnRef>
          <a:fillRef idx="0">
            <a:schemeClr val="dk1"/>
          </a:fillRef>
          <a:effectRef idx="1">
            <a:schemeClr val="dk1"/>
          </a:effectRef>
          <a:fontRef idx="minor">
            <a:schemeClr val="tx1"/>
          </a:fontRef>
        </p:style>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latin typeface="Times New Roman" panose="02020603050405020304" pitchFamily="18" charset="0"/>
              <a:ea typeface="宋体" panose="02010600030101010101" pitchFamily="2" charset="-122"/>
              <a:cs typeface="+mn-cs"/>
            </a:endParaRPr>
          </a:p>
        </p:txBody>
      </p:sp>
      <p:sp>
        <p:nvSpPr>
          <p:cNvPr id="20" name="Oval 15">
            <a:extLst>
              <a:ext uri="{FF2B5EF4-FFF2-40B4-BE49-F238E27FC236}">
                <a16:creationId xmlns:a16="http://schemas.microsoft.com/office/drawing/2014/main" id="{4AA2E115-B5CF-48D7-AAF4-34243C4DB9F7}"/>
              </a:ext>
            </a:extLst>
          </p:cNvPr>
          <p:cNvSpPr>
            <a:spLocks noChangeArrowheads="1"/>
          </p:cNvSpPr>
          <p:nvPr/>
        </p:nvSpPr>
        <p:spPr bwMode="auto">
          <a:xfrm>
            <a:off x="2904947" y="1651743"/>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zh-CN"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itchFamily="2" charset="-122"/>
                <a:cs typeface="+mn-cs"/>
              </a:rPr>
              <a:t>1</a:t>
            </a:r>
            <a:endParaRPr kumimoji="0" lang="en-US" altLang="zh-CN"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itchFamily="2" charset="-122"/>
              <a:cs typeface="+mn-cs"/>
            </a:endParaRPr>
          </a:p>
        </p:txBody>
      </p:sp>
      <p:sp>
        <p:nvSpPr>
          <p:cNvPr id="23"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00531" y="2608672"/>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dirty="0">
                <a:solidFill>
                  <a:srgbClr val="FFFFFF"/>
                </a:solidFill>
                <a:latin typeface="Times New Roman" panose="02020603050405020304" pitchFamily="18" charset="0"/>
                <a:ea typeface="宋体" panose="02010600030101010101" pitchFamily="2" charset="-122"/>
                <a:sym typeface="微软雅黑" pitchFamily="34" charset="-122"/>
              </a:rPr>
              <a:t>清洗数据</a:t>
            </a:r>
            <a:endParaRPr kumimoji="0" lang="zh-CN"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4" name="标题 3">
            <a:extLst>
              <a:ext uri="{FF2B5EF4-FFF2-40B4-BE49-F238E27FC236}">
                <a16:creationId xmlns:a16="http://schemas.microsoft.com/office/drawing/2014/main" id="{23AA43DE-EC22-42DF-863E-F4636BE2010D}"/>
              </a:ext>
            </a:extLst>
          </p:cNvPr>
          <p:cNvSpPr>
            <a:spLocks noGrp="1"/>
          </p:cNvSpPr>
          <p:nvPr>
            <p:ph type="title"/>
          </p:nvPr>
        </p:nvSpPr>
        <p:spPr/>
        <p:txBody>
          <a:bodyPr/>
          <a:lstStyle/>
          <a:p>
            <a:r>
              <a:rPr lang="zh-CN" altLang="en-US" sz="2800" dirty="0">
                <a:latin typeface="Times New Roman" panose="02020603050405020304" pitchFamily="18" charset="0"/>
              </a:rPr>
              <a:t>目录</a:t>
            </a:r>
          </a:p>
        </p:txBody>
      </p:sp>
      <p:sp>
        <p:nvSpPr>
          <p:cNvPr id="13"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00531" y="1579743"/>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dirty="0">
                <a:solidFill>
                  <a:srgbClr val="FFFFFF"/>
                </a:solidFill>
                <a:latin typeface="Times New Roman" panose="02020603050405020304" pitchFamily="18" charset="0"/>
                <a:ea typeface="宋体" panose="02010600030101010101" pitchFamily="2" charset="-122"/>
                <a:sym typeface="微软雅黑" pitchFamily="34" charset="-122"/>
              </a:rPr>
              <a:t>合并数据</a:t>
            </a:r>
            <a:endParaRPr kumimoji="0" lang="zh-CN"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5" name="Oval 15">
            <a:extLst>
              <a:ext uri="{FF2B5EF4-FFF2-40B4-BE49-F238E27FC236}">
                <a16:creationId xmlns:a16="http://schemas.microsoft.com/office/drawing/2014/main" id="{4AA2E115-B5CF-48D7-AAF4-34243C4DB9F7}"/>
              </a:ext>
            </a:extLst>
          </p:cNvPr>
          <p:cNvSpPr>
            <a:spLocks noChangeArrowheads="1"/>
          </p:cNvSpPr>
          <p:nvPr/>
        </p:nvSpPr>
        <p:spPr bwMode="auto">
          <a:xfrm>
            <a:off x="2928857" y="2626672"/>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itchFamily="2" charset="-122"/>
                <a:cs typeface="+mn-cs"/>
              </a:rPr>
              <a:t>2</a:t>
            </a:r>
          </a:p>
        </p:txBody>
      </p:sp>
      <p:sp>
        <p:nvSpPr>
          <p:cNvPr id="21"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12450" y="3660873"/>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dirty="0">
                <a:solidFill>
                  <a:srgbClr val="FFFFFF"/>
                </a:solidFill>
                <a:latin typeface="Times New Roman" panose="02020603050405020304" pitchFamily="18" charset="0"/>
                <a:ea typeface="宋体" panose="02010600030101010101" pitchFamily="2" charset="-122"/>
              </a:rPr>
              <a:t>标准化数据</a:t>
            </a:r>
            <a:endParaRPr kumimoji="0" lang="zh-CN"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2" name="Oval 15">
            <a:extLst>
              <a:ext uri="{FF2B5EF4-FFF2-40B4-BE49-F238E27FC236}">
                <a16:creationId xmlns:a16="http://schemas.microsoft.com/office/drawing/2014/main" id="{4AA2E115-B5CF-48D7-AAF4-34243C4DB9F7}"/>
              </a:ext>
            </a:extLst>
          </p:cNvPr>
          <p:cNvSpPr>
            <a:spLocks noChangeArrowheads="1"/>
          </p:cNvSpPr>
          <p:nvPr/>
        </p:nvSpPr>
        <p:spPr bwMode="auto">
          <a:xfrm>
            <a:off x="2928857" y="3678873"/>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itchFamily="2" charset="-122"/>
                <a:cs typeface="+mn-cs"/>
              </a:rPr>
              <a:t>3</a:t>
            </a:r>
          </a:p>
        </p:txBody>
      </p:sp>
      <p:sp>
        <p:nvSpPr>
          <p:cNvPr id="28"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12450" y="4715497"/>
            <a:ext cx="4859850" cy="684000"/>
          </a:xfrm>
          <a:prstGeom prst="actionButtonBlank">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dirty="0">
                <a:solidFill>
                  <a:srgbClr val="FFFFFF"/>
                </a:solidFill>
                <a:latin typeface="Times New Roman" panose="02020603050405020304" pitchFamily="18" charset="0"/>
                <a:ea typeface="宋体" panose="02010600030101010101" pitchFamily="2" charset="-122"/>
              </a:rPr>
              <a:t>转换数据</a:t>
            </a:r>
            <a:endParaRPr kumimoji="0" lang="zh-CN"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9" name="Oval 15">
            <a:extLst>
              <a:ext uri="{FF2B5EF4-FFF2-40B4-BE49-F238E27FC236}">
                <a16:creationId xmlns:a16="http://schemas.microsoft.com/office/drawing/2014/main" id="{4AA2E115-B5CF-48D7-AAF4-34243C4DB9F7}"/>
              </a:ext>
            </a:extLst>
          </p:cNvPr>
          <p:cNvSpPr>
            <a:spLocks noChangeArrowheads="1"/>
          </p:cNvSpPr>
          <p:nvPr/>
        </p:nvSpPr>
        <p:spPr bwMode="auto">
          <a:xfrm>
            <a:off x="2904947" y="4733497"/>
            <a:ext cx="684000" cy="648000"/>
          </a:xfrm>
          <a:prstGeom prst="ellipse">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Times New Roman" panose="02020603050405020304" pitchFamily="18" charset="0"/>
                <a:ea typeface="宋体" pitchFamily="2" charset="-122"/>
                <a:cs typeface="+mn-cs"/>
              </a:rPr>
              <a:t>4</a:t>
            </a:r>
          </a:p>
        </p:txBody>
      </p:sp>
    </p:spTree>
    <p:extLst>
      <p:ext uri="{BB962C8B-B14F-4D97-AF65-F5344CB8AC3E}">
        <p14:creationId xmlns:p14="http://schemas.microsoft.com/office/powerpoint/2010/main" val="37614548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457200">
              <a:buNone/>
            </a:pPr>
            <a:r>
              <a:rPr lang="zh-CN" altLang="zh-CN" dirty="0"/>
              <a:t>在数据分析模型中有相当一部分的算法模型都要求输入的特征为数值型，</a:t>
            </a:r>
            <a:r>
              <a:rPr lang="zh-CN" altLang="zh-CN" dirty="0">
                <a:solidFill>
                  <a:srgbClr val="FF0000"/>
                </a:solidFill>
              </a:rPr>
              <a:t>但在实际数据中，特征的类型不一定只有数值型，还会存在相当一部分的类别型</a:t>
            </a:r>
            <a:r>
              <a:rPr lang="zh-CN" altLang="zh-CN" dirty="0"/>
              <a:t>。类别型特征需要经过哑变量处理才可以放入模型之中。哑变量处理的</a:t>
            </a:r>
            <a:r>
              <a:rPr lang="zh-CN" altLang="en-US" dirty="0"/>
              <a:t>示例如下图。</a:t>
            </a:r>
            <a:endParaRPr lang="en-US" altLang="zh-CN" dirty="0"/>
          </a:p>
          <a:p>
            <a:endParaRPr lang="zh-CN" altLang="en-US" dirty="0"/>
          </a:p>
        </p:txBody>
      </p:sp>
      <p:sp>
        <p:nvSpPr>
          <p:cNvPr id="3" name="标题 2"/>
          <p:cNvSpPr>
            <a:spLocks noGrp="1"/>
          </p:cNvSpPr>
          <p:nvPr>
            <p:ph type="title"/>
          </p:nvPr>
        </p:nvSpPr>
        <p:spPr/>
        <p:txBody>
          <a:bodyPr/>
          <a:lstStyle/>
          <a:p>
            <a:r>
              <a:rPr lang="zh-CN" altLang="en-US" dirty="0"/>
              <a:t>一、哑变量处理类别型数据</a:t>
            </a:r>
          </a:p>
        </p:txBody>
      </p:sp>
      <p:sp>
        <p:nvSpPr>
          <p:cNvPr id="9"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3133818" y="28142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10" name="对象 9"/>
          <p:cNvGraphicFramePr>
            <a:graphicFrameLocks noChangeAspect="1"/>
          </p:cNvGraphicFramePr>
          <p:nvPr/>
        </p:nvGraphicFramePr>
        <p:xfrm>
          <a:off x="2698812" y="2687631"/>
          <a:ext cx="5752730" cy="3101829"/>
        </p:xfrm>
        <a:graphic>
          <a:graphicData uri="http://schemas.openxmlformats.org/presentationml/2006/ole">
            <mc:AlternateContent xmlns:mc="http://schemas.openxmlformats.org/markup-compatibility/2006">
              <mc:Choice xmlns:v="urn:schemas-microsoft-com:vml" Requires="v">
                <p:oleObj name="Picture" r:id="rId2" imgW="4677410" imgH="3229610" progId="Word.Picture.8">
                  <p:embed/>
                </p:oleObj>
              </mc:Choice>
              <mc:Fallback>
                <p:oleObj name="Picture" r:id="rId2" imgW="4677410" imgH="3229610" progId="Word.Picture.8">
                  <p:embed/>
                  <p:pic>
                    <p:nvPicPr>
                      <p:cNvPr id="10" name="对象 9"/>
                      <p:cNvPicPr>
                        <a:picLocks noChangeAspect="1" noChangeArrowheads="1"/>
                      </p:cNvPicPr>
                      <p:nvPr/>
                    </p:nvPicPr>
                    <p:blipFill>
                      <a:blip r:embed="rId3">
                        <a:extLst>
                          <a:ext uri="{28A0092B-C50C-407E-A947-70E740481C1C}">
                            <a14:useLocalDpi xmlns:a14="http://schemas.microsoft.com/office/drawing/2010/main" val="0"/>
                          </a:ext>
                        </a:extLst>
                      </a:blip>
                      <a:srcRect b="21976"/>
                      <a:stretch>
                        <a:fillRect/>
                      </a:stretch>
                    </p:blipFill>
                    <p:spPr bwMode="auto">
                      <a:xfrm>
                        <a:off x="2698812" y="2687631"/>
                        <a:ext cx="5752730" cy="3101829"/>
                      </a:xfrm>
                      <a:prstGeom prst="rect">
                        <a:avLst/>
                      </a:prstGeom>
                      <a:noFill/>
                    </p:spPr>
                  </p:pic>
                </p:oleObj>
              </mc:Fallback>
            </mc:AlternateContent>
          </a:graphicData>
        </a:graphic>
      </p:graphicFrame>
      <p:sp>
        <p:nvSpPr>
          <p:cNvPr id="7" name="文本框 6"/>
          <p:cNvSpPr txBox="1"/>
          <p:nvPr/>
        </p:nvSpPr>
        <p:spPr>
          <a:xfrm>
            <a:off x="9060024" y="4012163"/>
            <a:ext cx="2043405" cy="369332"/>
          </a:xfrm>
          <a:prstGeom prst="rect">
            <a:avLst/>
          </a:prstGeom>
          <a:noFill/>
        </p:spPr>
        <p:txBody>
          <a:bodyPr wrap="square" rtlCol="0">
            <a:spAutoFit/>
          </a:bodyPr>
          <a:lstStyle/>
          <a:p>
            <a:r>
              <a:rPr lang="en-US" altLang="zh-CN" dirty="0" err="1"/>
              <a:t>Onehot</a:t>
            </a:r>
            <a:r>
              <a:rPr lang="zh-CN" altLang="en-US" dirty="0"/>
              <a:t>编码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ppt_x"/>
                                          </p:val>
                                        </p:tav>
                                        <p:tav tm="100000">
                                          <p:val>
                                            <p:strVal val="#ppt_x"/>
                                          </p:val>
                                        </p:tav>
                                      </p:tavLst>
                                    </p:anim>
                                    <p:anim calcmode="lin" valueType="num">
                                      <p:cBhvr additive="base">
                                        <p:cTn id="1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在</a:t>
            </a:r>
            <a:r>
              <a:rPr lang="en-US" altLang="zh-CN" dirty="0"/>
              <a:t>Python</a:t>
            </a:r>
            <a:r>
              <a:rPr lang="zh-CN" altLang="en-US" dirty="0"/>
              <a:t>中可以利用</a:t>
            </a:r>
            <a:r>
              <a:rPr lang="en-US" altLang="zh-CN" dirty="0"/>
              <a:t>pandas</a:t>
            </a:r>
            <a:r>
              <a:rPr lang="zh-CN" altLang="en-US" dirty="0"/>
              <a:t>库中的</a:t>
            </a:r>
            <a:r>
              <a:rPr lang="en-US" altLang="zh-CN" dirty="0" err="1"/>
              <a:t>get_dummies</a:t>
            </a:r>
            <a:r>
              <a:rPr lang="zh-CN" altLang="en-US" dirty="0"/>
              <a:t>函数对类别型特征进行哑变量处理，</a:t>
            </a:r>
            <a:r>
              <a:rPr lang="en-US" altLang="zh-CN" dirty="0" err="1"/>
              <a:t>get_dummies</a:t>
            </a:r>
            <a:r>
              <a:rPr lang="zh-CN" altLang="en-US" dirty="0"/>
              <a:t>函数的基本使用格式如下。</a:t>
            </a:r>
          </a:p>
          <a:p>
            <a:endParaRPr lang="en-US" altLang="zh-CN" dirty="0"/>
          </a:p>
          <a:p>
            <a:endParaRPr lang="en-US" altLang="zh-CN" dirty="0"/>
          </a:p>
          <a:p>
            <a:endParaRPr lang="en-US" altLang="zh-CN" dirty="0"/>
          </a:p>
          <a:p>
            <a:r>
              <a:rPr lang="en-US" altLang="zh-CN" dirty="0" err="1"/>
              <a:t>get_dummies</a:t>
            </a:r>
            <a:r>
              <a:rPr lang="zh-CN" altLang="en-US" dirty="0"/>
              <a:t>函数的常用参数及其说明如下。</a:t>
            </a:r>
            <a:endParaRPr lang="en-US" altLang="zh-CN" dirty="0"/>
          </a:p>
          <a:p>
            <a:endParaRPr lang="zh-CN" altLang="en-US" dirty="0"/>
          </a:p>
        </p:txBody>
      </p:sp>
      <p:sp>
        <p:nvSpPr>
          <p:cNvPr id="3" name="标题 2"/>
          <p:cNvSpPr>
            <a:spLocks noGrp="1"/>
          </p:cNvSpPr>
          <p:nvPr>
            <p:ph type="title"/>
          </p:nvPr>
        </p:nvSpPr>
        <p:spPr/>
        <p:txBody>
          <a:bodyPr/>
          <a:lstStyle/>
          <a:p>
            <a:r>
              <a:rPr lang="zh-CN" altLang="en-US" dirty="0"/>
              <a:t>哑变量处理类别型数据</a:t>
            </a:r>
          </a:p>
        </p:txBody>
      </p:sp>
      <p:sp>
        <p:nvSpPr>
          <p:cNvPr id="9"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3133818" y="28142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11" name="TextBox 5">
            <a:extLst>
              <a:ext uri="{FF2B5EF4-FFF2-40B4-BE49-F238E27FC236}">
                <a16:creationId xmlns:a16="http://schemas.microsoft.com/office/drawing/2014/main" id="{CED52918-83F5-4C10-86C8-972FC000A4CF}"/>
              </a:ext>
            </a:extLst>
          </p:cNvPr>
          <p:cNvSpPr txBox="1">
            <a:spLocks noChangeArrowheads="1"/>
          </p:cNvSpPr>
          <p:nvPr/>
        </p:nvSpPr>
        <p:spPr bwMode="auto">
          <a:xfrm>
            <a:off x="1208881" y="2314086"/>
            <a:ext cx="977423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8775">
              <a:spcBef>
                <a:spcPct val="20000"/>
              </a:spcBef>
              <a:buClr>
                <a:srgbClr val="000066"/>
              </a:buClr>
              <a:buFont typeface="Wingdings" panose="05000000000000000000" pitchFamily="2" charset="2"/>
              <a:buChar char="n"/>
              <a:defRPr kumimoji="1" sz="21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9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5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9pPr>
          </a:lstStyle>
          <a:p>
            <a:pPr>
              <a:spcBef>
                <a:spcPct val="0"/>
              </a:spcBef>
              <a:buClrTx/>
              <a:buNone/>
            </a:pPr>
            <a:r>
              <a:rPr kumimoji="0" lang="en-US" altLang="zh-CN" sz="2200" i="1" dirty="0" err="1">
                <a:latin typeface="Times New Roman" panose="02020603050405020304" pitchFamily="18" charset="0"/>
                <a:cs typeface="Times New Roman" panose="02020603050405020304" pitchFamily="18" charset="0"/>
              </a:rPr>
              <a:t>pandas.get_dummies</a:t>
            </a:r>
            <a:r>
              <a:rPr kumimoji="0" lang="en-US" altLang="zh-CN" sz="2200" i="1" dirty="0">
                <a:latin typeface="Times New Roman" panose="02020603050405020304" pitchFamily="18" charset="0"/>
                <a:cs typeface="Times New Roman" panose="02020603050405020304" pitchFamily="18" charset="0"/>
              </a:rPr>
              <a:t>(data, prefix=None, </a:t>
            </a:r>
            <a:r>
              <a:rPr kumimoji="0" lang="en-US" altLang="zh-CN" sz="2200" i="1" dirty="0" err="1">
                <a:latin typeface="Times New Roman" panose="02020603050405020304" pitchFamily="18" charset="0"/>
                <a:cs typeface="Times New Roman" panose="02020603050405020304" pitchFamily="18" charset="0"/>
              </a:rPr>
              <a:t>prefix_sep</a:t>
            </a:r>
            <a:r>
              <a:rPr kumimoji="0" lang="en-US" altLang="zh-CN" sz="2200" i="1" dirty="0">
                <a:latin typeface="Times New Roman" panose="02020603050405020304" pitchFamily="18" charset="0"/>
                <a:cs typeface="Times New Roman" panose="02020603050405020304" pitchFamily="18" charset="0"/>
              </a:rPr>
              <a:t>='_', </a:t>
            </a:r>
            <a:r>
              <a:rPr kumimoji="0" lang="en-US" altLang="zh-CN" sz="2200" i="1" dirty="0" err="1">
                <a:latin typeface="Times New Roman" panose="02020603050405020304" pitchFamily="18" charset="0"/>
                <a:cs typeface="Times New Roman" panose="02020603050405020304" pitchFamily="18" charset="0"/>
              </a:rPr>
              <a:t>dummy_na</a:t>
            </a:r>
            <a:r>
              <a:rPr kumimoji="0" lang="en-US" altLang="zh-CN" sz="2200" i="1" dirty="0">
                <a:latin typeface="Times New Roman" panose="02020603050405020304" pitchFamily="18" charset="0"/>
                <a:cs typeface="Times New Roman" panose="02020603050405020304" pitchFamily="18" charset="0"/>
              </a:rPr>
              <a:t>=False, columns=None, sparse=False, </a:t>
            </a:r>
            <a:r>
              <a:rPr kumimoji="0" lang="en-US" altLang="zh-CN" sz="2200" i="1" dirty="0" err="1">
                <a:latin typeface="Times New Roman" panose="02020603050405020304" pitchFamily="18" charset="0"/>
                <a:cs typeface="Times New Roman" panose="02020603050405020304" pitchFamily="18" charset="0"/>
              </a:rPr>
              <a:t>drop_first</a:t>
            </a:r>
            <a:r>
              <a:rPr kumimoji="0" lang="en-US" altLang="zh-CN" sz="2200" i="1" dirty="0">
                <a:latin typeface="Times New Roman" panose="02020603050405020304" pitchFamily="18" charset="0"/>
                <a:cs typeface="Times New Roman" panose="02020603050405020304" pitchFamily="18" charset="0"/>
              </a:rPr>
              <a:t>=False, </a:t>
            </a:r>
            <a:r>
              <a:rPr kumimoji="0" lang="en-US" altLang="zh-CN" sz="2200" i="1" dirty="0" err="1">
                <a:latin typeface="Times New Roman" panose="02020603050405020304" pitchFamily="18" charset="0"/>
                <a:cs typeface="Times New Roman" panose="02020603050405020304" pitchFamily="18" charset="0"/>
              </a:rPr>
              <a:t>dtype</a:t>
            </a:r>
            <a:r>
              <a:rPr kumimoji="0" lang="en-US" altLang="zh-CN" sz="2200" i="1" dirty="0">
                <a:latin typeface="Times New Roman" panose="02020603050405020304" pitchFamily="18" charset="0"/>
                <a:cs typeface="Times New Roman" panose="02020603050405020304" pitchFamily="18" charset="0"/>
              </a:rPr>
              <a:t>=None)</a:t>
            </a:r>
          </a:p>
        </p:txBody>
      </p:sp>
      <p:graphicFrame>
        <p:nvGraphicFramePr>
          <p:cNvPr id="7" name="表格 6">
            <a:extLst>
              <a:ext uri="{FF2B5EF4-FFF2-40B4-BE49-F238E27FC236}">
                <a16:creationId xmlns:a16="http://schemas.microsoft.com/office/drawing/2014/main" id="{3B8A83D4-A664-4DA4-AECB-021A187EF343}"/>
              </a:ext>
            </a:extLst>
          </p:cNvPr>
          <p:cNvGraphicFramePr>
            <a:graphicFrameLocks noGrp="1"/>
          </p:cNvGraphicFramePr>
          <p:nvPr>
            <p:extLst>
              <p:ext uri="{D42A27DB-BD31-4B8C-83A1-F6EECF244321}">
                <p14:modId xmlns:p14="http://schemas.microsoft.com/office/powerpoint/2010/main" val="4144251952"/>
              </p:ext>
            </p:extLst>
          </p:nvPr>
        </p:nvGraphicFramePr>
        <p:xfrm>
          <a:off x="1624906" y="4010561"/>
          <a:ext cx="8942187" cy="2016000"/>
        </p:xfrm>
        <a:graphic>
          <a:graphicData uri="http://schemas.openxmlformats.org/drawingml/2006/table">
            <a:tbl>
              <a:tblPr firstRow="1" firstCol="1" bandRow="1">
                <a:tableStyleId>{5C22544A-7EE6-4342-B048-85BDC9FD1C3A}</a:tableStyleId>
              </a:tblPr>
              <a:tblGrid>
                <a:gridCol w="1495236">
                  <a:extLst>
                    <a:ext uri="{9D8B030D-6E8A-4147-A177-3AD203B41FA5}">
                      <a16:colId xmlns:a16="http://schemas.microsoft.com/office/drawing/2014/main" val="1181016603"/>
                    </a:ext>
                  </a:extLst>
                </a:gridCol>
                <a:gridCol w="7446951">
                  <a:extLst>
                    <a:ext uri="{9D8B030D-6E8A-4147-A177-3AD203B41FA5}">
                      <a16:colId xmlns:a16="http://schemas.microsoft.com/office/drawing/2014/main" val="3467830606"/>
                    </a:ext>
                  </a:extLst>
                </a:gridCol>
              </a:tblGrid>
              <a:tr h="504000">
                <a:tc>
                  <a:txBody>
                    <a:bodyPr/>
                    <a:lstStyle/>
                    <a:p>
                      <a:pPr algn="ctr"/>
                      <a:r>
                        <a:rPr lang="zh-CN" sz="1700" b="1" kern="100" dirty="0">
                          <a:effectLst/>
                          <a:latin typeface="Times New Roman" panose="02020603050405020304" pitchFamily="18" charset="0"/>
                          <a:ea typeface="宋体" panose="02010600030101010101" pitchFamily="2" charset="-122"/>
                          <a:cs typeface="Times New Roman" panose="02020603050405020304" pitchFamily="18" charset="0"/>
                        </a:rPr>
                        <a:t>参数名称</a:t>
                      </a:r>
                    </a:p>
                  </a:txBody>
                  <a:tcPr marL="68580" marR="68580" marT="0" marB="0" anchor="ctr"/>
                </a:tc>
                <a:tc>
                  <a:txBody>
                    <a:bodyPr/>
                    <a:lstStyle/>
                    <a:p>
                      <a:pPr algn="ctr"/>
                      <a:r>
                        <a:rPr lang="zh-CN" sz="1700" b="1" kern="100" dirty="0">
                          <a:effectLst/>
                          <a:latin typeface="Times New Roman" panose="02020603050405020304" pitchFamily="18" charset="0"/>
                          <a:ea typeface="宋体" panose="02010600030101010101" pitchFamily="2" charset="-122"/>
                          <a:cs typeface="Times New Roman" panose="02020603050405020304" pitchFamily="18" charset="0"/>
                        </a:rPr>
                        <a:t>参数说明</a:t>
                      </a:r>
                    </a:p>
                  </a:txBody>
                  <a:tcPr marL="68580" marR="68580" marT="0" marB="0" anchor="ctr"/>
                </a:tc>
                <a:extLst>
                  <a:ext uri="{0D108BD9-81ED-4DB2-BD59-A6C34878D82A}">
                    <a16:rowId xmlns:a16="http://schemas.microsoft.com/office/drawing/2014/main" val="4202268659"/>
                  </a:ext>
                </a:extLst>
              </a:tr>
              <a:tr h="504000">
                <a:tc>
                  <a:txBody>
                    <a:bodyPr/>
                    <a:lstStyle/>
                    <a:p>
                      <a:pPr algn="ctr"/>
                      <a:r>
                        <a:rPr lang="en-US" sz="1700" kern="100">
                          <a:effectLst/>
                          <a:latin typeface="Times New Roman" panose="02020603050405020304" pitchFamily="18" charset="0"/>
                          <a:ea typeface="宋体" panose="02010600030101010101" pitchFamily="2" charset="-122"/>
                          <a:cs typeface="Times New Roman" panose="02020603050405020304" pitchFamily="18" charset="0"/>
                        </a:rPr>
                        <a:t>data</a:t>
                      </a:r>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array</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1700" kern="100" dirty="0" err="1">
                          <a:effectLst/>
                          <a:latin typeface="Times New Roman" panose="02020603050405020304" pitchFamily="18" charset="0"/>
                          <a:ea typeface="宋体" panose="02010600030101010101" pitchFamily="2" charset="-122"/>
                          <a:cs typeface="Times New Roman" panose="02020603050405020304" pitchFamily="18" charset="0"/>
                        </a:rPr>
                        <a:t>DataFrame</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Series</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。表示需要哑变量处理的数据。无默认值</a:t>
                      </a:r>
                    </a:p>
                  </a:txBody>
                  <a:tcPr marL="68580" marR="68580" marT="0" marB="0" anchor="ctr"/>
                </a:tc>
                <a:extLst>
                  <a:ext uri="{0D108BD9-81ED-4DB2-BD59-A6C34878D82A}">
                    <a16:rowId xmlns:a16="http://schemas.microsoft.com/office/drawing/2014/main" val="4191227267"/>
                  </a:ext>
                </a:extLst>
              </a:tr>
              <a:tr h="504000">
                <a:tc>
                  <a:txBody>
                    <a:bodyPr/>
                    <a:lstStyle/>
                    <a:p>
                      <a:pPr algn="ctr"/>
                      <a:r>
                        <a:rPr lang="en-US" sz="1700" kern="100">
                          <a:effectLst/>
                          <a:latin typeface="Times New Roman" panose="02020603050405020304" pitchFamily="18" charset="0"/>
                          <a:ea typeface="宋体" panose="02010600030101010101" pitchFamily="2" charset="-122"/>
                          <a:cs typeface="Times New Roman" panose="02020603050405020304" pitchFamily="18" charset="0"/>
                        </a:rPr>
                        <a:t>prefix</a:t>
                      </a:r>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str</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str</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的列表或</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str</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sz="1700" kern="100" dirty="0" err="1">
                          <a:effectLst/>
                          <a:latin typeface="Times New Roman" panose="02020603050405020304" pitchFamily="18" charset="0"/>
                          <a:ea typeface="宋体" panose="02010600030101010101" pitchFamily="2" charset="-122"/>
                          <a:cs typeface="Times New Roman" panose="02020603050405020304" pitchFamily="18" charset="0"/>
                        </a:rPr>
                        <a:t>dict</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。表示哑变量化后列名的前缀。默认为</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None</a:t>
                      </a:r>
                      <a:endParaRPr 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36503899"/>
                  </a:ext>
                </a:extLst>
              </a:tr>
              <a:tr h="504000">
                <a:tc>
                  <a:txBody>
                    <a:bodyPr/>
                    <a:lstStyle/>
                    <a:p>
                      <a:pPr algn="ctr"/>
                      <a:r>
                        <a:rPr lang="en-US" sz="1700" kern="100">
                          <a:effectLst/>
                          <a:latin typeface="Times New Roman" panose="02020603050405020304" pitchFamily="18" charset="0"/>
                          <a:ea typeface="宋体" panose="02010600030101010101" pitchFamily="2" charset="-122"/>
                          <a:cs typeface="Times New Roman" panose="02020603050405020304" pitchFamily="18" charset="0"/>
                        </a:rPr>
                        <a:t>prefix_sep</a:t>
                      </a:r>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str</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。表示前缀的连接符。默认为“</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_</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353634614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1000"/>
                                        <p:tgtEl>
                                          <p:spTgt spid="2">
                                            <p:txEl>
                                              <p:pRg st="4" end="4"/>
                                            </p:txEl>
                                          </p:spTgt>
                                        </p:tgtEl>
                                      </p:cBhvr>
                                    </p:animEffect>
                                    <p:anim calcmode="lin" valueType="num">
                                      <p:cBhvr>
                                        <p:cTn id="2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1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457200">
              <a:buNone/>
            </a:pPr>
            <a:r>
              <a:rPr lang="en-US" altLang="zh-CN" dirty="0" err="1"/>
              <a:t>get_dummies</a:t>
            </a:r>
            <a:r>
              <a:rPr lang="zh-CN" altLang="en-US" dirty="0"/>
              <a:t>函数的常用参数及其说明（续表）。</a:t>
            </a:r>
            <a:endParaRPr lang="en-US" altLang="zh-CN" dirty="0"/>
          </a:p>
        </p:txBody>
      </p:sp>
      <p:sp>
        <p:nvSpPr>
          <p:cNvPr id="3" name="标题 2"/>
          <p:cNvSpPr>
            <a:spLocks noGrp="1"/>
          </p:cNvSpPr>
          <p:nvPr>
            <p:ph type="title"/>
          </p:nvPr>
        </p:nvSpPr>
        <p:spPr/>
        <p:txBody>
          <a:bodyPr/>
          <a:lstStyle/>
          <a:p>
            <a:r>
              <a:rPr lang="zh-CN" altLang="en-US" dirty="0"/>
              <a:t>哑变量处理类别型数据</a:t>
            </a:r>
          </a:p>
        </p:txBody>
      </p:sp>
      <p:sp>
        <p:nvSpPr>
          <p:cNvPr id="9"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3133818" y="28142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13" name="表格 13"/>
          <p:cNvGraphicFramePr>
            <a:graphicFrameLocks noGrp="1"/>
          </p:cNvGraphicFramePr>
          <p:nvPr>
            <p:extLst>
              <p:ext uri="{D42A27DB-BD31-4B8C-83A1-F6EECF244321}">
                <p14:modId xmlns:p14="http://schemas.microsoft.com/office/powerpoint/2010/main" val="2300796308"/>
              </p:ext>
            </p:extLst>
          </p:nvPr>
        </p:nvGraphicFramePr>
        <p:xfrm>
          <a:off x="1624906" y="1991435"/>
          <a:ext cx="8942187" cy="2534160"/>
        </p:xfrm>
        <a:graphic>
          <a:graphicData uri="http://schemas.openxmlformats.org/drawingml/2006/table">
            <a:tbl>
              <a:tblPr firstRow="1" firstCol="1" bandRow="1">
                <a:tableStyleId>{5C22544A-7EE6-4342-B048-85BDC9FD1C3A}</a:tableStyleId>
              </a:tblPr>
              <a:tblGrid>
                <a:gridCol w="1495236">
                  <a:extLst>
                    <a:ext uri="{9D8B030D-6E8A-4147-A177-3AD203B41FA5}">
                      <a16:colId xmlns:a16="http://schemas.microsoft.com/office/drawing/2014/main" val="20000"/>
                    </a:ext>
                  </a:extLst>
                </a:gridCol>
                <a:gridCol w="7446951">
                  <a:extLst>
                    <a:ext uri="{9D8B030D-6E8A-4147-A177-3AD203B41FA5}">
                      <a16:colId xmlns:a16="http://schemas.microsoft.com/office/drawing/2014/main" val="20001"/>
                    </a:ext>
                  </a:extLst>
                </a:gridCol>
              </a:tblGrid>
              <a:tr h="504000">
                <a:tc>
                  <a:txBody>
                    <a:bodyPr/>
                    <a:lstStyle/>
                    <a:p>
                      <a:pPr algn="ctr"/>
                      <a:r>
                        <a:rPr lang="zh-CN" sz="1700" b="1" kern="100" dirty="0">
                          <a:effectLst/>
                          <a:latin typeface="Times New Roman" panose="02020603050405020304" pitchFamily="18" charset="0"/>
                          <a:ea typeface="宋体" panose="02010600030101010101" pitchFamily="2" charset="-122"/>
                          <a:cs typeface="Times New Roman" panose="02020603050405020304" pitchFamily="18" charset="0"/>
                        </a:rPr>
                        <a:t>参数名称</a:t>
                      </a:r>
                    </a:p>
                  </a:txBody>
                  <a:tcPr marL="68580" marR="68580" marT="0" marB="0" anchor="ctr"/>
                </a:tc>
                <a:tc>
                  <a:txBody>
                    <a:bodyPr/>
                    <a:lstStyle/>
                    <a:p>
                      <a:pPr algn="ctr"/>
                      <a:r>
                        <a:rPr lang="zh-CN" sz="1700" b="1" kern="100" dirty="0">
                          <a:effectLst/>
                          <a:latin typeface="Times New Roman" panose="02020603050405020304" pitchFamily="18" charset="0"/>
                          <a:ea typeface="宋体" panose="02010600030101010101" pitchFamily="2" charset="-122"/>
                          <a:cs typeface="Times New Roman" panose="02020603050405020304" pitchFamily="18" charset="0"/>
                        </a:rPr>
                        <a:t>参数说明</a:t>
                      </a:r>
                    </a:p>
                  </a:txBody>
                  <a:tcPr marL="68580" marR="68580" marT="0" marB="0" anchor="ctr"/>
                </a:tc>
                <a:extLst>
                  <a:ext uri="{0D108BD9-81ED-4DB2-BD59-A6C34878D82A}">
                    <a16:rowId xmlns:a16="http://schemas.microsoft.com/office/drawing/2014/main" val="10000"/>
                  </a:ext>
                </a:extLst>
              </a:tr>
              <a:tr h="504000">
                <a:tc>
                  <a:txBody>
                    <a:bodyPr/>
                    <a:lstStyle/>
                    <a:p>
                      <a:pPr algn="ctr"/>
                      <a:r>
                        <a:rPr lang="en-US" sz="1700" kern="100" dirty="0" err="1">
                          <a:effectLst/>
                          <a:latin typeface="Times New Roman" panose="02020603050405020304" pitchFamily="18" charset="0"/>
                          <a:ea typeface="宋体" panose="02010600030101010101" pitchFamily="2" charset="-122"/>
                          <a:cs typeface="Times New Roman" panose="02020603050405020304" pitchFamily="18" charset="0"/>
                        </a:rPr>
                        <a:t>dummy_na</a:t>
                      </a:r>
                      <a:endParaRPr 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bool</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。表示是否为</a:t>
                      </a:r>
                      <a:r>
                        <a:rPr lang="en-US" sz="1700" kern="100" dirty="0" err="1">
                          <a:effectLst/>
                          <a:latin typeface="Times New Roman" panose="02020603050405020304" pitchFamily="18" charset="0"/>
                          <a:ea typeface="宋体" panose="02010600030101010101" pitchFamily="2" charset="-122"/>
                          <a:cs typeface="Times New Roman" panose="02020603050405020304" pitchFamily="18" charset="0"/>
                        </a:rPr>
                        <a:t>NaN</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值添加一列。默认为</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504000">
                <a:tc>
                  <a:txBody>
                    <a:bodyPr/>
                    <a:lstStyle/>
                    <a:p>
                      <a:pPr algn="ctr"/>
                      <a:r>
                        <a:rPr lang="en-US" sz="1700" kern="100">
                          <a:effectLst/>
                          <a:latin typeface="Times New Roman" panose="02020603050405020304" pitchFamily="18" charset="0"/>
                          <a:ea typeface="宋体" panose="02010600030101010101" pitchFamily="2" charset="-122"/>
                          <a:cs typeface="Times New Roman" panose="02020603050405020304" pitchFamily="18" charset="0"/>
                        </a:rPr>
                        <a:t>columns</a:t>
                      </a:r>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接收类似</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list</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的数据。表示</a:t>
                      </a:r>
                      <a:r>
                        <a:rPr lang="en-US" sz="1700" kern="100" dirty="0" err="1">
                          <a:effectLst/>
                          <a:latin typeface="Times New Roman" panose="02020603050405020304" pitchFamily="18" charset="0"/>
                          <a:ea typeface="宋体" panose="02010600030101010101" pitchFamily="2" charset="-122"/>
                          <a:cs typeface="Times New Roman" panose="02020603050405020304" pitchFamily="18" charset="0"/>
                        </a:rPr>
                        <a:t>DataFrame</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中需要编码的列名。默认为</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None</a:t>
                      </a:r>
                      <a:endParaRPr 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504000">
                <a:tc>
                  <a:txBody>
                    <a:bodyPr/>
                    <a:lstStyle/>
                    <a:p>
                      <a:pPr algn="ctr"/>
                      <a:r>
                        <a:rPr lang="en-US" sz="1700" kern="100">
                          <a:effectLst/>
                          <a:latin typeface="Times New Roman" panose="02020603050405020304" pitchFamily="18" charset="0"/>
                          <a:ea typeface="宋体" panose="02010600030101010101" pitchFamily="2" charset="-122"/>
                          <a:cs typeface="Times New Roman" panose="02020603050405020304" pitchFamily="18" charset="0"/>
                        </a:rPr>
                        <a:t>sparse</a:t>
                      </a:r>
                      <a:endParaRPr lang="zh-CN" sz="17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bool</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。表示虚拟列是否是稀疏的。默认为</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r h="504000">
                <a:tc>
                  <a:txBody>
                    <a:bodyPr/>
                    <a:lstStyle/>
                    <a:p>
                      <a:pPr algn="ctr"/>
                      <a:r>
                        <a:rPr lang="en-US" sz="1700" kern="100" dirty="0" err="1">
                          <a:effectLst/>
                          <a:latin typeface="Times New Roman" panose="02020603050405020304" pitchFamily="18" charset="0"/>
                          <a:ea typeface="宋体" panose="02010600030101010101" pitchFamily="2" charset="-122"/>
                          <a:cs typeface="Times New Roman" panose="02020603050405020304" pitchFamily="18" charset="0"/>
                        </a:rPr>
                        <a:t>drop_first</a:t>
                      </a:r>
                      <a:endParaRPr 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bool</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。表示是否通过从</a:t>
                      </a:r>
                      <a:r>
                        <a:rPr lang="en-US" sz="1700" i="1" kern="100" dirty="0">
                          <a:effectLst/>
                          <a:latin typeface="Times New Roman" panose="02020603050405020304" pitchFamily="18" charset="0"/>
                          <a:ea typeface="宋体" panose="02010600030101010101" pitchFamily="2" charset="-122"/>
                          <a:cs typeface="Times New Roman" panose="02020603050405020304" pitchFamily="18" charset="0"/>
                        </a:rPr>
                        <a:t>k</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个分类级别中删除第一级来获得</a:t>
                      </a:r>
                      <a:r>
                        <a:rPr lang="en-US" sz="1700" i="1" kern="100" dirty="0">
                          <a:effectLst/>
                          <a:latin typeface="Times New Roman" panose="02020603050405020304" pitchFamily="18" charset="0"/>
                          <a:ea typeface="宋体" panose="02010600030101010101" pitchFamily="2" charset="-122"/>
                          <a:cs typeface="Times New Roman" panose="02020603050405020304" pitchFamily="18" charset="0"/>
                        </a:rPr>
                        <a:t>k</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sz="1700" kern="100" dirty="0">
                          <a:effectLst/>
                          <a:latin typeface="Times New Roman" panose="02020603050405020304" pitchFamily="18" charset="0"/>
                          <a:ea typeface="宋体" panose="02010600030101010101" pitchFamily="2" charset="-122"/>
                          <a:cs typeface="Times New Roman" panose="02020603050405020304" pitchFamily="18" charset="0"/>
                        </a:rPr>
                        <a:t>个分类级别。默认为</a:t>
                      </a:r>
                      <a:r>
                        <a:rPr lang="en-US" sz="1700" kern="100" dirty="0">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sz="17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038336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zh-CN" dirty="0"/>
              <a:t>对于一个类别型特征，若其取值有</a:t>
            </a:r>
            <a:r>
              <a:rPr lang="en-US" altLang="zh-CN" i="1" dirty="0"/>
              <a:t>m</a:t>
            </a:r>
            <a:r>
              <a:rPr lang="zh-CN" altLang="zh-CN" dirty="0"/>
              <a:t>个，则经过哑变量处理后将变成了</a:t>
            </a:r>
            <a:r>
              <a:rPr lang="en-US" altLang="zh-CN" i="1" dirty="0"/>
              <a:t>m</a:t>
            </a:r>
            <a:r>
              <a:rPr lang="zh-CN" altLang="zh-CN" dirty="0"/>
              <a:t>个二元特征，并且这些特征互斥，每次只有一个激活，这使得数据变得稀疏。</a:t>
            </a:r>
            <a:endParaRPr lang="en-US" altLang="zh-CN" dirty="0"/>
          </a:p>
          <a:p>
            <a:r>
              <a:rPr lang="zh-CN" altLang="en-US" dirty="0"/>
              <a:t>对类别型特征进行哑变量处理主要解决了部分算法模型无法处理类别型数据的问题，在一定程度上起到了扩充特征的作用。由于数据变成了稀疏矩阵的形式，因此也加快了算法模型的运算速度。</a:t>
            </a:r>
          </a:p>
        </p:txBody>
      </p:sp>
      <p:sp>
        <p:nvSpPr>
          <p:cNvPr id="3" name="标题 2"/>
          <p:cNvSpPr>
            <a:spLocks noGrp="1"/>
          </p:cNvSpPr>
          <p:nvPr>
            <p:ph type="title"/>
          </p:nvPr>
        </p:nvSpPr>
        <p:spPr/>
        <p:txBody>
          <a:bodyPr/>
          <a:lstStyle/>
          <a:p>
            <a:r>
              <a:rPr lang="zh-CN" altLang="en-US" dirty="0"/>
              <a:t>哑变量处理类别型数据</a:t>
            </a:r>
          </a:p>
        </p:txBody>
      </p:sp>
      <p:sp>
        <p:nvSpPr>
          <p:cNvPr id="9"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3133818" y="28142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哑变量处理类别型数据</a:t>
            </a:r>
          </a:p>
        </p:txBody>
      </p:sp>
      <p:sp>
        <p:nvSpPr>
          <p:cNvPr id="9"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3133818" y="28142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10" name="矩形 9"/>
          <p:cNvSpPr/>
          <p:nvPr/>
        </p:nvSpPr>
        <p:spPr>
          <a:xfrm>
            <a:off x="969818" y="1673505"/>
            <a:ext cx="6096000" cy="2031325"/>
          </a:xfrm>
          <a:prstGeom prst="rect">
            <a:avLst/>
          </a:prstGeom>
        </p:spPr>
        <p:txBody>
          <a:bodyPr>
            <a:spAutoFit/>
          </a:bodyPr>
          <a:lstStyle/>
          <a:p>
            <a:r>
              <a:rPr lang="zh-CN" altLang="en-US" dirty="0"/>
              <a:t>import pandas as pd</a:t>
            </a:r>
          </a:p>
          <a:p>
            <a:r>
              <a:rPr lang="zh-CN" altLang="en-US" dirty="0"/>
              <a:t>all_info = pd.read_csv('./data/user_all_info.csv')</a:t>
            </a:r>
          </a:p>
          <a:p>
            <a:r>
              <a:rPr lang="zh-CN" altLang="en-US" dirty="0"/>
              <a:t>live_type = all_info.loc[0: 5, '居住类型']   #抽取部分数据做演示</a:t>
            </a:r>
          </a:p>
          <a:p>
            <a:r>
              <a:rPr lang="zh-CN" altLang="en-US" dirty="0"/>
              <a:t>print('哑变量处理前的数据为：\n', live_type)</a:t>
            </a:r>
          </a:p>
          <a:p>
            <a:r>
              <a:rPr lang="zh-CN" altLang="en-US" dirty="0"/>
              <a:t>print('哑变量处理后的数据为：\n', pd.get_dummies(live_type))</a:t>
            </a:r>
          </a:p>
        </p:txBody>
      </p:sp>
      <p:pic>
        <p:nvPicPr>
          <p:cNvPr id="11" name="图片 10"/>
          <p:cNvPicPr>
            <a:picLocks noChangeAspect="1"/>
          </p:cNvPicPr>
          <p:nvPr/>
        </p:nvPicPr>
        <p:blipFill>
          <a:blip r:embed="rId2"/>
          <a:stretch>
            <a:fillRect/>
          </a:stretch>
        </p:blipFill>
        <p:spPr>
          <a:xfrm>
            <a:off x="7760257" y="1601968"/>
            <a:ext cx="2457143" cy="3371429"/>
          </a:xfrm>
          <a:prstGeom prst="rect">
            <a:avLst/>
          </a:prstGeom>
        </p:spPr>
      </p:pic>
    </p:spTree>
    <p:extLst>
      <p:ext uri="{BB962C8B-B14F-4D97-AF65-F5344CB8AC3E}">
        <p14:creationId xmlns:p14="http://schemas.microsoft.com/office/powerpoint/2010/main" val="16000918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3818" y="1104181"/>
            <a:ext cx="6652391" cy="5052713"/>
          </a:xfrm>
        </p:spPr>
        <p:txBody>
          <a:bodyPr/>
          <a:lstStyle/>
          <a:p>
            <a:r>
              <a:rPr lang="zh-CN" altLang="en-US" dirty="0"/>
              <a:t>某些模型算法，特别是分类算法，如</a:t>
            </a:r>
            <a:r>
              <a:rPr lang="en-US" altLang="zh-CN" dirty="0"/>
              <a:t>ID3</a:t>
            </a:r>
            <a:r>
              <a:rPr lang="zh-CN" altLang="en-US" dirty="0"/>
              <a:t>决策树算法和</a:t>
            </a:r>
            <a:r>
              <a:rPr lang="en-US" altLang="zh-CN" dirty="0" err="1"/>
              <a:t>Apriori</a:t>
            </a:r>
            <a:r>
              <a:rPr lang="zh-CN" altLang="en-US" dirty="0"/>
              <a:t>算法等，要求数据是离散的，此时就需要将连续型特征数据（数值型）变换成离散型特征数据（类别型），即连续特征离散化。</a:t>
            </a:r>
          </a:p>
          <a:p>
            <a:r>
              <a:rPr lang="zh-CN" altLang="en-US" dirty="0"/>
              <a:t>连续特征的离散化就是在数据的取值范围内设定若干个离散的划分点，将取值范围划分为一些离散化的区间，最后用不同的符号或整数值代表落在每个子区间中的数据值。</a:t>
            </a:r>
            <a:endParaRPr lang="en-US" altLang="zh-CN" dirty="0"/>
          </a:p>
          <a:p>
            <a:r>
              <a:rPr lang="zh-CN" altLang="en-US" dirty="0"/>
              <a:t>因此离散化涉及到两个子任务，分别为确定分类数和如何将连续型数据映射到类别型数据上。连续特征离散化示例如图。</a:t>
            </a:r>
          </a:p>
        </p:txBody>
      </p:sp>
      <p:sp>
        <p:nvSpPr>
          <p:cNvPr id="3" name="标题 2"/>
          <p:cNvSpPr>
            <a:spLocks noGrp="1"/>
          </p:cNvSpPr>
          <p:nvPr>
            <p:ph type="title"/>
          </p:nvPr>
        </p:nvSpPr>
        <p:spPr/>
        <p:txBody>
          <a:bodyPr/>
          <a:lstStyle/>
          <a:p>
            <a:r>
              <a:rPr lang="zh-CN" altLang="en-US" dirty="0"/>
              <a:t>二、离散化连续型数据</a:t>
            </a:r>
          </a:p>
        </p:txBody>
      </p:sp>
      <p:sp>
        <p:nvSpPr>
          <p:cNvPr id="9"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3133818" y="28142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10" name="Rectangle 3"/>
          <p:cNvSpPr>
            <a:spLocks noChangeArrowheads="1"/>
          </p:cNvSpPr>
          <p:nvPr/>
        </p:nvSpPr>
        <p:spPr bwMode="auto">
          <a:xfrm>
            <a:off x="7412056" y="169563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1" name="对象 10"/>
          <p:cNvGraphicFramePr>
            <a:graphicFrameLocks noChangeAspect="1"/>
          </p:cNvGraphicFramePr>
          <p:nvPr>
            <p:extLst>
              <p:ext uri="{D42A27DB-BD31-4B8C-83A1-F6EECF244321}">
                <p14:modId xmlns:p14="http://schemas.microsoft.com/office/powerpoint/2010/main" val="3046154823"/>
              </p:ext>
            </p:extLst>
          </p:nvPr>
        </p:nvGraphicFramePr>
        <p:xfrm>
          <a:off x="7580355" y="1246333"/>
          <a:ext cx="3647322" cy="4527612"/>
        </p:xfrm>
        <a:graphic>
          <a:graphicData uri="http://schemas.openxmlformats.org/presentationml/2006/ole">
            <mc:AlternateContent xmlns:mc="http://schemas.openxmlformats.org/markup-compatibility/2006">
              <mc:Choice xmlns:v="urn:schemas-microsoft-com:vml" Requires="v">
                <p:oleObj name="Picture" r:id="rId2" imgW="2686685" imgH="3601085" progId="Word.Picture.8">
                  <p:embed/>
                </p:oleObj>
              </mc:Choice>
              <mc:Fallback>
                <p:oleObj name="Picture" r:id="rId2" imgW="2686685" imgH="3601085" progId="Word.Picture.8">
                  <p:embed/>
                  <p:pic>
                    <p:nvPicPr>
                      <p:cNvPr id="11" name="对象 10"/>
                      <p:cNvPicPr>
                        <a:picLocks noChangeAspect="1" noChangeArrowheads="1"/>
                      </p:cNvPicPr>
                      <p:nvPr/>
                    </p:nvPicPr>
                    <p:blipFill>
                      <a:blip r:embed="rId3">
                        <a:extLst>
                          <a:ext uri="{28A0092B-C50C-407E-A947-70E740481C1C}">
                            <a14:useLocalDpi xmlns:a14="http://schemas.microsoft.com/office/drawing/2010/main" val="0"/>
                          </a:ext>
                        </a:extLst>
                      </a:blip>
                      <a:srcRect r="24799" b="30437"/>
                      <a:stretch>
                        <a:fillRect/>
                      </a:stretch>
                    </p:blipFill>
                    <p:spPr bwMode="auto">
                      <a:xfrm>
                        <a:off x="7580355" y="1246333"/>
                        <a:ext cx="3647322" cy="4527612"/>
                      </a:xfrm>
                      <a:prstGeom prst="rect">
                        <a:avLst/>
                      </a:prstGeom>
                      <a:noFill/>
                    </p:spPr>
                  </p:pic>
                </p:oleObj>
              </mc:Fallback>
            </mc:AlternateContent>
          </a:graphicData>
        </a:graphic>
      </p:graphicFrame>
      <p:sp>
        <p:nvSpPr>
          <p:cNvPr id="7" name="文本框 6"/>
          <p:cNvSpPr txBox="1"/>
          <p:nvPr/>
        </p:nvSpPr>
        <p:spPr>
          <a:xfrm>
            <a:off x="11569959" y="1801979"/>
            <a:ext cx="485192" cy="3416320"/>
          </a:xfrm>
          <a:prstGeom prst="rect">
            <a:avLst/>
          </a:prstGeom>
          <a:noFill/>
        </p:spPr>
        <p:txBody>
          <a:bodyPr wrap="square" rtlCol="0">
            <a:spAutoFit/>
          </a:bodyPr>
          <a:lstStyle/>
          <a:p>
            <a:r>
              <a:rPr lang="zh-CN" altLang="en-US" dirty="0"/>
              <a:t>不同的区间对应不同的类别</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additive="base">
                                        <p:cTn id="28" dur="500" fill="hold"/>
                                        <p:tgtEl>
                                          <p:spTgt spid="11"/>
                                        </p:tgtEl>
                                        <p:attrNameLst>
                                          <p:attrName>ppt_x</p:attrName>
                                        </p:attrNameLst>
                                      </p:cBhvr>
                                      <p:tavLst>
                                        <p:tav tm="0">
                                          <p:val>
                                            <p:strVal val="#ppt_x"/>
                                          </p:val>
                                        </p:tav>
                                        <p:tav tm="100000">
                                          <p:val>
                                            <p:strVal val="#ppt_x"/>
                                          </p:val>
                                        </p:tav>
                                      </p:tavLst>
                                    </p:anim>
                                    <p:anim calcmode="lin" valueType="num">
                                      <p:cBhvr additive="base">
                                        <p:cTn id="2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additive="base">
                                        <p:cTn id="34" dur="500" fill="hold"/>
                                        <p:tgtEl>
                                          <p:spTgt spid="7"/>
                                        </p:tgtEl>
                                        <p:attrNameLst>
                                          <p:attrName>ppt_x</p:attrName>
                                        </p:attrNameLst>
                                      </p:cBhvr>
                                      <p:tavLst>
                                        <p:tav tm="0">
                                          <p:val>
                                            <p:strVal val="#ppt_x"/>
                                          </p:val>
                                        </p:tav>
                                        <p:tav tm="100000">
                                          <p:val>
                                            <p:strVal val="#ppt_x"/>
                                          </p:val>
                                        </p:tav>
                                      </p:tavLst>
                                    </p:anim>
                                    <p:anim calcmode="lin" valueType="num">
                                      <p:cBhvr additive="base">
                                        <p:cTn id="3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3819" y="1713662"/>
            <a:ext cx="11107601" cy="4855811"/>
          </a:xfrm>
        </p:spPr>
        <p:txBody>
          <a:bodyPr/>
          <a:lstStyle/>
          <a:p>
            <a:r>
              <a:rPr lang="zh-CN" altLang="en-US" dirty="0"/>
              <a:t>等宽法将数据的值域分成具有相同宽度的区间，区间的个数由数据本身的特点决定或由用户指定，与制作频率分布表类似。</a:t>
            </a:r>
            <a:endParaRPr lang="en-US" altLang="zh-CN" dirty="0"/>
          </a:p>
          <a:p>
            <a:r>
              <a:rPr lang="en-US" altLang="zh-CN" dirty="0"/>
              <a:t>pandas</a:t>
            </a:r>
            <a:r>
              <a:rPr lang="zh-CN" altLang="en-US" dirty="0"/>
              <a:t>提供了</a:t>
            </a:r>
            <a:r>
              <a:rPr lang="en-US" altLang="zh-CN" dirty="0"/>
              <a:t>cut</a:t>
            </a:r>
            <a:r>
              <a:rPr lang="zh-CN" altLang="en-US" dirty="0"/>
              <a:t>函数，可以进行连续型数据的等宽离散化，其基础语法如下。</a:t>
            </a:r>
            <a:endParaRPr lang="en-US" altLang="zh-CN" dirty="0"/>
          </a:p>
          <a:p>
            <a:endParaRPr lang="en-US" altLang="zh-CN" i="1" dirty="0"/>
          </a:p>
          <a:p>
            <a:pPr marL="0" indent="0">
              <a:buNone/>
            </a:pPr>
            <a:endParaRPr lang="en-US" altLang="zh-CN" i="1" dirty="0"/>
          </a:p>
          <a:p>
            <a:r>
              <a:rPr lang="en-US" altLang="zh-CN" dirty="0"/>
              <a:t>cut</a:t>
            </a:r>
            <a:r>
              <a:rPr lang="zh-CN" altLang="zh-CN" dirty="0"/>
              <a:t>函数的常用参数及其说明</a:t>
            </a:r>
            <a:r>
              <a:rPr lang="zh-CN" altLang="en-US" dirty="0"/>
              <a:t>如下。</a:t>
            </a:r>
            <a:endParaRPr lang="en-US" altLang="zh-CN" i="1" dirty="0"/>
          </a:p>
          <a:p>
            <a:pPr marL="0" indent="360045">
              <a:buNone/>
            </a:pPr>
            <a:endParaRPr lang="en-US" altLang="zh-CN" i="1" dirty="0"/>
          </a:p>
          <a:p>
            <a:endParaRPr lang="zh-CN" altLang="en-US" dirty="0"/>
          </a:p>
        </p:txBody>
      </p:sp>
      <p:sp>
        <p:nvSpPr>
          <p:cNvPr id="3" name="标题 2"/>
          <p:cNvSpPr>
            <a:spLocks noGrp="1"/>
          </p:cNvSpPr>
          <p:nvPr>
            <p:ph type="title"/>
          </p:nvPr>
        </p:nvSpPr>
        <p:spPr/>
        <p:txBody>
          <a:bodyPr/>
          <a:lstStyle/>
          <a:p>
            <a:r>
              <a:rPr lang="zh-CN" altLang="en-US" dirty="0"/>
              <a:t>离散化连续型数据</a:t>
            </a:r>
          </a:p>
        </p:txBody>
      </p:sp>
      <p:sp>
        <p:nvSpPr>
          <p:cNvPr id="7" name="内容占位符 6"/>
          <p:cNvSpPr>
            <a:spLocks noGrp="1"/>
          </p:cNvSpPr>
          <p:nvPr>
            <p:ph idx="10"/>
          </p:nvPr>
        </p:nvSpPr>
        <p:spPr/>
        <p:txBody>
          <a:bodyPr/>
          <a:lstStyle/>
          <a:p>
            <a:r>
              <a:rPr lang="en-US" altLang="zh-CN" b="1" dirty="0"/>
              <a:t>1. </a:t>
            </a:r>
            <a:r>
              <a:rPr lang="zh-CN" altLang="en-US" b="1" dirty="0"/>
              <a:t>等宽法</a:t>
            </a:r>
          </a:p>
        </p:txBody>
      </p:sp>
      <p:sp>
        <p:nvSpPr>
          <p:cNvPr id="9"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3133818" y="28142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10" name="Rectangle 3"/>
          <p:cNvSpPr>
            <a:spLocks noChangeArrowheads="1"/>
          </p:cNvSpPr>
          <p:nvPr/>
        </p:nvSpPr>
        <p:spPr bwMode="auto">
          <a:xfrm>
            <a:off x="7412056" y="169563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TextBox 5">
            <a:extLst>
              <a:ext uri="{FF2B5EF4-FFF2-40B4-BE49-F238E27FC236}">
                <a16:creationId xmlns:a16="http://schemas.microsoft.com/office/drawing/2014/main" id="{FCB5BEF2-0059-4B56-A7E3-3E518F1CB670}"/>
              </a:ext>
            </a:extLst>
          </p:cNvPr>
          <p:cNvSpPr txBox="1">
            <a:spLocks noChangeArrowheads="1"/>
          </p:cNvSpPr>
          <p:nvPr/>
        </p:nvSpPr>
        <p:spPr bwMode="auto">
          <a:xfrm>
            <a:off x="1483272" y="3166879"/>
            <a:ext cx="922545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8775">
              <a:spcBef>
                <a:spcPct val="20000"/>
              </a:spcBef>
              <a:buClr>
                <a:srgbClr val="000066"/>
              </a:buClr>
              <a:buFont typeface="Wingdings" panose="05000000000000000000" pitchFamily="2" charset="2"/>
              <a:buChar char="n"/>
              <a:defRPr kumimoji="1" sz="21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9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5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9pPr>
          </a:lstStyle>
          <a:p>
            <a:pPr>
              <a:spcBef>
                <a:spcPct val="0"/>
              </a:spcBef>
              <a:buClrTx/>
              <a:buNone/>
            </a:pPr>
            <a:r>
              <a:rPr kumimoji="0" lang="en-US" altLang="zh-CN" sz="2200" i="1" dirty="0" err="1">
                <a:latin typeface="Times New Roman" panose="02020603050405020304" pitchFamily="18" charset="0"/>
                <a:cs typeface="Times New Roman" panose="02020603050405020304" pitchFamily="18" charset="0"/>
              </a:rPr>
              <a:t>pandas.cut</a:t>
            </a:r>
            <a:r>
              <a:rPr kumimoji="0" lang="en-US" altLang="zh-CN" sz="2200" i="1" dirty="0">
                <a:latin typeface="Times New Roman" panose="02020603050405020304" pitchFamily="18" charset="0"/>
                <a:cs typeface="Times New Roman" panose="02020603050405020304" pitchFamily="18" charset="0"/>
              </a:rPr>
              <a:t>(x, bins, right=True, labels=None, </a:t>
            </a:r>
            <a:r>
              <a:rPr kumimoji="0" lang="en-US" altLang="zh-CN" sz="2200" i="1" dirty="0" err="1">
                <a:latin typeface="Times New Roman" panose="02020603050405020304" pitchFamily="18" charset="0"/>
                <a:cs typeface="Times New Roman" panose="02020603050405020304" pitchFamily="18" charset="0"/>
              </a:rPr>
              <a:t>retbins</a:t>
            </a:r>
            <a:r>
              <a:rPr kumimoji="0" lang="en-US" altLang="zh-CN" sz="2200" i="1" dirty="0">
                <a:latin typeface="Times New Roman" panose="02020603050405020304" pitchFamily="18" charset="0"/>
                <a:cs typeface="Times New Roman" panose="02020603050405020304" pitchFamily="18" charset="0"/>
              </a:rPr>
              <a:t>=False, precision=3, </a:t>
            </a:r>
            <a:r>
              <a:rPr kumimoji="0" lang="en-US" altLang="zh-CN" sz="2200" i="1" dirty="0" err="1">
                <a:latin typeface="Times New Roman" panose="02020603050405020304" pitchFamily="18" charset="0"/>
                <a:cs typeface="Times New Roman" panose="02020603050405020304" pitchFamily="18" charset="0"/>
              </a:rPr>
              <a:t>include_lowest</a:t>
            </a:r>
            <a:r>
              <a:rPr kumimoji="0" lang="en-US" altLang="zh-CN" sz="2200" i="1" dirty="0">
                <a:latin typeface="Times New Roman" panose="02020603050405020304" pitchFamily="18" charset="0"/>
                <a:cs typeface="Times New Roman" panose="02020603050405020304" pitchFamily="18" charset="0"/>
              </a:rPr>
              <a:t>=False, duplicates='raise', ordered=True)</a:t>
            </a:r>
          </a:p>
        </p:txBody>
      </p:sp>
      <p:graphicFrame>
        <p:nvGraphicFramePr>
          <p:cNvPr id="17" name="表格 16">
            <a:extLst>
              <a:ext uri="{FF2B5EF4-FFF2-40B4-BE49-F238E27FC236}">
                <a16:creationId xmlns:a16="http://schemas.microsoft.com/office/drawing/2014/main" id="{E70E1FCF-E241-4AC3-B837-F8AE53A15B02}"/>
              </a:ext>
            </a:extLst>
          </p:cNvPr>
          <p:cNvGraphicFramePr>
            <a:graphicFrameLocks noGrp="1"/>
          </p:cNvGraphicFramePr>
          <p:nvPr>
            <p:extLst>
              <p:ext uri="{D42A27DB-BD31-4B8C-83A1-F6EECF244321}">
                <p14:modId xmlns:p14="http://schemas.microsoft.com/office/powerpoint/2010/main" val="2194744144"/>
              </p:ext>
            </p:extLst>
          </p:nvPr>
        </p:nvGraphicFramePr>
        <p:xfrm>
          <a:off x="1239022" y="4592296"/>
          <a:ext cx="9901452" cy="1321200"/>
        </p:xfrm>
        <a:graphic>
          <a:graphicData uri="http://schemas.openxmlformats.org/drawingml/2006/table">
            <a:tbl>
              <a:tblPr firstRow="1" firstCol="1" bandRow="1">
                <a:tableStyleId>{5C22544A-7EE6-4342-B048-85BDC9FD1C3A}</a:tableStyleId>
              </a:tblPr>
              <a:tblGrid>
                <a:gridCol w="1193427">
                  <a:extLst>
                    <a:ext uri="{9D8B030D-6E8A-4147-A177-3AD203B41FA5}">
                      <a16:colId xmlns:a16="http://schemas.microsoft.com/office/drawing/2014/main" val="495355063"/>
                    </a:ext>
                  </a:extLst>
                </a:gridCol>
                <a:gridCol w="8708025">
                  <a:extLst>
                    <a:ext uri="{9D8B030D-6E8A-4147-A177-3AD203B41FA5}">
                      <a16:colId xmlns:a16="http://schemas.microsoft.com/office/drawing/2014/main" val="2533037411"/>
                    </a:ext>
                  </a:extLst>
                </a:gridCol>
              </a:tblGrid>
              <a:tr h="432000">
                <a:tc>
                  <a:txBody>
                    <a:bodyPr/>
                    <a:lstStyle/>
                    <a:p>
                      <a:pPr algn="ctr"/>
                      <a:r>
                        <a:rPr lang="zh-CN" sz="1500" b="1" kern="100" dirty="0">
                          <a:effectLst/>
                          <a:latin typeface="Times New Roman" panose="02020603050405020304" pitchFamily="18" charset="0"/>
                          <a:ea typeface="宋体" panose="02010600030101010101" pitchFamily="2" charset="-122"/>
                          <a:cs typeface="Times New Roman" panose="02020603050405020304" pitchFamily="18" charset="0"/>
                        </a:rPr>
                        <a:t>参数名称</a:t>
                      </a:r>
                    </a:p>
                  </a:txBody>
                  <a:tcPr marL="68580" marR="68580" marT="0" marB="0" anchor="ctr"/>
                </a:tc>
                <a:tc>
                  <a:txBody>
                    <a:bodyPr/>
                    <a:lstStyle/>
                    <a:p>
                      <a:pPr algn="ctr"/>
                      <a:r>
                        <a:rPr lang="zh-CN" sz="1500" b="1" kern="100" dirty="0">
                          <a:effectLst/>
                          <a:latin typeface="Times New Roman" panose="02020603050405020304" pitchFamily="18" charset="0"/>
                          <a:ea typeface="宋体" panose="02010600030101010101" pitchFamily="2" charset="-122"/>
                          <a:cs typeface="Times New Roman" panose="02020603050405020304" pitchFamily="18" charset="0"/>
                        </a:rPr>
                        <a:t>参数说明</a:t>
                      </a:r>
                    </a:p>
                  </a:txBody>
                  <a:tcPr marL="68580" marR="68580" marT="0" marB="0" anchor="ctr"/>
                </a:tc>
                <a:extLst>
                  <a:ext uri="{0D108BD9-81ED-4DB2-BD59-A6C34878D82A}">
                    <a16:rowId xmlns:a16="http://schemas.microsoft.com/office/drawing/2014/main" val="2170067233"/>
                  </a:ext>
                </a:extLst>
              </a:tr>
              <a:tr h="432000">
                <a:tc>
                  <a:txBody>
                    <a:bodyPr/>
                    <a:lstStyle/>
                    <a:p>
                      <a:pPr algn="ct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x</a:t>
                      </a:r>
                      <a:endParaRPr lang="zh-CN" sz="15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array</a:t>
                      </a:r>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Series</a:t>
                      </a:r>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。表示需要进行离散化处理的数据。无默认值</a:t>
                      </a:r>
                    </a:p>
                  </a:txBody>
                  <a:tcPr marL="68580" marR="68580" marT="0" marB="0" anchor="ctr"/>
                </a:tc>
                <a:extLst>
                  <a:ext uri="{0D108BD9-81ED-4DB2-BD59-A6C34878D82A}">
                    <a16:rowId xmlns:a16="http://schemas.microsoft.com/office/drawing/2014/main" val="3607505502"/>
                  </a:ext>
                </a:extLst>
              </a:tr>
              <a:tr h="432000">
                <a:tc>
                  <a:txBody>
                    <a:bodyPr/>
                    <a:lstStyle/>
                    <a:p>
                      <a:pPr algn="ct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bins</a:t>
                      </a:r>
                      <a:endParaRPr lang="zh-CN" sz="15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int</a:t>
                      </a:r>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list</a:t>
                      </a:r>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array</a:t>
                      </a:r>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tuple</a:t>
                      </a:r>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sz="15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若参数值为</a:t>
                      </a:r>
                      <a:r>
                        <a:rPr lang="en-US" sz="15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int</a:t>
                      </a:r>
                      <a:r>
                        <a:rPr lang="zh-CN" sz="15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，则表示离散化后的类别数目</a:t>
                      </a:r>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；若参数值为序列类型的数据，则表示进行切分的区间，每两个数的间隔为一个区间。无默认值</a:t>
                      </a:r>
                    </a:p>
                  </a:txBody>
                  <a:tcPr marL="68580" marR="68580" marT="0" marB="0" anchor="ctr"/>
                </a:tc>
                <a:extLst>
                  <a:ext uri="{0D108BD9-81ED-4DB2-BD59-A6C34878D82A}">
                    <a16:rowId xmlns:a16="http://schemas.microsoft.com/office/drawing/2014/main" val="2651499902"/>
                  </a:ext>
                </a:extLst>
              </a:tr>
            </a:tbl>
          </a:graphicData>
        </a:graphic>
      </p:graphicFrame>
    </p:spTree>
    <p:extLst>
      <p:ext uri="{BB962C8B-B14F-4D97-AF65-F5344CB8AC3E}">
        <p14:creationId xmlns:p14="http://schemas.microsoft.com/office/powerpoint/2010/main" val="1883625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000"/>
                                        <p:tgtEl>
                                          <p:spTgt spid="13"/>
                                        </p:tgtEl>
                                      </p:cBhvr>
                                    </p:animEffect>
                                    <p:anim calcmode="lin" valueType="num">
                                      <p:cBhvr>
                                        <p:cTn id="29" dur="1000" fill="hold"/>
                                        <p:tgtEl>
                                          <p:spTgt spid="13"/>
                                        </p:tgtEl>
                                        <p:attrNameLst>
                                          <p:attrName>ppt_x</p:attrName>
                                        </p:attrNameLst>
                                      </p:cBhvr>
                                      <p:tavLst>
                                        <p:tav tm="0">
                                          <p:val>
                                            <p:strVal val="#ppt_x"/>
                                          </p:val>
                                        </p:tav>
                                        <p:tav tm="100000">
                                          <p:val>
                                            <p:strVal val="#ppt_x"/>
                                          </p:val>
                                        </p:tav>
                                      </p:tavLst>
                                    </p:anim>
                                    <p:anim calcmode="lin" valueType="num">
                                      <p:cBhvr>
                                        <p:cTn id="3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1000"/>
                                        <p:tgtEl>
                                          <p:spTgt spid="17"/>
                                        </p:tgtEl>
                                      </p:cBhvr>
                                    </p:animEffect>
                                    <p:anim calcmode="lin" valueType="num">
                                      <p:cBhvr>
                                        <p:cTn id="43" dur="1000" fill="hold"/>
                                        <p:tgtEl>
                                          <p:spTgt spid="17"/>
                                        </p:tgtEl>
                                        <p:attrNameLst>
                                          <p:attrName>ppt_x</p:attrName>
                                        </p:attrNameLst>
                                      </p:cBhvr>
                                      <p:tavLst>
                                        <p:tav tm="0">
                                          <p:val>
                                            <p:strVal val="#ppt_x"/>
                                          </p:val>
                                        </p:tav>
                                        <p:tav tm="100000">
                                          <p:val>
                                            <p:strVal val="#ppt_x"/>
                                          </p:val>
                                        </p:tav>
                                      </p:tavLst>
                                    </p:anim>
                                    <p:anim calcmode="lin" valueType="num">
                                      <p:cBhvr>
                                        <p:cTn id="4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7" grpId="0" build="p"/>
      <p:bldP spid="1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cut</a:t>
            </a:r>
            <a:r>
              <a:rPr lang="zh-CN" altLang="zh-CN" dirty="0"/>
              <a:t>函数的常用参数及其说明</a:t>
            </a:r>
            <a:r>
              <a:rPr lang="zh-CN" altLang="en-US" dirty="0"/>
              <a:t>（续表）。</a:t>
            </a:r>
            <a:endParaRPr lang="en-US" altLang="zh-CN" dirty="0"/>
          </a:p>
          <a:p>
            <a:endParaRPr lang="en-US" altLang="zh-CN" i="1" dirty="0"/>
          </a:p>
          <a:p>
            <a:endParaRPr lang="en-US" altLang="zh-CN" i="1" dirty="0"/>
          </a:p>
          <a:p>
            <a:endParaRPr lang="en-US" altLang="zh-CN" i="1" dirty="0"/>
          </a:p>
          <a:p>
            <a:endParaRPr lang="en-US" altLang="zh-CN" i="1" dirty="0"/>
          </a:p>
          <a:p>
            <a:endParaRPr lang="en-US" altLang="zh-CN" i="1" dirty="0"/>
          </a:p>
          <a:p>
            <a:pPr marL="0" indent="360045">
              <a:buNone/>
            </a:pPr>
            <a:endParaRPr lang="en-US" altLang="zh-CN" i="1" dirty="0"/>
          </a:p>
          <a:p>
            <a:pPr marL="0" indent="360045">
              <a:buNone/>
            </a:pPr>
            <a:endParaRPr lang="en-US" altLang="zh-CN" i="1" dirty="0"/>
          </a:p>
          <a:p>
            <a:r>
              <a:rPr lang="zh-CN" altLang="en-US" dirty="0"/>
              <a:t>使用等宽法离散化的缺陷：</a:t>
            </a:r>
            <a:r>
              <a:rPr lang="zh-CN" altLang="en-US" dirty="0">
                <a:solidFill>
                  <a:srgbClr val="FF0000"/>
                </a:solidFill>
              </a:rPr>
              <a:t>等宽法离散化对数据分布具有较高要求，如果数据分布不均匀，那么各个类的数目也会变得非常不均匀，有些区间包含许多数据，而另外一些区间的数据极少，这会严重损坏所建立的模型。</a:t>
            </a:r>
            <a:endParaRPr lang="en-US" altLang="zh-CN" dirty="0">
              <a:solidFill>
                <a:srgbClr val="FF0000"/>
              </a:solidFill>
            </a:endParaRPr>
          </a:p>
          <a:p>
            <a:pPr marL="0" indent="360045">
              <a:buNone/>
            </a:pPr>
            <a:endParaRPr lang="en-US" altLang="zh-CN" i="1" dirty="0"/>
          </a:p>
          <a:p>
            <a:endParaRPr lang="zh-CN" altLang="en-US" dirty="0"/>
          </a:p>
        </p:txBody>
      </p:sp>
      <p:sp>
        <p:nvSpPr>
          <p:cNvPr id="3" name="标题 2"/>
          <p:cNvSpPr>
            <a:spLocks noGrp="1"/>
          </p:cNvSpPr>
          <p:nvPr>
            <p:ph type="title"/>
          </p:nvPr>
        </p:nvSpPr>
        <p:spPr/>
        <p:txBody>
          <a:bodyPr/>
          <a:lstStyle/>
          <a:p>
            <a:r>
              <a:rPr lang="zh-CN" altLang="en-US" dirty="0"/>
              <a:t>离散化连续型数据</a:t>
            </a:r>
          </a:p>
        </p:txBody>
      </p:sp>
      <p:sp>
        <p:nvSpPr>
          <p:cNvPr id="9"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3133818" y="28142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10" name="Rectangle 3"/>
          <p:cNvSpPr>
            <a:spLocks noChangeArrowheads="1"/>
          </p:cNvSpPr>
          <p:nvPr/>
        </p:nvSpPr>
        <p:spPr bwMode="auto">
          <a:xfrm>
            <a:off x="7412056" y="169563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5" name="表格 15"/>
          <p:cNvGraphicFramePr>
            <a:graphicFrameLocks noGrp="1"/>
          </p:cNvGraphicFramePr>
          <p:nvPr/>
        </p:nvGraphicFramePr>
        <p:xfrm>
          <a:off x="1222268" y="1864314"/>
          <a:ext cx="9901452" cy="2592000"/>
        </p:xfrm>
        <a:graphic>
          <a:graphicData uri="http://schemas.openxmlformats.org/drawingml/2006/table">
            <a:tbl>
              <a:tblPr firstRow="1" firstCol="1" bandRow="1">
                <a:tableStyleId>{5C22544A-7EE6-4342-B048-85BDC9FD1C3A}</a:tableStyleId>
              </a:tblPr>
              <a:tblGrid>
                <a:gridCol w="1193427">
                  <a:extLst>
                    <a:ext uri="{9D8B030D-6E8A-4147-A177-3AD203B41FA5}">
                      <a16:colId xmlns:a16="http://schemas.microsoft.com/office/drawing/2014/main" val="20000"/>
                    </a:ext>
                  </a:extLst>
                </a:gridCol>
                <a:gridCol w="8708025">
                  <a:extLst>
                    <a:ext uri="{9D8B030D-6E8A-4147-A177-3AD203B41FA5}">
                      <a16:colId xmlns:a16="http://schemas.microsoft.com/office/drawing/2014/main" val="20001"/>
                    </a:ext>
                  </a:extLst>
                </a:gridCol>
              </a:tblGrid>
              <a:tr h="432000">
                <a:tc>
                  <a:txBody>
                    <a:bodyPr/>
                    <a:lstStyle/>
                    <a:p>
                      <a:pPr algn="ctr"/>
                      <a:r>
                        <a:rPr lang="zh-CN" sz="1500" b="1" kern="100" dirty="0">
                          <a:effectLst/>
                          <a:latin typeface="Times New Roman" panose="02020603050405020304" pitchFamily="18" charset="0"/>
                          <a:ea typeface="宋体" panose="02010600030101010101" pitchFamily="2" charset="-122"/>
                          <a:cs typeface="Times New Roman" panose="02020603050405020304" pitchFamily="18" charset="0"/>
                        </a:rPr>
                        <a:t>参数名称</a:t>
                      </a:r>
                    </a:p>
                  </a:txBody>
                  <a:tcPr marL="68580" marR="68580" marT="0" marB="0" anchor="ctr"/>
                </a:tc>
                <a:tc>
                  <a:txBody>
                    <a:bodyPr/>
                    <a:lstStyle/>
                    <a:p>
                      <a:pPr algn="ctr"/>
                      <a:r>
                        <a:rPr lang="zh-CN" sz="1500" b="1" kern="100" dirty="0">
                          <a:effectLst/>
                          <a:latin typeface="Times New Roman" panose="02020603050405020304" pitchFamily="18" charset="0"/>
                          <a:ea typeface="宋体" panose="02010600030101010101" pitchFamily="2" charset="-122"/>
                          <a:cs typeface="Times New Roman" panose="02020603050405020304" pitchFamily="18" charset="0"/>
                        </a:rPr>
                        <a:t>参数说明</a:t>
                      </a:r>
                    </a:p>
                  </a:txBody>
                  <a:tcPr marL="68580" marR="68580" marT="0" marB="0" anchor="ctr"/>
                </a:tc>
                <a:extLst>
                  <a:ext uri="{0D108BD9-81ED-4DB2-BD59-A6C34878D82A}">
                    <a16:rowId xmlns:a16="http://schemas.microsoft.com/office/drawing/2014/main" val="10000"/>
                  </a:ext>
                </a:extLst>
              </a:tr>
              <a:tr h="432000">
                <a:tc>
                  <a:txBody>
                    <a:bodyPr/>
                    <a:lstStyle/>
                    <a:p>
                      <a:pPr algn="ct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right</a:t>
                      </a:r>
                      <a:endParaRPr lang="zh-CN" sz="15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bool</a:t>
                      </a:r>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。表示右侧是否为闭区间。默认为</a:t>
                      </a: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True</a:t>
                      </a:r>
                      <a:endParaRPr lang="zh-CN" sz="15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432000">
                <a:tc>
                  <a:txBody>
                    <a:bodyPr/>
                    <a:lstStyle/>
                    <a:p>
                      <a:pPr algn="ctr"/>
                      <a:r>
                        <a:rPr lang="en-US" sz="1500" kern="100">
                          <a:effectLst/>
                          <a:latin typeface="Times New Roman" panose="02020603050405020304" pitchFamily="18" charset="0"/>
                          <a:ea typeface="宋体" panose="02010600030101010101" pitchFamily="2" charset="-122"/>
                          <a:cs typeface="Times New Roman" panose="02020603050405020304" pitchFamily="18" charset="0"/>
                        </a:rPr>
                        <a:t>labels</a:t>
                      </a:r>
                      <a:endParaRPr lang="zh-CN" sz="15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list</a:t>
                      </a:r>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array</a:t>
                      </a:r>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。表示离散化后各个类别的名称。默认为</a:t>
                      </a: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None</a:t>
                      </a:r>
                      <a:endParaRPr lang="zh-CN" sz="15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432000">
                <a:tc>
                  <a:txBody>
                    <a:bodyPr/>
                    <a:lstStyle/>
                    <a:p>
                      <a:pPr algn="ctr"/>
                      <a:r>
                        <a:rPr lang="en-US" sz="1500" kern="100">
                          <a:effectLst/>
                          <a:latin typeface="Times New Roman" panose="02020603050405020304" pitchFamily="18" charset="0"/>
                          <a:ea typeface="宋体" panose="02010600030101010101" pitchFamily="2" charset="-122"/>
                          <a:cs typeface="Times New Roman" panose="02020603050405020304" pitchFamily="18" charset="0"/>
                        </a:rPr>
                        <a:t>retbins</a:t>
                      </a:r>
                      <a:endParaRPr lang="zh-CN" sz="15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bool</a:t>
                      </a:r>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。表示是否返回区间标签。默认为</a:t>
                      </a: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sz="15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432000">
                <a:tc>
                  <a:txBody>
                    <a:bodyPr/>
                    <a:lstStyle/>
                    <a:p>
                      <a:pPr algn="ct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precision</a:t>
                      </a:r>
                      <a:endParaRPr lang="zh-CN" sz="15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int</a:t>
                      </a:r>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。表示显示标签的精度。默认为</a:t>
                      </a: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3</a:t>
                      </a:r>
                      <a:endParaRPr lang="zh-CN" sz="15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r h="432000">
                <a:tc>
                  <a:txBody>
                    <a:bodyPr/>
                    <a:lstStyle/>
                    <a:p>
                      <a:pPr algn="ct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duplicates</a:t>
                      </a:r>
                      <a:endParaRPr lang="zh-CN" sz="15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接收指定</a:t>
                      </a: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str</a:t>
                      </a:r>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。表示是否允许重复区间，可选</a:t>
                      </a: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raise</a:t>
                      </a:r>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drop</a:t>
                      </a:r>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raise</a:t>
                      </a:r>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表示不允许，</a:t>
                      </a: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drop</a:t>
                      </a:r>
                      <a:r>
                        <a:rPr lang="zh-CN" sz="1500" kern="100" dirty="0">
                          <a:effectLst/>
                          <a:latin typeface="Times New Roman" panose="02020603050405020304" pitchFamily="18" charset="0"/>
                          <a:ea typeface="宋体" panose="02010600030101010101" pitchFamily="2" charset="-122"/>
                          <a:cs typeface="Times New Roman" panose="02020603050405020304" pitchFamily="18" charset="0"/>
                        </a:rPr>
                        <a:t>表示允许。默认为</a:t>
                      </a:r>
                      <a:r>
                        <a:rPr lang="en-US" sz="1500" kern="100" dirty="0">
                          <a:effectLst/>
                          <a:latin typeface="Times New Roman" panose="02020603050405020304" pitchFamily="18" charset="0"/>
                          <a:ea typeface="宋体" panose="02010600030101010101" pitchFamily="2" charset="-122"/>
                          <a:cs typeface="Times New Roman" panose="02020603050405020304" pitchFamily="18" charset="0"/>
                        </a:rPr>
                        <a:t>raise</a:t>
                      </a:r>
                      <a:endParaRPr lang="zh-CN" sz="15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809996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8" end="8"/>
                                            </p:txEl>
                                          </p:spTgt>
                                        </p:tgtEl>
                                        <p:attrNameLst>
                                          <p:attrName>style.visibility</p:attrName>
                                        </p:attrNameLst>
                                      </p:cBhvr>
                                      <p:to>
                                        <p:strVal val="visible"/>
                                      </p:to>
                                    </p:set>
                                    <p:animEffect transition="in" filter="fade">
                                      <p:cBhvr>
                                        <p:cTn id="21" dur="1000"/>
                                        <p:tgtEl>
                                          <p:spTgt spid="2">
                                            <p:txEl>
                                              <p:pRg st="8" end="8"/>
                                            </p:txEl>
                                          </p:spTgt>
                                        </p:tgtEl>
                                      </p:cBhvr>
                                    </p:animEffect>
                                    <p:anim calcmode="lin" valueType="num">
                                      <p:cBhvr>
                                        <p:cTn id="22"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cut</a:t>
            </a:r>
            <a:r>
              <a:rPr lang="zh-CN" altLang="en-US" dirty="0"/>
              <a:t>函数虽然不能够直接实现等频离散化，但是可以通过定义将相同数量的记录放进每个区间。</a:t>
            </a:r>
            <a:endParaRPr lang="en-US" altLang="zh-CN" dirty="0"/>
          </a:p>
          <a:p>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相较于等宽法离散化，避免了类分布不均匀的问题，但是，也有可能将数值非常接近的两个值分到不同的区间以满足每个区间对数据个数的要求。</a:t>
            </a:r>
          </a:p>
        </p:txBody>
      </p:sp>
      <p:sp>
        <p:nvSpPr>
          <p:cNvPr id="3" name="标题 2"/>
          <p:cNvSpPr>
            <a:spLocks noGrp="1"/>
          </p:cNvSpPr>
          <p:nvPr>
            <p:ph type="title"/>
          </p:nvPr>
        </p:nvSpPr>
        <p:spPr/>
        <p:txBody>
          <a:bodyPr/>
          <a:lstStyle/>
          <a:p>
            <a:r>
              <a:rPr lang="zh-CN" altLang="en-US" dirty="0"/>
              <a:t>离散化连续型数据</a:t>
            </a:r>
          </a:p>
        </p:txBody>
      </p:sp>
      <p:sp>
        <p:nvSpPr>
          <p:cNvPr id="7" name="内容占位符 6"/>
          <p:cNvSpPr>
            <a:spLocks noGrp="1"/>
          </p:cNvSpPr>
          <p:nvPr>
            <p:ph idx="10"/>
          </p:nvPr>
        </p:nvSpPr>
        <p:spPr/>
        <p:txBody>
          <a:bodyPr/>
          <a:lstStyle/>
          <a:p>
            <a:r>
              <a:rPr lang="en-US" altLang="zh-CN" b="1" dirty="0"/>
              <a:t>2.</a:t>
            </a:r>
            <a:r>
              <a:rPr lang="zh-CN" altLang="en-US" b="1" dirty="0"/>
              <a:t> 等频法</a:t>
            </a:r>
          </a:p>
        </p:txBody>
      </p:sp>
      <p:sp>
        <p:nvSpPr>
          <p:cNvPr id="9"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3133818" y="28142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10" name="Rectangle 3"/>
          <p:cNvSpPr>
            <a:spLocks noChangeArrowheads="1"/>
          </p:cNvSpPr>
          <p:nvPr/>
        </p:nvSpPr>
        <p:spPr bwMode="auto">
          <a:xfrm>
            <a:off x="7412056" y="169563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extLst>
      <p:ext uri="{BB962C8B-B14F-4D97-AF65-F5344CB8AC3E}">
        <p14:creationId xmlns:p14="http://schemas.microsoft.com/office/powerpoint/2010/main" val="1499504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离散化连续型数据</a:t>
            </a:r>
          </a:p>
        </p:txBody>
      </p:sp>
      <p:sp>
        <p:nvSpPr>
          <p:cNvPr id="9"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3133818" y="28142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10" name="Rectangle 3"/>
          <p:cNvSpPr>
            <a:spLocks noChangeArrowheads="1"/>
          </p:cNvSpPr>
          <p:nvPr/>
        </p:nvSpPr>
        <p:spPr bwMode="auto">
          <a:xfrm>
            <a:off x="7412056" y="169563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矩形 13"/>
          <p:cNvSpPr/>
          <p:nvPr/>
        </p:nvSpPr>
        <p:spPr>
          <a:xfrm>
            <a:off x="620683" y="1324508"/>
            <a:ext cx="7105064" cy="3139321"/>
          </a:xfrm>
          <a:prstGeom prst="rect">
            <a:avLst/>
          </a:prstGeom>
        </p:spPr>
        <p:txBody>
          <a:bodyPr wrap="square">
            <a:spAutoFit/>
          </a:bodyPr>
          <a:lstStyle/>
          <a:p>
            <a:r>
              <a:rPr lang="en-US" altLang="zh-CN" dirty="0"/>
              <a:t>import </a:t>
            </a:r>
            <a:r>
              <a:rPr lang="en-US" altLang="zh-CN" dirty="0" err="1"/>
              <a:t>numpy</a:t>
            </a:r>
            <a:r>
              <a:rPr lang="en-US" altLang="zh-CN" dirty="0"/>
              <a:t> as np</a:t>
            </a:r>
          </a:p>
          <a:p>
            <a:r>
              <a:rPr lang="en-US" altLang="zh-CN" dirty="0"/>
              <a:t># </a:t>
            </a:r>
            <a:r>
              <a:rPr lang="zh-CN" altLang="en-US" dirty="0"/>
              <a:t>自定义等频法离散化函数</a:t>
            </a:r>
          </a:p>
          <a:p>
            <a:r>
              <a:rPr lang="en-US" altLang="zh-CN" dirty="0" err="1"/>
              <a:t>def</a:t>
            </a:r>
            <a:r>
              <a:rPr lang="en-US" altLang="zh-CN" dirty="0"/>
              <a:t> </a:t>
            </a:r>
            <a:r>
              <a:rPr lang="en-US" altLang="zh-CN" dirty="0" err="1"/>
              <a:t>same_rate_cut</a:t>
            </a:r>
            <a:r>
              <a:rPr lang="en-US" altLang="zh-CN" dirty="0"/>
              <a:t>(data, k):</a:t>
            </a:r>
          </a:p>
          <a:p>
            <a:r>
              <a:rPr lang="en-US" altLang="zh-CN" dirty="0"/>
              <a:t>    w = </a:t>
            </a:r>
            <a:r>
              <a:rPr lang="en-US" altLang="zh-CN" dirty="0" err="1"/>
              <a:t>data.quantile</a:t>
            </a:r>
            <a:r>
              <a:rPr lang="en-US" altLang="zh-CN" dirty="0"/>
              <a:t>(</a:t>
            </a:r>
            <a:r>
              <a:rPr lang="en-US" altLang="zh-CN" dirty="0" err="1"/>
              <a:t>np.arange</a:t>
            </a:r>
            <a:r>
              <a:rPr lang="en-US" altLang="zh-CN" dirty="0"/>
              <a:t>(0, 1 + 1.0 / k, 1.0 / k))</a:t>
            </a:r>
          </a:p>
          <a:p>
            <a:r>
              <a:rPr lang="en-US" altLang="zh-CN" dirty="0"/>
              <a:t>    print("</a:t>
            </a:r>
            <a:r>
              <a:rPr lang="zh-CN" altLang="en-US" dirty="0"/>
              <a:t>打印</a:t>
            </a:r>
            <a:r>
              <a:rPr lang="en-US" altLang="zh-CN" dirty="0"/>
              <a:t>w\n")</a:t>
            </a:r>
          </a:p>
          <a:p>
            <a:r>
              <a:rPr lang="en-US" altLang="zh-CN" dirty="0"/>
              <a:t>    print(w)</a:t>
            </a:r>
          </a:p>
          <a:p>
            <a:r>
              <a:rPr lang="en-US" altLang="zh-CN" dirty="0"/>
              <a:t>    data = </a:t>
            </a:r>
            <a:r>
              <a:rPr lang="en-US" altLang="zh-CN" dirty="0" err="1"/>
              <a:t>pd.cut</a:t>
            </a:r>
            <a:r>
              <a:rPr lang="en-US" altLang="zh-CN" dirty="0"/>
              <a:t>(data, w)</a:t>
            </a:r>
          </a:p>
          <a:p>
            <a:r>
              <a:rPr lang="en-US" altLang="zh-CN" dirty="0"/>
              <a:t>    return data</a:t>
            </a:r>
          </a:p>
          <a:p>
            <a:r>
              <a:rPr lang="en-US" altLang="zh-CN" dirty="0"/>
              <a:t># </a:t>
            </a:r>
            <a:r>
              <a:rPr lang="zh-CN" altLang="en-US" dirty="0"/>
              <a:t>对用户年龄进行等频法离散化</a:t>
            </a:r>
          </a:p>
          <a:p>
            <a:r>
              <a:rPr lang="en-US" altLang="zh-CN" dirty="0" err="1"/>
              <a:t>age_same_rate</a:t>
            </a:r>
            <a:r>
              <a:rPr lang="en-US" altLang="zh-CN" dirty="0"/>
              <a:t> = </a:t>
            </a:r>
            <a:r>
              <a:rPr lang="en-US" altLang="zh-CN" dirty="0" err="1"/>
              <a:t>same_rate_cut</a:t>
            </a:r>
            <a:r>
              <a:rPr lang="en-US" altLang="zh-CN" dirty="0"/>
              <a:t>(</a:t>
            </a:r>
            <a:r>
              <a:rPr lang="en-US" altLang="zh-CN" dirty="0" err="1"/>
              <a:t>all_info</a:t>
            </a:r>
            <a:r>
              <a:rPr lang="en-US" altLang="zh-CN" dirty="0"/>
              <a:t>['</a:t>
            </a:r>
            <a:r>
              <a:rPr lang="zh-CN" altLang="en-US" dirty="0"/>
              <a:t>年龄</a:t>
            </a:r>
            <a:r>
              <a:rPr lang="en-US" altLang="zh-CN" dirty="0"/>
              <a:t>'], 5).</a:t>
            </a:r>
            <a:r>
              <a:rPr lang="en-US" altLang="zh-CN" dirty="0" err="1"/>
              <a:t>value_counts</a:t>
            </a:r>
            <a:r>
              <a:rPr lang="en-US" altLang="zh-CN" dirty="0"/>
              <a:t>()</a:t>
            </a:r>
          </a:p>
          <a:p>
            <a:r>
              <a:rPr lang="en-US" altLang="zh-CN" dirty="0"/>
              <a:t>print('</a:t>
            </a:r>
            <a:r>
              <a:rPr lang="zh-CN" altLang="en-US" dirty="0"/>
              <a:t>用户年龄数据等频法离散化后分布状况为：</a:t>
            </a:r>
            <a:r>
              <a:rPr lang="en-US" altLang="zh-CN" dirty="0"/>
              <a:t>', '\n', </a:t>
            </a:r>
            <a:r>
              <a:rPr lang="en-US" altLang="zh-CN" dirty="0" err="1"/>
              <a:t>age_same_rate</a:t>
            </a:r>
            <a:r>
              <a:rPr lang="en-US" altLang="zh-CN" dirty="0"/>
              <a:t>)</a:t>
            </a:r>
            <a:endParaRPr lang="zh-CN" altLang="en-US" dirty="0"/>
          </a:p>
        </p:txBody>
      </p:sp>
      <p:pic>
        <p:nvPicPr>
          <p:cNvPr id="2" name="图片 1"/>
          <p:cNvPicPr>
            <a:picLocks noChangeAspect="1"/>
          </p:cNvPicPr>
          <p:nvPr/>
        </p:nvPicPr>
        <p:blipFill>
          <a:blip r:embed="rId2"/>
          <a:stretch>
            <a:fillRect/>
          </a:stretch>
        </p:blipFill>
        <p:spPr>
          <a:xfrm>
            <a:off x="8680944" y="1324508"/>
            <a:ext cx="2723809" cy="3685714"/>
          </a:xfrm>
          <a:prstGeom prst="rect">
            <a:avLst/>
          </a:prstGeom>
        </p:spPr>
      </p:pic>
    </p:spTree>
    <p:extLst>
      <p:ext uri="{BB962C8B-B14F-4D97-AF65-F5344CB8AC3E}">
        <p14:creationId xmlns:p14="http://schemas.microsoft.com/office/powerpoint/2010/main" val="9157595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zh-CN" dirty="0"/>
              <a:t>聚类的方法包括两个步骤</a:t>
            </a:r>
            <a:r>
              <a:rPr lang="zh-CN" altLang="en-US" dirty="0"/>
              <a:t>。</a:t>
            </a:r>
            <a:endParaRPr lang="en-US" altLang="zh-CN" dirty="0"/>
          </a:p>
          <a:p>
            <a:pPr marL="720090">
              <a:buFont typeface="Arial" panose="020B0604020202020204" pitchFamily="34" charset="0"/>
              <a:buChar char="•"/>
            </a:pPr>
            <a:r>
              <a:rPr lang="zh-CN" altLang="zh-CN" dirty="0"/>
              <a:t>首先将连续型数据用聚类算法（如</a:t>
            </a:r>
            <a:r>
              <a:rPr lang="en-US" altLang="zh-CN" dirty="0"/>
              <a:t>K-Means</a:t>
            </a:r>
            <a:r>
              <a:rPr lang="zh-CN" altLang="zh-CN" dirty="0"/>
              <a:t>算法等）进行聚类，</a:t>
            </a:r>
            <a:endParaRPr lang="en-US" altLang="zh-CN" dirty="0"/>
          </a:p>
          <a:p>
            <a:pPr marL="720090">
              <a:buFont typeface="Arial" panose="020B0604020202020204" pitchFamily="34" charset="0"/>
              <a:buChar char="•"/>
            </a:pPr>
            <a:r>
              <a:rPr lang="zh-CN" altLang="en-US" dirty="0"/>
              <a:t>将同</a:t>
            </a:r>
            <a:r>
              <a:rPr lang="zh-CN" altLang="zh-CN" dirty="0"/>
              <a:t>一个簇的连续型数据做同一种标记。</a:t>
            </a:r>
            <a:endParaRPr lang="en-US" altLang="zh-CN" dirty="0"/>
          </a:p>
          <a:p>
            <a:r>
              <a:rPr lang="zh-CN" altLang="zh-CN" dirty="0"/>
              <a:t>聚类分析的离散化方法需要用户指定簇的个数。</a:t>
            </a:r>
          </a:p>
          <a:p>
            <a:r>
              <a:rPr lang="en-US" altLang="zh-CN" dirty="0"/>
              <a:t>K-Means</a:t>
            </a:r>
            <a:r>
              <a:rPr lang="zh-CN" altLang="zh-CN" dirty="0"/>
              <a:t>聚类分析的离散化方法可以很好地根据现有特征的数据分布状况进行聚类，但是由于</a:t>
            </a:r>
            <a:r>
              <a:rPr lang="en-US" altLang="zh-CN" dirty="0"/>
              <a:t>K-Means</a:t>
            </a:r>
            <a:r>
              <a:rPr lang="zh-CN" altLang="zh-CN" dirty="0"/>
              <a:t>算法本身的缺陷，</a:t>
            </a:r>
            <a:r>
              <a:rPr lang="zh-CN" altLang="zh-CN" dirty="0">
                <a:solidFill>
                  <a:srgbClr val="FF0000"/>
                </a:solidFill>
              </a:rPr>
              <a:t>用该方法进行离散化时依旧需要指定离散化后类别的数目</a:t>
            </a:r>
            <a:r>
              <a:rPr lang="zh-CN" altLang="zh-CN" dirty="0"/>
              <a:t>。此时需要配合聚类算法评价方法，找出最优的聚类簇数目。</a:t>
            </a:r>
          </a:p>
          <a:p>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标题 2"/>
          <p:cNvSpPr>
            <a:spLocks noGrp="1"/>
          </p:cNvSpPr>
          <p:nvPr>
            <p:ph type="title"/>
          </p:nvPr>
        </p:nvSpPr>
        <p:spPr/>
        <p:txBody>
          <a:bodyPr/>
          <a:lstStyle/>
          <a:p>
            <a:r>
              <a:rPr lang="zh-CN" altLang="en-US" dirty="0"/>
              <a:t>离散化连续型数据</a:t>
            </a:r>
          </a:p>
        </p:txBody>
      </p:sp>
      <p:sp>
        <p:nvSpPr>
          <p:cNvPr id="7" name="内容占位符 6"/>
          <p:cNvSpPr>
            <a:spLocks noGrp="1"/>
          </p:cNvSpPr>
          <p:nvPr>
            <p:ph idx="10"/>
          </p:nvPr>
        </p:nvSpPr>
        <p:spPr/>
        <p:txBody>
          <a:bodyPr/>
          <a:lstStyle/>
          <a:p>
            <a:r>
              <a:rPr lang="en-US" altLang="zh-CN" b="1" dirty="0"/>
              <a:t>3.</a:t>
            </a:r>
            <a:r>
              <a:rPr lang="zh-CN" altLang="en-US" b="1" dirty="0"/>
              <a:t> 聚类分析法</a:t>
            </a:r>
          </a:p>
        </p:txBody>
      </p:sp>
      <p:sp>
        <p:nvSpPr>
          <p:cNvPr id="9"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3133818" y="28142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10" name="Rectangle 3"/>
          <p:cNvSpPr>
            <a:spLocks noChangeArrowheads="1"/>
          </p:cNvSpPr>
          <p:nvPr/>
        </p:nvSpPr>
        <p:spPr bwMode="auto">
          <a:xfrm>
            <a:off x="7412056" y="169563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离散化连续型数据</a:t>
            </a:r>
          </a:p>
        </p:txBody>
      </p:sp>
      <p:sp>
        <p:nvSpPr>
          <p:cNvPr id="9" name="Rectangle 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6"/>
          <p:cNvSpPr>
            <a:spLocks noChangeArrowheads="1"/>
          </p:cNvSpPr>
          <p:nvPr/>
        </p:nvSpPr>
        <p:spPr bwMode="auto">
          <a:xfrm>
            <a:off x="3133818" y="28142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10" name="Rectangle 3"/>
          <p:cNvSpPr>
            <a:spLocks noChangeArrowheads="1"/>
          </p:cNvSpPr>
          <p:nvPr/>
        </p:nvSpPr>
        <p:spPr bwMode="auto">
          <a:xfrm>
            <a:off x="7412056" y="169563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5" name="矩形 14"/>
          <p:cNvSpPr/>
          <p:nvPr/>
        </p:nvSpPr>
        <p:spPr>
          <a:xfrm>
            <a:off x="687185" y="1033976"/>
            <a:ext cx="6096000" cy="5355312"/>
          </a:xfrm>
          <a:prstGeom prst="rect">
            <a:avLst/>
          </a:prstGeom>
        </p:spPr>
        <p:txBody>
          <a:bodyPr>
            <a:spAutoFit/>
          </a:bodyPr>
          <a:lstStyle/>
          <a:p>
            <a:r>
              <a:rPr lang="zh-CN" altLang="en-US" dirty="0"/>
              <a:t># 自定义数据K-Means聚类离散化函数</a:t>
            </a:r>
          </a:p>
          <a:p>
            <a:r>
              <a:rPr lang="zh-CN" altLang="en-US" dirty="0"/>
              <a:t>from sklearn.cluster import KMeans  # 引入K-Means, 如果没有skleanr的库则需要提前安装，命令是pip install -U scikit-learn</a:t>
            </a:r>
          </a:p>
          <a:p>
            <a:r>
              <a:rPr lang="zh-CN" altLang="en-US" dirty="0"/>
              <a:t>def kmean_cut(data, k):</a:t>
            </a:r>
          </a:p>
          <a:p>
            <a:r>
              <a:rPr lang="zh-CN" altLang="en-US" dirty="0"/>
              <a:t>    # 建立模型</a:t>
            </a:r>
          </a:p>
          <a:p>
            <a:r>
              <a:rPr lang="zh-CN" altLang="en-US" dirty="0"/>
              <a:t>    kmodel = KMeans(n_clusters=k)</a:t>
            </a:r>
          </a:p>
          <a:p>
            <a:r>
              <a:rPr lang="zh-CN" altLang="en-US" dirty="0"/>
              <a:t>    kmodel.fit(data.values.reshape((len(data), 1)))  # 训练模型</a:t>
            </a:r>
          </a:p>
          <a:p>
            <a:r>
              <a:rPr lang="zh-CN" altLang="en-US" dirty="0"/>
              <a:t>    # 输出聚类中心并排序</a:t>
            </a:r>
          </a:p>
          <a:p>
            <a:r>
              <a:rPr lang="zh-CN" altLang="en-US" dirty="0"/>
              <a:t>    c = pd.DataFrame(kmodel.cluster_centers_).sort_values(0)</a:t>
            </a:r>
          </a:p>
          <a:p>
            <a:r>
              <a:rPr lang="zh-CN" altLang="en-US" dirty="0"/>
              <a:t>    w = c.rolling(2).mean().iloc[1:]  # 相邻两项求中点，作为边界点</a:t>
            </a:r>
          </a:p>
          <a:p>
            <a:r>
              <a:rPr lang="zh-CN" altLang="en-US" dirty="0"/>
              <a:t>    w = [0] + list(w[0]) + [data.max()]  # 把首末边界点加上</a:t>
            </a:r>
          </a:p>
          <a:p>
            <a:r>
              <a:rPr lang="zh-CN" altLang="en-US" dirty="0"/>
              <a:t>    data = pd.cut(data, w)</a:t>
            </a:r>
          </a:p>
          <a:p>
            <a:r>
              <a:rPr lang="zh-CN" altLang="en-US" dirty="0"/>
              <a:t>    return data</a:t>
            </a:r>
          </a:p>
          <a:p>
            <a:r>
              <a:rPr lang="zh-CN" altLang="en-US" dirty="0"/>
              <a:t># 用户年龄等频法离散化</a:t>
            </a:r>
          </a:p>
          <a:p>
            <a:r>
              <a:rPr lang="zh-CN" altLang="en-US" dirty="0"/>
              <a:t>all_info1=all_info.dropna(axis=0,how="any")</a:t>
            </a:r>
          </a:p>
          <a:p>
            <a:r>
              <a:rPr lang="zh-CN" altLang="en-US" dirty="0"/>
              <a:t>age_kmeans = kmean_cut(all_info1['年龄'], 5).value_counts()</a:t>
            </a:r>
          </a:p>
          <a:p>
            <a:r>
              <a:rPr lang="zh-CN" altLang="en-US" dirty="0"/>
              <a:t>print('用户年龄聚类离散化后各个类别数目分布状况为：', '\n', age_kmeans)</a:t>
            </a:r>
          </a:p>
        </p:txBody>
      </p:sp>
      <p:pic>
        <p:nvPicPr>
          <p:cNvPr id="16" name="图片 15"/>
          <p:cNvPicPr>
            <a:picLocks noChangeAspect="1"/>
          </p:cNvPicPr>
          <p:nvPr/>
        </p:nvPicPr>
        <p:blipFill>
          <a:blip r:embed="rId2"/>
          <a:stretch>
            <a:fillRect/>
          </a:stretch>
        </p:blipFill>
        <p:spPr>
          <a:xfrm>
            <a:off x="7686961" y="2207061"/>
            <a:ext cx="3085714" cy="1895238"/>
          </a:xfrm>
          <a:prstGeom prst="rect">
            <a:avLst/>
          </a:prstGeom>
        </p:spPr>
      </p:pic>
    </p:spTree>
    <p:extLst>
      <p:ext uri="{BB962C8B-B14F-4D97-AF65-F5344CB8AC3E}">
        <p14:creationId xmlns:p14="http://schemas.microsoft.com/office/powerpoint/2010/main" val="23223306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pPr marL="363600" indent="-363600">
              <a:lnSpc>
                <a:spcPct val="150000"/>
              </a:lnSpc>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数据预处理过程：数据合并、数据清洗、数据标准化和数据转换。</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63600" indent="-363600">
              <a:lnSpc>
                <a:spcPct val="150000"/>
              </a:lnSpc>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数据合并主要通过堆叠合并、主键合并和重叠合并的方法对数据进行合并。</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63600" indent="-363600">
              <a:lnSpc>
                <a:spcPct val="150000"/>
              </a:lnSpc>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数据清洗主要包括了对重复值、缺失值和异常值的处理</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63600" indent="-363600">
              <a:lnSpc>
                <a:spcPct val="150000"/>
              </a:lnSpc>
            </a:pPr>
            <a:r>
              <a:rPr lang="zh-CN" altLang="en-US" kern="100" dirty="0"/>
              <a:t>掌握</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如何将不同量纲的数据转化为具有一致性的标准化数据。</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63600" indent="-363600">
              <a:lnSpc>
                <a:spcPct val="150000"/>
              </a:lnSpc>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掌握</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如何从不同的应用角度对已有的特征数据进行转换。</a:t>
            </a:r>
            <a:endPar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标题 4"/>
          <p:cNvSpPr>
            <a:spLocks noGrp="1"/>
          </p:cNvSpPr>
          <p:nvPr>
            <p:ph type="title"/>
          </p:nvPr>
        </p:nvSpPr>
        <p:spPr/>
        <p:txBody>
          <a:bodyPr/>
          <a:lstStyle/>
          <a:p>
            <a:r>
              <a:rPr lang="zh-CN" altLang="en-US" dirty="0"/>
              <a:t>小结</a:t>
            </a:r>
          </a:p>
        </p:txBody>
      </p:sp>
      <p:pic>
        <p:nvPicPr>
          <p:cNvPr id="7" name="Picture 2"/>
          <p:cNvPicPr/>
          <p:nvPr/>
        </p:nvPicPr>
        <p:blipFill>
          <a:blip r:embed="rId2">
            <a:extLst>
              <a:ext uri="{28A0092B-C50C-407E-A947-70E740481C1C}">
                <a14:useLocalDpi xmlns:a14="http://schemas.microsoft.com/office/drawing/2010/main" val="0"/>
              </a:ext>
            </a:extLst>
          </a:blip>
          <a:srcRect/>
          <a:stretch>
            <a:fillRect/>
          </a:stretch>
        </p:blipFill>
        <p:spPr bwMode="auto">
          <a:xfrm>
            <a:off x="7958181" y="3749156"/>
            <a:ext cx="3810000" cy="25527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Effect transition="in" filter="fade">
                                      <p:cBhvr>
                                        <p:cTn id="35" dur="1000"/>
                                        <p:tgtEl>
                                          <p:spTgt spid="6">
                                            <p:txEl>
                                              <p:pRg st="4" end="4"/>
                                            </p:txEl>
                                          </p:spTgt>
                                        </p:tgtEl>
                                      </p:cBhvr>
                                    </p:animEffect>
                                    <p:anim calcmode="lin" valueType="num">
                                      <p:cBhvr>
                                        <p:cTn id="36"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Rectangle 2"/>
          <p:cNvSpPr>
            <a:spLocks noChangeArrowheads="1"/>
          </p:cNvSpPr>
          <p:nvPr/>
        </p:nvSpPr>
        <p:spPr bwMode="gray">
          <a:xfrm>
            <a:off x="1524003" y="-318796"/>
            <a:ext cx="184731" cy="238848"/>
          </a:xfrm>
          <a:prstGeom prst="rect">
            <a:avLst/>
          </a:prstGeom>
          <a:noFill/>
          <a:ln>
            <a:noFill/>
          </a:ln>
          <a:effectLst>
            <a:outerShdw dist="107763" dir="2700000" algn="ctr" rotWithShape="0">
              <a:srgbClr val="B2B2B2">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900">
                <a:solidFill>
                  <a:srgbClr val="000000"/>
                </a:solidFill>
                <a:latin typeface="Arial" panose="020B0604020202020204" pitchFamily="34" charset="0"/>
                <a:ea typeface="宋体" panose="02010600030101010101" pitchFamily="2" charset="-122"/>
              </a:defRPr>
            </a:lvl1pPr>
            <a:lvl2pPr marL="742950" indent="-285750" eaLnBrk="0" hangingPunct="0">
              <a:defRPr sz="900">
                <a:solidFill>
                  <a:srgbClr val="000000"/>
                </a:solidFill>
                <a:latin typeface="Arial" panose="020B0604020202020204" pitchFamily="34" charset="0"/>
                <a:ea typeface="宋体" panose="02010600030101010101" pitchFamily="2" charset="-122"/>
              </a:defRPr>
            </a:lvl2pPr>
            <a:lvl3pPr marL="1143000" indent="-228600" eaLnBrk="0" hangingPunct="0">
              <a:defRPr sz="900">
                <a:solidFill>
                  <a:srgbClr val="000000"/>
                </a:solidFill>
                <a:latin typeface="Arial" panose="020B0604020202020204" pitchFamily="34" charset="0"/>
                <a:ea typeface="宋体" panose="02010600030101010101" pitchFamily="2" charset="-122"/>
              </a:defRPr>
            </a:lvl3pPr>
            <a:lvl4pPr marL="1600200" indent="-228600" eaLnBrk="0" hangingPunct="0">
              <a:defRPr sz="900">
                <a:solidFill>
                  <a:srgbClr val="000000"/>
                </a:solidFill>
                <a:latin typeface="Arial" panose="020B0604020202020204" pitchFamily="34" charset="0"/>
                <a:ea typeface="宋体" panose="02010600030101010101" pitchFamily="2" charset="-122"/>
              </a:defRPr>
            </a:lvl4pPr>
            <a:lvl5pPr marL="2057400" indent="-228600" eaLnBrk="0" hangingPunct="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eaLnBrk="1" hangingPunct="1"/>
            <a:endParaRPr lang="zh-CN" altLang="en-US" sz="950"/>
          </a:p>
        </p:txBody>
      </p:sp>
      <p:sp>
        <p:nvSpPr>
          <p:cNvPr id="10246" name="Rectangle 6"/>
          <p:cNvSpPr>
            <a:spLocks noChangeArrowheads="1"/>
          </p:cNvSpPr>
          <p:nvPr/>
        </p:nvSpPr>
        <p:spPr bwMode="auto">
          <a:xfrm>
            <a:off x="1524003" y="-392117"/>
            <a:ext cx="184731" cy="385490"/>
          </a:xfrm>
          <a:prstGeom prst="rect">
            <a:avLst/>
          </a:prstGeom>
          <a:noFill/>
          <a:ln w="9525">
            <a:noFill/>
            <a:miter lim="800000"/>
          </a:ln>
          <a:effectLst>
            <a:prstShdw prst="shdw17" dist="17961" dir="2700000">
              <a:schemeClr val="accent1">
                <a:gamma/>
                <a:shade val="60000"/>
                <a:invGamma/>
              </a:schemeClr>
            </a:prstShdw>
          </a:effectLst>
        </p:spPr>
        <p:txBody>
          <a:bodyPr wrap="none" anchor="ctr">
            <a:spAutoFit/>
          </a:bodyPr>
          <a:lstStyle/>
          <a:p>
            <a:pPr>
              <a:defRPr/>
            </a:pPr>
            <a:endParaRPr lang="zh-CN" altLang="en-US" sz="1905">
              <a:solidFill>
                <a:srgbClr val="000000"/>
              </a:solidFill>
              <a:latin typeface="Arial" panose="020B0604020202020204" pitchFamily="34" charset="0"/>
            </a:endParaRPr>
          </a:p>
        </p:txBody>
      </p:sp>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PPT模板主题">
  <a:themeElements>
    <a:clrScheme name="2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Office 主题">
      <a:majorFont>
        <a:latin typeface="Calibri"/>
        <a:ea typeface="黑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25400" cap="flat" cmpd="sng">
          <a:solidFill>
            <a:srgbClr val="FF0000"/>
          </a:solidFill>
          <a:prstDash val="sysDash"/>
          <a:round/>
        </a:ln>
      </a:spPr>
      <a:bodyPr anchor="ctr"/>
      <a:lstStyle>
        <a:defPPr>
          <a:defRPr/>
        </a:defPPr>
      </a:lstStyle>
    </a:spDef>
  </a:objectDefaults>
  <a:extraClrSchemeLst>
    <a:extraClrScheme>
      <a:clrScheme name="2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PT模板主题">
  <a:themeElements>
    <a:clrScheme name="2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Office 主题">
      <a:majorFont>
        <a:latin typeface="Calibri"/>
        <a:ea typeface="黑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25400" cap="flat" cmpd="sng">
          <a:solidFill>
            <a:srgbClr val="FF0000"/>
          </a:solidFill>
          <a:prstDash val="sysDash"/>
          <a:round/>
        </a:ln>
      </a:spPr>
      <a:bodyPr anchor="ctr"/>
      <a:lstStyle>
        <a:defPPr>
          <a:defRPr/>
        </a:defPPr>
      </a:lstStyle>
    </a:spDef>
  </a:objectDefaults>
  <a:extraClrSchemeLst>
    <a:extraClrScheme>
      <a:clrScheme name="2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PT模板主题" id="{CEBE7990-C6F3-4E90-A321-F83DE118A5FB}" vid="{7CACAC8C-4918-4F36-901D-910BAC58BD7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882</TotalTime>
  <Words>7523</Words>
  <Application>Microsoft Macintosh PowerPoint</Application>
  <PresentationFormat>宽屏</PresentationFormat>
  <Paragraphs>580</Paragraphs>
  <Slides>65</Slides>
  <Notes>2</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2</vt:i4>
      </vt:variant>
      <vt:variant>
        <vt:lpstr>幻灯片标题</vt:lpstr>
      </vt:variant>
      <vt:variant>
        <vt:i4>65</vt:i4>
      </vt:variant>
    </vt:vector>
  </HeadingPairs>
  <TitlesOfParts>
    <vt:vector size="79" baseType="lpstr">
      <vt:lpstr>等线</vt:lpstr>
      <vt:lpstr>仿宋</vt:lpstr>
      <vt:lpstr>华文细黑</vt:lpstr>
      <vt:lpstr>微软雅黑</vt:lpstr>
      <vt:lpstr>Arial</vt:lpstr>
      <vt:lpstr>Calibri</vt:lpstr>
      <vt:lpstr>Symbol</vt:lpstr>
      <vt:lpstr>Tahoma</vt:lpstr>
      <vt:lpstr>Times New Roman</vt:lpstr>
      <vt:lpstr>Wingdings</vt:lpstr>
      <vt:lpstr>PPT模板主题</vt:lpstr>
      <vt:lpstr>1_PPT模板主题</vt:lpstr>
      <vt:lpstr>Equation</vt:lpstr>
      <vt:lpstr>Picture</vt:lpstr>
      <vt:lpstr>PowerPoint 演示文稿</vt:lpstr>
      <vt:lpstr>目录</vt:lpstr>
      <vt:lpstr>一、堆叠合并数据</vt:lpstr>
      <vt:lpstr>堆叠合并数据</vt:lpstr>
      <vt:lpstr>堆叠合并数据</vt:lpstr>
      <vt:lpstr>堆叠合并数据</vt:lpstr>
      <vt:lpstr>堆叠合并数据</vt:lpstr>
      <vt:lpstr>堆叠合并数据</vt:lpstr>
      <vt:lpstr>二、主键合并数据</vt:lpstr>
      <vt:lpstr>主键合并数据</vt:lpstr>
      <vt:lpstr>主键合并数据</vt:lpstr>
      <vt:lpstr>主键合并数据</vt:lpstr>
      <vt:lpstr>主键合并数据</vt:lpstr>
      <vt:lpstr>主键合并数据</vt:lpstr>
      <vt:lpstr>三、重叠合并数据</vt:lpstr>
      <vt:lpstr>重叠合并数据</vt:lpstr>
      <vt:lpstr>重叠合并数据</vt:lpstr>
      <vt:lpstr>目录</vt:lpstr>
      <vt:lpstr>一、检测与处理重复值</vt:lpstr>
      <vt:lpstr>检测与处理重复值</vt:lpstr>
      <vt:lpstr>检测与处理重复值</vt:lpstr>
      <vt:lpstr>检测与处理重复值</vt:lpstr>
      <vt:lpstr>检测与处理重复值</vt:lpstr>
      <vt:lpstr>检测与处理重复值</vt:lpstr>
      <vt:lpstr>检测与处理重复值</vt:lpstr>
      <vt:lpstr>检测与处理重复值</vt:lpstr>
      <vt:lpstr>二、检测与处理缺失值</vt:lpstr>
      <vt:lpstr>二、检测与处理缺失值</vt:lpstr>
      <vt:lpstr>检测与处理缺失值</vt:lpstr>
      <vt:lpstr>检测与处理缺失值</vt:lpstr>
      <vt:lpstr>检测与处理缺失值</vt:lpstr>
      <vt:lpstr>检测与处理缺失值</vt:lpstr>
      <vt:lpstr>检测与处理缺失值</vt:lpstr>
      <vt:lpstr>检测与处理缺失值</vt:lpstr>
      <vt:lpstr>检测与处理缺失值</vt:lpstr>
      <vt:lpstr>检测与处理缺失值</vt:lpstr>
      <vt:lpstr>检测与处理缺失值</vt:lpstr>
      <vt:lpstr>检测与处理缺失值</vt:lpstr>
      <vt:lpstr>三、检测与处理异常值</vt:lpstr>
      <vt:lpstr>三、检测与处理异常值</vt:lpstr>
      <vt:lpstr>检测与处理异常值</vt:lpstr>
      <vt:lpstr>检测与处理异常值</vt:lpstr>
      <vt:lpstr>检测与处理异常值</vt:lpstr>
      <vt:lpstr>目录</vt:lpstr>
      <vt:lpstr>一、离差标准化数据</vt:lpstr>
      <vt:lpstr>一、离差标准化数据</vt:lpstr>
      <vt:lpstr>二、标准差标准化数据</vt:lpstr>
      <vt:lpstr>二、标准差标准化数据</vt:lpstr>
      <vt:lpstr>三、小数定标标准化数据</vt:lpstr>
      <vt:lpstr>标准化总结</vt:lpstr>
      <vt:lpstr>目录</vt:lpstr>
      <vt:lpstr>一、哑变量处理类别型数据</vt:lpstr>
      <vt:lpstr>哑变量处理类别型数据</vt:lpstr>
      <vt:lpstr>哑变量处理类别型数据</vt:lpstr>
      <vt:lpstr>哑变量处理类别型数据</vt:lpstr>
      <vt:lpstr>哑变量处理类别型数据</vt:lpstr>
      <vt:lpstr>二、离散化连续型数据</vt:lpstr>
      <vt:lpstr>离散化连续型数据</vt:lpstr>
      <vt:lpstr>离散化连续型数据</vt:lpstr>
      <vt:lpstr>离散化连续型数据</vt:lpstr>
      <vt:lpstr>离散化连续型数据</vt:lpstr>
      <vt:lpstr>离散化连续型数据</vt:lpstr>
      <vt:lpstr>离散化连续型数据</vt:lpstr>
      <vt:lpstr>小结</vt:lpstr>
      <vt:lpstr>PowerPoint 演示文稿</vt:lpstr>
    </vt:vector>
  </TitlesOfParts>
  <Company>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Roc Ren</dc:creator>
  <cp:lastModifiedBy>Microsoft Office User</cp:lastModifiedBy>
  <cp:revision>479</cp:revision>
  <dcterms:created xsi:type="dcterms:W3CDTF">2017-01-10T15:44:00Z</dcterms:created>
  <dcterms:modified xsi:type="dcterms:W3CDTF">2025-10-26T03:03:40Z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C02F64B132F94726A0130F5D3FD1CA25</vt:lpwstr>
  </property>
  <property fmtid="{D5CDD505-2E9C-101B-9397-08002B2CF9AE}" pid="3" name="KSOProductBuildVer">
    <vt:lpwstr>2052-11.1.0.10667</vt:lpwstr>
  </property>
</Properties>
</file>