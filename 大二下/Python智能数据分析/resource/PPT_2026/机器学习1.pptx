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sldIdLst>
    <p:sldId id="494" r:id="rId2"/>
    <p:sldId id="690" r:id="rId3"/>
    <p:sldId id="702" r:id="rId4"/>
    <p:sldId id="701" r:id="rId5"/>
    <p:sldId id="691" r:id="rId6"/>
    <p:sldId id="695" r:id="rId7"/>
    <p:sldId id="696" r:id="rId8"/>
    <p:sldId id="697" r:id="rId9"/>
    <p:sldId id="698" r:id="rId10"/>
    <p:sldId id="699" r:id="rId11"/>
    <p:sldId id="502" r:id="rId12"/>
    <p:sldId id="544" r:id="rId13"/>
    <p:sldId id="546" r:id="rId14"/>
    <p:sldId id="664" r:id="rId15"/>
    <p:sldId id="703" r:id="rId16"/>
    <p:sldId id="666" r:id="rId17"/>
    <p:sldId id="667" r:id="rId18"/>
    <p:sldId id="669" r:id="rId19"/>
    <p:sldId id="670" r:id="rId20"/>
    <p:sldId id="671" r:id="rId21"/>
    <p:sldId id="704" r:id="rId22"/>
    <p:sldId id="672" r:id="rId23"/>
    <p:sldId id="675" r:id="rId24"/>
    <p:sldId id="705" r:id="rId25"/>
    <p:sldId id="676" r:id="rId26"/>
    <p:sldId id="677" r:id="rId27"/>
    <p:sldId id="678" r:id="rId28"/>
    <p:sldId id="706" r:id="rId29"/>
    <p:sldId id="680" r:id="rId30"/>
    <p:sldId id="679" r:id="rId31"/>
    <p:sldId id="681" r:id="rId32"/>
    <p:sldId id="682" r:id="rId33"/>
    <p:sldId id="684" r:id="rId34"/>
    <p:sldId id="685" r:id="rId35"/>
    <p:sldId id="686" r:id="rId36"/>
    <p:sldId id="687" r:id="rId37"/>
    <p:sldId id="707" r:id="rId38"/>
    <p:sldId id="709" r:id="rId39"/>
    <p:sldId id="688" r:id="rId40"/>
    <p:sldId id="710" r:id="rId41"/>
    <p:sldId id="711" r:id="rId42"/>
    <p:sldId id="712" r:id="rId43"/>
    <p:sldId id="689" r:id="rId44"/>
    <p:sldId id="534"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CCBCA495-067E-4E99-BB6C-9DD566A055AA}">
          <p14:sldIdLst>
            <p14:sldId id="494"/>
            <p14:sldId id="690"/>
            <p14:sldId id="702"/>
            <p14:sldId id="701"/>
            <p14:sldId id="691"/>
            <p14:sldId id="695"/>
            <p14:sldId id="696"/>
            <p14:sldId id="697"/>
            <p14:sldId id="698"/>
            <p14:sldId id="699"/>
            <p14:sldId id="502"/>
            <p14:sldId id="544"/>
            <p14:sldId id="546"/>
            <p14:sldId id="664"/>
            <p14:sldId id="703"/>
            <p14:sldId id="666"/>
            <p14:sldId id="667"/>
            <p14:sldId id="669"/>
            <p14:sldId id="670"/>
            <p14:sldId id="671"/>
            <p14:sldId id="704"/>
            <p14:sldId id="672"/>
            <p14:sldId id="675"/>
            <p14:sldId id="705"/>
            <p14:sldId id="676"/>
            <p14:sldId id="677"/>
            <p14:sldId id="678"/>
            <p14:sldId id="706"/>
            <p14:sldId id="680"/>
            <p14:sldId id="679"/>
            <p14:sldId id="681"/>
            <p14:sldId id="682"/>
            <p14:sldId id="684"/>
            <p14:sldId id="685"/>
            <p14:sldId id="686"/>
            <p14:sldId id="687"/>
            <p14:sldId id="707"/>
            <p14:sldId id="709"/>
            <p14:sldId id="688"/>
            <p14:sldId id="710"/>
            <p14:sldId id="711"/>
            <p14:sldId id="712"/>
            <p14:sldId id="689"/>
            <p14:sldId id="534"/>
          </p14:sldIdLst>
        </p14:section>
      </p14:sectionLst>
    </p:ext>
    <p:ext uri="{EFAFB233-063F-42B5-8137-9DF3F51BA10A}">
      <p15:sldGuideLst xmlns:p15="http://schemas.microsoft.com/office/powerpoint/2012/main">
        <p15:guide id="1" orient="horz" pos="2210">
          <p15:clr>
            <a:srgbClr val="A4A3A4"/>
          </p15:clr>
        </p15:guide>
        <p15:guide id="2" pos="376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B6EE1"/>
    <a:srgbClr val="064BB2"/>
    <a:srgbClr val="FB9708"/>
    <a:srgbClr val="FFCB54"/>
    <a:srgbClr val="FFBF2B"/>
    <a:srgbClr val="7624CC"/>
    <a:srgbClr val="CC8824"/>
    <a:srgbClr val="2165B6"/>
    <a:srgbClr val="C4C6C9"/>
    <a:srgbClr val="A5A7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44" autoAdjust="0"/>
    <p:restoredTop sz="90514" autoAdjust="0"/>
  </p:normalViewPr>
  <p:slideViewPr>
    <p:cSldViewPr snapToGrid="0">
      <p:cViewPr>
        <p:scale>
          <a:sx n="183" d="100"/>
          <a:sy n="183" d="100"/>
        </p:scale>
        <p:origin x="-2776" y="-1920"/>
      </p:cViewPr>
      <p:guideLst>
        <p:guide orient="horz" pos="2210"/>
        <p:guide pos="37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nglonglin" userId="65e6c6b7-2d31-4c1d-9ef2-3b9132fd9160" providerId="ADAL" clId="{2F966C07-B318-5171-8E81-41153612B380}"/>
    <pc:docChg chg="delSld modSld modSection">
      <pc:chgData name="longlonglin" userId="65e6c6b7-2d31-4c1d-9ef2-3b9132fd9160" providerId="ADAL" clId="{2F966C07-B318-5171-8E81-41153612B380}" dt="2025-11-10T06:22:57.397" v="56" actId="20577"/>
      <pc:docMkLst>
        <pc:docMk/>
      </pc:docMkLst>
      <pc:sldChg chg="modSp mod">
        <pc:chgData name="longlonglin" userId="65e6c6b7-2d31-4c1d-9ef2-3b9132fd9160" providerId="ADAL" clId="{2F966C07-B318-5171-8E81-41153612B380}" dt="2025-11-10T06:22:57.397" v="56" actId="20577"/>
        <pc:sldMkLst>
          <pc:docMk/>
          <pc:sldMk cId="3658318443" sldId="690"/>
        </pc:sldMkLst>
        <pc:spChg chg="mod">
          <ac:chgData name="longlonglin" userId="65e6c6b7-2d31-4c1d-9ef2-3b9132fd9160" providerId="ADAL" clId="{2F966C07-B318-5171-8E81-41153612B380}" dt="2025-11-10T06:22:57.397" v="56" actId="20577"/>
          <ac:spMkLst>
            <pc:docMk/>
            <pc:sldMk cId="3658318443" sldId="690"/>
            <ac:spMk id="4" creationId="{00000000-0000-0000-0000-000000000000}"/>
          </ac:spMkLst>
        </pc:spChg>
      </pc:sldChg>
      <pc:sldChg chg="modSp mod">
        <pc:chgData name="longlonglin" userId="65e6c6b7-2d31-4c1d-9ef2-3b9132fd9160" providerId="ADAL" clId="{2F966C07-B318-5171-8E81-41153612B380}" dt="2025-11-10T06:22:01.622" v="51" actId="20577"/>
        <pc:sldMkLst>
          <pc:docMk/>
          <pc:sldMk cId="476859357" sldId="691"/>
        </pc:sldMkLst>
        <pc:spChg chg="mod">
          <ac:chgData name="longlonglin" userId="65e6c6b7-2d31-4c1d-9ef2-3b9132fd9160" providerId="ADAL" clId="{2F966C07-B318-5171-8E81-41153612B380}" dt="2025-11-10T06:22:01.622" v="51" actId="20577"/>
          <ac:spMkLst>
            <pc:docMk/>
            <pc:sldMk cId="476859357" sldId="691"/>
            <ac:spMk id="6" creationId="{00000000-0000-0000-0000-000000000000}"/>
          </ac:spMkLst>
        </pc:spChg>
      </pc:sldChg>
      <pc:sldChg chg="modSp del mod">
        <pc:chgData name="longlonglin" userId="65e6c6b7-2d31-4c1d-9ef2-3b9132fd9160" providerId="ADAL" clId="{2F966C07-B318-5171-8E81-41153612B380}" dt="2025-11-10T06:19:33.228" v="37" actId="2696"/>
        <pc:sldMkLst>
          <pc:docMk/>
          <pc:sldMk cId="28088200" sldId="700"/>
        </pc:sldMkLst>
        <pc:spChg chg="mod">
          <ac:chgData name="longlonglin" userId="65e6c6b7-2d31-4c1d-9ef2-3b9132fd9160" providerId="ADAL" clId="{2F966C07-B318-5171-8E81-41153612B380}" dt="2025-11-10T06:18:19.030" v="36" actId="20577"/>
          <ac:spMkLst>
            <pc:docMk/>
            <pc:sldMk cId="28088200" sldId="700"/>
            <ac:spMk id="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77ADA9-9D0B-42DC-94FF-BBDB68110F2F}" type="datetimeFigureOut">
              <a:rPr lang="zh-CN" altLang="en-US" smtClean="0"/>
              <a:t>2025/11/10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A1B552-615F-42DA-85F2-80E7008928A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83791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Rot="1" noChangeAspect="1" noTextEdit="1"/>
          </p:cNvSpPr>
          <p:nvPr>
            <p:ph type="sldImg"/>
          </p:nvPr>
        </p:nvSpPr>
        <p:spPr>
          <a:xfrm>
            <a:off x="685800" y="1143000"/>
            <a:ext cx="5486400" cy="3086100"/>
          </a:xfrm>
        </p:spPr>
      </p:sp>
      <p:sp>
        <p:nvSpPr>
          <p:cNvPr id="226307" name="Rectangle 3"/>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封面">
    <p:spTree>
      <p:nvGrpSpPr>
        <p:cNvPr id="1" name=""/>
        <p:cNvGrpSpPr/>
        <p:nvPr/>
      </p:nvGrpSpPr>
      <p:grpSpPr>
        <a:xfrm>
          <a:off x="0" y="0"/>
          <a:ext cx="0" cy="0"/>
          <a:chOff x="0" y="0"/>
          <a:chExt cx="0" cy="0"/>
        </a:xfrm>
      </p:grpSpPr>
      <p:sp>
        <p:nvSpPr>
          <p:cNvPr id="3" name="矩形 2"/>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p:txBody>
      </p:sp>
      <p:pic>
        <p:nvPicPr>
          <p:cNvPr id="4" name="图片 3"/>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5" name="标题 14"/>
          <p:cNvSpPr>
            <a:spLocks noGrp="1"/>
          </p:cNvSpPr>
          <p:nvPr>
            <p:ph type="title"/>
          </p:nvPr>
        </p:nvSpPr>
        <p:spPr>
          <a:xfrm>
            <a:off x="5926234" y="2706149"/>
            <a:ext cx="5889861" cy="692150"/>
          </a:xfrm>
        </p:spPr>
        <p:txBody>
          <a:bodyPr/>
          <a:lstStyle>
            <a:lvl1pPr algn="ctr">
              <a:defRPr sz="3600" b="1" baseline="0">
                <a:solidFill>
                  <a:schemeClr val="bg1"/>
                </a:solidFill>
                <a:latin typeface="Times New Roman" panose="02020603050405020304" pitchFamily="18" charset="0"/>
                <a:ea typeface="宋体" panose="02010600030101010101" pitchFamily="2" charset="-122"/>
              </a:defRPr>
            </a:lvl1pPr>
          </a:lstStyle>
          <a:p>
            <a:r>
              <a:rPr lang="zh-CN" altLang="en-US" noProof="1"/>
              <a:t>单击此处编辑母版标题样式</a:t>
            </a:r>
          </a:p>
        </p:txBody>
      </p:sp>
      <p:sp>
        <p:nvSpPr>
          <p:cNvPr id="9" name="日期占位符 1"/>
          <p:cNvSpPr>
            <a:spLocks noGrp="1"/>
          </p:cNvSpPr>
          <p:nvPr>
            <p:ph type="dt" sz="half" idx="10"/>
          </p:nvPr>
        </p:nvSpPr>
        <p:spPr/>
        <p:txBody>
          <a:bodyPr/>
          <a:lstStyle>
            <a:lvl1pPr>
              <a:defRPr baseline="0">
                <a:latin typeface="Times New Roman" panose="02020603050405020304" pitchFamily="18" charset="0"/>
                <a:ea typeface="宋体" panose="02010600030101010101" pitchFamily="2" charset="-122"/>
              </a:defRPr>
            </a:lvl1pPr>
          </a:lstStyle>
          <a:p>
            <a:fld id="{C5EFD6F6-2F20-4B1A-A667-B95C1338A7FC}" type="datetime5">
              <a:rPr lang="zh-CN" altLang="en-US" smtClean="0"/>
              <a:t>2025/11/10</a:t>
            </a:fld>
            <a:endParaRPr lang="zh-CN" altLang="en-US" dirty="0"/>
          </a:p>
        </p:txBody>
      </p:sp>
      <p:sp>
        <p:nvSpPr>
          <p:cNvPr id="10" name="页脚占位符 2"/>
          <p:cNvSpPr>
            <a:spLocks noGrp="1"/>
          </p:cNvSpPr>
          <p:nvPr>
            <p:ph type="ftr" sz="quarter" idx="11"/>
          </p:nvPr>
        </p:nvSpPr>
        <p:spPr/>
        <p:txBody>
          <a:bodyPr/>
          <a:lstStyle>
            <a:lvl1pPr>
              <a:defRPr baseline="0">
                <a:latin typeface="Times New Roman" panose="02020603050405020304" pitchFamily="18" charset="0"/>
                <a:ea typeface="宋体" panose="02010600030101010101" pitchFamily="2" charset="-122"/>
              </a:defRPr>
            </a:lvl1pPr>
          </a:lstStyle>
          <a:p>
            <a:pPr>
              <a:defRPr/>
            </a:pPr>
            <a:endParaRPr lang="zh-CN" altLang="en-US"/>
          </a:p>
        </p:txBody>
      </p:sp>
      <p:sp>
        <p:nvSpPr>
          <p:cNvPr id="11" name="灯片编号占位符 3"/>
          <p:cNvSpPr>
            <a:spLocks noGrp="1"/>
          </p:cNvSpPr>
          <p:nvPr>
            <p:ph type="sldNum" sz="quarter" idx="12"/>
          </p:nvPr>
        </p:nvSpPr>
        <p:spPr/>
        <p:txBody>
          <a:bodyPr/>
          <a:lstStyle>
            <a:lvl1pPr>
              <a:defRPr baseline="0">
                <a:latin typeface="Times New Roman" panose="02020603050405020304" pitchFamily="18" charset="0"/>
                <a:ea typeface="宋体" panose="02010600030101010101" pitchFamily="2" charset="-122"/>
              </a:defRPr>
            </a:lvl1pPr>
          </a:lstStyle>
          <a:p>
            <a:pPr>
              <a:defRPr/>
            </a:pPr>
            <a:fld id="{87765BD0-8639-4309-B2A4-CEF6862AE3FC}" type="slidenum">
              <a:rPr lang="zh-CN" altLang="en-US" smtClean="0"/>
              <a:t>‹#›</a:t>
            </a:fld>
            <a:endParaRPr lang="zh-CN" altLang="en-US"/>
          </a:p>
        </p:txBody>
      </p:sp>
      <p:sp>
        <p:nvSpPr>
          <p:cNvPr id="12" name="矩形 11"/>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p:txBody>
      </p:sp>
      <p:pic>
        <p:nvPicPr>
          <p:cNvPr id="13" name="图片 12" descr="AW视觉符号.jpg"/>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19" name="直接连接符 18">
            <a:extLst>
              <a:ext uri="{FF2B5EF4-FFF2-40B4-BE49-F238E27FC236}">
                <a16:creationId xmlns:a16="http://schemas.microsoft.com/office/drawing/2014/main" id="{06E6BA67-25CD-415B-93EA-7C3BC2B427A2}"/>
              </a:ext>
            </a:extLst>
          </p:cNvPr>
          <p:cNvCxnSpPr>
            <a:cxnSpLocks/>
          </p:cNvCxnSpPr>
          <p:nvPr userDrawn="1"/>
        </p:nvCxnSpPr>
        <p:spPr>
          <a:xfrm>
            <a:off x="10529888" y="558800"/>
            <a:ext cx="1285875" cy="0"/>
          </a:xfrm>
          <a:prstGeom prst="line">
            <a:avLst/>
          </a:prstGeom>
          <a:ln w="12700">
            <a:solidFill>
              <a:srgbClr val="064BB2"/>
            </a:solidFill>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47FAB311-4715-403E-A379-D37EFFFF93F8}"/>
              </a:ext>
            </a:extLst>
          </p:cNvPr>
          <p:cNvCxnSpPr>
            <a:cxnSpLocks/>
          </p:cNvCxnSpPr>
          <p:nvPr userDrawn="1"/>
        </p:nvCxnSpPr>
        <p:spPr>
          <a:xfrm>
            <a:off x="6589713" y="558800"/>
            <a:ext cx="1285875" cy="0"/>
          </a:xfrm>
          <a:prstGeom prst="line">
            <a:avLst/>
          </a:prstGeom>
          <a:ln w="12700">
            <a:solidFill>
              <a:srgbClr val="064BB2"/>
            </a:solidFill>
          </a:ln>
        </p:spPr>
        <p:style>
          <a:lnRef idx="1">
            <a:schemeClr val="dk1"/>
          </a:lnRef>
          <a:fillRef idx="0">
            <a:schemeClr val="dk1"/>
          </a:fillRef>
          <a:effectRef idx="0">
            <a:schemeClr val="dk1"/>
          </a:effectRef>
          <a:fontRef idx="minor">
            <a:schemeClr val="tx1"/>
          </a:fontRef>
        </p:style>
      </p:cxnSp>
    </p:spTree>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纯内容页">
    <p:spTree>
      <p:nvGrpSpPr>
        <p:cNvPr id="1" name=""/>
        <p:cNvGrpSpPr/>
        <p:nvPr/>
      </p:nvGrpSpPr>
      <p:grpSpPr>
        <a:xfrm>
          <a:off x="0" y="0"/>
          <a:ext cx="0" cy="0"/>
          <a:chOff x="0" y="0"/>
          <a:chExt cx="0" cy="0"/>
        </a:xfrm>
      </p:grpSpPr>
      <p:sp>
        <p:nvSpPr>
          <p:cNvPr id="8" name="AutoShape 23"/>
          <p:cNvSpPr>
            <a:spLocks noChangeArrowheads="1"/>
          </p:cNvSpPr>
          <p:nvPr/>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defRPr/>
            </a:pPr>
            <a:endParaRPr lang="zh-CN" altLang="en-US" sz="950"/>
          </a:p>
        </p:txBody>
      </p:sp>
      <p:sp>
        <p:nvSpPr>
          <p:cNvPr id="9" name="AutoShape 23"/>
          <p:cNvSpPr>
            <a:spLocks noChangeArrowheads="1"/>
          </p:cNvSpPr>
          <p:nvPr/>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defRPr/>
            </a:pPr>
            <a:endParaRPr lang="zh-CN" altLang="en-US" sz="950"/>
          </a:p>
        </p:txBody>
      </p:sp>
      <p:sp>
        <p:nvSpPr>
          <p:cNvPr id="4" name="内容占位符 2"/>
          <p:cNvSpPr>
            <a:spLocks noGrp="1"/>
          </p:cNvSpPr>
          <p:nvPr>
            <p:ph idx="1" hasCustomPrompt="1"/>
          </p:nvPr>
        </p:nvSpPr>
        <p:spPr>
          <a:xfrm>
            <a:off x="423819" y="1104181"/>
            <a:ext cx="11107601" cy="5052713"/>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2330" b="0">
                <a:latin typeface="微软雅黑" panose="020B0503020204020204" charset="-122"/>
                <a:ea typeface="微软雅黑" panose="020B0503020204020204" charset="-122"/>
              </a:defRPr>
            </a:lvl2pPr>
            <a:lvl3pPr>
              <a:defRPr sz="1905" b="0">
                <a:latin typeface="微软雅黑" panose="020B0503020204020204" charset="-122"/>
                <a:ea typeface="微软雅黑" panose="020B0503020204020204" charset="-122"/>
              </a:defRPr>
            </a:lvl3pPr>
            <a:lvl4pPr>
              <a:defRPr sz="1905" b="0">
                <a:latin typeface="微软雅黑" panose="020B0503020204020204" charset="-122"/>
                <a:ea typeface="微软雅黑" panose="020B0503020204020204" charset="-122"/>
              </a:defRPr>
            </a:lvl4pPr>
            <a:lvl5pPr>
              <a:defRPr sz="1905" b="0">
                <a:latin typeface="微软雅黑" panose="020B0503020204020204" charset="-122"/>
                <a:ea typeface="微软雅黑" panose="020B0503020204020204" charset="-122"/>
              </a:defRPr>
            </a:lvl5pPr>
          </a:lstStyle>
          <a:p>
            <a:pPr lvl="0"/>
            <a:r>
              <a:rPr lang="zh-CN" altLang="en-US" noProof="1"/>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微软雅黑" panose="020B0503020204020204" charset="-122"/>
                <a:cs typeface="Times New Roman" panose="02020603050405020304" pitchFamily="18" charset="0"/>
              </a:defRPr>
            </a:lvl1pPr>
          </a:lstStyle>
          <a:p>
            <a:r>
              <a:rPr lang="zh-CN" altLang="en-US" noProof="1"/>
              <a:t>单击此处编辑标题</a:t>
            </a:r>
          </a:p>
        </p:txBody>
      </p:sp>
      <p:sp>
        <p:nvSpPr>
          <p:cNvPr id="14" name="Rectangle 12">
            <a:extLst>
              <a:ext uri="{FF2B5EF4-FFF2-40B4-BE49-F238E27FC236}">
                <a16:creationId xmlns:a16="http://schemas.microsoft.com/office/drawing/2014/main" id="{678FC46D-9EA0-48CD-A13B-D1B709B22611}"/>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19591A44-FB7C-486C-A718-2AC7F7257BEC}"/>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28494446-DE8A-4998-9800-18BD14F0255A}"/>
              </a:ext>
            </a:extLst>
          </p:cNvPr>
          <p:cNvCxnSpPr>
            <a:endCxn id="14"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小标题+内容页">
    <p:spTree>
      <p:nvGrpSpPr>
        <p:cNvPr id="1" name=""/>
        <p:cNvGrpSpPr/>
        <p:nvPr/>
      </p:nvGrpSpPr>
      <p:grpSpPr>
        <a:xfrm>
          <a:off x="0" y="0"/>
          <a:ext cx="0" cy="0"/>
          <a:chOff x="0" y="0"/>
          <a:chExt cx="0" cy="0"/>
        </a:xfrm>
      </p:grpSpPr>
      <p:sp>
        <p:nvSpPr>
          <p:cNvPr id="8" name="AutoShape 23"/>
          <p:cNvSpPr>
            <a:spLocks noChangeArrowheads="1"/>
          </p:cNvSpPr>
          <p:nvPr userDrawn="1"/>
        </p:nvSpPr>
        <p:spPr bwMode="auto">
          <a:xfrm>
            <a:off x="246063" y="915988"/>
            <a:ext cx="9596437" cy="46037"/>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9" name="AutoShape 23"/>
          <p:cNvSpPr>
            <a:spLocks noChangeArrowheads="1"/>
          </p:cNvSpPr>
          <p:nvPr userDrawn="1"/>
        </p:nvSpPr>
        <p:spPr bwMode="auto">
          <a:xfrm>
            <a:off x="9842500" y="915988"/>
            <a:ext cx="1989138" cy="46037"/>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fontAlgn="auto" hangingPunct="1">
              <a:spcBef>
                <a:spcPct val="50000"/>
              </a:spcBef>
              <a:spcAft>
                <a:spcPts val="0"/>
              </a:spcAft>
              <a:defRPr/>
            </a:pPr>
            <a:endParaRPr lang="zh-CN" altLang="en-US" sz="950" baseline="0">
              <a:latin typeface="Times New Roman" panose="02020603050405020304" pitchFamily="18" charset="0"/>
              <a:ea typeface="宋体" panose="02010600030101010101" pitchFamily="2" charset="-122"/>
            </a:endParaRPr>
          </a:p>
        </p:txBody>
      </p:sp>
      <p:sp>
        <p:nvSpPr>
          <p:cNvPr id="4" name="内容占位符 2"/>
          <p:cNvSpPr>
            <a:spLocks noGrp="1"/>
          </p:cNvSpPr>
          <p:nvPr>
            <p:ph idx="1" hasCustomPrompt="1"/>
          </p:nvPr>
        </p:nvSpPr>
        <p:spPr>
          <a:xfrm>
            <a:off x="423819" y="1713662"/>
            <a:ext cx="11107601" cy="4339721"/>
          </a:xfrm>
        </p:spPr>
        <p:txBody>
          <a:bodyPr>
            <a:noAutofit/>
          </a:bodyPr>
          <a:lstStyle>
            <a:lvl1pPr marL="362585" indent="-362585">
              <a:lnSpc>
                <a:spcPct val="150000"/>
              </a:lnSpc>
              <a:buClr>
                <a:srgbClr val="032089"/>
              </a:buClr>
              <a:buFont typeface="Wingdings" panose="05000000000000000000" pitchFamily="2" charset="2"/>
              <a:buChar char="Ø"/>
              <a:defRPr sz="1800" b="0" baseline="0">
                <a:latin typeface="Times New Roman" panose="02020603050405020304" pitchFamily="18" charset="0"/>
                <a:ea typeface="宋体" panose="02010600030101010101" pitchFamily="2"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2330" b="0">
                <a:latin typeface="微软雅黑" panose="020B0503020204020204" charset="-122"/>
                <a:ea typeface="微软雅黑" panose="020B0503020204020204" charset="-122"/>
              </a:defRPr>
            </a:lvl2pPr>
            <a:lvl3pPr>
              <a:defRPr sz="1905" b="0">
                <a:latin typeface="微软雅黑" panose="020B0503020204020204" charset="-122"/>
                <a:ea typeface="微软雅黑" panose="020B0503020204020204" charset="-122"/>
              </a:defRPr>
            </a:lvl3pPr>
            <a:lvl4pPr>
              <a:defRPr sz="1905" b="0">
                <a:latin typeface="微软雅黑" panose="020B0503020204020204" charset="-122"/>
                <a:ea typeface="微软雅黑" panose="020B0503020204020204" charset="-122"/>
              </a:defRPr>
            </a:lvl4pPr>
            <a:lvl5pPr>
              <a:defRPr sz="1905" b="0">
                <a:latin typeface="微软雅黑" panose="020B0503020204020204" charset="-122"/>
                <a:ea typeface="微软雅黑" panose="020B0503020204020204" charset="-122"/>
              </a:defRPr>
            </a:lvl5pPr>
          </a:lstStyle>
          <a:p>
            <a:pPr lvl="0"/>
            <a:r>
              <a:rPr lang="zh-CN" altLang="en-US" dirty="0"/>
              <a:t>单击此处编辑正文内容</a:t>
            </a:r>
          </a:p>
        </p:txBody>
      </p:sp>
      <p:sp>
        <p:nvSpPr>
          <p:cNvPr id="2" name="标题 1"/>
          <p:cNvSpPr>
            <a:spLocks noGrp="1"/>
          </p:cNvSpPr>
          <p:nvPr>
            <p:ph type="title" hasCustomPrompt="1"/>
          </p:nvPr>
        </p:nvSpPr>
        <p:spPr>
          <a:xfrm>
            <a:off x="254876" y="359079"/>
            <a:ext cx="10972801" cy="528176"/>
          </a:xfrm>
        </p:spPr>
        <p:txBody>
          <a:bodyPr/>
          <a:lstStyle>
            <a:lvl1pPr>
              <a:defRPr sz="2400" b="1"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stStyle>
          <a:p>
            <a:r>
              <a:rPr lang="zh-CN" altLang="en-US" dirty="0"/>
              <a:t>单击此处编辑标题</a:t>
            </a:r>
          </a:p>
        </p:txBody>
      </p:sp>
      <p:sp>
        <p:nvSpPr>
          <p:cNvPr id="14" name="内容占位符 2"/>
          <p:cNvSpPr>
            <a:spLocks noGrp="1"/>
          </p:cNvSpPr>
          <p:nvPr>
            <p:ph idx="10" hasCustomPrompt="1"/>
          </p:nvPr>
        </p:nvSpPr>
        <p:spPr>
          <a:xfrm>
            <a:off x="423819" y="1138980"/>
            <a:ext cx="11107601" cy="426469"/>
          </a:xfrm>
          <a:noFill/>
          <a:ln>
            <a:noFill/>
          </a:ln>
        </p:spPr>
        <p:txBody>
          <a:bodyPr anchor="ctr">
            <a:noAutofit/>
          </a:bodyPr>
          <a:lstStyle>
            <a:lvl1pPr marL="0" indent="0">
              <a:buNone/>
              <a:defRPr lang="zh-CN" altLang="en-US" sz="2000" b="0" baseline="0" dirty="0" smtClean="0">
                <a:latin typeface="Times New Roman" panose="02020603050405020304" pitchFamily="18" charset="0"/>
                <a:ea typeface="宋体" panose="02010600030101010101" pitchFamily="2" charset="-122"/>
                <a:cs typeface="Times New Roman" panose="02020603050405020304" pitchFamily="18" charset="0"/>
              </a:defRPr>
            </a:lvl1pPr>
          </a:lstStyle>
          <a:p>
            <a:pPr lvl="0"/>
            <a:r>
              <a:rPr lang="zh-CN" altLang="en-US" dirty="0"/>
              <a:t>单击此处编辑标题</a:t>
            </a:r>
          </a:p>
        </p:txBody>
      </p:sp>
      <p:sp>
        <p:nvSpPr>
          <p:cNvPr id="13" name="Rectangle 12">
            <a:extLst>
              <a:ext uri="{FF2B5EF4-FFF2-40B4-BE49-F238E27FC236}">
                <a16:creationId xmlns:a16="http://schemas.microsoft.com/office/drawing/2014/main" id="{8F13EF46-2D67-4441-9C64-603DD9391690}"/>
              </a:ext>
            </a:extLst>
          </p:cNvPr>
          <p:cNvSpPr>
            <a:spLocks noChangeArrowheads="1"/>
          </p:cNvSpPr>
          <p:nvPr userDrawn="1"/>
        </p:nvSpPr>
        <p:spPr bwMode="auto">
          <a:xfrm>
            <a:off x="9937750" y="6392863"/>
            <a:ext cx="571500" cy="231775"/>
          </a:xfrm>
          <a:prstGeom prst="rect">
            <a:avLst/>
          </a:prstGeom>
          <a:noFill/>
          <a:ln>
            <a:noFill/>
          </a:ln>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defRPr/>
            </a:pPr>
            <a:r>
              <a:rPr lang="en-US" altLang="zh-CN" sz="1000">
                <a:solidFill>
                  <a:srgbClr val="7F7F7F"/>
                </a:solidFill>
                <a:latin typeface="Arial" panose="020B0604020202020204" pitchFamily="34" charset="0"/>
                <a:cs typeface="Arial" panose="020B0604020202020204" pitchFamily="34" charset="0"/>
              </a:rPr>
              <a:t> </a:t>
            </a:r>
            <a:fld id="{524AD63B-5F2C-4628-8441-2A0E534DA5F7}" type="slidenum">
              <a:rPr lang="en-US" altLang="zh-CN" sz="1000" smtClean="0">
                <a:latin typeface="Arial" panose="020B0604020202020204" pitchFamily="34" charset="0"/>
                <a:cs typeface="Arial" panose="020B0604020202020204" pitchFamily="34" charset="0"/>
              </a:rPr>
              <a:t>‹#›</a:t>
            </a:fld>
            <a:endParaRPr lang="en-US" altLang="zh-CN" sz="1000">
              <a:latin typeface="Arial" panose="020B0604020202020204" pitchFamily="34" charset="0"/>
              <a:cs typeface="Arial" panose="020B0604020202020204" pitchFamily="34" charset="0"/>
            </a:endParaRPr>
          </a:p>
        </p:txBody>
      </p:sp>
      <p:cxnSp>
        <p:nvCxnSpPr>
          <p:cNvPr id="15" name="直接连接符 19">
            <a:extLst>
              <a:ext uri="{FF2B5EF4-FFF2-40B4-BE49-F238E27FC236}">
                <a16:creationId xmlns:a16="http://schemas.microsoft.com/office/drawing/2014/main" id="{FC884136-A638-4140-9579-9B93C55A1F98}"/>
              </a:ext>
            </a:extLst>
          </p:cNvPr>
          <p:cNvCxnSpPr>
            <a:stCxn id="15" idx="3"/>
          </p:cNvCxnSpPr>
          <p:nvPr userDrawn="1"/>
        </p:nvCxnSpPr>
        <p:spPr>
          <a:xfrm>
            <a:off x="10509250" y="6508750"/>
            <a:ext cx="1019175"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16" name="直接连接符 14">
            <a:extLst>
              <a:ext uri="{FF2B5EF4-FFF2-40B4-BE49-F238E27FC236}">
                <a16:creationId xmlns:a16="http://schemas.microsoft.com/office/drawing/2014/main" id="{7037946A-BDE9-449A-B963-8EDEC8DDC195}"/>
              </a:ext>
            </a:extLst>
          </p:cNvPr>
          <p:cNvCxnSpPr>
            <a:endCxn id="13" idx="1"/>
          </p:cNvCxnSpPr>
          <p:nvPr userDrawn="1"/>
        </p:nvCxnSpPr>
        <p:spPr>
          <a:xfrm>
            <a:off x="5959475" y="6508750"/>
            <a:ext cx="3978275"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尾页">
    <p:spTree>
      <p:nvGrpSpPr>
        <p:cNvPr id="1" name=""/>
        <p:cNvGrpSpPr/>
        <p:nvPr/>
      </p:nvGrpSpPr>
      <p:grpSpPr>
        <a:xfrm>
          <a:off x="0" y="0"/>
          <a:ext cx="0" cy="0"/>
          <a:chOff x="0" y="0"/>
          <a:chExt cx="0" cy="0"/>
        </a:xfrm>
      </p:grpSpPr>
      <p:sp>
        <p:nvSpPr>
          <p:cNvPr id="2" name="矩形 1"/>
          <p:cNvSpPr>
            <a:spLocks noChangeArrowheads="1"/>
          </p:cNvSpPr>
          <p:nvPr/>
        </p:nvSpPr>
        <p:spPr bwMode="auto">
          <a:xfrm>
            <a:off x="0" y="1968500"/>
            <a:ext cx="12190413" cy="2168525"/>
          </a:xfrm>
          <a:prstGeom prst="rect">
            <a:avLst/>
          </a:prstGeom>
          <a:solidFill>
            <a:srgbClr val="064BB2"/>
          </a:solidFill>
          <a:ln>
            <a:noFill/>
          </a:ln>
          <a:effectLst>
            <a:outerShdw blurRad="50800" dist="38100" dir="5400000" algn="t" rotWithShape="0">
              <a:srgbClr val="000000">
                <a:alpha val="0"/>
              </a:srgbClr>
            </a:outerShdw>
          </a:effectLst>
        </p:spPr>
        <p:txBody>
          <a:bodyPr anchor="ctr"/>
          <a:lstStyle/>
          <a:p>
            <a:pPr algn="ctr">
              <a:defRPr/>
            </a:pPr>
            <a:endParaRPr lang="zh-CN" altLang="en-US" sz="950" baseline="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3" name="Title 1"/>
          <p:cNvSpPr txBox="1"/>
          <p:nvPr/>
        </p:nvSpPr>
        <p:spPr>
          <a:xfrm>
            <a:off x="5108398" y="2071633"/>
            <a:ext cx="7082050" cy="1653849"/>
          </a:xfrm>
          <a:prstGeom prst="rect">
            <a:avLst/>
          </a:prstGeom>
        </p:spPr>
        <p:txBody>
          <a:bodyPr anchor="b"/>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charset="-122"/>
                <a:ea typeface="微软雅黑" panose="020B0503020204020204" charset="-122"/>
                <a:cs typeface="+mn-cs"/>
              </a:defRPr>
            </a:lvl1pPr>
          </a:lstStyle>
          <a:p>
            <a:pPr>
              <a:defRPr/>
            </a:pPr>
            <a:r>
              <a:rPr altLang="zh-CN"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a:ln>
                <a:solidFill>
                  <a:schemeClr val="bg1"/>
                </a:solidFill>
              </a:ln>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4" name="图片 3"/>
          <p:cNvPicPr>
            <a:picLocks noChangeAspect="1"/>
          </p:cNvPicPr>
          <p:nvPr/>
        </p:nvPicPr>
        <p:blipFill>
          <a:blip r:embed="rId2" cstate="print"/>
          <a:stretch>
            <a:fillRect/>
          </a:stretch>
        </p:blipFill>
        <p:spPr>
          <a:xfrm>
            <a:off x="202394" y="2246810"/>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矩形 7"/>
          <p:cNvSpPr>
            <a:spLocks noChangeArrowheads="1"/>
          </p:cNvSpPr>
          <p:nvPr userDrawn="1"/>
        </p:nvSpPr>
        <p:spPr bwMode="auto">
          <a:xfrm>
            <a:off x="0" y="1967879"/>
            <a:ext cx="12189884" cy="2168691"/>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fontAlgn="base">
              <a:spcBef>
                <a:spcPct val="0"/>
              </a:spcBef>
              <a:spcAft>
                <a:spcPct val="0"/>
              </a:spcAft>
              <a:defRPr/>
            </a:pPr>
            <a:endParaRPr lang="zh-CN" altLang="en-US" sz="950" baseline="0" dirty="0">
              <a:solidFill>
                <a:srgbClr val="FFFFFF"/>
              </a:solidFill>
              <a:latin typeface="Times New Roman" panose="02020603050405020304" pitchFamily="18" charset="0"/>
              <a:ea typeface="宋体" panose="02010600030101010101" pitchFamily="2" charset="-122"/>
              <a:cs typeface="宋体" panose="02010600030101010101" pitchFamily="2" charset="-122"/>
            </a:endParaRPr>
          </a:p>
        </p:txBody>
      </p:sp>
      <p:sp>
        <p:nvSpPr>
          <p:cNvPr id="9" name="Title 1"/>
          <p:cNvSpPr txBox="1"/>
          <p:nvPr userDrawn="1"/>
        </p:nvSpPr>
        <p:spPr>
          <a:xfrm>
            <a:off x="5003623" y="1657613"/>
            <a:ext cx="7082051" cy="1653849"/>
          </a:xfrm>
          <a:prstGeom prst="rect">
            <a:avLst/>
          </a:prstGeom>
        </p:spPr>
        <p:txBody>
          <a:bodyPr vert="horz" lIns="91440" tIns="45720" rIns="91440" bIns="45720" rtlCol="0" anchor="b">
            <a:noAutofit/>
          </a:bodyPr>
          <a:lstStyle>
            <a:lvl1pPr algn="ctr" defTabSz="1028700" rtl="0" eaLnBrk="1" fontAlgn="base" latinLnBrk="0" hangingPunct="1">
              <a:lnSpc>
                <a:spcPts val="3360"/>
              </a:lnSpc>
              <a:spcBef>
                <a:spcPts val="630"/>
              </a:spcBef>
              <a:spcAft>
                <a:spcPct val="0"/>
              </a:spcAft>
              <a:buNone/>
              <a:defRPr lang="en-US" sz="2940" b="1" kern="1200" dirty="0">
                <a:solidFill>
                  <a:schemeClr val="bg1"/>
                </a:solidFill>
                <a:latin typeface="微软雅黑" panose="020B0503020204020204" charset="-122"/>
                <a:ea typeface="微软雅黑" panose="020B0503020204020204" charset="-122"/>
                <a:cs typeface="+mn-cs"/>
              </a:defRPr>
            </a:lvl1pPr>
          </a:lstStyle>
          <a:p>
            <a:r>
              <a:rPr altLang="zh-CN"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rPr>
              <a:t>Thank you!</a:t>
            </a:r>
            <a:endParaRPr lang="zh-CN" altLang="en-US" sz="6600" baseline="0" dirty="0">
              <a:ln>
                <a:solidFill>
                  <a:srgbClr val="FFFFFF"/>
                </a:solidFill>
              </a:ln>
              <a:solidFill>
                <a:srgbClr val="FFFFFF"/>
              </a:solidFill>
              <a:effectLst>
                <a:reflection blurRad="6350" stA="50000" endA="300" endPos="50000" dist="29997" dir="5400000" sy="-100000" algn="bl" rotWithShape="0"/>
              </a:effectLst>
              <a:latin typeface="Times New Roman" panose="02020603050405020304" pitchFamily="18" charset="0"/>
              <a:ea typeface="宋体" panose="02010600030101010101" pitchFamily="2" charset="-122"/>
            </a:endParaRPr>
          </a:p>
        </p:txBody>
      </p:sp>
      <p:pic>
        <p:nvPicPr>
          <p:cNvPr id="10" name="图片 9" descr="AW视觉符号.jpg"/>
          <p:cNvPicPr>
            <a:picLocks noChangeAspect="1"/>
          </p:cNvPicPr>
          <p:nvPr userDrawn="1"/>
        </p:nvPicPr>
        <p:blipFill>
          <a:blip r:embed="rId2" cstate="print"/>
          <a:stretch>
            <a:fillRect/>
          </a:stretch>
        </p:blipFill>
        <p:spPr>
          <a:xfrm>
            <a:off x="202395" y="2246811"/>
            <a:ext cx="4697018" cy="247818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255588" y="195263"/>
            <a:ext cx="10972800"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noChangeArrowheads="1"/>
          </p:cNvSpPr>
          <p:nvPr>
            <p:ph type="body" idx="9"/>
          </p:nvPr>
        </p:nvSpPr>
        <p:spPr bwMode="auto">
          <a:xfrm>
            <a:off x="422275" y="1187450"/>
            <a:ext cx="10972800"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a:t>
            </a:r>
          </a:p>
        </p:txBody>
      </p:sp>
      <p:sp>
        <p:nvSpPr>
          <p:cNvPr id="8" name="日期占位符 7"/>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fld id="{8B362659-EDEF-4896-B44C-15816E2E4CD8}" type="datetimeFigureOut">
              <a:rPr lang="zh-CN" altLang="en-US" smtClean="0"/>
              <a:t>2025/11/10</a:t>
            </a:fld>
            <a:endParaRPr lang="zh-CN" altLang="en-US"/>
          </a:p>
        </p:txBody>
      </p:sp>
      <p:sp>
        <p:nvSpPr>
          <p:cNvPr id="13" name="页脚占位符 12"/>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baseline="0">
                <a:solidFill>
                  <a:schemeClr val="tx1">
                    <a:tint val="75000"/>
                  </a:schemeClr>
                </a:solidFill>
                <a:latin typeface="Times New Roman" panose="02020603050405020304" pitchFamily="18" charset="0"/>
                <a:ea typeface="宋体" panose="02010600030101010101" pitchFamily="2" charset="-122"/>
              </a:defRPr>
            </a:lvl1pPr>
          </a:lstStyle>
          <a:p>
            <a:endParaRPr lang="zh-CN" altLang="en-US"/>
          </a:p>
        </p:txBody>
      </p:sp>
      <p:sp>
        <p:nvSpPr>
          <p:cNvPr id="14" name="灯片编号占位符 13"/>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lstStyle>
            <a:lvl1pPr algn="r" eaLnBrk="1" hangingPunct="1">
              <a:defRPr sz="1200" baseline="0">
                <a:solidFill>
                  <a:srgbClr val="898989"/>
                </a:solidFill>
                <a:latin typeface="Times New Roman" panose="02020603050405020304" pitchFamily="18" charset="0"/>
                <a:ea typeface="宋体" panose="02010600030101010101" pitchFamily="2" charset="-122"/>
              </a:defRPr>
            </a:lvl1pPr>
          </a:lstStyle>
          <a:p>
            <a:fld id="{414597ED-A428-4847-8034-7A70C69917B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Lst>
  <p:txStyles>
    <p:titleStyle>
      <a:lvl1pPr algn="l" rtl="0" eaLnBrk="1" fontAlgn="base" hangingPunct="1">
        <a:spcBef>
          <a:spcPct val="0"/>
        </a:spcBef>
        <a:spcAft>
          <a:spcPct val="0"/>
        </a:spcAft>
        <a:defRPr sz="2500" baseline="0">
          <a:solidFill>
            <a:schemeClr val="tx1"/>
          </a:solidFill>
          <a:latin typeface="Times New Roman" panose="02020603050405020304" pitchFamily="18" charset="0"/>
          <a:ea typeface="宋体" panose="02010600030101010101" pitchFamily="2" charset="-122"/>
          <a:cs typeface="微软雅黑" panose="020B0503020204020204" charset="-122"/>
        </a:defRPr>
      </a:lvl1pPr>
      <a:lvl2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2pPr>
      <a:lvl3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3pPr>
      <a:lvl4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4pPr>
      <a:lvl5pPr algn="l" rtl="0" eaLnBrk="1" fontAlgn="base" hangingPunct="1">
        <a:spcBef>
          <a:spcPct val="0"/>
        </a:spcBef>
        <a:spcAft>
          <a:spcPct val="0"/>
        </a:spcAft>
        <a:defRPr sz="2500">
          <a:solidFill>
            <a:schemeClr val="tx1"/>
          </a:solidFill>
          <a:latin typeface="Calibri" panose="020F0502020204030204" pitchFamily="34" charset="0"/>
          <a:ea typeface="微软雅黑" panose="020B0503020204020204" charset="-122"/>
          <a:cs typeface="微软雅黑" panose="020B0503020204020204" charset="-122"/>
        </a:defRPr>
      </a:lvl5pPr>
      <a:lvl6pPr marL="483870"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6pPr>
      <a:lvl7pPr marL="967740"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7pPr>
      <a:lvl8pPr marL="1450975"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8pPr>
      <a:lvl9pPr marL="1934845" algn="l" rtl="0" eaLnBrk="1" fontAlgn="base" hangingPunct="1">
        <a:spcBef>
          <a:spcPct val="0"/>
        </a:spcBef>
        <a:spcAft>
          <a:spcPct val="0"/>
        </a:spcAft>
        <a:defRPr sz="2540">
          <a:solidFill>
            <a:schemeClr val="tx1"/>
          </a:solidFill>
          <a:latin typeface="Calibri" panose="020F0502020204030204" pitchFamily="34" charset="0"/>
          <a:ea typeface="黑体" panose="02010609060101010101" charset="-122"/>
        </a:defRPr>
      </a:lvl9pPr>
    </p:titleStyle>
    <p:bodyStyle>
      <a:lvl1pPr marL="361950" indent="-361950" algn="l" rtl="0" eaLnBrk="1" fontAlgn="base" hangingPunct="1">
        <a:spcBef>
          <a:spcPct val="20000"/>
        </a:spcBef>
        <a:spcAft>
          <a:spcPct val="0"/>
        </a:spcAft>
        <a:buClr>
          <a:srgbClr val="000066"/>
        </a:buClr>
        <a:buFont typeface="Wingdings" panose="05000000000000000000" pitchFamily="2" charset="2"/>
        <a:buChar char="n"/>
        <a:defRPr sz="2100" baseline="0">
          <a:solidFill>
            <a:schemeClr val="tx1"/>
          </a:solidFill>
          <a:latin typeface="Times New Roman" panose="02020603050405020304" pitchFamily="18" charset="0"/>
          <a:ea typeface="宋体" panose="02010600030101010101" pitchFamily="2" charset="-122"/>
          <a:cs typeface="宋体" panose="02010600030101010101" pitchFamily="2" charset="-122"/>
        </a:defRPr>
      </a:lvl1pPr>
      <a:lvl2pPr marL="786130" indent="-301625" algn="l" rtl="0" eaLnBrk="1" fontAlgn="base" hangingPunct="1">
        <a:spcBef>
          <a:spcPct val="20000"/>
        </a:spcBef>
        <a:spcAft>
          <a:spcPct val="0"/>
        </a:spcAft>
        <a:buFont typeface="Arial" panose="020B0604020202020204" pitchFamily="34" charset="0"/>
        <a:buChar char="–"/>
        <a:defRPr sz="2900">
          <a:solidFill>
            <a:schemeClr val="tx1"/>
          </a:solidFill>
          <a:latin typeface="+mn-lt"/>
          <a:ea typeface="+mn-ea"/>
        </a:defRPr>
      </a:lvl2pPr>
      <a:lvl3pPr marL="1208405" indent="-241300" algn="l" rtl="0" eaLnBrk="1" fontAlgn="base" hangingPunct="1">
        <a:spcBef>
          <a:spcPct val="20000"/>
        </a:spcBef>
        <a:spcAft>
          <a:spcPct val="0"/>
        </a:spcAft>
        <a:buFont typeface="Arial" panose="020B0604020202020204" pitchFamily="34" charset="0"/>
        <a:buChar char="•"/>
        <a:defRPr sz="2500">
          <a:solidFill>
            <a:schemeClr val="tx1"/>
          </a:solidFill>
          <a:latin typeface="+mn-lt"/>
          <a:ea typeface="+mn-ea"/>
        </a:defRPr>
      </a:lvl3pPr>
      <a:lvl4pPr marL="1692275"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4pPr>
      <a:lvl5pPr marL="2176780" indent="-241300" algn="l" rtl="0" eaLnBrk="1" fontAlgn="base" hangingPunct="1">
        <a:spcBef>
          <a:spcPct val="20000"/>
        </a:spcBef>
        <a:spcAft>
          <a:spcPct val="0"/>
        </a:spcAft>
        <a:buFont typeface="Arial" panose="020B0604020202020204" pitchFamily="34" charset="0"/>
        <a:buChar char="»"/>
        <a:defRPr sz="2100">
          <a:solidFill>
            <a:schemeClr val="tx1"/>
          </a:solidFill>
          <a:latin typeface="+mn-lt"/>
          <a:ea typeface="+mn-ea"/>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p:bodyStyle>
    <p:otherStyle>
      <a:defPPr>
        <a:defRPr lang="zh-CN"/>
      </a:defPPr>
      <a:lvl1pPr marL="0" algn="l" defTabSz="967740" rtl="0" eaLnBrk="1" latinLnBrk="0" hangingPunct="1">
        <a:defRPr sz="1905" kern="1200">
          <a:solidFill>
            <a:schemeClr val="tx1"/>
          </a:solidFill>
          <a:latin typeface="+mn-lt"/>
          <a:ea typeface="+mn-ea"/>
          <a:cs typeface="+mn-cs"/>
        </a:defRPr>
      </a:lvl1pPr>
      <a:lvl2pPr marL="483870" algn="l" defTabSz="967740" rtl="0" eaLnBrk="1" latinLnBrk="0" hangingPunct="1">
        <a:defRPr sz="1905" kern="1200">
          <a:solidFill>
            <a:schemeClr val="tx1"/>
          </a:solidFill>
          <a:latin typeface="+mn-lt"/>
          <a:ea typeface="+mn-ea"/>
          <a:cs typeface="+mn-cs"/>
        </a:defRPr>
      </a:lvl2pPr>
      <a:lvl3pPr marL="967740" algn="l" defTabSz="967740" rtl="0" eaLnBrk="1" latinLnBrk="0" hangingPunct="1">
        <a:defRPr sz="1905" kern="1200">
          <a:solidFill>
            <a:schemeClr val="tx1"/>
          </a:solidFill>
          <a:latin typeface="+mn-lt"/>
          <a:ea typeface="+mn-ea"/>
          <a:cs typeface="+mn-cs"/>
        </a:defRPr>
      </a:lvl3pPr>
      <a:lvl4pPr marL="1450975" algn="l" defTabSz="967740" rtl="0" eaLnBrk="1" latinLnBrk="0" hangingPunct="1">
        <a:defRPr sz="1905" kern="1200">
          <a:solidFill>
            <a:schemeClr val="tx1"/>
          </a:solidFill>
          <a:latin typeface="+mn-lt"/>
          <a:ea typeface="+mn-ea"/>
          <a:cs typeface="+mn-cs"/>
        </a:defRPr>
      </a:lvl4pPr>
      <a:lvl5pPr marL="1934845" algn="l" defTabSz="967740" rtl="0" eaLnBrk="1" latinLnBrk="0" hangingPunct="1">
        <a:defRPr sz="1905" kern="1200">
          <a:solidFill>
            <a:schemeClr val="tx1"/>
          </a:solidFill>
          <a:latin typeface="+mn-lt"/>
          <a:ea typeface="+mn-ea"/>
          <a:cs typeface="+mn-cs"/>
        </a:defRPr>
      </a:lvl5pPr>
      <a:lvl6pPr marL="2418715" algn="l" defTabSz="967740" rtl="0" eaLnBrk="1" latinLnBrk="0" hangingPunct="1">
        <a:defRPr sz="1905" kern="1200">
          <a:solidFill>
            <a:schemeClr val="tx1"/>
          </a:solidFill>
          <a:latin typeface="+mn-lt"/>
          <a:ea typeface="+mn-ea"/>
          <a:cs typeface="+mn-cs"/>
        </a:defRPr>
      </a:lvl6pPr>
      <a:lvl7pPr marL="2902585" algn="l" defTabSz="967740" rtl="0" eaLnBrk="1" latinLnBrk="0" hangingPunct="1">
        <a:defRPr sz="1905" kern="1200">
          <a:solidFill>
            <a:schemeClr val="tx1"/>
          </a:solidFill>
          <a:latin typeface="+mn-lt"/>
          <a:ea typeface="+mn-ea"/>
          <a:cs typeface="+mn-cs"/>
        </a:defRPr>
      </a:lvl7pPr>
      <a:lvl8pPr marL="3386455" algn="l" defTabSz="967740" rtl="0" eaLnBrk="1" latinLnBrk="0" hangingPunct="1">
        <a:defRPr sz="1905" kern="1200">
          <a:solidFill>
            <a:schemeClr val="tx1"/>
          </a:solidFill>
          <a:latin typeface="+mn-lt"/>
          <a:ea typeface="+mn-ea"/>
          <a:cs typeface="+mn-cs"/>
        </a:defRPr>
      </a:lvl8pPr>
      <a:lvl9pPr marL="3870325" algn="l" defTabSz="967740" rtl="0" eaLnBrk="1" latinLnBrk="0" hangingPunct="1">
        <a:defRPr sz="19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351868" y="2448398"/>
            <a:ext cx="6544007" cy="1258297"/>
          </a:xfrm>
        </p:spPr>
        <p:txBody>
          <a:bodyPr/>
          <a:lstStyle/>
          <a:p>
            <a:r>
              <a:rPr lang="en-US" altLang="zh-CN" sz="4000" dirty="0">
                <a:cs typeface="Times New Roman" panose="02020603050405020304" pitchFamily="18" charset="0"/>
                <a:sym typeface="+mn-ea"/>
              </a:rPr>
              <a:t>scikit-learn</a:t>
            </a:r>
            <a:r>
              <a:rPr lang="zh-CN" altLang="en-US" sz="4000" dirty="0">
                <a:cs typeface="Times New Roman" panose="02020603050405020304" pitchFamily="18" charset="0"/>
                <a:sym typeface="+mn-ea"/>
              </a:rPr>
              <a:t>机器学习基础（</a:t>
            </a:r>
            <a:r>
              <a:rPr lang="en-US" altLang="zh-CN" sz="4000" dirty="0">
                <a:cs typeface="Times New Roman" panose="02020603050405020304" pitchFamily="18" charset="0"/>
                <a:sym typeface="+mn-ea"/>
              </a:rPr>
              <a:t>1</a:t>
            </a:r>
            <a:r>
              <a:rPr lang="zh-CN" altLang="en-US" sz="4000" dirty="0">
                <a:cs typeface="Times New Roman" panose="02020603050405020304" pitchFamily="18" charset="0"/>
                <a:sym typeface="+mn-ea"/>
              </a:rPr>
              <a:t>）</a:t>
            </a:r>
            <a:endParaRPr lang="zh-CN" altLang="en-US" sz="4000" dirty="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机器学习简介</a:t>
            </a:r>
          </a:p>
        </p:txBody>
      </p:sp>
      <p:sp>
        <p:nvSpPr>
          <p:cNvPr id="4" name="文本框 2"/>
          <p:cNvSpPr txBox="1">
            <a:spLocks noChangeArrowheads="1"/>
          </p:cNvSpPr>
          <p:nvPr/>
        </p:nvSpPr>
        <p:spPr bwMode="auto">
          <a:xfrm>
            <a:off x="354694" y="1157587"/>
            <a:ext cx="11837305"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gn="just">
              <a:spcBef>
                <a:spcPct val="0"/>
              </a:spcBef>
              <a:buClrTx/>
              <a:buNone/>
              <a:defRPr/>
            </a:pPr>
            <a:r>
              <a:rPr lang="en-US" altLang="zh-CN" sz="2000" b="0" dirty="0">
                <a:solidFill>
                  <a:srgbClr val="000000"/>
                </a:solidFill>
                <a:latin typeface="Arial" panose="020B0604020202020204" pitchFamily="34" charset="0"/>
                <a:ea typeface="楷体_GB2312" charset="-122"/>
              </a:rPr>
              <a:t>       </a:t>
            </a:r>
            <a:r>
              <a:rPr lang="zh-CN" altLang="en-US" sz="2000" b="0" dirty="0">
                <a:solidFill>
                  <a:srgbClr val="000000"/>
                </a:solidFill>
                <a:latin typeface="Arial" panose="020B0604020202020204" pitchFamily="34" charset="0"/>
                <a:ea typeface="楷体_GB2312" charset="-122"/>
              </a:rPr>
              <a:t>机器学习（Machine Learning，ML）是一门多领域交叉学科，涉及</a:t>
            </a:r>
            <a:r>
              <a:rPr lang="zh-CN" altLang="en-US" sz="2000" b="0" dirty="0">
                <a:solidFill>
                  <a:srgbClr val="FF0000"/>
                </a:solidFill>
                <a:latin typeface="Arial" panose="020B0604020202020204" pitchFamily="34" charset="0"/>
                <a:ea typeface="楷体_GB2312" charset="-122"/>
              </a:rPr>
              <a:t>线性代数、统计学、凸分析、算法复杂度理论、逼近论</a:t>
            </a:r>
            <a:r>
              <a:rPr lang="zh-CN" altLang="en-US" sz="2000" b="0" dirty="0">
                <a:solidFill>
                  <a:srgbClr val="000000"/>
                </a:solidFill>
                <a:latin typeface="Arial" panose="020B0604020202020204" pitchFamily="34" charset="0"/>
                <a:ea typeface="楷体_GB2312" charset="-122"/>
              </a:rPr>
              <a:t>等多门学科。它是人工智能的核心，是使计算机具有智能的根本途径。它的应用已遍及人工智能的各个分支，如</a:t>
            </a:r>
            <a:r>
              <a:rPr lang="zh-CN" altLang="en-US" sz="2000" b="0" dirty="0">
                <a:solidFill>
                  <a:srgbClr val="FF0000"/>
                </a:solidFill>
                <a:latin typeface="Arial" panose="020B0604020202020204" pitchFamily="34" charset="0"/>
                <a:ea typeface="楷体_GB2312" charset="-122"/>
              </a:rPr>
              <a:t>专家系统、自然语言理解、模式识别、计算机视觉、智能机器人</a:t>
            </a:r>
            <a:r>
              <a:rPr lang="zh-CN" altLang="en-US" sz="2000" b="0" dirty="0">
                <a:solidFill>
                  <a:srgbClr val="000000"/>
                </a:solidFill>
                <a:latin typeface="Arial" panose="020B0604020202020204" pitchFamily="34" charset="0"/>
                <a:ea typeface="楷体_GB2312" charset="-122"/>
              </a:rPr>
              <a:t>等领域。机器学习有很多学习方法：</a:t>
            </a:r>
            <a:endParaRPr lang="en-US" altLang="zh-CN" sz="2000" b="0" dirty="0">
              <a:solidFill>
                <a:srgbClr val="000000"/>
              </a:solidFill>
              <a:latin typeface="Arial" panose="020B0604020202020204" pitchFamily="34" charset="0"/>
              <a:ea typeface="楷体_GB2312" charset="-122"/>
            </a:endParaRPr>
          </a:p>
          <a:p>
            <a:pPr algn="just" eaLnBrk="1" hangingPunct="1">
              <a:spcBef>
                <a:spcPct val="0"/>
              </a:spcBef>
              <a:buClrTx/>
              <a:buFontTx/>
              <a:buNone/>
              <a:defRPr/>
            </a:pPr>
            <a:endParaRPr lang="en-US" altLang="zh-CN" sz="2000" b="0" dirty="0">
              <a:solidFill>
                <a:srgbClr val="064BB2"/>
              </a:solidFill>
              <a:latin typeface="Arial" panose="020B0604020202020204" pitchFamily="34" charset="0"/>
              <a:ea typeface="楷体_GB2312" charset="-122"/>
            </a:endParaRPr>
          </a:p>
          <a:p>
            <a:pPr marL="342900" indent="-342900" algn="just">
              <a:spcBef>
                <a:spcPct val="0"/>
              </a:spcBef>
              <a:buClrTx/>
              <a:buFont typeface="Wingdings" panose="05000000000000000000" pitchFamily="2" charset="2"/>
              <a:buChar char="p"/>
              <a:defRPr/>
            </a:pPr>
            <a:r>
              <a:rPr lang="zh-CN" altLang="en-US" sz="2000" b="0" dirty="0">
                <a:solidFill>
                  <a:srgbClr val="064BB2"/>
                </a:solidFill>
                <a:latin typeface="Arial" panose="020B0604020202020204" pitchFamily="34" charset="0"/>
                <a:ea typeface="楷体_GB2312" charset="-122"/>
              </a:rPr>
              <a:t>监督学习（supervised learning）</a:t>
            </a:r>
            <a:endParaRPr lang="en-US" altLang="zh-CN" sz="2000" b="0" dirty="0">
              <a:solidFill>
                <a:srgbClr val="064BB2"/>
              </a:solidFill>
              <a:latin typeface="Arial" panose="020B0604020202020204" pitchFamily="34" charset="0"/>
              <a:ea typeface="楷体_GB2312" charset="-122"/>
            </a:endParaRPr>
          </a:p>
          <a:p>
            <a:pPr marL="342900" indent="-342900" algn="just" eaLnBrk="1" hangingPunct="1">
              <a:spcBef>
                <a:spcPct val="0"/>
              </a:spcBef>
              <a:buClrTx/>
              <a:buFont typeface="Wingdings" panose="05000000000000000000" pitchFamily="2" charset="2"/>
              <a:buChar char="p"/>
              <a:defRPr/>
            </a:pPr>
            <a:endParaRPr lang="en-US" altLang="zh-CN" sz="2000" b="0" dirty="0">
              <a:solidFill>
                <a:srgbClr val="064BB2"/>
              </a:solidFill>
              <a:latin typeface="Arial" panose="020B0604020202020204" pitchFamily="34" charset="0"/>
              <a:ea typeface="楷体_GB2312" charset="-122"/>
            </a:endParaRPr>
          </a:p>
          <a:p>
            <a:pPr marL="342900" indent="-342900" algn="just" eaLnBrk="1" hangingPunct="1">
              <a:spcBef>
                <a:spcPct val="0"/>
              </a:spcBef>
              <a:buClrTx/>
              <a:buFont typeface="Wingdings" panose="05000000000000000000" pitchFamily="2" charset="2"/>
              <a:buChar char="p"/>
              <a:defRPr/>
            </a:pPr>
            <a:r>
              <a:rPr lang="zh-CN" altLang="en-US" sz="2000" b="0" dirty="0">
                <a:solidFill>
                  <a:srgbClr val="064BB2"/>
                </a:solidFill>
                <a:latin typeface="Arial" panose="020B0604020202020204" pitchFamily="34" charset="0"/>
                <a:ea typeface="楷体_GB2312" charset="-122"/>
              </a:rPr>
              <a:t>无监督学习（unsupervised learning）</a:t>
            </a:r>
            <a:endParaRPr lang="en-US" altLang="zh-CN" sz="2000" b="0" dirty="0">
              <a:solidFill>
                <a:srgbClr val="064BB2"/>
              </a:solidFill>
              <a:latin typeface="Arial" panose="020B0604020202020204" pitchFamily="34" charset="0"/>
              <a:ea typeface="楷体_GB2312" charset="-122"/>
            </a:endParaRPr>
          </a:p>
          <a:p>
            <a:pPr marL="342900" indent="-342900" algn="just" eaLnBrk="1" hangingPunct="1">
              <a:spcBef>
                <a:spcPct val="0"/>
              </a:spcBef>
              <a:buClrTx/>
              <a:buFont typeface="Wingdings" panose="05000000000000000000" pitchFamily="2" charset="2"/>
              <a:buChar char="p"/>
              <a:defRPr/>
            </a:pPr>
            <a:endParaRPr lang="en-US" altLang="zh-CN" sz="2000" b="0" dirty="0">
              <a:solidFill>
                <a:srgbClr val="000000"/>
              </a:solidFill>
              <a:latin typeface="Arial" panose="020B0604020202020204" pitchFamily="34" charset="0"/>
              <a:ea typeface="楷体_GB2312" charset="-122"/>
            </a:endParaRPr>
          </a:p>
          <a:p>
            <a:pPr marL="342900" indent="-342900" algn="just" eaLnBrk="1" hangingPunct="1">
              <a:spcBef>
                <a:spcPct val="0"/>
              </a:spcBef>
              <a:buClrTx/>
              <a:buFont typeface="Wingdings" panose="05000000000000000000" pitchFamily="2" charset="2"/>
              <a:buChar char="p"/>
              <a:defRPr/>
            </a:pPr>
            <a:r>
              <a:rPr lang="zh-CN" altLang="en-US" sz="2000" b="0" dirty="0">
                <a:solidFill>
                  <a:srgbClr val="000000"/>
                </a:solidFill>
                <a:latin typeface="Arial" panose="020B0604020202020204" pitchFamily="34" charset="0"/>
                <a:ea typeface="楷体_GB2312" charset="-122"/>
              </a:rPr>
              <a:t>半监督学习（</a:t>
            </a:r>
            <a:r>
              <a:rPr lang="en-US" altLang="zh-CN" sz="2000" b="0" dirty="0">
                <a:solidFill>
                  <a:srgbClr val="000000"/>
                </a:solidFill>
                <a:latin typeface="Arial" panose="020B0604020202020204" pitchFamily="34" charset="0"/>
                <a:ea typeface="楷体_GB2312" charset="-122"/>
              </a:rPr>
              <a:t>s</a:t>
            </a:r>
            <a:r>
              <a:rPr lang="zh-CN" altLang="en-US" sz="2000" b="0" dirty="0">
                <a:solidFill>
                  <a:srgbClr val="000000"/>
                </a:solidFill>
                <a:latin typeface="Arial" panose="020B0604020202020204" pitchFamily="34" charset="0"/>
                <a:ea typeface="楷体_GB2312" charset="-122"/>
              </a:rPr>
              <a:t>emi-supervised Learning）</a:t>
            </a:r>
            <a:endParaRPr lang="en-US" altLang="zh-CN" sz="2000" b="0" dirty="0">
              <a:solidFill>
                <a:srgbClr val="000000"/>
              </a:solidFill>
              <a:latin typeface="Arial" panose="020B0604020202020204" pitchFamily="34" charset="0"/>
              <a:ea typeface="楷体_GB2312" charset="-122"/>
            </a:endParaRPr>
          </a:p>
          <a:p>
            <a:pPr marL="342900" indent="-342900" algn="just" eaLnBrk="1" hangingPunct="1">
              <a:spcBef>
                <a:spcPct val="0"/>
              </a:spcBef>
              <a:buClrTx/>
              <a:buFont typeface="Wingdings" panose="05000000000000000000" pitchFamily="2" charset="2"/>
              <a:buChar char="p"/>
              <a:defRPr/>
            </a:pPr>
            <a:endParaRPr lang="en-US" altLang="zh-CN" sz="2000" b="0" dirty="0">
              <a:solidFill>
                <a:srgbClr val="000000"/>
              </a:solidFill>
              <a:latin typeface="Arial" panose="020B0604020202020204" pitchFamily="34" charset="0"/>
              <a:ea typeface="楷体_GB2312" charset="-122"/>
            </a:endParaRPr>
          </a:p>
          <a:p>
            <a:pPr marL="342900" indent="-342900" algn="just">
              <a:spcBef>
                <a:spcPct val="0"/>
              </a:spcBef>
              <a:buClrTx/>
              <a:buFont typeface="Wingdings" panose="05000000000000000000" pitchFamily="2" charset="2"/>
              <a:buChar char="p"/>
              <a:defRPr/>
            </a:pPr>
            <a:r>
              <a:rPr lang="zh-CN" altLang="en-US" sz="2000" b="0" dirty="0">
                <a:solidFill>
                  <a:srgbClr val="000000"/>
                </a:solidFill>
                <a:latin typeface="Arial" panose="020B0604020202020204" pitchFamily="34" charset="0"/>
                <a:ea typeface="楷体_GB2312" charset="-122"/>
              </a:rPr>
              <a:t>自监督学习（</a:t>
            </a:r>
            <a:r>
              <a:rPr lang="en-US" altLang="zh-CN" sz="2000" b="0" dirty="0">
                <a:solidFill>
                  <a:srgbClr val="000000"/>
                </a:solidFill>
                <a:latin typeface="Arial" panose="020B0604020202020204" pitchFamily="34" charset="0"/>
                <a:ea typeface="楷体_GB2312" charset="-122"/>
              </a:rPr>
              <a:t>self-supervised Learning</a:t>
            </a:r>
            <a:r>
              <a:rPr lang="zh-CN" altLang="en-US" sz="2000" b="0" dirty="0">
                <a:solidFill>
                  <a:srgbClr val="000000"/>
                </a:solidFill>
                <a:latin typeface="Arial" panose="020B0604020202020204" pitchFamily="34" charset="0"/>
                <a:ea typeface="楷体_GB2312" charset="-122"/>
              </a:rPr>
              <a:t>）</a:t>
            </a:r>
            <a:endParaRPr lang="en-US" altLang="zh-CN" sz="2000" b="0" dirty="0">
              <a:solidFill>
                <a:srgbClr val="000000"/>
              </a:solidFill>
              <a:latin typeface="Arial" panose="020B0604020202020204" pitchFamily="34" charset="0"/>
              <a:ea typeface="楷体_GB2312" charset="-122"/>
            </a:endParaRPr>
          </a:p>
          <a:p>
            <a:pPr marL="342900" indent="-342900" algn="just">
              <a:spcBef>
                <a:spcPct val="0"/>
              </a:spcBef>
              <a:buClrTx/>
              <a:buFont typeface="Wingdings" panose="05000000000000000000" pitchFamily="2" charset="2"/>
              <a:buChar char="p"/>
              <a:defRPr/>
            </a:pPr>
            <a:endParaRPr lang="en-US" altLang="zh-CN" sz="2000" b="0" dirty="0">
              <a:solidFill>
                <a:srgbClr val="000000"/>
              </a:solidFill>
              <a:latin typeface="Arial" panose="020B0604020202020204" pitchFamily="34" charset="0"/>
              <a:ea typeface="楷体_GB2312" charset="-122"/>
            </a:endParaRPr>
          </a:p>
        </p:txBody>
      </p:sp>
      <p:pic>
        <p:nvPicPr>
          <p:cNvPr id="5" name="图片 5"/>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10008" y="3515178"/>
            <a:ext cx="1933575"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8318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机器学习简介</a:t>
            </a:r>
          </a:p>
        </p:txBody>
      </p:sp>
      <p:sp>
        <p:nvSpPr>
          <p:cNvPr id="6" name="文本框 2"/>
          <p:cNvSpPr txBox="1">
            <a:spLocks noChangeArrowheads="1"/>
          </p:cNvSpPr>
          <p:nvPr/>
        </p:nvSpPr>
        <p:spPr bwMode="auto">
          <a:xfrm>
            <a:off x="254876" y="1224825"/>
            <a:ext cx="1170667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gn="just">
              <a:spcBef>
                <a:spcPct val="0"/>
              </a:spcBef>
              <a:buClrTx/>
              <a:buNone/>
            </a:pPr>
            <a:r>
              <a:rPr lang="zh-CN" altLang="en-US" sz="2000" b="0" dirty="0">
                <a:solidFill>
                  <a:srgbClr val="000000"/>
                </a:solidFill>
                <a:latin typeface="Arial" panose="020B0604020202020204" pitchFamily="34" charset="0"/>
                <a:ea typeface="楷体_GB2312" charset="-122"/>
              </a:rPr>
              <a:t>下图展示了几种监督机器学习算法。</a:t>
            </a:r>
          </a:p>
        </p:txBody>
      </p:sp>
      <p:pic>
        <p:nvPicPr>
          <p:cNvPr id="9" name="图片 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2288" y="2927532"/>
            <a:ext cx="7980363"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12370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机器学习简介</a:t>
            </a:r>
          </a:p>
        </p:txBody>
      </p:sp>
      <p:sp>
        <p:nvSpPr>
          <p:cNvPr id="3" name="矩形 2"/>
          <p:cNvSpPr/>
          <p:nvPr/>
        </p:nvSpPr>
        <p:spPr>
          <a:xfrm>
            <a:off x="111184" y="1218587"/>
            <a:ext cx="11260183" cy="923330"/>
          </a:xfrm>
          <a:prstGeom prst="rect">
            <a:avLst/>
          </a:prstGeom>
        </p:spPr>
        <p:txBody>
          <a:bodyPr wrap="square">
            <a:spAutoFit/>
          </a:bodyPr>
          <a:lstStyle/>
          <a:p>
            <a:pPr algn="just"/>
            <a:r>
              <a:rPr lang="en-US" altLang="zh-CN" dirty="0">
                <a:solidFill>
                  <a:srgbClr val="000000"/>
                </a:solidFill>
              </a:rPr>
              <a:t>          </a:t>
            </a:r>
            <a:r>
              <a:rPr lang="zh-CN" altLang="en-US" dirty="0">
                <a:solidFill>
                  <a:srgbClr val="000000"/>
                </a:solidFill>
              </a:rPr>
              <a:t>在监督学习中，</a:t>
            </a:r>
            <a:r>
              <a:rPr lang="zh-CN" altLang="en-US" dirty="0">
                <a:solidFill>
                  <a:srgbClr val="FF0000"/>
                </a:solidFill>
              </a:rPr>
              <a:t>必须具有一定的先验知识</a:t>
            </a:r>
            <a:r>
              <a:rPr lang="zh-CN" altLang="en-US" dirty="0">
                <a:solidFill>
                  <a:srgbClr val="000000"/>
                </a:solidFill>
              </a:rPr>
              <a:t>，例如人工标注类别。</a:t>
            </a:r>
            <a:r>
              <a:rPr lang="zh-CN" altLang="en-US" dirty="0">
                <a:solidFill>
                  <a:srgbClr val="064BB2"/>
                </a:solidFill>
              </a:rPr>
              <a:t>但是在现实生活中，并非所有数据都会具有先验知识，往往缺乏这类人工标注，或者人工标注成本过高</a:t>
            </a:r>
            <a:r>
              <a:rPr lang="zh-CN" altLang="en-US" dirty="0">
                <a:solidFill>
                  <a:srgbClr val="000000"/>
                </a:solidFill>
              </a:rPr>
              <a:t>。这时就需要在没有人工参与的情况下，</a:t>
            </a:r>
            <a:r>
              <a:rPr lang="zh-CN" altLang="en-US" dirty="0">
                <a:solidFill>
                  <a:srgbClr val="FF0000"/>
                </a:solidFill>
              </a:rPr>
              <a:t>让计算机自主地基于某种算法对数据进行处理和学习</a:t>
            </a:r>
            <a:r>
              <a:rPr lang="zh-CN" altLang="en-US" dirty="0">
                <a:solidFill>
                  <a:srgbClr val="000000"/>
                </a:solidFill>
              </a:rPr>
              <a:t>，</a:t>
            </a:r>
            <a:r>
              <a:rPr lang="zh-CN" altLang="en-US" dirty="0">
                <a:solidFill>
                  <a:srgbClr val="00B050"/>
                </a:solidFill>
              </a:rPr>
              <a:t>这称为无监督学习</a:t>
            </a:r>
            <a:r>
              <a:rPr lang="zh-CN" altLang="en-US" dirty="0">
                <a:solidFill>
                  <a:srgbClr val="000000"/>
                </a:solidFill>
              </a:rPr>
              <a:t>。</a:t>
            </a:r>
          </a:p>
        </p:txBody>
      </p:sp>
      <p:sp>
        <p:nvSpPr>
          <p:cNvPr id="8" name="文本框 2"/>
          <p:cNvSpPr txBox="1">
            <a:spLocks noChangeArrowheads="1"/>
          </p:cNvSpPr>
          <p:nvPr/>
        </p:nvSpPr>
        <p:spPr bwMode="auto">
          <a:xfrm>
            <a:off x="0" y="2664838"/>
            <a:ext cx="1196179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楷体_GB2312" charset="-122"/>
              </a:defRPr>
            </a:lvl1pPr>
            <a:lvl2pPr marL="742950" indent="-285750">
              <a:defRPr>
                <a:solidFill>
                  <a:schemeClr val="tx1"/>
                </a:solidFill>
                <a:latin typeface="Arial" panose="020B0604020202020204" pitchFamily="34" charset="0"/>
                <a:ea typeface="楷体_GB2312" charset="-122"/>
              </a:defRPr>
            </a:lvl2pPr>
            <a:lvl3pPr marL="1143000" indent="-228600">
              <a:defRPr>
                <a:solidFill>
                  <a:schemeClr val="tx1"/>
                </a:solidFill>
                <a:latin typeface="Arial" panose="020B0604020202020204" pitchFamily="34" charset="0"/>
                <a:ea typeface="楷体_GB2312" charset="-122"/>
              </a:defRPr>
            </a:lvl3pPr>
            <a:lvl4pPr marL="1600200" indent="-228600">
              <a:defRPr>
                <a:solidFill>
                  <a:schemeClr val="tx1"/>
                </a:solidFill>
                <a:latin typeface="Arial" panose="020B0604020202020204" pitchFamily="34" charset="0"/>
                <a:ea typeface="楷体_GB2312" charset="-122"/>
              </a:defRPr>
            </a:lvl4pPr>
            <a:lvl5pPr marL="2057400" indent="-228600">
              <a:defRPr>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charset="-122"/>
              </a:defRPr>
            </a:lvl9pPr>
          </a:lstStyle>
          <a:p>
            <a:pPr algn="just" eaLnBrk="1" hangingPunct="1"/>
            <a:r>
              <a:rPr lang="en-US" altLang="zh-CN" sz="2000" dirty="0">
                <a:solidFill>
                  <a:srgbClr val="000000"/>
                </a:solidFill>
              </a:rPr>
              <a:t>       </a:t>
            </a:r>
            <a:r>
              <a:rPr lang="zh-CN" altLang="en-US" sz="2000" dirty="0">
                <a:solidFill>
                  <a:srgbClr val="000000"/>
                </a:solidFill>
              </a:rPr>
              <a:t>在无监督式学习中，数据并不被特别标识，学习模型是为了</a:t>
            </a:r>
            <a:r>
              <a:rPr lang="zh-CN" altLang="en-US" sz="2000" dirty="0">
                <a:solidFill>
                  <a:srgbClr val="FF0000"/>
                </a:solidFill>
              </a:rPr>
              <a:t>推断出数据的一些内在结构</a:t>
            </a:r>
            <a:r>
              <a:rPr lang="zh-CN" altLang="en-US" sz="2000" dirty="0">
                <a:solidFill>
                  <a:srgbClr val="000000"/>
                </a:solidFill>
              </a:rPr>
              <a:t>，往往在结果出来之前没人知道结果是什么样子。</a:t>
            </a:r>
            <a:r>
              <a:rPr lang="zh-CN" altLang="en-US" sz="2000" dirty="0">
                <a:solidFill>
                  <a:srgbClr val="FF0000"/>
                </a:solidFill>
              </a:rPr>
              <a:t>常见的应用场景包括聚类和关联规则的学习</a:t>
            </a:r>
            <a:r>
              <a:rPr lang="zh-CN" altLang="en-US" sz="2000" dirty="0">
                <a:solidFill>
                  <a:srgbClr val="000000"/>
                </a:solidFill>
              </a:rPr>
              <a:t>等。聚类算法的典型应用包括：鸡尾酒会问题（即在一个鸡尾酒会上有两种声音，被两个不同的麦克风在不同的地方接收到，如何分离这两种不同的声音？）、图片的自动分类和识别、社交媒体用户的人群划分等等。下图展示了几种无监督机器学习算法。</a:t>
            </a:r>
          </a:p>
        </p:txBody>
      </p:sp>
      <p:pic>
        <p:nvPicPr>
          <p:cNvPr id="9" name="图片 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9489" y="4659237"/>
            <a:ext cx="5762625" cy="129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9849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sp>
        <p:nvSpPr>
          <p:cNvPr id="6" name="文本框 2"/>
          <p:cNvSpPr txBox="1">
            <a:spLocks noChangeArrowheads="1"/>
          </p:cNvSpPr>
          <p:nvPr/>
        </p:nvSpPr>
        <p:spPr bwMode="auto">
          <a:xfrm>
            <a:off x="502738" y="1495244"/>
            <a:ext cx="1108836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gn="just" eaLnBrk="1" hangingPunct="1">
              <a:spcBef>
                <a:spcPct val="0"/>
              </a:spcBef>
              <a:buClrTx/>
              <a:buFont typeface="Wingdings" panose="05000000000000000000" pitchFamily="2" charset="2"/>
              <a:buChar char="u"/>
            </a:pPr>
            <a:r>
              <a:rPr lang="en-US" altLang="zh-CN" sz="2000" b="0" dirty="0">
                <a:solidFill>
                  <a:srgbClr val="000000"/>
                </a:solidFill>
                <a:latin typeface="Arial" panose="020B0604020202020204" pitchFamily="34" charset="0"/>
                <a:ea typeface="楷体_GB2312" charset="-122"/>
              </a:rPr>
              <a:t>       </a:t>
            </a:r>
            <a:r>
              <a:rPr lang="zh-CN" altLang="en-US" sz="2000" b="0" dirty="0">
                <a:solidFill>
                  <a:srgbClr val="000000"/>
                </a:solidFill>
                <a:latin typeface="Arial" panose="020B0604020202020204" pitchFamily="34" charset="0"/>
                <a:ea typeface="楷体_GB2312" charset="-122"/>
              </a:rPr>
              <a:t>scikit-learn是一套基于Python语言的机器学习库，该库建立在NumPy、SciPy 和 matplotlib 上之上，</a:t>
            </a:r>
            <a:r>
              <a:rPr lang="zh-CN" altLang="en-US" sz="2000" b="0" dirty="0">
                <a:solidFill>
                  <a:srgbClr val="0070C0"/>
                </a:solidFill>
                <a:latin typeface="Arial" panose="020B0604020202020204" pitchFamily="34" charset="0"/>
                <a:ea typeface="楷体_GB2312" charset="-122"/>
              </a:rPr>
              <a:t>提供了一整套简单高效的数据挖掘和数据分析工具</a:t>
            </a:r>
            <a:r>
              <a:rPr lang="zh-CN" altLang="en-US" sz="2000" b="0" dirty="0">
                <a:solidFill>
                  <a:srgbClr val="000000"/>
                </a:solidFill>
                <a:latin typeface="Arial" panose="020B0604020202020204" pitchFamily="34" charset="0"/>
                <a:ea typeface="楷体_GB2312" charset="-122"/>
              </a:rPr>
              <a:t>。</a:t>
            </a:r>
            <a:endParaRPr lang="en-US" altLang="zh-CN" sz="2000" b="0" dirty="0">
              <a:solidFill>
                <a:srgbClr val="000000"/>
              </a:solidFill>
              <a:latin typeface="Arial" panose="020B0604020202020204" pitchFamily="34" charset="0"/>
              <a:ea typeface="楷体_GB2312" charset="-122"/>
            </a:endParaRPr>
          </a:p>
          <a:p>
            <a:pPr algn="just" eaLnBrk="1" hangingPunct="1">
              <a:spcBef>
                <a:spcPct val="0"/>
              </a:spcBef>
              <a:buClrTx/>
              <a:buFont typeface="Wingdings" panose="05000000000000000000" pitchFamily="2" charset="2"/>
              <a:buChar char="u"/>
            </a:pPr>
            <a:endParaRPr lang="en-US" altLang="zh-CN" sz="2000" b="0" dirty="0">
              <a:solidFill>
                <a:srgbClr val="000000"/>
              </a:solidFill>
              <a:latin typeface="Arial" panose="020B0604020202020204" pitchFamily="34" charset="0"/>
              <a:ea typeface="楷体_GB2312" charset="-122"/>
            </a:endParaRPr>
          </a:p>
          <a:p>
            <a:pPr algn="just" eaLnBrk="1" hangingPunct="1">
              <a:spcBef>
                <a:spcPct val="0"/>
              </a:spcBef>
              <a:buClrTx/>
              <a:buFont typeface="Wingdings" panose="05000000000000000000" pitchFamily="2" charset="2"/>
              <a:buChar char="u"/>
            </a:pPr>
            <a:endParaRPr lang="en-US" altLang="zh-CN" sz="2000" b="0" dirty="0">
              <a:solidFill>
                <a:srgbClr val="000000"/>
              </a:solidFill>
              <a:latin typeface="Arial" panose="020B0604020202020204" pitchFamily="34" charset="0"/>
              <a:ea typeface="楷体_GB2312" charset="-122"/>
            </a:endParaRPr>
          </a:p>
          <a:p>
            <a:pPr algn="just" eaLnBrk="1" hangingPunct="1">
              <a:spcBef>
                <a:spcPct val="0"/>
              </a:spcBef>
              <a:buClrTx/>
              <a:buFont typeface="Wingdings" panose="05000000000000000000" pitchFamily="2" charset="2"/>
              <a:buChar char="u"/>
            </a:pPr>
            <a:r>
              <a:rPr lang="en-US" altLang="zh-CN" sz="2000" b="0" dirty="0">
                <a:solidFill>
                  <a:srgbClr val="000000"/>
                </a:solidFill>
                <a:latin typeface="Arial" panose="020B0604020202020204" pitchFamily="34" charset="0"/>
                <a:ea typeface="楷体_GB2312" charset="-122"/>
              </a:rPr>
              <a:t>	</a:t>
            </a:r>
            <a:r>
              <a:rPr lang="zh-CN" altLang="en-US" sz="2000" b="0" dirty="0">
                <a:solidFill>
                  <a:srgbClr val="000000"/>
                </a:solidFill>
                <a:latin typeface="Arial" panose="020B0604020202020204" pitchFamily="34" charset="0"/>
                <a:ea typeface="楷体_GB2312" charset="-122"/>
              </a:rPr>
              <a:t>scikit-learn发布于</a:t>
            </a:r>
            <a:r>
              <a:rPr lang="zh-CN" altLang="en-US" sz="2000" b="0" dirty="0">
                <a:solidFill>
                  <a:srgbClr val="FF0000"/>
                </a:solidFill>
                <a:latin typeface="Arial" panose="020B0604020202020204" pitchFamily="34" charset="0"/>
                <a:ea typeface="楷体_GB2312" charset="-122"/>
              </a:rPr>
              <a:t>2007年</a:t>
            </a:r>
            <a:r>
              <a:rPr lang="zh-CN" altLang="en-US" sz="2000" b="0" dirty="0">
                <a:solidFill>
                  <a:srgbClr val="000000"/>
                </a:solidFill>
                <a:latin typeface="Arial" panose="020B0604020202020204" pitchFamily="34" charset="0"/>
                <a:ea typeface="楷体_GB2312" charset="-122"/>
              </a:rPr>
              <a:t>，已经发展更新了近</a:t>
            </a:r>
            <a:r>
              <a:rPr lang="en-US" altLang="zh-CN" sz="2000" b="0" dirty="0">
                <a:solidFill>
                  <a:srgbClr val="000000"/>
                </a:solidFill>
                <a:latin typeface="Arial" panose="020B0604020202020204" pitchFamily="34" charset="0"/>
                <a:ea typeface="楷体_GB2312" charset="-122"/>
              </a:rPr>
              <a:t>2</a:t>
            </a:r>
            <a:r>
              <a:rPr lang="zh-CN" altLang="en-US" sz="2000" b="0" dirty="0">
                <a:solidFill>
                  <a:srgbClr val="000000"/>
                </a:solidFill>
                <a:latin typeface="Arial" panose="020B0604020202020204" pitchFamily="34" charset="0"/>
                <a:ea typeface="楷体_GB2312" charset="-122"/>
              </a:rPr>
              <a:t>0年时间，目前已经成为Python中最重要最常用的机器学习工具，集成了大量成熟的机器学习算法。</a:t>
            </a:r>
          </a:p>
        </p:txBody>
      </p:sp>
    </p:spTree>
    <p:extLst>
      <p:ext uri="{BB962C8B-B14F-4D97-AF65-F5344CB8AC3E}">
        <p14:creationId xmlns:p14="http://schemas.microsoft.com/office/powerpoint/2010/main" val="476859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pic>
        <p:nvPicPr>
          <p:cNvPr id="4" name="图片 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5871" y="1287598"/>
            <a:ext cx="6853237" cy="427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5554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sp>
        <p:nvSpPr>
          <p:cNvPr id="5" name="Oval 6"/>
          <p:cNvSpPr>
            <a:spLocks/>
          </p:cNvSpPr>
          <p:nvPr/>
        </p:nvSpPr>
        <p:spPr>
          <a:xfrm>
            <a:off x="4004312" y="2807650"/>
            <a:ext cx="366713" cy="3683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6" name="Oval 7"/>
          <p:cNvSpPr>
            <a:spLocks/>
          </p:cNvSpPr>
          <p:nvPr/>
        </p:nvSpPr>
        <p:spPr>
          <a:xfrm>
            <a:off x="3448687" y="3396612"/>
            <a:ext cx="365125" cy="3698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solidFill>
                <a:srgbClr val="961100"/>
              </a:solidFill>
            </a:endParaRPr>
          </a:p>
        </p:txBody>
      </p:sp>
      <p:sp>
        <p:nvSpPr>
          <p:cNvPr id="7" name="Oval 10"/>
          <p:cNvSpPr>
            <a:spLocks/>
          </p:cNvSpPr>
          <p:nvPr/>
        </p:nvSpPr>
        <p:spPr>
          <a:xfrm>
            <a:off x="4256725" y="4295137"/>
            <a:ext cx="365125" cy="3698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8" name="Oval 11"/>
          <p:cNvSpPr>
            <a:spLocks/>
          </p:cNvSpPr>
          <p:nvPr/>
        </p:nvSpPr>
        <p:spPr>
          <a:xfrm>
            <a:off x="2905762" y="4171312"/>
            <a:ext cx="365125" cy="368300"/>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9" name="Oval 12"/>
          <p:cNvSpPr>
            <a:spLocks/>
          </p:cNvSpPr>
          <p:nvPr/>
        </p:nvSpPr>
        <p:spPr>
          <a:xfrm>
            <a:off x="2562862" y="2941000"/>
            <a:ext cx="365125" cy="36988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10" name="Oval 13"/>
          <p:cNvSpPr>
            <a:spLocks/>
          </p:cNvSpPr>
          <p:nvPr/>
        </p:nvSpPr>
        <p:spPr>
          <a:xfrm>
            <a:off x="4675825" y="3396612"/>
            <a:ext cx="365125" cy="36988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11" name="Oval 14"/>
          <p:cNvSpPr>
            <a:spLocks/>
          </p:cNvSpPr>
          <p:nvPr/>
        </p:nvSpPr>
        <p:spPr>
          <a:xfrm>
            <a:off x="5239387" y="3985575"/>
            <a:ext cx="366713" cy="36988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12" name="Straight Connector 16"/>
          <p:cNvCxnSpPr>
            <a:stCxn id="9" idx="6"/>
            <a:endCxn id="6" idx="1"/>
          </p:cNvCxnSpPr>
          <p:nvPr/>
        </p:nvCxnSpPr>
        <p:spPr>
          <a:xfrm>
            <a:off x="2927987" y="3125150"/>
            <a:ext cx="573088" cy="325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22"/>
          <p:cNvCxnSpPr>
            <a:stCxn id="9" idx="4"/>
            <a:endCxn id="8" idx="0"/>
          </p:cNvCxnSpPr>
          <p:nvPr/>
        </p:nvCxnSpPr>
        <p:spPr>
          <a:xfrm>
            <a:off x="2745425" y="3310887"/>
            <a:ext cx="342900" cy="860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25"/>
          <p:cNvCxnSpPr>
            <a:stCxn id="8" idx="6"/>
            <a:endCxn id="7" idx="2"/>
          </p:cNvCxnSpPr>
          <p:nvPr/>
        </p:nvCxnSpPr>
        <p:spPr>
          <a:xfrm>
            <a:off x="3270887" y="4355462"/>
            <a:ext cx="985838" cy="125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27"/>
          <p:cNvCxnSpPr>
            <a:stCxn id="7" idx="6"/>
            <a:endCxn id="11" idx="3"/>
          </p:cNvCxnSpPr>
          <p:nvPr/>
        </p:nvCxnSpPr>
        <p:spPr>
          <a:xfrm flipV="1">
            <a:off x="4621850" y="4301487"/>
            <a:ext cx="671512" cy="179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30"/>
          <p:cNvCxnSpPr>
            <a:stCxn id="6" idx="3"/>
            <a:endCxn id="8" idx="7"/>
          </p:cNvCxnSpPr>
          <p:nvPr/>
        </p:nvCxnSpPr>
        <p:spPr>
          <a:xfrm flipH="1">
            <a:off x="3218500" y="3712525"/>
            <a:ext cx="282575" cy="5127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33"/>
          <p:cNvCxnSpPr>
            <a:stCxn id="7" idx="0"/>
            <a:endCxn id="5" idx="4"/>
          </p:cNvCxnSpPr>
          <p:nvPr/>
        </p:nvCxnSpPr>
        <p:spPr>
          <a:xfrm flipH="1" flipV="1">
            <a:off x="4186875" y="3175950"/>
            <a:ext cx="252412" cy="11191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35"/>
          <p:cNvCxnSpPr>
            <a:stCxn id="5" idx="5"/>
            <a:endCxn id="10" idx="1"/>
          </p:cNvCxnSpPr>
          <p:nvPr/>
        </p:nvCxnSpPr>
        <p:spPr>
          <a:xfrm>
            <a:off x="4317050" y="3121975"/>
            <a:ext cx="412750" cy="328612"/>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36"/>
          <p:cNvSpPr>
            <a:spLocks/>
          </p:cNvSpPr>
          <p:nvPr/>
        </p:nvSpPr>
        <p:spPr>
          <a:xfrm>
            <a:off x="2423162" y="4915850"/>
            <a:ext cx="365125" cy="3698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20" name="Straight Connector 37"/>
          <p:cNvCxnSpPr>
            <a:stCxn id="8" idx="3"/>
            <a:endCxn id="19" idx="0"/>
          </p:cNvCxnSpPr>
          <p:nvPr/>
        </p:nvCxnSpPr>
        <p:spPr>
          <a:xfrm flipH="1">
            <a:off x="2605725" y="4485637"/>
            <a:ext cx="354012" cy="430213"/>
          </a:xfrm>
          <a:prstGeom prst="line">
            <a:avLst/>
          </a:prstGeom>
        </p:spPr>
        <p:style>
          <a:lnRef idx="1">
            <a:schemeClr val="accent1"/>
          </a:lnRef>
          <a:fillRef idx="0">
            <a:schemeClr val="accent1"/>
          </a:fillRef>
          <a:effectRef idx="0">
            <a:schemeClr val="accent1"/>
          </a:effectRef>
          <a:fontRef idx="minor">
            <a:schemeClr val="tx1"/>
          </a:fontRef>
        </p:style>
      </p:cxnSp>
      <p:sp>
        <p:nvSpPr>
          <p:cNvPr id="21" name="Oval 42"/>
          <p:cNvSpPr>
            <a:spLocks/>
          </p:cNvSpPr>
          <p:nvPr/>
        </p:nvSpPr>
        <p:spPr>
          <a:xfrm>
            <a:off x="3448687" y="4928550"/>
            <a:ext cx="365125" cy="369887"/>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22" name="Straight Connector 43"/>
          <p:cNvCxnSpPr>
            <a:stCxn id="8" idx="5"/>
          </p:cNvCxnSpPr>
          <p:nvPr/>
        </p:nvCxnSpPr>
        <p:spPr>
          <a:xfrm>
            <a:off x="3218500" y="4485637"/>
            <a:ext cx="401637" cy="442913"/>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46"/>
          <p:cNvSpPr>
            <a:spLocks/>
          </p:cNvSpPr>
          <p:nvPr/>
        </p:nvSpPr>
        <p:spPr>
          <a:xfrm>
            <a:off x="9309737" y="2845750"/>
            <a:ext cx="365125" cy="3683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24" name="Oval 47"/>
          <p:cNvSpPr>
            <a:spLocks/>
          </p:cNvSpPr>
          <p:nvPr/>
        </p:nvSpPr>
        <p:spPr>
          <a:xfrm>
            <a:off x="8752525" y="3434712"/>
            <a:ext cx="366712" cy="3698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25" name="Oval 48"/>
          <p:cNvSpPr>
            <a:spLocks/>
          </p:cNvSpPr>
          <p:nvPr/>
        </p:nvSpPr>
        <p:spPr>
          <a:xfrm>
            <a:off x="9562150" y="4333237"/>
            <a:ext cx="365125" cy="369888"/>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26" name="Oval 49"/>
          <p:cNvSpPr>
            <a:spLocks/>
          </p:cNvSpPr>
          <p:nvPr/>
        </p:nvSpPr>
        <p:spPr>
          <a:xfrm>
            <a:off x="8211187" y="4209412"/>
            <a:ext cx="365125" cy="3683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27" name="Oval 50"/>
          <p:cNvSpPr>
            <a:spLocks/>
          </p:cNvSpPr>
          <p:nvPr/>
        </p:nvSpPr>
        <p:spPr>
          <a:xfrm>
            <a:off x="7868287" y="2979100"/>
            <a:ext cx="365125" cy="36988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28" name="Oval 51"/>
          <p:cNvSpPr>
            <a:spLocks/>
          </p:cNvSpPr>
          <p:nvPr/>
        </p:nvSpPr>
        <p:spPr>
          <a:xfrm>
            <a:off x="9981250" y="3434712"/>
            <a:ext cx="365125" cy="369888"/>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29" name="Straight Connector 53"/>
          <p:cNvCxnSpPr>
            <a:stCxn id="33" idx="6"/>
          </p:cNvCxnSpPr>
          <p:nvPr/>
        </p:nvCxnSpPr>
        <p:spPr>
          <a:xfrm>
            <a:off x="8211187" y="3163250"/>
            <a:ext cx="592138" cy="325437"/>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54"/>
          <p:cNvCxnSpPr>
            <a:stCxn id="33" idx="4"/>
            <a:endCxn id="32" idx="0"/>
          </p:cNvCxnSpPr>
          <p:nvPr/>
        </p:nvCxnSpPr>
        <p:spPr>
          <a:xfrm>
            <a:off x="8039737" y="3348987"/>
            <a:ext cx="342900" cy="8604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55"/>
          <p:cNvCxnSpPr>
            <a:stCxn id="32" idx="6"/>
            <a:endCxn id="31" idx="2"/>
          </p:cNvCxnSpPr>
          <p:nvPr/>
        </p:nvCxnSpPr>
        <p:spPr>
          <a:xfrm>
            <a:off x="8554087" y="4393562"/>
            <a:ext cx="1008063" cy="1254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56"/>
          <p:cNvCxnSpPr>
            <a:stCxn id="31" idx="6"/>
          </p:cNvCxnSpPr>
          <p:nvPr/>
        </p:nvCxnSpPr>
        <p:spPr>
          <a:xfrm flipV="1">
            <a:off x="9905050" y="4339587"/>
            <a:ext cx="690562" cy="179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57"/>
          <p:cNvCxnSpPr>
            <a:endCxn id="32" idx="7"/>
          </p:cNvCxnSpPr>
          <p:nvPr/>
        </p:nvCxnSpPr>
        <p:spPr>
          <a:xfrm flipH="1">
            <a:off x="8503287" y="3750625"/>
            <a:ext cx="300038" cy="512762"/>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60"/>
          <p:cNvSpPr>
            <a:spLocks/>
          </p:cNvSpPr>
          <p:nvPr/>
        </p:nvSpPr>
        <p:spPr>
          <a:xfrm>
            <a:off x="7728587" y="4953950"/>
            <a:ext cx="365125" cy="3698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35" name="Straight Connector 61"/>
          <p:cNvCxnSpPr>
            <a:stCxn id="32" idx="3"/>
          </p:cNvCxnSpPr>
          <p:nvPr/>
        </p:nvCxnSpPr>
        <p:spPr>
          <a:xfrm flipH="1">
            <a:off x="7900037" y="4523737"/>
            <a:ext cx="361950" cy="430213"/>
          </a:xfrm>
          <a:prstGeom prst="line">
            <a:avLst/>
          </a:prstGeom>
        </p:spPr>
        <p:style>
          <a:lnRef idx="1">
            <a:schemeClr val="accent1"/>
          </a:lnRef>
          <a:fillRef idx="0">
            <a:schemeClr val="accent1"/>
          </a:fillRef>
          <a:effectRef idx="0">
            <a:schemeClr val="accent1"/>
          </a:effectRef>
          <a:fontRef idx="minor">
            <a:schemeClr val="tx1"/>
          </a:fontRef>
        </p:style>
      </p:cxnSp>
      <p:sp>
        <p:nvSpPr>
          <p:cNvPr id="36" name="Oval 62"/>
          <p:cNvSpPr>
            <a:spLocks/>
          </p:cNvSpPr>
          <p:nvPr/>
        </p:nvSpPr>
        <p:spPr>
          <a:xfrm>
            <a:off x="8882700" y="4949187"/>
            <a:ext cx="365125" cy="3683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cxnSp>
        <p:nvCxnSpPr>
          <p:cNvPr id="37" name="Straight Connector 63"/>
          <p:cNvCxnSpPr>
            <a:stCxn id="32" idx="5"/>
          </p:cNvCxnSpPr>
          <p:nvPr/>
        </p:nvCxnSpPr>
        <p:spPr>
          <a:xfrm>
            <a:off x="8503287" y="4523737"/>
            <a:ext cx="420688" cy="442913"/>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Arrow Connector 65"/>
          <p:cNvCxnSpPr/>
          <p:nvPr/>
        </p:nvCxnSpPr>
        <p:spPr>
          <a:xfrm>
            <a:off x="6023612" y="4023675"/>
            <a:ext cx="1577975"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39" name="TextBox 66"/>
          <p:cNvSpPr txBox="1"/>
          <p:nvPr/>
        </p:nvSpPr>
        <p:spPr>
          <a:xfrm>
            <a:off x="2423162" y="2466337"/>
            <a:ext cx="355600" cy="503238"/>
          </a:xfrm>
          <a:prstGeom prst="rect">
            <a:avLst/>
          </a:prstGeom>
          <a:noFill/>
        </p:spPr>
        <p:txBody>
          <a:bodyPr wrap="none">
            <a:spAutoFit/>
          </a:bodyPr>
          <a:lstStyle/>
          <a:p>
            <a:pPr>
              <a:defRPr/>
            </a:pPr>
            <a:r>
              <a:rPr lang="en-US" sz="2667" b="1">
                <a:latin typeface="Times New Roman" charset="0"/>
                <a:ea typeface="Times New Roman" charset="0"/>
                <a:cs typeface="Times New Roman" charset="0"/>
              </a:rPr>
              <a:t>?</a:t>
            </a:r>
          </a:p>
        </p:txBody>
      </p:sp>
      <p:sp>
        <p:nvSpPr>
          <p:cNvPr id="40" name="TextBox 67"/>
          <p:cNvSpPr txBox="1"/>
          <p:nvPr/>
        </p:nvSpPr>
        <p:spPr>
          <a:xfrm>
            <a:off x="3805875" y="2453637"/>
            <a:ext cx="357187" cy="503238"/>
          </a:xfrm>
          <a:prstGeom prst="rect">
            <a:avLst/>
          </a:prstGeom>
          <a:noFill/>
        </p:spPr>
        <p:txBody>
          <a:bodyPr wrap="none">
            <a:spAutoFit/>
          </a:bodyPr>
          <a:lstStyle/>
          <a:p>
            <a:pPr>
              <a:defRPr/>
            </a:pPr>
            <a:r>
              <a:rPr lang="en-US" sz="2667" b="1" dirty="0">
                <a:latin typeface="Times New Roman" charset="0"/>
                <a:ea typeface="Times New Roman" charset="0"/>
                <a:cs typeface="Times New Roman" charset="0"/>
              </a:rPr>
              <a:t>?</a:t>
            </a:r>
          </a:p>
        </p:txBody>
      </p:sp>
      <p:sp>
        <p:nvSpPr>
          <p:cNvPr id="41" name="TextBox 68"/>
          <p:cNvSpPr txBox="1"/>
          <p:nvPr/>
        </p:nvSpPr>
        <p:spPr>
          <a:xfrm>
            <a:off x="2689862" y="3799837"/>
            <a:ext cx="355600" cy="503238"/>
          </a:xfrm>
          <a:prstGeom prst="rect">
            <a:avLst/>
          </a:prstGeom>
          <a:noFill/>
        </p:spPr>
        <p:txBody>
          <a:bodyPr wrap="none">
            <a:spAutoFit/>
          </a:bodyPr>
          <a:lstStyle/>
          <a:p>
            <a:pPr>
              <a:defRPr/>
            </a:pPr>
            <a:r>
              <a:rPr lang="en-US" sz="2667" b="1">
                <a:latin typeface="Times New Roman" charset="0"/>
                <a:ea typeface="Times New Roman" charset="0"/>
                <a:cs typeface="Times New Roman" charset="0"/>
              </a:rPr>
              <a:t>?</a:t>
            </a:r>
          </a:p>
        </p:txBody>
      </p:sp>
      <p:sp>
        <p:nvSpPr>
          <p:cNvPr id="42" name="TextBox 69"/>
          <p:cNvSpPr txBox="1"/>
          <p:nvPr/>
        </p:nvSpPr>
        <p:spPr>
          <a:xfrm>
            <a:off x="5196525" y="3547425"/>
            <a:ext cx="193675" cy="503237"/>
          </a:xfrm>
          <a:prstGeom prst="rect">
            <a:avLst/>
          </a:prstGeom>
          <a:noFill/>
        </p:spPr>
        <p:txBody>
          <a:bodyPr>
            <a:spAutoFit/>
          </a:bodyPr>
          <a:lstStyle/>
          <a:p>
            <a:pPr>
              <a:defRPr/>
            </a:pPr>
            <a:r>
              <a:rPr lang="en-US" sz="2667" b="1">
                <a:latin typeface="Times New Roman" charset="0"/>
                <a:ea typeface="Times New Roman" charset="0"/>
                <a:cs typeface="Times New Roman" charset="0"/>
              </a:rPr>
              <a:t>?</a:t>
            </a:r>
          </a:p>
        </p:txBody>
      </p:sp>
      <p:sp>
        <p:nvSpPr>
          <p:cNvPr id="43" name="TextBox 70"/>
          <p:cNvSpPr txBox="1"/>
          <p:nvPr/>
        </p:nvSpPr>
        <p:spPr>
          <a:xfrm>
            <a:off x="3631250" y="4525325"/>
            <a:ext cx="193675" cy="503237"/>
          </a:xfrm>
          <a:prstGeom prst="rect">
            <a:avLst/>
          </a:prstGeom>
          <a:noFill/>
        </p:spPr>
        <p:txBody>
          <a:bodyPr>
            <a:spAutoFit/>
          </a:bodyPr>
          <a:lstStyle/>
          <a:p>
            <a:pPr>
              <a:defRPr/>
            </a:pPr>
            <a:r>
              <a:rPr lang="en-US" sz="2667" b="1">
                <a:latin typeface="Times New Roman" charset="0"/>
                <a:ea typeface="Times New Roman" charset="0"/>
                <a:cs typeface="Times New Roman" charset="0"/>
              </a:rPr>
              <a:t>?</a:t>
            </a:r>
          </a:p>
        </p:txBody>
      </p:sp>
      <p:pic>
        <p:nvPicPr>
          <p:cNvPr id="44" name="Picture 7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390325" y="3350575"/>
            <a:ext cx="627062" cy="62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Box 75"/>
          <p:cNvSpPr txBox="1"/>
          <p:nvPr/>
        </p:nvSpPr>
        <p:spPr>
          <a:xfrm>
            <a:off x="6126800" y="4069712"/>
            <a:ext cx="1601787" cy="666750"/>
          </a:xfrm>
          <a:prstGeom prst="rect">
            <a:avLst/>
          </a:prstGeom>
          <a:noFill/>
        </p:spPr>
        <p:txBody>
          <a:bodyPr>
            <a:spAutoFit/>
          </a:bodyPr>
          <a:lstStyle/>
          <a:p>
            <a:pPr>
              <a:defRPr/>
            </a:pPr>
            <a:r>
              <a:rPr lang="en-US" sz="1867" dirty="0">
                <a:solidFill>
                  <a:srgbClr val="961100"/>
                </a:solidFill>
                <a:latin typeface="Helvetica Neue Light" charset="0"/>
                <a:ea typeface="Helvetica Neue Light" charset="0"/>
                <a:cs typeface="Helvetica Neue Light" charset="0"/>
              </a:rPr>
              <a:t>Machine Learning</a:t>
            </a:r>
          </a:p>
        </p:txBody>
      </p:sp>
      <p:cxnSp>
        <p:nvCxnSpPr>
          <p:cNvPr id="46" name="Straight Connector 64"/>
          <p:cNvCxnSpPr>
            <a:stCxn id="5" idx="3"/>
            <a:endCxn id="6" idx="7"/>
          </p:cNvCxnSpPr>
          <p:nvPr/>
        </p:nvCxnSpPr>
        <p:spPr>
          <a:xfrm flipH="1">
            <a:off x="3759837" y="3121975"/>
            <a:ext cx="298450" cy="3286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72"/>
          <p:cNvCxnSpPr>
            <a:stCxn id="23" idx="3"/>
            <a:endCxn id="24" idx="7"/>
          </p:cNvCxnSpPr>
          <p:nvPr/>
        </p:nvCxnSpPr>
        <p:spPr>
          <a:xfrm flipH="1">
            <a:off x="9065262" y="3160075"/>
            <a:ext cx="298450" cy="328612"/>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73"/>
          <p:cNvCxnSpPr>
            <a:stCxn id="7" idx="1"/>
            <a:endCxn id="6" idx="5"/>
          </p:cNvCxnSpPr>
          <p:nvPr/>
        </p:nvCxnSpPr>
        <p:spPr>
          <a:xfrm flipH="1" flipV="1">
            <a:off x="3759837" y="3712525"/>
            <a:ext cx="550863" cy="636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74"/>
          <p:cNvCxnSpPr>
            <a:stCxn id="25" idx="1"/>
            <a:endCxn id="24" idx="5"/>
          </p:cNvCxnSpPr>
          <p:nvPr/>
        </p:nvCxnSpPr>
        <p:spPr>
          <a:xfrm flipH="1" flipV="1">
            <a:off x="9065262" y="3750625"/>
            <a:ext cx="550863" cy="636587"/>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277"/>
          <p:cNvCxnSpPr>
            <a:stCxn id="23" idx="5"/>
            <a:endCxn id="28" idx="1"/>
          </p:cNvCxnSpPr>
          <p:nvPr/>
        </p:nvCxnSpPr>
        <p:spPr>
          <a:xfrm>
            <a:off x="9622475" y="3160075"/>
            <a:ext cx="412750" cy="328612"/>
          </a:xfrm>
          <a:prstGeom prst="line">
            <a:avLst/>
          </a:prstGeom>
        </p:spPr>
        <p:style>
          <a:lnRef idx="1">
            <a:schemeClr val="accent1"/>
          </a:lnRef>
          <a:fillRef idx="0">
            <a:schemeClr val="accent1"/>
          </a:fillRef>
          <a:effectRef idx="0">
            <a:schemeClr val="accent1"/>
          </a:effectRef>
          <a:fontRef idx="minor">
            <a:schemeClr val="tx1"/>
          </a:fontRef>
        </p:style>
      </p:cxnSp>
      <p:sp>
        <p:nvSpPr>
          <p:cNvPr id="51" name="Oval 280"/>
          <p:cNvSpPr>
            <a:spLocks/>
          </p:cNvSpPr>
          <p:nvPr/>
        </p:nvSpPr>
        <p:spPr>
          <a:xfrm>
            <a:off x="10490837" y="4141150"/>
            <a:ext cx="365125" cy="369887"/>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1"/>
          </a:p>
        </p:txBody>
      </p:sp>
      <p:sp>
        <p:nvSpPr>
          <p:cNvPr id="52" name="文本框 1"/>
          <p:cNvSpPr txBox="1">
            <a:spLocks noChangeArrowheads="1"/>
          </p:cNvSpPr>
          <p:nvPr/>
        </p:nvSpPr>
        <p:spPr bwMode="auto">
          <a:xfrm>
            <a:off x="212568" y="1204515"/>
            <a:ext cx="65770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spcBef>
                <a:spcPct val="0"/>
              </a:spcBef>
              <a:buClrTx/>
              <a:buFontTx/>
              <a:buNone/>
            </a:pPr>
            <a:r>
              <a:rPr lang="en-US" altLang="zh-CN" sz="1800" b="0" dirty="0">
                <a:solidFill>
                  <a:srgbClr val="000000"/>
                </a:solidFill>
                <a:latin typeface="Arial" panose="020B0604020202020204" pitchFamily="34" charset="0"/>
                <a:ea typeface="楷体_GB2312" charset="-122"/>
              </a:rPr>
              <a:t> </a:t>
            </a:r>
            <a:r>
              <a:rPr lang="zh-CN" altLang="zh-CN" sz="1800" b="0" dirty="0">
                <a:solidFill>
                  <a:srgbClr val="000000"/>
                </a:solidFill>
                <a:latin typeface="Arial" panose="020B0604020202020204" pitchFamily="34" charset="0"/>
                <a:ea typeface="楷体_GB2312" charset="-122"/>
              </a:rPr>
              <a:t>分类是指识别给定对象的所属类别，属于</a:t>
            </a:r>
            <a:r>
              <a:rPr lang="en-US" altLang="zh-CN" sz="1800" b="0" dirty="0">
                <a:solidFill>
                  <a:srgbClr val="000000"/>
                </a:solidFill>
                <a:latin typeface="Arial" panose="020B0604020202020204" pitchFamily="34" charset="0"/>
                <a:ea typeface="楷体_GB2312" charset="-122"/>
              </a:rPr>
              <a:t>(</a:t>
            </a:r>
            <a:r>
              <a:rPr lang="zh-CN" altLang="en-US" sz="1800" b="0" dirty="0">
                <a:solidFill>
                  <a:srgbClr val="000000"/>
                </a:solidFill>
                <a:latin typeface="Arial" panose="020B0604020202020204" pitchFamily="34" charset="0"/>
                <a:ea typeface="楷体_GB2312" charset="-122"/>
              </a:rPr>
              <a:t>半</a:t>
            </a:r>
            <a:r>
              <a:rPr lang="en-US" altLang="zh-CN" sz="1800" b="0" dirty="0">
                <a:solidFill>
                  <a:srgbClr val="000000"/>
                </a:solidFill>
                <a:latin typeface="Arial" panose="020B0604020202020204" pitchFamily="34" charset="0"/>
                <a:ea typeface="楷体_GB2312" charset="-122"/>
              </a:rPr>
              <a:t>)</a:t>
            </a:r>
            <a:r>
              <a:rPr lang="zh-CN" altLang="zh-CN" sz="1800" b="0" dirty="0">
                <a:solidFill>
                  <a:srgbClr val="000000"/>
                </a:solidFill>
                <a:latin typeface="Arial" panose="020B0604020202020204" pitchFamily="34" charset="0"/>
                <a:ea typeface="楷体_GB2312" charset="-122"/>
              </a:rPr>
              <a:t>监督学习的范畴</a:t>
            </a:r>
            <a:endParaRPr lang="zh-CN" altLang="en-US" sz="1800" b="0" dirty="0">
              <a:solidFill>
                <a:schemeClr val="tx1"/>
              </a:solidFill>
              <a:latin typeface="Arial" panose="020B0604020202020204" pitchFamily="34" charset="0"/>
              <a:ea typeface="楷体_GB2312" charset="-122"/>
            </a:endParaRPr>
          </a:p>
        </p:txBody>
      </p:sp>
    </p:spTree>
    <p:extLst>
      <p:ext uri="{BB962C8B-B14F-4D97-AF65-F5344CB8AC3E}">
        <p14:creationId xmlns:p14="http://schemas.microsoft.com/office/powerpoint/2010/main" val="4084064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sp>
        <p:nvSpPr>
          <p:cNvPr id="53" name="文本框 2"/>
          <p:cNvSpPr txBox="1">
            <a:spLocks noChangeArrowheads="1"/>
          </p:cNvSpPr>
          <p:nvPr/>
        </p:nvSpPr>
        <p:spPr bwMode="auto">
          <a:xfrm>
            <a:off x="-324244" y="1267214"/>
            <a:ext cx="121310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gn="just" eaLnBrk="1" hangingPunct="1">
              <a:spcBef>
                <a:spcPct val="0"/>
              </a:spcBef>
              <a:buClrTx/>
              <a:buFontTx/>
              <a:buNone/>
            </a:pPr>
            <a:r>
              <a:rPr lang="en-US" altLang="zh-CN" sz="2000" b="0" dirty="0">
                <a:solidFill>
                  <a:srgbClr val="000000"/>
                </a:solidFill>
                <a:latin typeface="Arial" panose="020B0604020202020204" pitchFamily="34" charset="0"/>
                <a:ea typeface="楷体_GB2312" charset="-122"/>
              </a:rPr>
              <a:t>       </a:t>
            </a:r>
            <a:r>
              <a:rPr lang="zh-CN" altLang="zh-CN" sz="2000" b="0" dirty="0">
                <a:solidFill>
                  <a:srgbClr val="000000"/>
                </a:solidFill>
                <a:latin typeface="Arial" panose="020B0604020202020204" pitchFamily="34" charset="0"/>
                <a:ea typeface="楷体_GB2312" charset="-122"/>
              </a:rPr>
              <a:t>回归是指预测与给定对象相关联的连续值属性，最常见的应用场景包括预测药物反应和预测股票价格等。</a:t>
            </a:r>
          </a:p>
        </p:txBody>
      </p:sp>
      <p:pic>
        <p:nvPicPr>
          <p:cNvPr id="54" name="图片 5" descr="ws_9C00.tmp"/>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3755390" y="2597332"/>
            <a:ext cx="3365500"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TextBox 23"/>
          <p:cNvSpPr txBox="1"/>
          <p:nvPr/>
        </p:nvSpPr>
        <p:spPr>
          <a:xfrm rot="18900000">
            <a:off x="3842703" y="3908607"/>
            <a:ext cx="0" cy="481013"/>
          </a:xfrm>
          <a:prstGeom prst="rect">
            <a:avLst/>
          </a:prstGeom>
          <a:noFill/>
        </p:spPr>
        <p:txBody>
          <a:bodyPr wrap="none" lIns="0" tIns="0" rIns="0" bIns="0">
            <a:spAutoFit/>
          </a:bodyPr>
          <a:lstStyle/>
          <a:p>
            <a:pPr>
              <a:lnSpc>
                <a:spcPts val="1797"/>
              </a:lnSpc>
              <a:defRPr/>
            </a:pPr>
            <a:endParaRPr lang="en-US" altLang="zh-CN" sz="2542" dirty="0">
              <a:solidFill>
                <a:srgbClr val="00FFFF"/>
              </a:solidFill>
              <a:latin typeface="微软雅黑"/>
            </a:endParaRPr>
          </a:p>
          <a:p>
            <a:pPr>
              <a:lnSpc>
                <a:spcPts val="1797"/>
              </a:lnSpc>
              <a:defRPr/>
            </a:pPr>
            <a:endParaRPr lang="zh-CN" altLang="en-US" sz="2542" dirty="0">
              <a:solidFill>
                <a:srgbClr val="00FFFF"/>
              </a:solidFill>
              <a:latin typeface="微软雅黑"/>
            </a:endParaRPr>
          </a:p>
        </p:txBody>
      </p:sp>
      <p:sp>
        <p:nvSpPr>
          <p:cNvPr id="56" name="TextBox 24"/>
          <p:cNvSpPr txBox="1"/>
          <p:nvPr/>
        </p:nvSpPr>
        <p:spPr>
          <a:xfrm rot="18900000">
            <a:off x="4071303" y="3795895"/>
            <a:ext cx="0" cy="250825"/>
          </a:xfrm>
          <a:prstGeom prst="rect">
            <a:avLst/>
          </a:prstGeom>
          <a:noFill/>
        </p:spPr>
        <p:txBody>
          <a:bodyPr wrap="none" lIns="0" tIns="0" rIns="0" bIns="0">
            <a:spAutoFit/>
          </a:bodyPr>
          <a:lstStyle/>
          <a:p>
            <a:pPr>
              <a:lnSpc>
                <a:spcPts val="1797"/>
              </a:lnSpc>
              <a:defRPr/>
            </a:pPr>
            <a:endParaRPr lang="zh-CN" altLang="en-US" sz="2542" dirty="0">
              <a:solidFill>
                <a:srgbClr val="00FFFF"/>
              </a:solidFill>
              <a:latin typeface="微软雅黑"/>
            </a:endParaRPr>
          </a:p>
        </p:txBody>
      </p:sp>
      <p:sp>
        <p:nvSpPr>
          <p:cNvPr id="57" name="TextBox 30"/>
          <p:cNvSpPr txBox="1">
            <a:spLocks noChangeArrowheads="1"/>
          </p:cNvSpPr>
          <p:nvPr/>
        </p:nvSpPr>
        <p:spPr bwMode="auto">
          <a:xfrm>
            <a:off x="6690678" y="2521132"/>
            <a:ext cx="46196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nSpc>
                <a:spcPts val="1725"/>
              </a:lnSpc>
              <a:spcBef>
                <a:spcPct val="0"/>
              </a:spcBef>
              <a:buClrTx/>
              <a:buFontTx/>
              <a:buNone/>
            </a:pPr>
            <a:r>
              <a:rPr lang="zh-CN" altLang="en-US" sz="1800" b="0">
                <a:solidFill>
                  <a:srgbClr val="000000"/>
                </a:solidFill>
                <a:latin typeface="微软雅黑" panose="020B0503020204020204" pitchFamily="34" charset="-122"/>
                <a:ea typeface="楷体_GB2312" charset="-122"/>
              </a:rPr>
              <a:t>回归</a:t>
            </a:r>
          </a:p>
        </p:txBody>
      </p:sp>
    </p:spTree>
    <p:extLst>
      <p:ext uri="{BB962C8B-B14F-4D97-AF65-F5344CB8AC3E}">
        <p14:creationId xmlns:p14="http://schemas.microsoft.com/office/powerpoint/2010/main" val="3469875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9623" y="2237922"/>
            <a:ext cx="3236912" cy="310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File:Illustration of overlapping communiti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2523" y="2129972"/>
            <a:ext cx="2990850" cy="330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
          <p:cNvSpPr>
            <a:spLocks noChangeArrowheads="1"/>
          </p:cNvSpPr>
          <p:nvPr/>
        </p:nvSpPr>
        <p:spPr bwMode="auto">
          <a:xfrm>
            <a:off x="200661" y="1140313"/>
            <a:ext cx="90027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spcBef>
                <a:spcPct val="0"/>
              </a:spcBef>
              <a:buClrTx/>
              <a:buFontTx/>
              <a:buNone/>
            </a:pPr>
            <a:r>
              <a:rPr lang="zh-CN" altLang="zh-CN" sz="1800" b="0" dirty="0">
                <a:solidFill>
                  <a:srgbClr val="000000"/>
                </a:solidFill>
                <a:latin typeface="Arial" panose="020B0604020202020204" pitchFamily="34" charset="0"/>
                <a:ea typeface="楷体_GB2312" charset="-122"/>
              </a:rPr>
              <a:t>聚类指自动识别具有相似属性的给定对象，并将其分组为集合，属于无监督学习的范畴</a:t>
            </a:r>
            <a:endParaRPr lang="zh-CN" altLang="en-US" sz="1800" b="0" dirty="0">
              <a:solidFill>
                <a:schemeClr val="tx1"/>
              </a:solidFill>
              <a:latin typeface="Arial" panose="020B0604020202020204" pitchFamily="34" charset="0"/>
              <a:ea typeface="楷体_GB2312" charset="-122"/>
            </a:endParaRPr>
          </a:p>
        </p:txBody>
      </p:sp>
    </p:spTree>
    <p:extLst>
      <p:ext uri="{BB962C8B-B14F-4D97-AF65-F5344CB8AC3E}">
        <p14:creationId xmlns:p14="http://schemas.microsoft.com/office/powerpoint/2010/main" val="1581510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dirty="0">
                <a:solidFill>
                  <a:srgbClr val="000000"/>
                </a:solidFill>
                <a:latin typeface="Arial" panose="020B0604020202020204" pitchFamily="34" charset="0"/>
                <a:ea typeface="楷体_GB2312" charset="-122"/>
              </a:rPr>
              <a:t>Python机器学习库scikit-learn</a:t>
            </a:r>
          </a:p>
        </p:txBody>
      </p:sp>
      <p:sp>
        <p:nvSpPr>
          <p:cNvPr id="6" name="文本框 2"/>
          <p:cNvSpPr txBox="1">
            <a:spLocks noChangeArrowheads="1"/>
          </p:cNvSpPr>
          <p:nvPr/>
        </p:nvSpPr>
        <p:spPr bwMode="auto">
          <a:xfrm>
            <a:off x="145867" y="1227908"/>
            <a:ext cx="116977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Font typeface="Wingdings" panose="05000000000000000000" pitchFamily="2" charset="2"/>
              <a:buChar char="v"/>
              <a:defRPr sz="2800" b="1">
                <a:solidFill>
                  <a:srgbClr val="000099"/>
                </a:solidFill>
                <a:latin typeface="Times New Roman" panose="02020603050405020304" pitchFamily="18" charset="0"/>
                <a:ea typeface="仿宋_GB2312" charset="-122"/>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ea typeface="仿宋_GB2312" charset="-122"/>
              </a:defRPr>
            </a:lvl2pPr>
            <a:lvl3pPr marL="1143000" indent="-228600">
              <a:spcBef>
                <a:spcPct val="20000"/>
              </a:spcBef>
              <a:buClr>
                <a:schemeClr val="tx1"/>
              </a:buClr>
              <a:buChar char="•"/>
              <a:defRPr sz="2400">
                <a:solidFill>
                  <a:schemeClr val="tx1"/>
                </a:solidFill>
                <a:latin typeface="Arial" panose="020B0604020202020204" pitchFamily="34" charset="0"/>
                <a:ea typeface="仿宋_GB2312" charset="-122"/>
              </a:defRPr>
            </a:lvl3pPr>
            <a:lvl4pPr marL="1600200" indent="-228600">
              <a:spcBef>
                <a:spcPct val="20000"/>
              </a:spcBef>
              <a:buChar char="–"/>
              <a:defRPr sz="2000">
                <a:solidFill>
                  <a:schemeClr val="tx1"/>
                </a:solidFill>
                <a:latin typeface="Arial" panose="020B0604020202020204" pitchFamily="34" charset="0"/>
                <a:ea typeface="仿宋_GB2312" charset="-122"/>
              </a:defRPr>
            </a:lvl4pPr>
            <a:lvl5pPr marL="2057400" indent="-228600">
              <a:spcBef>
                <a:spcPct val="20000"/>
              </a:spcBef>
              <a:buChar char="»"/>
              <a:defRPr sz="2000">
                <a:solidFill>
                  <a:schemeClr val="tx1"/>
                </a:solidFill>
                <a:latin typeface="Arial" panose="020B0604020202020204" pitchFamily="34" charset="0"/>
                <a:ea typeface="仿宋_GB231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仿宋_GB2312" charset="-122"/>
              </a:defRPr>
            </a:lvl9pPr>
          </a:lstStyle>
          <a:p>
            <a:pPr algn="just" eaLnBrk="1" hangingPunct="1">
              <a:spcBef>
                <a:spcPct val="0"/>
              </a:spcBef>
              <a:buClrTx/>
              <a:buFontTx/>
              <a:buNone/>
            </a:pPr>
            <a:r>
              <a:rPr lang="en-US" altLang="zh-CN" sz="2000" b="0" dirty="0">
                <a:solidFill>
                  <a:srgbClr val="000000"/>
                </a:solidFill>
                <a:latin typeface="Arial" panose="020B0604020202020204" pitchFamily="34" charset="0"/>
                <a:ea typeface="楷体_GB2312" charset="-122"/>
              </a:rPr>
              <a:t>       </a:t>
            </a:r>
            <a:r>
              <a:rPr lang="zh-CN" altLang="zh-CN" sz="2000" b="0" dirty="0">
                <a:solidFill>
                  <a:srgbClr val="000000"/>
                </a:solidFill>
                <a:latin typeface="Arial" panose="020B0604020202020204" pitchFamily="34" charset="0"/>
                <a:ea typeface="楷体_GB2312" charset="-122"/>
              </a:rPr>
              <a:t>数据降维是指使用主成分分析（PCA）、非负矩阵分解（NMF）或特征选择等降维技术来减少要考虑的随机变量的个数，</a:t>
            </a:r>
            <a:r>
              <a:rPr lang="zh-CN" altLang="zh-CN" sz="2000" b="0" dirty="0">
                <a:solidFill>
                  <a:srgbClr val="FF0000"/>
                </a:solidFill>
                <a:latin typeface="Arial" panose="020B0604020202020204" pitchFamily="34" charset="0"/>
                <a:ea typeface="楷体_GB2312" charset="-122"/>
              </a:rPr>
              <a:t>其主要应用场景包括可视化处理和效率提升。</a:t>
            </a:r>
          </a:p>
        </p:txBody>
      </p:sp>
      <p:pic>
        <p:nvPicPr>
          <p:cNvPr id="7"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21131" y="2826814"/>
            <a:ext cx="5554663" cy="322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6224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800" dirty="0">
                <a:latin typeface="Times New Roman" panose="02020603050405020304" pitchFamily="18" charset="0"/>
              </a:rPr>
              <a:t>目录</a:t>
            </a:r>
          </a:p>
        </p:txBody>
      </p:sp>
      <p:cxnSp>
        <p:nvCxnSpPr>
          <p:cNvPr id="3" name="直接连接符 6"/>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5" name="Line 2"/>
          <p:cNvSpPr>
            <a:spLocks noChangeShapeType="1"/>
          </p:cNvSpPr>
          <p:nvPr/>
        </p:nvSpPr>
        <p:spPr bwMode="auto">
          <a:xfrm>
            <a:off x="2649786" y="1939743"/>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6" name="Oval 15"/>
          <p:cNvSpPr>
            <a:spLocks noChangeArrowheads="1"/>
          </p:cNvSpPr>
          <p:nvPr/>
        </p:nvSpPr>
        <p:spPr bwMode="auto">
          <a:xfrm>
            <a:off x="2904947" y="1651743"/>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7" name="AutoShape 17"/>
          <p:cNvSpPr>
            <a:spLocks noChangeArrowheads="1"/>
          </p:cNvSpPr>
          <p:nvPr/>
        </p:nvSpPr>
        <p:spPr bwMode="auto">
          <a:xfrm>
            <a:off x="4000531" y="2606132"/>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sym typeface="微软雅黑" panose="020B0503020204020204" charset="-122"/>
              </a:rPr>
              <a:t>构建并评价聚类模型</a:t>
            </a:r>
          </a:p>
        </p:txBody>
      </p:sp>
      <p:sp>
        <p:nvSpPr>
          <p:cNvPr id="8" name="AutoShape 17"/>
          <p:cNvSpPr>
            <a:spLocks noChangeArrowheads="1"/>
          </p:cNvSpPr>
          <p:nvPr/>
        </p:nvSpPr>
        <p:spPr bwMode="auto">
          <a:xfrm>
            <a:off x="4000531" y="1579743"/>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sym typeface="微软雅黑" panose="020B0503020204020204" charset="-122"/>
              </a:rPr>
              <a:t>使用sklearn转换器处理数据</a:t>
            </a:r>
          </a:p>
        </p:txBody>
      </p:sp>
      <p:sp>
        <p:nvSpPr>
          <p:cNvPr id="9" name="Oval 15"/>
          <p:cNvSpPr>
            <a:spLocks noChangeArrowheads="1"/>
          </p:cNvSpPr>
          <p:nvPr/>
        </p:nvSpPr>
        <p:spPr bwMode="auto">
          <a:xfrm>
            <a:off x="2928857" y="2626672"/>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10" name="AutoShape 17"/>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构建并评价分类模型</a:t>
            </a:r>
          </a:p>
        </p:txBody>
      </p:sp>
      <p:sp>
        <p:nvSpPr>
          <p:cNvPr id="11" name="Oval 15"/>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
        <p:nvSpPr>
          <p:cNvPr id="28" name="AutoShape 17"/>
          <p:cNvSpPr>
            <a:spLocks noChangeArrowheads="1"/>
          </p:cNvSpPr>
          <p:nvPr/>
        </p:nvSpPr>
        <p:spPr bwMode="auto">
          <a:xfrm>
            <a:off x="4012450" y="4715497"/>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构建并评价回归模型</a:t>
            </a:r>
          </a:p>
        </p:txBody>
      </p:sp>
      <p:sp>
        <p:nvSpPr>
          <p:cNvPr id="29" name="Oval 15"/>
          <p:cNvSpPr>
            <a:spLocks noChangeArrowheads="1"/>
          </p:cNvSpPr>
          <p:nvPr/>
        </p:nvSpPr>
        <p:spPr bwMode="auto">
          <a:xfrm>
            <a:off x="2904947" y="4733497"/>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4</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t>加载</a:t>
            </a:r>
            <a:r>
              <a:rPr lang="en-US" altLang="zh-CN" dirty="0"/>
              <a:t>datasets</a:t>
            </a:r>
            <a:r>
              <a:rPr lang="zh-CN" altLang="en-US" dirty="0"/>
              <a:t>模块中的数据集</a:t>
            </a:r>
          </a:p>
        </p:txBody>
      </p:sp>
      <p:graphicFrame>
        <p:nvGraphicFramePr>
          <p:cNvPr id="10" name="表格 9"/>
          <p:cNvGraphicFramePr>
            <a:graphicFrameLocks noGrp="1"/>
          </p:cNvGraphicFramePr>
          <p:nvPr>
            <p:custDataLst>
              <p:tags r:id="rId1"/>
            </p:custDataLst>
          </p:nvPr>
        </p:nvGraphicFramePr>
        <p:xfrm>
          <a:off x="1447165" y="2623820"/>
          <a:ext cx="9297670" cy="2177415"/>
        </p:xfrm>
        <a:graphic>
          <a:graphicData uri="http://schemas.openxmlformats.org/drawingml/2006/table">
            <a:tbl>
              <a:tblPr firstRow="1" bandRow="1">
                <a:tableStyleId>{5C22544A-7EE6-4342-B048-85BDC9FD1C3A}</a:tableStyleId>
              </a:tblPr>
              <a:tblGrid>
                <a:gridCol w="2830830">
                  <a:extLst>
                    <a:ext uri="{9D8B030D-6E8A-4147-A177-3AD203B41FA5}">
                      <a16:colId xmlns:a16="http://schemas.microsoft.com/office/drawing/2014/main" val="20000"/>
                    </a:ext>
                  </a:extLst>
                </a:gridCol>
                <a:gridCol w="1972310">
                  <a:extLst>
                    <a:ext uri="{9D8B030D-6E8A-4147-A177-3AD203B41FA5}">
                      <a16:colId xmlns:a16="http://schemas.microsoft.com/office/drawing/2014/main" val="20001"/>
                    </a:ext>
                  </a:extLst>
                </a:gridCol>
                <a:gridCol w="2503170">
                  <a:extLst>
                    <a:ext uri="{9D8B030D-6E8A-4147-A177-3AD203B41FA5}">
                      <a16:colId xmlns:a16="http://schemas.microsoft.com/office/drawing/2014/main" val="20002"/>
                    </a:ext>
                  </a:extLst>
                </a:gridCol>
                <a:gridCol w="1991360">
                  <a:extLst>
                    <a:ext uri="{9D8B030D-6E8A-4147-A177-3AD203B41FA5}">
                      <a16:colId xmlns:a16="http://schemas.microsoft.com/office/drawing/2014/main" val="20003"/>
                    </a:ext>
                  </a:extLst>
                </a:gridCol>
              </a:tblGrid>
              <a:tr h="450215">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数据集加载函数</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4F80BD"/>
                    </a:solidFill>
                  </a:tcPr>
                </a:tc>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数据集任务类型</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4F80BD"/>
                    </a:solidFill>
                  </a:tcPr>
                </a:tc>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数据集加载函数</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4F80BD"/>
                    </a:solidFill>
                  </a:tcPr>
                </a:tc>
                <a:tc>
                  <a:txBody>
                    <a:bodyPr/>
                    <a:lstStyle/>
                    <a:p>
                      <a:pPr indent="0" algn="ctr">
                        <a:buNone/>
                      </a:pPr>
                      <a:r>
                        <a:rPr lang="en-US" sz="1800" b="1">
                          <a:latin typeface="宋体" panose="02010600030101010101" pitchFamily="2" charset="-122"/>
                          <a:ea typeface="宋体" panose="02010600030101010101" pitchFamily="2" charset="-122"/>
                          <a:cs typeface="宋体" panose="02010600030101010101" pitchFamily="2" charset="-122"/>
                        </a:rPr>
                        <a:t>数据集任务类型</a:t>
                      </a:r>
                      <a:endParaRPr lang="en-US" altLang="en-US" sz="1800" b="1">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4F80BD"/>
                    </a:solidFill>
                  </a:tcPr>
                </a:tc>
                <a:extLst>
                  <a:ext uri="{0D108BD9-81ED-4DB2-BD59-A6C34878D82A}">
                    <a16:rowId xmlns:a16="http://schemas.microsoft.com/office/drawing/2014/main" val="10000"/>
                  </a:ext>
                </a:extLst>
              </a:tr>
              <a:tr h="431800">
                <a:tc>
                  <a:txBody>
                    <a:bodyPr/>
                    <a:lstStyle/>
                    <a:p>
                      <a:pPr indent="0" algn="ctr">
                        <a:buNone/>
                      </a:pPr>
                      <a:r>
                        <a:rPr lang="en-US" sz="1800" b="0">
                          <a:latin typeface="Times New Roman" panose="02020603050405020304" pitchFamily="18" charset="0"/>
                          <a:cs typeface="Times New Roman" panose="02020603050405020304" pitchFamily="18" charset="0"/>
                        </a:rPr>
                        <a:t>load_</a:t>
                      </a:r>
                      <a:r>
                        <a:rPr lang="en-US" sz="1800" b="0">
                          <a:latin typeface="Times New Roman" panose="02020603050405020304" pitchFamily="18" charset="0"/>
                          <a:ea typeface="宋体" panose="02010600030101010101" pitchFamily="2" charset="-122"/>
                          <a:cs typeface="Times New Roman" panose="02020603050405020304" pitchFamily="18" charset="0"/>
                        </a:rPr>
                        <a:t> boston</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D0D8E8"/>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回归</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D0D8E8"/>
                    </a:solid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load_breast_cancer</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D0D8E8"/>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分类、聚类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D0D8E8"/>
                    </a:solidFill>
                  </a:tcPr>
                </a:tc>
                <a:extLst>
                  <a:ext uri="{0D108BD9-81ED-4DB2-BD59-A6C34878D82A}">
                    <a16:rowId xmlns:a16="http://schemas.microsoft.com/office/drawing/2014/main" val="10001"/>
                  </a:ext>
                </a:extLst>
              </a:tr>
              <a:tr h="431800">
                <a:tc>
                  <a:txBody>
                    <a:bodyPr/>
                    <a:lstStyle/>
                    <a:p>
                      <a:pPr indent="0" algn="ctr">
                        <a:buNone/>
                      </a:pPr>
                      <a:r>
                        <a:rPr lang="en-US" sz="1800" b="0">
                          <a:latin typeface="Times New Roman" panose="02020603050405020304" pitchFamily="18" charset="0"/>
                          <a:cs typeface="Times New Roman" panose="02020603050405020304" pitchFamily="18" charset="0"/>
                        </a:rPr>
                        <a:t>fetch_california_housing</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E9EDF4"/>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回归</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E9EDF4"/>
                    </a:solid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load</a:t>
                      </a:r>
                      <a:r>
                        <a:rPr lang="en-US" sz="1800" b="0">
                          <a:latin typeface="Times New Roman" panose="02020603050405020304" pitchFamily="18" charset="0"/>
                          <a:cs typeface="Times New Roman" panose="02020603050405020304" pitchFamily="18" charset="0"/>
                        </a:rPr>
                        <a:t>_iris</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E9EDF4"/>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分类、聚类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E9EDF4"/>
                    </a:solidFill>
                  </a:tcPr>
                </a:tc>
                <a:extLst>
                  <a:ext uri="{0D108BD9-81ED-4DB2-BD59-A6C34878D82A}">
                    <a16:rowId xmlns:a16="http://schemas.microsoft.com/office/drawing/2014/main" val="10002"/>
                  </a:ext>
                </a:extLst>
              </a:tr>
              <a:tr h="431800">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load_digits</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D0D8E8"/>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分类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D0D8E8"/>
                    </a:solidFill>
                  </a:tcPr>
                </a:tc>
                <a:tc>
                  <a:txBody>
                    <a:bodyPr/>
                    <a:lstStyle/>
                    <a:p>
                      <a:pPr indent="0" algn="ctr">
                        <a:buNone/>
                      </a:pPr>
                      <a:r>
                        <a:rPr lang="en-US" sz="1800" b="0">
                          <a:latin typeface="Times New Roman" panose="02020603050405020304" pitchFamily="18" charset="0"/>
                          <a:ea typeface="宋体" panose="02010600030101010101" pitchFamily="2" charset="-122"/>
                          <a:cs typeface="Times New Roman" panose="02020603050405020304" pitchFamily="18" charset="0"/>
                        </a:rPr>
                        <a:t>load_wine</a:t>
                      </a:r>
                      <a:endParaRPr lang="en-US" altLang="en-US" sz="1800" b="0">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solidFill>
                      <a:srgbClr val="D0D8E8"/>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分类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D0D8E8"/>
                    </a:solidFill>
                  </a:tcPr>
                </a:tc>
                <a:extLst>
                  <a:ext uri="{0D108BD9-81ED-4DB2-BD59-A6C34878D82A}">
                    <a16:rowId xmlns:a16="http://schemas.microsoft.com/office/drawing/2014/main" val="10003"/>
                  </a:ext>
                </a:extLst>
              </a:tr>
              <a:tr h="431800">
                <a:tc>
                  <a:txBody>
                    <a:bodyPr/>
                    <a:lstStyle/>
                    <a:p>
                      <a:pPr indent="0" algn="ctr">
                        <a:buNone/>
                      </a:pPr>
                      <a:r>
                        <a:rPr lang="en-US" sz="1800" b="0">
                          <a:latin typeface="Times New Roman" panose="02020603050405020304" pitchFamily="18" charset="0"/>
                          <a:cs typeface="Times New Roman" panose="02020603050405020304" pitchFamily="18" charset="0"/>
                        </a:rPr>
                        <a:t>load_diabetes</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E9EDF4"/>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回归</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E9EDF4"/>
                    </a:solidFill>
                  </a:tcPr>
                </a:tc>
                <a:tc>
                  <a:txBody>
                    <a:bodyPr/>
                    <a:lstStyle/>
                    <a:p>
                      <a:pPr indent="0" algn="ctr">
                        <a:buNone/>
                      </a:pPr>
                      <a:r>
                        <a:rPr lang="en-US" sz="1800" b="0">
                          <a:latin typeface="Times New Roman" panose="02020603050405020304" pitchFamily="18" charset="0"/>
                          <a:cs typeface="Times New Roman" panose="02020603050405020304" pitchFamily="18" charset="0"/>
                        </a:rPr>
                        <a:t>load_linnerud</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solidFill>
                      <a:srgbClr val="E9EDF4"/>
                    </a:solidFill>
                  </a:tcPr>
                </a:tc>
                <a:tc>
                  <a:txBody>
                    <a:bodyPr/>
                    <a:lstStyle/>
                    <a:p>
                      <a:pPr indent="0" algn="ctr">
                        <a:buNone/>
                      </a:pPr>
                      <a:r>
                        <a:rPr lang="en-US" sz="1800" b="0">
                          <a:latin typeface="宋体" panose="02010600030101010101" pitchFamily="2" charset="-122"/>
                          <a:ea typeface="宋体" panose="02010600030101010101" pitchFamily="2" charset="-122"/>
                          <a:cs typeface="宋体" panose="02010600030101010101" pitchFamily="2" charset="-122"/>
                        </a:rPr>
                        <a:t>回归</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solidFill>
                      <a:srgbClr val="E9EDF4"/>
                    </a:solidFill>
                  </a:tcPr>
                </a:tc>
                <a:extLst>
                  <a:ext uri="{0D108BD9-81ED-4DB2-BD59-A6C34878D82A}">
                    <a16:rowId xmlns:a16="http://schemas.microsoft.com/office/drawing/2014/main" val="10004"/>
                  </a:ext>
                </a:extLst>
              </a:tr>
            </a:tbl>
          </a:graphicData>
        </a:graphic>
      </p:graphicFrame>
      <p:sp>
        <p:nvSpPr>
          <p:cNvPr id="3" name="内容占位符 3"/>
          <p:cNvSpPr>
            <a:spLocks noGrp="1"/>
          </p:cNvSpPr>
          <p:nvPr>
            <p:ph idx="1"/>
          </p:nvPr>
        </p:nvSpPr>
        <p:spPr>
          <a:xfrm>
            <a:off x="542290" y="1028065"/>
            <a:ext cx="11107420" cy="5166995"/>
          </a:xfrm>
        </p:spPr>
        <p:txBody>
          <a:bodyPr/>
          <a:lstStyle/>
          <a:p>
            <a:pPr marL="0" indent="0"/>
            <a:r>
              <a:rPr lang="en-US" altLang="zh-CN" dirty="0"/>
              <a:t>   sklearn</a:t>
            </a:r>
            <a:r>
              <a:rPr lang="zh-CN" altLang="zh-CN" dirty="0"/>
              <a:t>库的</a:t>
            </a:r>
            <a:r>
              <a:rPr lang="en-US" altLang="zh-CN" dirty="0"/>
              <a:t>datasets</a:t>
            </a:r>
            <a:r>
              <a:rPr lang="zh-CN" altLang="zh-CN" dirty="0"/>
              <a:t>模块集成了部分数据分析的</a:t>
            </a:r>
            <a:r>
              <a:rPr lang="zh-CN" altLang="zh-CN" dirty="0">
                <a:solidFill>
                  <a:srgbClr val="FF0000"/>
                </a:solidFill>
              </a:rPr>
              <a:t>经典数据集</a:t>
            </a:r>
            <a:r>
              <a:rPr lang="zh-CN" altLang="zh-CN" dirty="0"/>
              <a:t>，读者可以使用这些数据集进行数据预处理、建</a:t>
            </a:r>
            <a:r>
              <a:rPr lang="en-US" altLang="zh-CN" dirty="0"/>
              <a:t>     </a:t>
            </a:r>
          </a:p>
          <a:p>
            <a:pPr marL="0" indent="0">
              <a:buNone/>
            </a:pPr>
            <a:r>
              <a:rPr lang="en-US" altLang="zh-CN" dirty="0"/>
              <a:t>      </a:t>
            </a:r>
            <a:r>
              <a:rPr lang="zh-CN" altLang="zh-CN" dirty="0"/>
              <a:t>模等操作，以及熟悉</a:t>
            </a:r>
            <a:r>
              <a:rPr lang="en-US" altLang="zh-CN" dirty="0"/>
              <a:t>sklearn</a:t>
            </a:r>
            <a:r>
              <a:rPr lang="zh-CN" altLang="zh-CN" dirty="0"/>
              <a:t>的数据处理流程和建模流程。</a:t>
            </a:r>
          </a:p>
          <a:p>
            <a:pPr marL="0" indent="0"/>
            <a:r>
              <a:rPr lang="en-US" altLang="zh-CN" dirty="0"/>
              <a:t>   datasets</a:t>
            </a:r>
            <a:r>
              <a:rPr lang="zh-CN" altLang="zh-CN" dirty="0"/>
              <a:t>模块常用数据集的加载函数及其解释，如下表所示。</a:t>
            </a:r>
          </a:p>
          <a:p>
            <a:pPr marL="0" indent="0"/>
            <a:endParaRPr lang="zh-CN" altLang="zh-CN" dirty="0"/>
          </a:p>
          <a:p>
            <a:pPr marL="0" indent="0"/>
            <a:endParaRPr lang="zh-CN" altLang="zh-CN" dirty="0"/>
          </a:p>
          <a:p>
            <a:pPr marL="0" indent="0"/>
            <a:endParaRPr lang="zh-CN" altLang="zh-CN" dirty="0"/>
          </a:p>
          <a:p>
            <a:pPr marL="0" indent="0"/>
            <a:endParaRPr lang="zh-CN" altLang="zh-CN" dirty="0"/>
          </a:p>
          <a:p>
            <a:pPr marL="0" indent="0"/>
            <a:endParaRPr lang="zh-CN" altLang="zh-CN" dirty="0"/>
          </a:p>
          <a:p>
            <a:pPr marL="0" indent="0"/>
            <a:endParaRPr lang="zh-CN" altLang="zh-CN" dirty="0"/>
          </a:p>
          <a:p>
            <a:pPr marL="0" indent="0"/>
            <a:r>
              <a:rPr lang="en-US" altLang="zh-CN" dirty="0"/>
              <a:t>   </a:t>
            </a:r>
            <a:r>
              <a:rPr lang="zh-CN" altLang="zh-CN" dirty="0"/>
              <a:t>使用</a:t>
            </a:r>
            <a:r>
              <a:rPr lang="en-US" altLang="zh-CN" dirty="0"/>
              <a:t>sklearn</a:t>
            </a:r>
            <a:r>
              <a:rPr lang="zh-CN" altLang="zh-CN" dirty="0"/>
              <a:t>进行数据预处理需要用到</a:t>
            </a:r>
            <a:r>
              <a:rPr lang="en-US" altLang="zh-CN" dirty="0"/>
              <a:t>sklearn</a:t>
            </a:r>
            <a:r>
              <a:rPr lang="zh-CN" altLang="zh-CN" dirty="0"/>
              <a:t>提供的统一接口——转换器（</a:t>
            </a:r>
            <a:r>
              <a:rPr lang="en-US" altLang="zh-CN" dirty="0"/>
              <a:t>Transformer</a:t>
            </a:r>
            <a:r>
              <a:rPr lang="zh-CN" altLang="zh-CN"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anim calcmode="lin" valueType="num">
                                      <p:cBhvr additive="base">
                                        <p:cTn id="1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加载</a:t>
            </a:r>
            <a:r>
              <a:rPr lang="en-US" altLang="zh-CN" dirty="0"/>
              <a:t>datasets</a:t>
            </a:r>
            <a:r>
              <a:rPr lang="zh-CN" altLang="en-US" dirty="0"/>
              <a:t>模块中的数据集</a:t>
            </a:r>
          </a:p>
        </p:txBody>
      </p:sp>
      <p:sp>
        <p:nvSpPr>
          <p:cNvPr id="8" name="内容占位符 7"/>
          <p:cNvSpPr>
            <a:spLocks noGrp="1"/>
          </p:cNvSpPr>
          <p:nvPr>
            <p:ph idx="1"/>
          </p:nvPr>
        </p:nvSpPr>
        <p:spPr>
          <a:xfrm>
            <a:off x="423545" y="1723390"/>
            <a:ext cx="11107420" cy="4044315"/>
          </a:xfrm>
        </p:spPr>
        <p:txBody>
          <a:bodyPr/>
          <a:lstStyle/>
          <a:p>
            <a:pPr marL="720090" latinLnBrk="0">
              <a:spcBef>
                <a:spcPts val="0"/>
              </a:spcBef>
              <a:buFont typeface="Arial" panose="020B0604020202020204" pitchFamily="34" charset="0"/>
              <a:buChar char="•"/>
            </a:pPr>
            <a:r>
              <a:rPr lang="zh-CN" altLang="en-US" sz="1600"/>
              <a:t>from sklearn.datasets import load_diabetes  # 加载</a:t>
            </a:r>
            <a:r>
              <a:rPr lang="en-US" altLang="zh-CN" sz="1600"/>
              <a:t>diabetes</a:t>
            </a:r>
            <a:r>
              <a:rPr lang="zh-CN" altLang="en-US" sz="1600"/>
              <a:t>数据集</a:t>
            </a:r>
          </a:p>
          <a:p>
            <a:pPr marL="720090" latinLnBrk="0">
              <a:spcBef>
                <a:spcPts val="0"/>
              </a:spcBef>
              <a:buFont typeface="Arial" panose="020B0604020202020204" pitchFamily="34" charset="0"/>
              <a:buChar char="•"/>
            </a:pPr>
            <a:r>
              <a:rPr lang="zh-CN" altLang="en-US" sz="1600"/>
              <a:t>diabetes = load_diabetes()  # 将数据集赋值给diabetes变量</a:t>
            </a:r>
          </a:p>
          <a:p>
            <a:pPr marL="720090" latinLnBrk="0">
              <a:spcBef>
                <a:spcPts val="0"/>
              </a:spcBef>
              <a:buFont typeface="Arial" panose="020B0604020202020204" pitchFamily="34" charset="0"/>
              <a:buChar char="•"/>
            </a:pPr>
            <a:r>
              <a:rPr lang="zh-CN" altLang="en-US" sz="1600"/>
              <a:t>print('diabetes数据集的长度为：', len(diabetes))</a:t>
            </a:r>
            <a:r>
              <a:rPr lang="zh-CN" altLang="en-US" sz="1600">
                <a:sym typeface="+mn-ea"/>
              </a:rPr>
              <a:t>  # 使用len函数查看数据集长度</a:t>
            </a:r>
            <a:endParaRPr lang="zh-CN" altLang="en-US" sz="1600"/>
          </a:p>
          <a:p>
            <a:pPr marL="720090" latinLnBrk="0">
              <a:spcBef>
                <a:spcPts val="0"/>
              </a:spcBef>
              <a:buFont typeface="Arial" panose="020B0604020202020204" pitchFamily="34" charset="0"/>
              <a:buChar char="•"/>
            </a:pPr>
            <a:r>
              <a:rPr lang="zh-CN" altLang="en-US" sz="1600"/>
              <a:t>print('diabetes数据集的类型为：', type(diabetes))</a:t>
            </a:r>
            <a:r>
              <a:rPr lang="zh-CN" altLang="en-US" sz="1600">
                <a:sym typeface="+mn-ea"/>
              </a:rPr>
              <a:t>  # 使用</a:t>
            </a:r>
            <a:r>
              <a:rPr lang="en-US" altLang="zh-CN" sz="1600">
                <a:sym typeface="+mn-ea"/>
              </a:rPr>
              <a:t>type</a:t>
            </a:r>
            <a:r>
              <a:rPr lang="zh-CN" altLang="en-US" sz="1600">
                <a:sym typeface="+mn-ea"/>
              </a:rPr>
              <a:t>函数查看数据集类型</a:t>
            </a:r>
            <a:endParaRPr lang="zh-CN" altLang="en-US" sz="1600"/>
          </a:p>
        </p:txBody>
      </p:sp>
      <p:sp>
        <p:nvSpPr>
          <p:cNvPr id="10" name="文本框 9"/>
          <p:cNvSpPr txBox="1"/>
          <p:nvPr/>
        </p:nvSpPr>
        <p:spPr>
          <a:xfrm>
            <a:off x="1068070" y="2568575"/>
            <a:ext cx="8075295" cy="299085"/>
          </a:xfrm>
          <a:prstGeom prst="rect">
            <a:avLst/>
          </a:prstGeom>
          <a:noFill/>
          <a:ln w="25400" cmpd="sng">
            <a:solidFill>
              <a:srgbClr val="FF0000"/>
            </a:solidFill>
            <a:prstDash val="sysDash"/>
          </a:ln>
        </p:spPr>
        <p:txBody>
          <a:bodyPr wrap="square" rtlCol="0">
            <a:noAutofit/>
          </a:bodyPr>
          <a:lstStyle/>
          <a:p>
            <a:endParaRPr lang="zh-CN" altLang="en-US"/>
          </a:p>
        </p:txBody>
      </p:sp>
      <p:sp>
        <p:nvSpPr>
          <p:cNvPr id="11" name="文本框 10"/>
          <p:cNvSpPr txBox="1"/>
          <p:nvPr/>
        </p:nvSpPr>
        <p:spPr>
          <a:xfrm>
            <a:off x="1068070" y="2940050"/>
            <a:ext cx="8074660" cy="295275"/>
          </a:xfrm>
          <a:prstGeom prst="rect">
            <a:avLst/>
          </a:prstGeom>
          <a:noFill/>
          <a:ln w="25400" cmpd="sng">
            <a:solidFill>
              <a:srgbClr val="FF0000"/>
            </a:solidFill>
            <a:prstDash val="sysDash"/>
          </a:ln>
        </p:spPr>
        <p:txBody>
          <a:bodyPr wrap="square" rtlCol="0">
            <a:noAutofit/>
          </a:bodyPr>
          <a:lstStyle/>
          <a:p>
            <a:endParaRPr lang="zh-CN" altLang="en-US"/>
          </a:p>
        </p:txBody>
      </p:sp>
      <p:sp>
        <p:nvSpPr>
          <p:cNvPr id="12" name="文本框 11"/>
          <p:cNvSpPr txBox="1"/>
          <p:nvPr/>
        </p:nvSpPr>
        <p:spPr>
          <a:xfrm flipH="1">
            <a:off x="7824852" y="1916430"/>
            <a:ext cx="3221990" cy="368300"/>
          </a:xfrm>
          <a:prstGeom prst="rect">
            <a:avLst/>
          </a:prstGeom>
          <a:solidFill>
            <a:schemeClr val="bg1">
              <a:lumMod val="85000"/>
            </a:schemeClr>
          </a:solidFill>
        </p:spPr>
        <p:txBody>
          <a:bodyPr wrap="square" rtlCol="0">
            <a:spAutoFit/>
          </a:bodyPr>
          <a:lstStyle/>
          <a:p>
            <a:r>
              <a:rPr dirty="0" err="1"/>
              <a:t>diabetes数据集的长度为</a:t>
            </a:r>
            <a:r>
              <a:rPr dirty="0"/>
              <a:t>： </a:t>
            </a:r>
            <a:r>
              <a:rPr lang="en-US" dirty="0"/>
              <a:t>8</a:t>
            </a:r>
            <a:endParaRPr dirty="0"/>
          </a:p>
        </p:txBody>
      </p:sp>
      <p:cxnSp>
        <p:nvCxnSpPr>
          <p:cNvPr id="13" name="曲线连接符 12"/>
          <p:cNvCxnSpPr>
            <a:stCxn id="10" idx="3"/>
            <a:endCxn id="12" idx="2"/>
          </p:cNvCxnSpPr>
          <p:nvPr/>
        </p:nvCxnSpPr>
        <p:spPr>
          <a:xfrm flipV="1">
            <a:off x="9143365" y="2284730"/>
            <a:ext cx="292482" cy="433388"/>
          </a:xfrm>
          <a:prstGeom prst="curvedConnector2">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flipH="1">
            <a:off x="5183740" y="4054151"/>
            <a:ext cx="5969635" cy="368300"/>
          </a:xfrm>
          <a:prstGeom prst="rect">
            <a:avLst/>
          </a:prstGeom>
          <a:solidFill>
            <a:schemeClr val="bg1">
              <a:lumMod val="85000"/>
            </a:schemeClr>
          </a:solidFill>
        </p:spPr>
        <p:txBody>
          <a:bodyPr wrap="square" rtlCol="0">
            <a:spAutoFit/>
          </a:bodyPr>
          <a:lstStyle/>
          <a:p>
            <a:r>
              <a:rPr dirty="0" err="1"/>
              <a:t>diabetes数据集的类型为</a:t>
            </a:r>
            <a:r>
              <a:rPr dirty="0"/>
              <a:t>： &lt;class '</a:t>
            </a:r>
            <a:r>
              <a:rPr dirty="0" err="1"/>
              <a:t>sklearn.utils.Bunch</a:t>
            </a:r>
            <a:r>
              <a:rPr dirty="0"/>
              <a:t>'&gt;</a:t>
            </a:r>
          </a:p>
        </p:txBody>
      </p:sp>
      <p:cxnSp>
        <p:nvCxnSpPr>
          <p:cNvPr id="15" name="曲线连接符 14"/>
          <p:cNvCxnSpPr>
            <a:stCxn id="11" idx="2"/>
            <a:endCxn id="14" idx="3"/>
          </p:cNvCxnSpPr>
          <p:nvPr/>
        </p:nvCxnSpPr>
        <p:spPr>
          <a:xfrm rot="16200000" flipH="1">
            <a:off x="4643082" y="3697643"/>
            <a:ext cx="1002976" cy="78340"/>
          </a:xfrm>
          <a:prstGeom prst="curvedConnector2">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6626" name="内容占位符 3"/>
          <p:cNvSpPr>
            <a:spLocks noGrp="1"/>
          </p:cNvSpPr>
          <p:nvPr/>
        </p:nvSpPr>
        <p:spPr>
          <a:xfrm>
            <a:off x="423545" y="1155700"/>
            <a:ext cx="11107420" cy="516699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pPr marL="0" indent="0"/>
            <a:r>
              <a:rPr lang="en-US" altLang="zh-CN">
                <a:sym typeface="+mn-ea"/>
              </a:rPr>
              <a:t>   </a:t>
            </a:r>
            <a:r>
              <a:rPr lang="zh-CN" altLang="en-US">
                <a:sym typeface="+mn-ea"/>
              </a:rPr>
              <a:t>如果需要加载某个数据集，那么可以将对应的函数赋值给某个变量。加载diabetes数据集，如以下代码。</a:t>
            </a:r>
            <a:endParaRPr lang="zh-CN" altLang="zh-C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1"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grpId="1"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1"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ppt_x"/>
                                          </p:val>
                                        </p:tav>
                                        <p:tav tm="100000">
                                          <p:val>
                                            <p:strVal val="#ppt_x"/>
                                          </p:val>
                                        </p:tav>
                                      </p:tavLst>
                                    </p:anim>
                                    <p:anim calcmode="lin" valueType="num">
                                      <p:cBhvr additive="base">
                                        <p:cTn id="4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par>
                                <p:cTn id="49" presetID="2" presetClass="entr" presetSubtype="4" fill="hold" grpId="1"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bldLvl="0" animBg="1"/>
      <p:bldP spid="11" grpId="0" animBg="1"/>
      <p:bldP spid="11" grpId="1" bldLvl="0" animBg="1"/>
      <p:bldP spid="12" grpId="0" animBg="1"/>
      <p:bldP spid="12" grpId="1" bldLvl="0" animBg="1"/>
      <p:bldP spid="14" grpId="0" animBg="1"/>
      <p:bldP spid="14" grpId="1"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加载</a:t>
            </a:r>
            <a:r>
              <a:rPr lang="en-US" altLang="zh-CN" dirty="0"/>
              <a:t>datasets</a:t>
            </a:r>
            <a:r>
              <a:rPr lang="zh-CN" altLang="en-US" dirty="0"/>
              <a:t>模块中的数据集</a:t>
            </a:r>
          </a:p>
        </p:txBody>
      </p:sp>
      <p:sp>
        <p:nvSpPr>
          <p:cNvPr id="4" name="内容占位符 3"/>
          <p:cNvSpPr>
            <a:spLocks noGrp="1"/>
          </p:cNvSpPr>
          <p:nvPr>
            <p:ph idx="1"/>
          </p:nvPr>
        </p:nvSpPr>
        <p:spPr>
          <a:xfrm>
            <a:off x="422910" y="3978275"/>
            <a:ext cx="11107420" cy="3568700"/>
          </a:xfrm>
        </p:spPr>
        <p:txBody>
          <a:bodyPr/>
          <a:lstStyle/>
          <a:p>
            <a:pPr marL="720090" latinLnBrk="0">
              <a:spcBef>
                <a:spcPts val="0"/>
              </a:spcBef>
              <a:buFont typeface="Arial" panose="020B0604020202020204" pitchFamily="34" charset="0"/>
              <a:buChar char="•"/>
            </a:pPr>
            <a:r>
              <a:rPr lang="zh-CN" altLang="en-US" sz="1600"/>
              <a:t>diabetes_data = diabetes['data']  # 获取数据集的数据</a:t>
            </a:r>
          </a:p>
          <a:p>
            <a:pPr marL="720090" latinLnBrk="0">
              <a:spcBef>
                <a:spcPts val="0"/>
              </a:spcBef>
              <a:buFont typeface="Arial" panose="020B0604020202020204" pitchFamily="34" charset="0"/>
              <a:buChar char="•"/>
            </a:pPr>
            <a:r>
              <a:rPr lang="zh-CN" altLang="en-US" sz="1600"/>
              <a:t>diabetes_target = diabetes['target']  # 获取数据集的标签</a:t>
            </a:r>
          </a:p>
          <a:p>
            <a:pPr marL="720090" latinLnBrk="0">
              <a:spcBef>
                <a:spcPts val="0"/>
              </a:spcBef>
              <a:buFont typeface="Arial" panose="020B0604020202020204" pitchFamily="34" charset="0"/>
              <a:buChar char="•"/>
            </a:pPr>
            <a:r>
              <a:rPr lang="zh-CN" altLang="en-US" sz="1600"/>
              <a:t>diabetes_names = diabetes['feature_names']  # 获取数据集的特征名</a:t>
            </a:r>
          </a:p>
          <a:p>
            <a:pPr marL="720090" latinLnBrk="0">
              <a:spcBef>
                <a:spcPts val="0"/>
              </a:spcBef>
              <a:buFont typeface="Arial" panose="020B0604020202020204" pitchFamily="34" charset="0"/>
              <a:buChar char="•"/>
            </a:pPr>
            <a:r>
              <a:rPr lang="zh-CN" altLang="en-US" sz="1600"/>
              <a:t>diabetes_desc = diabetes['DESCR']  # 获取数据集的描述信息</a:t>
            </a:r>
          </a:p>
        </p:txBody>
      </p:sp>
      <p:sp>
        <p:nvSpPr>
          <p:cNvPr id="7" name="文本框 6"/>
          <p:cNvSpPr txBox="1"/>
          <p:nvPr/>
        </p:nvSpPr>
        <p:spPr>
          <a:xfrm>
            <a:off x="1082040" y="4098290"/>
            <a:ext cx="5972175" cy="1409700"/>
          </a:xfrm>
          <a:prstGeom prst="rect">
            <a:avLst/>
          </a:prstGeom>
          <a:noFill/>
          <a:ln w="25400" cmpd="sng">
            <a:solidFill>
              <a:srgbClr val="FF0000"/>
            </a:solidFill>
            <a:prstDash val="sysDash"/>
          </a:ln>
        </p:spPr>
        <p:txBody>
          <a:bodyPr wrap="square" rtlCol="0">
            <a:noAutofit/>
          </a:bodyPr>
          <a:lstStyle/>
          <a:p>
            <a:endParaRPr lang="zh-CN" altLang="en-US"/>
          </a:p>
        </p:txBody>
      </p:sp>
      <p:sp>
        <p:nvSpPr>
          <p:cNvPr id="16" name="文本框 15"/>
          <p:cNvSpPr txBox="1"/>
          <p:nvPr/>
        </p:nvSpPr>
        <p:spPr>
          <a:xfrm flipH="1">
            <a:off x="6365240" y="5930265"/>
            <a:ext cx="4984115" cy="368300"/>
          </a:xfrm>
          <a:prstGeom prst="rect">
            <a:avLst/>
          </a:prstGeom>
          <a:solidFill>
            <a:schemeClr val="bg1">
              <a:lumMod val="85000"/>
            </a:schemeClr>
          </a:solidFill>
        </p:spPr>
        <p:txBody>
          <a:bodyPr wrap="square" rtlCol="0">
            <a:spAutoFit/>
          </a:bodyPr>
          <a:lstStyle/>
          <a:p>
            <a:r>
              <a:rPr lang="zh-CN"/>
              <a:t>查看对应信息只需</a:t>
            </a:r>
            <a:r>
              <a:rPr lang="en-US" altLang="zh-CN"/>
              <a:t>print</a:t>
            </a:r>
            <a:r>
              <a:rPr lang="zh-CN" altLang="en-US"/>
              <a:t>（）输入对应变量名即可</a:t>
            </a:r>
          </a:p>
        </p:txBody>
      </p:sp>
      <p:cxnSp>
        <p:nvCxnSpPr>
          <p:cNvPr id="17" name="曲线连接符 16"/>
          <p:cNvCxnSpPr>
            <a:stCxn id="7" idx="2"/>
            <a:endCxn id="16" idx="3"/>
          </p:cNvCxnSpPr>
          <p:nvPr/>
        </p:nvCxnSpPr>
        <p:spPr>
          <a:xfrm rot="5400000" flipV="1">
            <a:off x="4913630" y="4671695"/>
            <a:ext cx="606425" cy="2296795"/>
          </a:xfrm>
          <a:prstGeom prst="curvedConnector2">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9" name="内容占位符 4"/>
          <p:cNvSpPr>
            <a:spLocks noGrp="1"/>
          </p:cNvSpPr>
          <p:nvPr/>
        </p:nvSpPr>
        <p:spPr>
          <a:xfrm>
            <a:off x="422910" y="1002030"/>
            <a:ext cx="11295614" cy="267398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zh-CN" altLang="en-US" dirty="0">
                <a:sym typeface="+mn-ea"/>
              </a:rPr>
              <a:t>加载后的数据集可以视为一个字典，几乎所有的sklearn数据集均可以使用如下属性</a:t>
            </a:r>
            <a:r>
              <a:rPr dirty="0" err="1">
                <a:sym typeface="+mn-ea"/>
              </a:rPr>
              <a:t>分别获取数据集的数据、标签、特征名称和描述信息</a:t>
            </a:r>
            <a:r>
              <a:rPr dirty="0">
                <a:sym typeface="+mn-ea"/>
              </a:rPr>
              <a:t>。</a:t>
            </a:r>
          </a:p>
          <a:p>
            <a:pPr marL="720090">
              <a:spcBef>
                <a:spcPts val="0"/>
              </a:spcBef>
              <a:buFont typeface="Arial" panose="020B0604020202020204" pitchFamily="34" charset="0"/>
              <a:buChar char="•"/>
            </a:pPr>
            <a:r>
              <a:rPr lang="zh-CN" altLang="en-US" dirty="0">
                <a:sym typeface="+mn-ea"/>
              </a:rPr>
              <a:t>data</a:t>
            </a:r>
            <a:endParaRPr lang="zh-CN" altLang="en-US" dirty="0"/>
          </a:p>
          <a:p>
            <a:pPr marL="720090">
              <a:spcBef>
                <a:spcPts val="0"/>
              </a:spcBef>
              <a:buFont typeface="Arial" panose="020B0604020202020204" pitchFamily="34" charset="0"/>
              <a:buChar char="•"/>
            </a:pPr>
            <a:r>
              <a:rPr lang="zh-CN" altLang="en-US" dirty="0">
                <a:sym typeface="+mn-ea"/>
              </a:rPr>
              <a:t>target</a:t>
            </a:r>
            <a:endParaRPr lang="zh-CN" altLang="en-US" dirty="0"/>
          </a:p>
          <a:p>
            <a:pPr marL="720090">
              <a:spcBef>
                <a:spcPts val="0"/>
              </a:spcBef>
              <a:buFont typeface="Arial" panose="020B0604020202020204" pitchFamily="34" charset="0"/>
              <a:buChar char="•"/>
            </a:pPr>
            <a:r>
              <a:rPr lang="zh-CN" altLang="en-US" dirty="0">
                <a:sym typeface="+mn-ea"/>
              </a:rPr>
              <a:t>feature_names</a:t>
            </a:r>
            <a:endParaRPr lang="zh-CN" altLang="en-US" dirty="0"/>
          </a:p>
          <a:p>
            <a:pPr marL="720090">
              <a:spcBef>
                <a:spcPts val="0"/>
              </a:spcBef>
              <a:buFont typeface="Arial" panose="020B0604020202020204" pitchFamily="34" charset="0"/>
              <a:buChar char="•"/>
            </a:pPr>
            <a:r>
              <a:rPr lang="zh-CN" altLang="en-US" dirty="0">
                <a:sym typeface="+mn-ea"/>
              </a:rPr>
              <a:t>DESCR</a:t>
            </a:r>
            <a:endParaRPr lang="zh-CN" altLang="en-US" dirty="0"/>
          </a:p>
          <a:p>
            <a:r>
              <a:rPr lang="zh-CN" altLang="en-US" dirty="0">
                <a:sym typeface="+mn-ea"/>
              </a:rPr>
              <a:t>获取sklearn自带数据集的内部信息，如以下代码。</a:t>
            </a:r>
            <a:endParaRPr lang="zh-CN" altLang="en-US" dirty="0"/>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1" end="1"/>
                                            </p:txEl>
                                          </p:spTgt>
                                        </p:tgtEl>
                                        <p:attrNameLst>
                                          <p:attrName>style.visibility</p:attrName>
                                        </p:attrNameLst>
                                      </p:cBhvr>
                                      <p:to>
                                        <p:strVal val="visible"/>
                                      </p:to>
                                    </p:set>
                                    <p:anim calcmode="lin" valueType="num">
                                      <p:cBhvr additive="base">
                                        <p:cTn id="7" dur="5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anim calcmode="lin" valueType="num">
                                      <p:cBhvr additive="base">
                                        <p:cTn id="11"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9">
                                            <p:txEl>
                                              <p:pRg st="3" end="3"/>
                                            </p:txEl>
                                          </p:spTgt>
                                        </p:tgtEl>
                                        <p:attrNameLst>
                                          <p:attrName>style.visibility</p:attrName>
                                        </p:attrNameLst>
                                      </p:cBhvr>
                                      <p:to>
                                        <p:strVal val="visible"/>
                                      </p:to>
                                    </p:set>
                                    <p:anim calcmode="lin" valueType="num">
                                      <p:cBhvr additive="base">
                                        <p:cTn id="15"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9">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anim calcmode="lin" valueType="num">
                                      <p:cBhvr additive="base">
                                        <p:cTn id="19" dur="500" fill="hold"/>
                                        <p:tgtEl>
                                          <p:spTgt spid="1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
                                            <p:txEl>
                                              <p:pRg st="5" end="5"/>
                                            </p:txEl>
                                          </p:spTgt>
                                        </p:tgtEl>
                                        <p:attrNameLst>
                                          <p:attrName>style.visibility</p:attrName>
                                        </p:attrNameLst>
                                      </p:cBhvr>
                                      <p:to>
                                        <p:strVal val="visible"/>
                                      </p:to>
                                    </p:set>
                                    <p:anim calcmode="lin" valueType="num">
                                      <p:cBhvr additive="base">
                                        <p:cTn id="25"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anim calcmode="lin" valueType="num">
                                      <p:cBhvr additive="base">
                                        <p:cTn id="35"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anim calcmode="lin" valueType="num">
                                      <p:cBhvr additive="base">
                                        <p:cTn id="3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2" end="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3" end="3"/>
                                            </p:txEl>
                                          </p:spTgt>
                                        </p:tgtEl>
                                        <p:attrNameLst>
                                          <p:attrName>style.visibility</p:attrName>
                                        </p:attrNameLst>
                                      </p:cBhvr>
                                      <p:to>
                                        <p:strVal val="visible"/>
                                      </p:to>
                                    </p:set>
                                    <p:anim calcmode="lin" valueType="num">
                                      <p:cBhvr additive="base">
                                        <p:cTn id="43"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1" nodeType="clickEffect">
                                  <p:stCondLst>
                                    <p:cond delay="0"/>
                                  </p:stCondLst>
                                  <p:childTnLst>
                                    <p:set>
                                      <p:cBhvr>
                                        <p:cTn id="48" dur="1" fill="hold">
                                          <p:stCondLst>
                                            <p:cond delay="0"/>
                                          </p:stCondLst>
                                        </p:cTn>
                                        <p:tgtEl>
                                          <p:spTgt spid="7"/>
                                        </p:tgtEl>
                                        <p:attrNameLst>
                                          <p:attrName>style.visibility</p:attrName>
                                        </p:attrNameLst>
                                      </p:cBhvr>
                                      <p:to>
                                        <p:strVal val="visible"/>
                                      </p:to>
                                    </p:set>
                                    <p:anim calcmode="lin" valueType="num">
                                      <p:cBhvr additive="base">
                                        <p:cTn id="49" dur="500" fill="hold"/>
                                        <p:tgtEl>
                                          <p:spTgt spid="7"/>
                                        </p:tgtEl>
                                        <p:attrNameLst>
                                          <p:attrName>ppt_x</p:attrName>
                                        </p:attrNameLst>
                                      </p:cBhvr>
                                      <p:tavLst>
                                        <p:tav tm="0">
                                          <p:val>
                                            <p:strVal val="#ppt_x"/>
                                          </p:val>
                                        </p:tav>
                                        <p:tav tm="100000">
                                          <p:val>
                                            <p:strVal val="#ppt_x"/>
                                          </p:val>
                                        </p:tav>
                                      </p:tavLst>
                                    </p:anim>
                                    <p:anim calcmode="lin" valueType="num">
                                      <p:cBhvr additive="base">
                                        <p:cTn id="5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ppt_x</p:attrName>
                                        </p:attrNameLst>
                                      </p:cBhvr>
                                      <p:tavLst>
                                        <p:tav tm="0">
                                          <p:val>
                                            <p:strVal val="#ppt_x"/>
                                          </p:val>
                                        </p:tav>
                                        <p:tav tm="100000">
                                          <p:val>
                                            <p:strVal val="#ppt_x"/>
                                          </p:val>
                                        </p:tav>
                                      </p:tavLst>
                                    </p:anim>
                                    <p:anim calcmode="lin" valueType="num">
                                      <p:cBhvr additive="base">
                                        <p:cTn id="56" dur="500" fill="hold"/>
                                        <p:tgtEl>
                                          <p:spTgt spid="17"/>
                                        </p:tgtEl>
                                        <p:attrNameLst>
                                          <p:attrName>ppt_y</p:attrName>
                                        </p:attrNameLst>
                                      </p:cBhvr>
                                      <p:tavLst>
                                        <p:tav tm="0">
                                          <p:val>
                                            <p:strVal val="1+#ppt_h/2"/>
                                          </p:val>
                                        </p:tav>
                                        <p:tav tm="100000">
                                          <p:val>
                                            <p:strVal val="#ppt_y"/>
                                          </p:val>
                                        </p:tav>
                                      </p:tavLst>
                                    </p:anim>
                                  </p:childTnLst>
                                </p:cTn>
                              </p:par>
                              <p:par>
                                <p:cTn id="57" presetID="2" presetClass="entr" presetSubtype="4" fill="hold" grpId="1"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16" grpId="0" animBg="1"/>
      <p:bldP spid="16" grpId="1"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加载</a:t>
            </a:r>
            <a:r>
              <a:rPr lang="en-US" altLang="zh-CN" dirty="0"/>
              <a:t>datasets</a:t>
            </a:r>
            <a:r>
              <a:rPr lang="zh-CN" altLang="en-US" dirty="0"/>
              <a:t>模块中的数据集</a:t>
            </a:r>
          </a:p>
        </p:txBody>
      </p:sp>
      <p:sp>
        <p:nvSpPr>
          <p:cNvPr id="3" name="矩形 2"/>
          <p:cNvSpPr/>
          <p:nvPr/>
        </p:nvSpPr>
        <p:spPr>
          <a:xfrm>
            <a:off x="505098" y="1056476"/>
            <a:ext cx="6096000" cy="2585323"/>
          </a:xfrm>
          <a:prstGeom prst="rect">
            <a:avLst/>
          </a:prstGeom>
        </p:spPr>
        <p:txBody>
          <a:bodyPr>
            <a:spAutoFit/>
          </a:bodyPr>
          <a:lstStyle/>
          <a:p>
            <a:r>
              <a:rPr lang="en-US" altLang="zh-CN" dirty="0" err="1"/>
              <a:t>diabetes_data</a:t>
            </a:r>
            <a:r>
              <a:rPr lang="en-US" altLang="zh-CN" dirty="0"/>
              <a:t> = diabetes['data']</a:t>
            </a:r>
          </a:p>
          <a:p>
            <a:r>
              <a:rPr lang="en-US" altLang="zh-CN" dirty="0"/>
              <a:t>print('diabetes</a:t>
            </a:r>
            <a:r>
              <a:rPr lang="zh-CN" altLang="en-US" dirty="0"/>
              <a:t>数据集的数据为：</a:t>
            </a:r>
            <a:r>
              <a:rPr lang="en-US" altLang="zh-CN" dirty="0"/>
              <a:t>','\n', </a:t>
            </a:r>
            <a:r>
              <a:rPr lang="en-US" altLang="zh-CN" dirty="0" err="1"/>
              <a:t>diabetes_data</a:t>
            </a:r>
            <a:r>
              <a:rPr lang="en-US" altLang="zh-CN" dirty="0"/>
              <a:t>)</a:t>
            </a:r>
          </a:p>
          <a:p>
            <a:r>
              <a:rPr lang="en-US" altLang="zh-CN" dirty="0" err="1"/>
              <a:t>diabetes_target</a:t>
            </a:r>
            <a:r>
              <a:rPr lang="en-US" altLang="zh-CN" dirty="0"/>
              <a:t> = diabetes['target']  # </a:t>
            </a:r>
            <a:r>
              <a:rPr lang="zh-CN" altLang="en-US" dirty="0"/>
              <a:t>取出数据集的标签</a:t>
            </a:r>
          </a:p>
          <a:p>
            <a:r>
              <a:rPr lang="en-US" altLang="zh-CN" dirty="0"/>
              <a:t>print('diabetes</a:t>
            </a:r>
            <a:r>
              <a:rPr lang="zh-CN" altLang="en-US" dirty="0"/>
              <a:t>数据集的标签为：</a:t>
            </a:r>
            <a:r>
              <a:rPr lang="en-US" altLang="zh-CN" dirty="0"/>
              <a:t>\n', </a:t>
            </a:r>
            <a:r>
              <a:rPr lang="en-US" altLang="zh-CN" dirty="0" err="1"/>
              <a:t>diabetes_target</a:t>
            </a:r>
            <a:r>
              <a:rPr lang="en-US" altLang="zh-CN" dirty="0"/>
              <a:t>)</a:t>
            </a:r>
          </a:p>
          <a:p>
            <a:r>
              <a:rPr lang="en-US" altLang="zh-CN" dirty="0" err="1"/>
              <a:t>diabetes_names</a:t>
            </a:r>
            <a:r>
              <a:rPr lang="en-US" altLang="zh-CN" dirty="0"/>
              <a:t> = diabetes['</a:t>
            </a:r>
            <a:r>
              <a:rPr lang="en-US" altLang="zh-CN" dirty="0" err="1"/>
              <a:t>feature_names</a:t>
            </a:r>
            <a:r>
              <a:rPr lang="en-US" altLang="zh-CN" dirty="0"/>
              <a:t>']  # </a:t>
            </a:r>
            <a:r>
              <a:rPr lang="zh-CN" altLang="en-US" dirty="0"/>
              <a:t>取出数据集的特征名</a:t>
            </a:r>
          </a:p>
          <a:p>
            <a:r>
              <a:rPr lang="en-US" altLang="zh-CN" dirty="0"/>
              <a:t>print('diabetes</a:t>
            </a:r>
            <a:r>
              <a:rPr lang="zh-CN" altLang="en-US" dirty="0"/>
              <a:t>数据集的特征名为：</a:t>
            </a:r>
            <a:r>
              <a:rPr lang="en-US" altLang="zh-CN" dirty="0"/>
              <a:t>\n', </a:t>
            </a:r>
            <a:r>
              <a:rPr lang="en-US" altLang="zh-CN" dirty="0" err="1"/>
              <a:t>diabetes_names</a:t>
            </a:r>
            <a:r>
              <a:rPr lang="en-US" altLang="zh-CN" dirty="0"/>
              <a:t>)</a:t>
            </a:r>
          </a:p>
          <a:p>
            <a:r>
              <a:rPr lang="en-US" altLang="zh-CN" dirty="0" err="1"/>
              <a:t>diabetes_desc</a:t>
            </a:r>
            <a:r>
              <a:rPr lang="en-US" altLang="zh-CN" dirty="0"/>
              <a:t> = diabetes['DESCR']  # </a:t>
            </a:r>
            <a:r>
              <a:rPr lang="zh-CN" altLang="en-US" dirty="0"/>
              <a:t>取出数据集的描述信息</a:t>
            </a:r>
          </a:p>
          <a:p>
            <a:r>
              <a:rPr lang="en-US" altLang="zh-CN" dirty="0"/>
              <a:t>print('diabetes</a:t>
            </a:r>
            <a:r>
              <a:rPr lang="zh-CN" altLang="en-US" dirty="0"/>
              <a:t>数据集的描述信息为：</a:t>
            </a:r>
            <a:r>
              <a:rPr lang="en-US" altLang="zh-CN" dirty="0"/>
              <a:t>\n', </a:t>
            </a:r>
            <a:r>
              <a:rPr lang="en-US" altLang="zh-CN" dirty="0" err="1"/>
              <a:t>diabetes_desc</a:t>
            </a:r>
            <a:r>
              <a:rPr lang="en-US" altLang="zh-CN" dirty="0"/>
              <a:t>)</a:t>
            </a:r>
            <a:endParaRPr lang="zh-CN" altLang="en-US" dirty="0"/>
          </a:p>
        </p:txBody>
      </p:sp>
    </p:spTree>
    <p:extLst>
      <p:ext uri="{BB962C8B-B14F-4D97-AF65-F5344CB8AC3E}">
        <p14:creationId xmlns:p14="http://schemas.microsoft.com/office/powerpoint/2010/main" val="1145658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8" name="内容占位符 7"/>
          <p:cNvSpPr>
            <a:spLocks noGrp="1"/>
          </p:cNvSpPr>
          <p:nvPr>
            <p:ph idx="1"/>
          </p:nvPr>
        </p:nvSpPr>
        <p:spPr>
          <a:xfrm>
            <a:off x="414655" y="1099185"/>
            <a:ext cx="11107420" cy="5091430"/>
          </a:xfrm>
        </p:spPr>
        <p:txBody>
          <a:bodyPr/>
          <a:lstStyle/>
          <a:p>
            <a:pPr marL="0" indent="0"/>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在数据分析过程中，为了保证模型在实际系统中能够起到预期作用，一般需要将总样本分划分成独立的3</a:t>
            </a:r>
          </a:p>
          <a:p>
            <a:pPr marL="0" indent="0">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部分如下。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latinLnBrk="0">
              <a:spcBef>
                <a:spcPts val="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训练集（train set）</a:t>
            </a:r>
          </a:p>
          <a:p>
            <a:pPr marL="720090" latinLnBrk="0">
              <a:spcBef>
                <a:spcPts val="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验证集（validation set）</a:t>
            </a:r>
          </a:p>
          <a:p>
            <a:pPr marL="720090" latinLnBrk="0">
              <a:spcBef>
                <a:spcPts val="0"/>
              </a:spcBef>
              <a:buFont typeface="Arial" panose="020B0604020202020204" pitchFamily="34" charset="0"/>
              <a:buChar char="•"/>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测试集（test set）</a:t>
            </a:r>
          </a:p>
          <a:p>
            <a:pPr marL="720090" latinLnBrk="0">
              <a:spcBef>
                <a:spcPts val="0"/>
              </a:spcBef>
              <a:buFont typeface="Arial" panose="020B0604020202020204" pitchFamily="34" charset="0"/>
              <a:buChar char="•"/>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典型的划分方式如下。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latinLnBrk="0">
              <a:spcBef>
                <a:spcPts val="0"/>
              </a:spcBef>
              <a:buFont typeface="Arial" panose="020B0604020202020204" pitchFamily="34" charset="0"/>
              <a:buChar char="•"/>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训练集数量，占总样本数量的50%。</a:t>
            </a:r>
          </a:p>
          <a:p>
            <a:pPr marL="720090" latinLnBrk="0">
              <a:spcBef>
                <a:spcPts val="0"/>
              </a:spcBef>
              <a:buFont typeface="Arial" panose="020B0604020202020204" pitchFamily="34" charset="0"/>
              <a:buChar char="•"/>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验证集数量，</a:t>
            </a:r>
            <a:r>
              <a:rPr lang="zh-CN" altLang="zh-CN" kern="100" dirty="0">
                <a:effectLst/>
                <a:sym typeface="+mn-ea"/>
              </a:rPr>
              <a:t>占总样本数量的25%。</a:t>
            </a: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latinLnBrk="0">
              <a:spcBef>
                <a:spcPts val="0"/>
              </a:spcBef>
              <a:buFont typeface="Arial" panose="020B0604020202020204" pitchFamily="34" charset="0"/>
              <a:buChar char="•"/>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测试集数量，占总样本数量的25%。</a:t>
            </a:r>
          </a:p>
        </p:txBody>
      </p:sp>
      <p:grpSp>
        <p:nvGrpSpPr>
          <p:cNvPr id="9" name="组合 8"/>
          <p:cNvGrpSpPr/>
          <p:nvPr/>
        </p:nvGrpSpPr>
        <p:grpSpPr>
          <a:xfrm>
            <a:off x="3025140" y="2073910"/>
            <a:ext cx="8304530" cy="368351"/>
            <a:chOff x="3002" y="4793"/>
            <a:chExt cx="4907" cy="676"/>
          </a:xfrm>
        </p:grpSpPr>
        <p:cxnSp>
          <p:nvCxnSpPr>
            <p:cNvPr id="11" name="直接箭头连接符 10"/>
            <p:cNvCxnSpPr>
              <a:endCxn id="20" idx="1"/>
            </p:cNvCxnSpPr>
            <p:nvPr/>
          </p:nvCxnSpPr>
          <p:spPr>
            <a:xfrm flipV="1">
              <a:off x="3002" y="5131"/>
              <a:ext cx="3987" cy="11"/>
            </a:xfrm>
            <a:prstGeom prst="straightConnector1">
              <a:avLst/>
            </a:prstGeom>
            <a:ln w="28575" cmpd="sng">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989" y="4793"/>
              <a:ext cx="920" cy="676"/>
            </a:xfrm>
            <a:prstGeom prst="rect">
              <a:avLst/>
            </a:prstGeom>
            <a:solidFill>
              <a:schemeClr val="bg1">
                <a:lumMod val="85000"/>
              </a:schemeClr>
            </a:solidFill>
          </p:spPr>
          <p:txBody>
            <a:bodyPr wrap="square" rtlCol="0">
              <a:spAutoFit/>
            </a:bodyPr>
            <a:lstStyle/>
            <a:p>
              <a:r>
                <a:rPr lang="zh-CN" altLang="en-US" dirty="0"/>
                <a:t>用于训练模型</a:t>
              </a:r>
            </a:p>
          </p:txBody>
        </p:sp>
      </p:grpSp>
      <p:grpSp>
        <p:nvGrpSpPr>
          <p:cNvPr id="10" name="组合 9"/>
          <p:cNvGrpSpPr/>
          <p:nvPr/>
        </p:nvGrpSpPr>
        <p:grpSpPr>
          <a:xfrm>
            <a:off x="3478563" y="2493645"/>
            <a:ext cx="7840312" cy="368300"/>
            <a:chOff x="3176" y="4793"/>
            <a:chExt cx="9763" cy="582"/>
          </a:xfrm>
        </p:grpSpPr>
        <p:cxnSp>
          <p:nvCxnSpPr>
            <p:cNvPr id="12" name="直接箭头连接符 11"/>
            <p:cNvCxnSpPr>
              <a:endCxn id="13" idx="1"/>
            </p:cNvCxnSpPr>
            <p:nvPr/>
          </p:nvCxnSpPr>
          <p:spPr>
            <a:xfrm>
              <a:off x="3176" y="5072"/>
              <a:ext cx="6838" cy="12"/>
            </a:xfrm>
            <a:prstGeom prst="straightConnector1">
              <a:avLst/>
            </a:prstGeom>
            <a:ln w="28575" cmpd="sng">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10014" y="4793"/>
              <a:ext cx="2925" cy="582"/>
            </a:xfrm>
            <a:prstGeom prst="rect">
              <a:avLst/>
            </a:prstGeom>
            <a:solidFill>
              <a:schemeClr val="bg1">
                <a:lumMod val="85000"/>
              </a:schemeClr>
            </a:solidFill>
          </p:spPr>
          <p:txBody>
            <a:bodyPr wrap="square" rtlCol="0">
              <a:spAutoFit/>
            </a:bodyPr>
            <a:lstStyle/>
            <a:p>
              <a:r>
                <a:rPr lang="zh-CN" altLang="en-US" dirty="0"/>
                <a:t>用于调整模型的超参</a:t>
              </a:r>
            </a:p>
          </p:txBody>
        </p:sp>
      </p:grpSp>
      <p:grpSp>
        <p:nvGrpSpPr>
          <p:cNvPr id="14" name="组合 13"/>
          <p:cNvGrpSpPr/>
          <p:nvPr/>
        </p:nvGrpSpPr>
        <p:grpSpPr>
          <a:xfrm>
            <a:off x="2909899" y="2914645"/>
            <a:ext cx="8419136" cy="369358"/>
            <a:chOff x="3246" y="4793"/>
            <a:chExt cx="5592" cy="586"/>
          </a:xfrm>
        </p:grpSpPr>
        <p:cxnSp>
          <p:nvCxnSpPr>
            <p:cNvPr id="15" name="直接箭头连接符 14"/>
            <p:cNvCxnSpPr>
              <a:endCxn id="18" idx="1"/>
            </p:cNvCxnSpPr>
            <p:nvPr/>
          </p:nvCxnSpPr>
          <p:spPr>
            <a:xfrm>
              <a:off x="3246" y="5082"/>
              <a:ext cx="3743" cy="4"/>
            </a:xfrm>
            <a:prstGeom prst="straightConnector1">
              <a:avLst/>
            </a:prstGeom>
            <a:ln w="28575" cmpd="sng">
              <a:solidFill>
                <a:srgbClr val="C00000"/>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6989" y="4793"/>
              <a:ext cx="1849" cy="586"/>
            </a:xfrm>
            <a:prstGeom prst="rect">
              <a:avLst/>
            </a:prstGeom>
            <a:solidFill>
              <a:schemeClr val="bg1">
                <a:lumMod val="85000"/>
              </a:schemeClr>
            </a:solidFill>
          </p:spPr>
          <p:txBody>
            <a:bodyPr wrap="square" rtlCol="0">
              <a:spAutoFit/>
            </a:bodyPr>
            <a:lstStyle/>
            <a:p>
              <a:r>
                <a:rPr lang="zh-CN" altLang="en-US" dirty="0"/>
                <a:t>用于检验模型的泛化能力</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 calcmode="lin" valueType="num">
                                      <p:cBhvr additive="base">
                                        <p:cTn id="7"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anim calcmode="lin" valueType="num">
                                      <p:cBhvr additive="base">
                                        <p:cTn id="19"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ppt_x"/>
                                          </p:val>
                                        </p:tav>
                                        <p:tav tm="100000">
                                          <p:val>
                                            <p:strVal val="#ppt_x"/>
                                          </p:val>
                                        </p:tav>
                                      </p:tavLst>
                                    </p:anim>
                                    <p:anim calcmode="lin" valueType="num">
                                      <p:cBhvr additive="base">
                                        <p:cTn id="3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8">
                                            <p:txEl>
                                              <p:pRg st="6" end="6"/>
                                            </p:txEl>
                                          </p:spTgt>
                                        </p:tgtEl>
                                        <p:attrNameLst>
                                          <p:attrName>style.visibility</p:attrName>
                                        </p:attrNameLst>
                                      </p:cBhvr>
                                      <p:to>
                                        <p:strVal val="visible"/>
                                      </p:to>
                                    </p:set>
                                    <p:anim calcmode="lin" valueType="num">
                                      <p:cBhvr additive="base">
                                        <p:cTn id="4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8">
                                            <p:txEl>
                                              <p:pRg st="7" end="7"/>
                                            </p:txEl>
                                          </p:spTgt>
                                        </p:tgtEl>
                                        <p:attrNameLst>
                                          <p:attrName>style.visibility</p:attrName>
                                        </p:attrNameLst>
                                      </p:cBhvr>
                                      <p:to>
                                        <p:strVal val="visible"/>
                                      </p:to>
                                    </p:set>
                                    <p:anim calcmode="lin" valueType="num">
                                      <p:cBhvr additive="base">
                                        <p:cTn id="49"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8">
                                            <p:txEl>
                                              <p:pRg st="8" end="8"/>
                                            </p:txEl>
                                          </p:spTgt>
                                        </p:tgtEl>
                                        <p:attrNameLst>
                                          <p:attrName>style.visibility</p:attrName>
                                        </p:attrNameLst>
                                      </p:cBhvr>
                                      <p:to>
                                        <p:strVal val="visible"/>
                                      </p:to>
                                    </p:set>
                                    <p:anim calcmode="lin" valueType="num">
                                      <p:cBhvr additive="base">
                                        <p:cTn id="55" dur="500" fill="hold"/>
                                        <p:tgtEl>
                                          <p:spTgt spid="8">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8">
                                            <p:txEl>
                                              <p:pRg st="9" end="9"/>
                                            </p:txEl>
                                          </p:spTgt>
                                        </p:tgtEl>
                                        <p:attrNameLst>
                                          <p:attrName>style.visibility</p:attrName>
                                        </p:attrNameLst>
                                      </p:cBhvr>
                                      <p:to>
                                        <p:strVal val="visible"/>
                                      </p:to>
                                    </p:set>
                                    <p:anim calcmode="lin" valueType="num">
                                      <p:cBhvr additive="base">
                                        <p:cTn id="61" dur="500" fill="hold"/>
                                        <p:tgtEl>
                                          <p:spTgt spid="8">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3" name="内容占位符 4"/>
          <p:cNvSpPr>
            <a:spLocks noGrp="1"/>
          </p:cNvSpPr>
          <p:nvPr/>
        </p:nvSpPr>
        <p:spPr>
          <a:xfrm>
            <a:off x="187566" y="1017501"/>
            <a:ext cx="11107420" cy="500824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zh-CN" altLang="zh-CN" kern="100" dirty="0">
                <a:solidFill>
                  <a:srgbClr val="FF0000"/>
                </a:solidFill>
                <a:effectLst/>
                <a:sym typeface="+mn-ea"/>
              </a:rPr>
              <a:t>当总样本数据较少时，使用上面的方法将样本数据划分为3部分将会不合适</a:t>
            </a:r>
            <a:r>
              <a:rPr lang="zh-CN" altLang="zh-CN" kern="100" dirty="0">
                <a:effectLst/>
                <a:sym typeface="+mn-ea"/>
              </a:rPr>
              <a:t>。常用的方法是留少部分样本数据做测试集，</a:t>
            </a:r>
            <a:r>
              <a:rPr lang="zh-CN" altLang="zh-CN" kern="100" dirty="0">
                <a:solidFill>
                  <a:srgbClr val="064BB2"/>
                </a:solidFill>
                <a:effectLst/>
                <a:sym typeface="+mn-ea"/>
              </a:rPr>
              <a:t>然后对其余N个样本采用K折交叉验证法</a:t>
            </a:r>
            <a:r>
              <a:rPr lang="zh-CN" altLang="zh-CN" kern="100" dirty="0">
                <a:effectLst/>
                <a:sym typeface="+mn-ea"/>
              </a:rPr>
              <a:t>。其基本步骤如下。</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en-US" altLang="zh-CN" kern="100" dirty="0">
                <a:effectLst/>
                <a:sym typeface="+mn-ea"/>
              </a:rPr>
              <a:t>   </a:t>
            </a:r>
            <a:r>
              <a:rPr lang="zh-CN" altLang="zh-CN" kern="100" dirty="0">
                <a:effectLst/>
                <a:sym typeface="+mn-ea"/>
              </a:rPr>
              <a:t>将样本打乱。</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en-US" altLang="zh-CN" kern="100" dirty="0">
                <a:effectLst/>
                <a:sym typeface="+mn-ea"/>
              </a:rPr>
              <a:t>   </a:t>
            </a:r>
            <a:r>
              <a:rPr lang="zh-CN" altLang="zh-CN" kern="100" dirty="0">
                <a:effectLst/>
                <a:sym typeface="+mn-ea"/>
              </a:rPr>
              <a:t>均匀分成</a:t>
            </a:r>
            <a:r>
              <a:rPr lang="en-US" altLang="zh-CN" kern="100" dirty="0">
                <a:effectLst/>
                <a:sym typeface="+mn-ea"/>
              </a:rPr>
              <a:t>K</a:t>
            </a:r>
            <a:r>
              <a:rPr lang="zh-CN" altLang="en-US" kern="100" dirty="0">
                <a:effectLst/>
                <a:sym typeface="+mn-ea"/>
              </a:rPr>
              <a:t>份。</a:t>
            </a:r>
            <a:endParaRPr lang="zh-CN" altLang="en-US"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en-US" altLang="zh-CN" kern="100" dirty="0">
                <a:effectLst/>
                <a:sym typeface="+mn-ea"/>
              </a:rPr>
              <a:t>   </a:t>
            </a:r>
            <a:r>
              <a:rPr lang="zh-CN" altLang="zh-CN" kern="100" dirty="0">
                <a:effectLst/>
                <a:sym typeface="+mn-ea"/>
              </a:rPr>
              <a:t>轮流选择其中K-1份做训练，剩余的一份做验证。</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en-US" altLang="zh-CN" kern="100" dirty="0">
                <a:effectLst/>
                <a:sym typeface="+mn-ea"/>
              </a:rPr>
              <a:t>   </a:t>
            </a:r>
            <a:r>
              <a:rPr lang="zh-CN" altLang="zh-CN" kern="100" dirty="0">
                <a:effectLst/>
                <a:sym typeface="+mn-ea"/>
              </a:rPr>
              <a:t>计算预测误差平方和。</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en-US" altLang="zh-CN" kern="100" dirty="0">
                <a:effectLst/>
                <a:sym typeface="+mn-ea"/>
              </a:rPr>
              <a:t>   </a:t>
            </a:r>
            <a:r>
              <a:rPr lang="zh-CN" altLang="zh-CN" kern="100" dirty="0">
                <a:effectLst/>
                <a:sym typeface="+mn-ea"/>
              </a:rPr>
              <a:t>将K次的预测误差平方和的均值作为最优模型结构的依据。</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en-US" dirty="0"/>
          </a:p>
        </p:txBody>
      </p:sp>
      <p:pic>
        <p:nvPicPr>
          <p:cNvPr id="2" name="图片 1"/>
          <p:cNvPicPr>
            <a:picLocks noChangeAspect="1"/>
          </p:cNvPicPr>
          <p:nvPr/>
        </p:nvPicPr>
        <p:blipFill>
          <a:blip r:embed="rId2"/>
          <a:stretch>
            <a:fillRect/>
          </a:stretch>
        </p:blipFill>
        <p:spPr>
          <a:xfrm>
            <a:off x="6974140" y="2136096"/>
            <a:ext cx="5083293" cy="30270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 calcmode="lin" valueType="num">
                                      <p:cBhvr additive="base">
                                        <p:cTn id="2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8" name="内容占位符 3">
            <a:extLst>
              <a:ext uri="{FF2B5EF4-FFF2-40B4-BE49-F238E27FC236}">
                <a16:creationId xmlns:a16="http://schemas.microsoft.com/office/drawing/2014/main" id="{E42C60D9-2BAF-43C1-8310-243853C06419}"/>
              </a:ext>
            </a:extLst>
          </p:cNvPr>
          <p:cNvSpPr>
            <a:spLocks noGrp="1"/>
          </p:cNvSpPr>
          <p:nvPr/>
        </p:nvSpPr>
        <p:spPr>
          <a:xfrm>
            <a:off x="389890" y="1072515"/>
            <a:ext cx="11412220" cy="529399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en-US" altLang="zh-CN" kern="100" dirty="0">
                <a:effectLst/>
                <a:sym typeface="+mn-ea"/>
              </a:rPr>
              <a:t> </a:t>
            </a:r>
            <a:r>
              <a:rPr lang="zh-CN" altLang="zh-CN" kern="100" dirty="0">
                <a:effectLst/>
                <a:sym typeface="+mn-ea"/>
              </a:rPr>
              <a:t>在sklearn的model_selection模块中提供了train_test_split函数，可实现对数据集进行拆分，train_test_split函数</a:t>
            </a:r>
            <a:r>
              <a:rPr lang="en-US" altLang="zh-CN" kern="100" dirty="0">
                <a:effectLst/>
                <a:sym typeface="+mn-ea"/>
              </a:rPr>
              <a:t>  </a:t>
            </a:r>
          </a:p>
          <a:p>
            <a:pPr marL="0" indent="0">
              <a:buNone/>
            </a:pPr>
            <a:r>
              <a:rPr lang="en-US" altLang="zh-CN" kern="100" dirty="0">
                <a:effectLst/>
                <a:sym typeface="+mn-ea"/>
              </a:rPr>
              <a:t>        </a:t>
            </a:r>
            <a:r>
              <a:rPr lang="zh-CN" altLang="zh-CN" kern="100" dirty="0">
                <a:effectLst/>
                <a:sym typeface="+mn-ea"/>
              </a:rPr>
              <a:t>的基本使用格式如下。</a:t>
            </a:r>
          </a:p>
          <a:p>
            <a:endParaRPr lang="zh-CN" altLang="zh-CN" kern="100" dirty="0">
              <a:effectLst/>
              <a:sym typeface="+mn-ea"/>
            </a:endParaRPr>
          </a:p>
          <a:p>
            <a:endParaRPr lang="zh-CN" altLang="zh-CN" kern="100" dirty="0">
              <a:effectLst/>
              <a:sym typeface="+mn-ea"/>
            </a:endParaRPr>
          </a:p>
          <a:p>
            <a:endParaRPr lang="zh-CN" altLang="zh-CN" kern="100" dirty="0">
              <a:effectLst/>
              <a:sym typeface="+mn-ea"/>
            </a:endParaRPr>
          </a:p>
          <a:p>
            <a:pPr marL="0" indent="0">
              <a:buNone/>
            </a:pPr>
            <a:endParaRPr lang="zh-CN" altLang="zh-CN" kern="100" dirty="0">
              <a:effectLst/>
              <a:sym typeface="+mn-ea"/>
            </a:endParaRPr>
          </a:p>
          <a:p>
            <a:r>
              <a:rPr lang="zh-CN" altLang="zh-CN" kern="100" dirty="0">
                <a:effectLst/>
                <a:sym typeface="+mn-ea"/>
              </a:rPr>
              <a:t>train_test_split函数是最常用的数据划分方法，在model_selection模块中还提供了其他数据集划分的函数，如PredefinedSplit函数、ShuffleSplit函数等。读者可以通过查看官方文档学习其使用方法。</a:t>
            </a:r>
            <a:endParaRPr lang="zh-CN" altLang="en-US" dirty="0"/>
          </a:p>
        </p:txBody>
      </p:sp>
      <p:sp>
        <p:nvSpPr>
          <p:cNvPr id="9" name="TextBox 5">
            <a:extLst>
              <a:ext uri="{FF2B5EF4-FFF2-40B4-BE49-F238E27FC236}">
                <a16:creationId xmlns:a16="http://schemas.microsoft.com/office/drawing/2014/main" id="{974FCF7B-2A84-4681-AB14-1192CE5D272A}"/>
              </a:ext>
            </a:extLst>
          </p:cNvPr>
          <p:cNvSpPr txBox="1">
            <a:spLocks noChangeArrowheads="1"/>
          </p:cNvSpPr>
          <p:nvPr/>
        </p:nvSpPr>
        <p:spPr bwMode="auto">
          <a:xfrm>
            <a:off x="1089105" y="2660650"/>
            <a:ext cx="108127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a:latin typeface="Times New Roman" panose="02020603050405020304" pitchFamily="18" charset="0"/>
                <a:cs typeface="Times New Roman" panose="02020603050405020304" pitchFamily="18" charset="0"/>
              </a:rPr>
              <a:t>sklearn.model_selection.train_test_split(*arrays, test_size=None, train_size=None, random_state=None, shuffle=True, stratify=None)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1000"/>
                                        <p:tgtEl>
                                          <p:spTgt spid="8">
                                            <p:txEl>
                                              <p:pRg st="6" end="6"/>
                                            </p:txEl>
                                          </p:spTgt>
                                        </p:tgtEl>
                                      </p:cBhvr>
                                    </p:animEffect>
                                    <p:anim calcmode="lin" valueType="num">
                                      <p:cBhvr>
                                        <p:cTn id="1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8" name="内容占位符 7"/>
          <p:cNvSpPr>
            <a:spLocks noGrp="1"/>
          </p:cNvSpPr>
          <p:nvPr>
            <p:ph idx="1"/>
          </p:nvPr>
        </p:nvSpPr>
        <p:spPr>
          <a:xfrm>
            <a:off x="414655" y="1099185"/>
            <a:ext cx="11107420" cy="509143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train_test_split函数的常用参数及其说明如下表所示。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p:nvPr>
            <p:custDataLst>
              <p:tags r:id="rId1"/>
            </p:custDataLst>
            <p:extLst>
              <p:ext uri="{D42A27DB-BD31-4B8C-83A1-F6EECF244321}">
                <p14:modId xmlns:p14="http://schemas.microsoft.com/office/powerpoint/2010/main" val="1339558551"/>
              </p:ext>
            </p:extLst>
          </p:nvPr>
        </p:nvGraphicFramePr>
        <p:xfrm>
          <a:off x="1152889" y="1753599"/>
          <a:ext cx="9630410" cy="4355465"/>
        </p:xfrm>
        <a:graphic>
          <a:graphicData uri="http://schemas.openxmlformats.org/drawingml/2006/table">
            <a:tbl>
              <a:tblPr firstRow="1" bandRow="1">
                <a:tableStyleId>{5C22544A-7EE6-4342-B048-85BDC9FD1C3A}</a:tableStyleId>
              </a:tblPr>
              <a:tblGrid>
                <a:gridCol w="2026920">
                  <a:extLst>
                    <a:ext uri="{9D8B030D-6E8A-4147-A177-3AD203B41FA5}">
                      <a16:colId xmlns:a16="http://schemas.microsoft.com/office/drawing/2014/main" val="20000"/>
                    </a:ext>
                  </a:extLst>
                </a:gridCol>
                <a:gridCol w="7603490">
                  <a:extLst>
                    <a:ext uri="{9D8B030D-6E8A-4147-A177-3AD203B41FA5}">
                      <a16:colId xmlns:a16="http://schemas.microsoft.com/office/drawing/2014/main" val="20001"/>
                    </a:ext>
                  </a:extLst>
                </a:gridCol>
              </a:tblGrid>
              <a:tr h="481330">
                <a:tc>
                  <a:txBody>
                    <a:bodyPr/>
                    <a:lstStyle/>
                    <a:p>
                      <a:pPr algn="ctr">
                        <a:buNone/>
                      </a:pPr>
                      <a:r>
                        <a:rPr lang="zh-CN" altLang="en-US" sz="1800"/>
                        <a:t>数值型数据类型</a:t>
                      </a:r>
                    </a:p>
                  </a:txBody>
                  <a:tcPr/>
                </a:tc>
                <a:tc>
                  <a:txBody>
                    <a:bodyPr/>
                    <a:lstStyle/>
                    <a:p>
                      <a:pPr algn="ctr">
                        <a:buNone/>
                      </a:pPr>
                      <a:r>
                        <a:rPr lang="zh-CN" altLang="en-US" sz="1800" dirty="0"/>
                        <a:t>说明</a:t>
                      </a:r>
                    </a:p>
                  </a:txBody>
                  <a:tcPr/>
                </a:tc>
                <a:extLst>
                  <a:ext uri="{0D108BD9-81ED-4DB2-BD59-A6C34878D82A}">
                    <a16:rowId xmlns:a16="http://schemas.microsoft.com/office/drawing/2014/main" val="10000"/>
                  </a:ext>
                </a:extLst>
              </a:tr>
              <a:tr h="927735">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*arrays</a:t>
                      </a:r>
                      <a:endParaRPr lang="en-US" alt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接收list、numpy数组、scipy-sparse矩阵、Pandas数据帧。表示需要划分的数据集</a:t>
                      </a:r>
                      <a:r>
                        <a:rPr lang="en-US" sz="1800" b="0" dirty="0">
                          <a:latin typeface="宋体" panose="02010600030101010101" pitchFamily="2" charset="-122"/>
                          <a:ea typeface="宋体" panose="02010600030101010101" pitchFamily="2" charset="-122"/>
                          <a:cs typeface="宋体" panose="02010600030101010101" pitchFamily="2" charset="-122"/>
                        </a:rPr>
                        <a:t>。</a:t>
                      </a:r>
                      <a:r>
                        <a:rPr lang="en-US" sz="1800" b="0" dirty="0">
                          <a:solidFill>
                            <a:srgbClr val="2B6EE1"/>
                          </a:solidFill>
                          <a:latin typeface="宋体" panose="02010600030101010101" pitchFamily="2" charset="-122"/>
                          <a:ea typeface="宋体" panose="02010600030101010101" pitchFamily="2" charset="-122"/>
                          <a:cs typeface="宋体" panose="02010600030101010101" pitchFamily="2" charset="-122"/>
                        </a:rPr>
                        <a:t>若为分类回归，则分别传入数据和标签；若为聚类，则传入数据。无默认值</a:t>
                      </a:r>
                      <a:endParaRPr lang="en-US" altLang="en-US" sz="1800" b="0" dirty="0">
                        <a:solidFill>
                          <a:srgbClr val="2B6EE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979170">
                <a:tc>
                  <a:txBody>
                    <a:bodyPr/>
                    <a:lstStyle/>
                    <a:p>
                      <a:pPr indent="0">
                        <a:buNone/>
                      </a:pPr>
                      <a:r>
                        <a:rPr lang="en-US" sz="1800" b="0"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test_size</a:t>
                      </a:r>
                      <a:endParaRPr lang="en-US" altLang="en-US" sz="1800" b="0" dirty="0">
                        <a:solidFill>
                          <a:srgbClr val="FF0000"/>
                        </a:solidFill>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indent="0">
                        <a:buNone/>
                      </a:pPr>
                      <a:r>
                        <a:rPr lang="en-US" sz="1800" b="0" dirty="0">
                          <a:latin typeface="宋体" panose="02010600030101010101" pitchFamily="2" charset="-122"/>
                          <a:ea typeface="宋体" panose="02010600030101010101" pitchFamily="2" charset="-122"/>
                          <a:cs typeface="宋体" panose="02010600030101010101" pitchFamily="2" charset="-122"/>
                        </a:rPr>
                        <a:t>接收float、int。</a:t>
                      </a: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表示测试集的大小</a:t>
                      </a:r>
                      <a:r>
                        <a:rPr lang="en-US" sz="1800" b="0" dirty="0">
                          <a:latin typeface="宋体" panose="02010600030101010101" pitchFamily="2" charset="-122"/>
                          <a:ea typeface="宋体" panose="02010600030101010101" pitchFamily="2" charset="-122"/>
                          <a:cs typeface="宋体" panose="02010600030101010101" pitchFamily="2" charset="-122"/>
                        </a:rPr>
                        <a:t>。若传入为float型参数值，则应介于0～1之间，表示测试集在总数据集中的占比；若传入为int型参数值，则表示测试样本的绝对数量。默认为None</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704850">
                <a:tc>
                  <a:txBody>
                    <a:bodyPr/>
                    <a:lstStyle/>
                    <a:p>
                      <a:pPr indent="0">
                        <a:buNone/>
                      </a:pPr>
                      <a:r>
                        <a:rPr lang="en-US" sz="1800" b="0" dirty="0" err="1">
                          <a:solidFill>
                            <a:srgbClr val="FF0000"/>
                          </a:solidFill>
                          <a:latin typeface="宋体" panose="02010600030101010101" pitchFamily="2" charset="-122"/>
                          <a:ea typeface="宋体" panose="02010600030101010101" pitchFamily="2" charset="-122"/>
                          <a:cs typeface="宋体" panose="02010600030101010101" pitchFamily="2" charset="-122"/>
                        </a:rPr>
                        <a:t>train</a:t>
                      </a:r>
                      <a:r>
                        <a:rPr lang="en-US" sz="1800" b="0" dirty="0" err="1">
                          <a:solidFill>
                            <a:srgbClr val="FF0000"/>
                          </a:solidFill>
                          <a:latin typeface="宋体" panose="02010600030101010101" pitchFamily="2" charset="-122"/>
                          <a:ea typeface="宋体" panose="02010600030101010101" pitchFamily="2" charset="-122"/>
                          <a:cs typeface="Times New Roman" panose="02020603050405020304" pitchFamily="18" charset="0"/>
                        </a:rPr>
                        <a:t>_size</a:t>
                      </a:r>
                      <a:endParaRPr lang="en-US" alt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接收float、int。表示训练集的大小，传入的参数值说明与test_size参数的参数值说明相似。默认为None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47040">
                <a:tc>
                  <a:txBody>
                    <a:bodyPr/>
                    <a:lstStyle/>
                    <a:p>
                      <a:pPr indent="0">
                        <a:buNone/>
                      </a:pPr>
                      <a:r>
                        <a:rPr lang="en-US" sz="1800" b="0" dirty="0" err="1">
                          <a:solidFill>
                            <a:schemeClr val="tx1"/>
                          </a:solidFill>
                          <a:latin typeface="宋体" panose="02010600030101010101" pitchFamily="2" charset="-122"/>
                          <a:ea typeface="宋体" panose="02010600030101010101" pitchFamily="2" charset="-122"/>
                          <a:cs typeface="Times New Roman" panose="02020603050405020304" pitchFamily="18" charset="0"/>
                        </a:rPr>
                        <a:t>random_state</a:t>
                      </a:r>
                      <a:endParaRPr lang="en-US" altLang="en-US" sz="1800" b="0" dirty="0">
                        <a:solidFill>
                          <a:schemeClr val="tx1"/>
                        </a:solidFill>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indent="0">
                        <a:buNone/>
                      </a:pPr>
                      <a:r>
                        <a:rPr lang="en-US" sz="1800" b="0" dirty="0" err="1">
                          <a:solidFill>
                            <a:schemeClr val="tx1"/>
                          </a:solidFill>
                          <a:latin typeface="宋体" panose="02010600030101010101" pitchFamily="2" charset="-122"/>
                          <a:ea typeface="宋体" panose="02010600030101010101" pitchFamily="2" charset="-122"/>
                          <a:cs typeface="宋体" panose="02010600030101010101" pitchFamily="2" charset="-122"/>
                        </a:rPr>
                        <a:t>接收int。表示用于随机抽样的伪随机数发生器的状态。默认为None</a:t>
                      </a:r>
                      <a:endParaRPr lang="en-US" altLang="en-US" sz="1800" b="0" dirty="0">
                        <a:solidFill>
                          <a:schemeClr val="tx1"/>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433070">
                <a:tc>
                  <a:txBody>
                    <a:bodyPr/>
                    <a:lstStyle/>
                    <a:p>
                      <a:pPr indent="0">
                        <a:buNone/>
                      </a:pPr>
                      <a:r>
                        <a:rPr lang="en-US" sz="1800" b="0">
                          <a:latin typeface="宋体" panose="02010600030101010101" pitchFamily="2" charset="-122"/>
                          <a:ea typeface="宋体" panose="02010600030101010101" pitchFamily="2" charset="-122"/>
                          <a:cs typeface="Times New Roman" panose="02020603050405020304" pitchFamily="18" charset="0"/>
                        </a:rPr>
                        <a:t>shuffle</a:t>
                      </a:r>
                      <a:endParaRPr lang="en-US" altLang="en-US" sz="1800" b="0">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接收bool。表示在拆分数据集前是否对数据进行混洗。默认为True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382270">
                <a:tc>
                  <a:txBody>
                    <a:bodyPr/>
                    <a:lstStyle/>
                    <a:p>
                      <a:pPr indent="0">
                        <a:buNone/>
                      </a:pPr>
                      <a:r>
                        <a:rPr lang="en-US" sz="1800" b="0">
                          <a:latin typeface="宋体" panose="02010600030101010101" pitchFamily="2" charset="-122"/>
                          <a:ea typeface="宋体" panose="02010600030101010101" pitchFamily="2" charset="-122"/>
                          <a:cs typeface="Times New Roman" panose="02020603050405020304" pitchFamily="18" charset="0"/>
                        </a:rPr>
                        <a:t>stratify</a:t>
                      </a:r>
                      <a:endParaRPr lang="en-US" altLang="en-US" sz="1800" b="0">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nchor="ctr"/>
                </a:tc>
                <a:tc>
                  <a:txBody>
                    <a:bodyPr/>
                    <a:lstStyle/>
                    <a:p>
                      <a:pPr indent="0">
                        <a:buNone/>
                      </a:pPr>
                      <a:r>
                        <a:rPr lang="en-US" sz="1800" b="0" dirty="0" err="1">
                          <a:latin typeface="宋体" panose="02010600030101010101" pitchFamily="2" charset="-122"/>
                          <a:ea typeface="宋体" panose="02010600030101010101" pitchFamily="2" charset="-122"/>
                          <a:cs typeface="宋体" panose="02010600030101010101" pitchFamily="2" charset="-122"/>
                        </a:rPr>
                        <a:t>接收array。表示用于保持拆分前类的分布平衡。默认为None</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16" name="文本框 15"/>
          <p:cNvSpPr txBox="1"/>
          <p:nvPr/>
        </p:nvSpPr>
        <p:spPr>
          <a:xfrm flipH="1">
            <a:off x="5813425" y="5796915"/>
            <a:ext cx="5621020" cy="368300"/>
          </a:xfrm>
          <a:prstGeom prst="rect">
            <a:avLst/>
          </a:prstGeom>
          <a:solidFill>
            <a:schemeClr val="bg1">
              <a:lumMod val="85000"/>
            </a:schemeClr>
          </a:solidFill>
        </p:spPr>
        <p:txBody>
          <a:bodyPr wrap="square" rtlCol="0">
            <a:spAutoFit/>
          </a:bodyPr>
          <a:lstStyle/>
          <a:p>
            <a:r>
              <a:rPr lang="zh-CN"/>
              <a:t>查看对应信息只需</a:t>
            </a:r>
            <a:r>
              <a:rPr lang="en-US" altLang="zh-CN"/>
              <a:t>print</a:t>
            </a:r>
            <a:r>
              <a:rPr lang="zh-CN" altLang="en-US"/>
              <a:t>（）输入对应变量名</a:t>
            </a:r>
            <a:r>
              <a:rPr lang="en-US" altLang="zh-CN"/>
              <a:t>.shape</a:t>
            </a:r>
            <a:r>
              <a:rPr lang="zh-CN" altLang="en-US"/>
              <a:t>即可</a:t>
            </a:r>
          </a:p>
        </p:txBody>
      </p:sp>
      <p:sp>
        <p:nvSpPr>
          <p:cNvPr id="2" name="文本框 1"/>
          <p:cNvSpPr txBox="1"/>
          <p:nvPr/>
        </p:nvSpPr>
        <p:spPr>
          <a:xfrm>
            <a:off x="1081405" y="3298825"/>
            <a:ext cx="9781540" cy="1470025"/>
          </a:xfrm>
          <a:prstGeom prst="rect">
            <a:avLst/>
          </a:prstGeom>
          <a:noFill/>
          <a:ln w="25400" cmpd="sng">
            <a:solidFill>
              <a:srgbClr val="FF0000"/>
            </a:solidFill>
            <a:prstDash val="sysDash"/>
          </a:ln>
        </p:spPr>
        <p:txBody>
          <a:bodyPr wrap="square" rtlCol="0">
            <a:noAutofit/>
          </a:bodyPr>
          <a:lstStyle/>
          <a:p>
            <a:endParaRPr lang="zh-CN" altLang="en-US"/>
          </a:p>
        </p:txBody>
      </p:sp>
      <p:cxnSp>
        <p:nvCxnSpPr>
          <p:cNvPr id="6" name="曲线连接符 5"/>
          <p:cNvCxnSpPr>
            <a:stCxn id="2" idx="2"/>
            <a:endCxn id="16" idx="0"/>
          </p:cNvCxnSpPr>
          <p:nvPr/>
        </p:nvCxnSpPr>
        <p:spPr>
          <a:xfrm rot="5400000" flipV="1">
            <a:off x="6784023" y="3957003"/>
            <a:ext cx="1028065" cy="2651760"/>
          </a:xfrm>
          <a:prstGeom prst="curvedConnector3">
            <a:avLst>
              <a:gd name="adj1" fmla="val 50000"/>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2530" name="内容占位符 1"/>
          <p:cNvSpPr>
            <a:spLocks noGrp="1"/>
          </p:cNvSpPr>
          <p:nvPr/>
        </p:nvSpPr>
        <p:spPr>
          <a:xfrm>
            <a:off x="327299" y="1055167"/>
            <a:ext cx="11107601" cy="4339721"/>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pPr marL="361950" indent="-361950"/>
            <a:r>
              <a:rPr lang="zh-CN" altLang="en-US" dirty="0"/>
              <a:t>train_test_split函数可将传入的数据集划分为训练集和测试集。</a:t>
            </a:r>
          </a:p>
          <a:p>
            <a:pPr marL="361950" indent="-361950"/>
            <a:r>
              <a:rPr lang="zh-CN" altLang="en-US" dirty="0"/>
              <a:t>如果传入的是一组数据集，那么生成的就是这一组数据集随机划分后的训练集和测试集，总共两组。</a:t>
            </a:r>
          </a:p>
          <a:p>
            <a:pPr marL="361950" indent="-361950"/>
            <a:r>
              <a:rPr lang="zh-CN" altLang="en-US" dirty="0"/>
              <a:t>如果传入的是两组数据集，则生成的训练集和测试集分别两组，总共4组。</a:t>
            </a:r>
          </a:p>
          <a:p>
            <a:pPr marL="361950" indent="-361950"/>
            <a:r>
              <a:rPr lang="zh-CN" altLang="en-US" dirty="0"/>
              <a:t>将</a:t>
            </a:r>
            <a:r>
              <a:rPr lang="en-US" altLang="zh-CN" dirty="0">
                <a:sym typeface="+mn-ea"/>
              </a:rPr>
              <a:t>diabetes</a:t>
            </a:r>
            <a:r>
              <a:rPr lang="zh-CN" altLang="en-US" dirty="0"/>
              <a:t>数据集划分为训练集和测试集，如以下代码。</a:t>
            </a:r>
          </a:p>
          <a:p>
            <a:pPr marL="0" indent="0">
              <a:buNone/>
            </a:pPr>
            <a:endParaRPr lang="zh-CN" altLang="en-US" dirty="0"/>
          </a:p>
          <a:p>
            <a:pPr marL="720090">
              <a:spcBef>
                <a:spcPts val="0"/>
              </a:spcBef>
              <a:buFont typeface="Arial" panose="020B0604020202020204" pitchFamily="34" charset="0"/>
              <a:buChar char="•"/>
            </a:pPr>
            <a:r>
              <a:rPr lang="zh-CN" altLang="zh-CN" kern="100" dirty="0">
                <a:effectLst/>
                <a:sym typeface="+mn-ea"/>
              </a:rPr>
              <a:t>from sklearn.model_selection import train_test_split</a:t>
            </a:r>
            <a:r>
              <a:rPr lang="zh-CN" altLang="en-US" dirty="0">
                <a:sym typeface="+mn-ea"/>
              </a:rPr>
              <a:t>  # 加载</a:t>
            </a:r>
            <a:r>
              <a:rPr lang="en-US" altLang="zh-CN" dirty="0">
                <a:sym typeface="+mn-ea"/>
              </a:rPr>
              <a:t>diabetes</a:t>
            </a:r>
            <a:r>
              <a:rPr lang="zh-CN" altLang="en-US" dirty="0">
                <a:sym typeface="+mn-ea"/>
              </a:rPr>
              <a:t>数据集</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zh-CN" altLang="zh-CN" kern="100" dirty="0">
                <a:effectLst/>
                <a:sym typeface="+mn-ea"/>
              </a:rPr>
              <a:t>diabetes_data_train, diabetes_data_test, diabetes_target_train, diabetes_target_test = </a:t>
            </a:r>
            <a:r>
              <a:rPr lang="en-US" altLang="zh-CN" kern="100" dirty="0">
                <a:effectLst/>
                <a:sym typeface="+mn-ea"/>
              </a:rPr>
              <a:t>\</a:t>
            </a:r>
            <a:r>
              <a:rPr lang="zh-CN" altLang="en-US" dirty="0">
                <a:sym typeface="+mn-ea"/>
              </a:rPr>
              <a:t>  # 定义变量名</a:t>
            </a:r>
            <a:endPar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720090">
              <a:spcBef>
                <a:spcPts val="0"/>
              </a:spcBef>
              <a:buFont typeface="Arial" panose="020B0604020202020204" pitchFamily="34" charset="0"/>
              <a:buChar char="•"/>
            </a:pPr>
            <a:r>
              <a:rPr lang="zh-CN" altLang="zh-CN" kern="100" dirty="0">
                <a:effectLst/>
                <a:sym typeface="+mn-ea"/>
              </a:rPr>
              <a:t>train_test_split(diabetes_data, diabetes_target, test_size=0.2, random_state=42) </a:t>
            </a:r>
            <a:r>
              <a:rPr lang="zh-CN" altLang="en-US" dirty="0">
                <a:sym typeface="+mn-ea"/>
              </a:rPr>
              <a:t>  # 调用函数划分数据集</a:t>
            </a:r>
            <a:endParaRPr lang="zh-CN" altLang="en-US" dirty="0"/>
          </a:p>
          <a:p>
            <a:pPr marL="361950" indent="-361950"/>
            <a:endParaRPr lang="zh-CN" altLang="en-US" dirty="0"/>
          </a:p>
          <a:p>
            <a:pPr marL="361950" indent="-361950"/>
            <a:endParaRPr lang="zh-CN" altLang="en-US" dirty="0"/>
          </a:p>
          <a:p>
            <a:pPr marL="361950" indent="-36195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0">
                                            <p:txEl>
                                              <p:pRg st="1" end="1"/>
                                            </p:txEl>
                                          </p:spTgt>
                                        </p:tgtEl>
                                        <p:attrNameLst>
                                          <p:attrName>style.visibility</p:attrName>
                                        </p:attrNameLst>
                                      </p:cBhvr>
                                      <p:to>
                                        <p:strVal val="visible"/>
                                      </p:to>
                                    </p:set>
                                    <p:anim calcmode="lin" valueType="num">
                                      <p:cBhvr additive="base">
                                        <p:cTn id="7" dur="500" fill="hold"/>
                                        <p:tgtEl>
                                          <p:spTgt spid="2253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0">
                                            <p:txEl>
                                              <p:pRg st="2" end="2"/>
                                            </p:txEl>
                                          </p:spTgt>
                                        </p:tgtEl>
                                        <p:attrNameLst>
                                          <p:attrName>style.visibility</p:attrName>
                                        </p:attrNameLst>
                                      </p:cBhvr>
                                      <p:to>
                                        <p:strVal val="visible"/>
                                      </p:to>
                                    </p:set>
                                    <p:anim calcmode="lin" valueType="num">
                                      <p:cBhvr additive="base">
                                        <p:cTn id="13" dur="500" fill="hold"/>
                                        <p:tgtEl>
                                          <p:spTgt spid="2253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2530">
                                            <p:txEl>
                                              <p:pRg st="3" end="3"/>
                                            </p:txEl>
                                          </p:spTgt>
                                        </p:tgtEl>
                                        <p:attrNameLst>
                                          <p:attrName>style.visibility</p:attrName>
                                        </p:attrNameLst>
                                      </p:cBhvr>
                                      <p:to>
                                        <p:strVal val="visible"/>
                                      </p:to>
                                    </p:set>
                                    <p:anim calcmode="lin" valueType="num">
                                      <p:cBhvr additive="base">
                                        <p:cTn id="19" dur="500" fill="hold"/>
                                        <p:tgtEl>
                                          <p:spTgt spid="2253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2530">
                                            <p:txEl>
                                              <p:pRg st="5" end="5"/>
                                            </p:txEl>
                                          </p:spTgt>
                                        </p:tgtEl>
                                        <p:attrNameLst>
                                          <p:attrName>style.visibility</p:attrName>
                                        </p:attrNameLst>
                                      </p:cBhvr>
                                      <p:to>
                                        <p:strVal val="visible"/>
                                      </p:to>
                                    </p:set>
                                    <p:anim calcmode="lin" valueType="num">
                                      <p:cBhvr additive="base">
                                        <p:cTn id="25" dur="500" fill="hold"/>
                                        <p:tgtEl>
                                          <p:spTgt spid="22530">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2530">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2530">
                                            <p:txEl>
                                              <p:pRg st="6" end="6"/>
                                            </p:txEl>
                                          </p:spTgt>
                                        </p:tgtEl>
                                        <p:attrNameLst>
                                          <p:attrName>style.visibility</p:attrName>
                                        </p:attrNameLst>
                                      </p:cBhvr>
                                      <p:to>
                                        <p:strVal val="visible"/>
                                      </p:to>
                                    </p:set>
                                    <p:anim calcmode="lin" valueType="num">
                                      <p:cBhvr additive="base">
                                        <p:cTn id="29" dur="500" fill="hold"/>
                                        <p:tgtEl>
                                          <p:spTgt spid="22530">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2530">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2530">
                                            <p:txEl>
                                              <p:pRg st="7" end="7"/>
                                            </p:txEl>
                                          </p:spTgt>
                                        </p:tgtEl>
                                        <p:attrNameLst>
                                          <p:attrName>style.visibility</p:attrName>
                                        </p:attrNameLst>
                                      </p:cBhvr>
                                      <p:to>
                                        <p:strVal val="visible"/>
                                      </p:to>
                                    </p:set>
                                    <p:anim calcmode="lin" valueType="num">
                                      <p:cBhvr additive="base">
                                        <p:cTn id="33" dur="500" fill="hold"/>
                                        <p:tgtEl>
                                          <p:spTgt spid="22530">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2530">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1" nodeType="click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additive="base">
                                        <p:cTn id="39" dur="500" fill="hold"/>
                                        <p:tgtEl>
                                          <p:spTgt spid="2"/>
                                        </p:tgtEl>
                                        <p:attrNameLst>
                                          <p:attrName>ppt_x</p:attrName>
                                        </p:attrNameLst>
                                      </p:cBhvr>
                                      <p:tavLst>
                                        <p:tav tm="0">
                                          <p:val>
                                            <p:strVal val="#ppt_x"/>
                                          </p:val>
                                        </p:tav>
                                        <p:tav tm="100000">
                                          <p:val>
                                            <p:strVal val="#ppt_x"/>
                                          </p:val>
                                        </p:tav>
                                      </p:tavLst>
                                    </p:anim>
                                    <p:anim calcmode="lin" valueType="num">
                                      <p:cBhvr additive="base">
                                        <p:cTn id="4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 calcmode="lin" valueType="num">
                                      <p:cBhvr additive="base">
                                        <p:cTn id="45" dur="500" fill="hold"/>
                                        <p:tgtEl>
                                          <p:spTgt spid="6"/>
                                        </p:tgtEl>
                                        <p:attrNameLst>
                                          <p:attrName>ppt_x</p:attrName>
                                        </p:attrNameLst>
                                      </p:cBhvr>
                                      <p:tavLst>
                                        <p:tav tm="0">
                                          <p:val>
                                            <p:strVal val="#ppt_x"/>
                                          </p:val>
                                        </p:tav>
                                        <p:tav tm="100000">
                                          <p:val>
                                            <p:strVal val="#ppt_x"/>
                                          </p:val>
                                        </p:tav>
                                      </p:tavLst>
                                    </p:anim>
                                    <p:anim calcmode="lin" valueType="num">
                                      <p:cBhvr additive="base">
                                        <p:cTn id="46" dur="500" fill="hold"/>
                                        <p:tgtEl>
                                          <p:spTgt spid="6"/>
                                        </p:tgtEl>
                                        <p:attrNameLst>
                                          <p:attrName>ppt_y</p:attrName>
                                        </p:attrNameLst>
                                      </p:cBhvr>
                                      <p:tavLst>
                                        <p:tav tm="0">
                                          <p:val>
                                            <p:strVal val="1+#ppt_h/2"/>
                                          </p:val>
                                        </p:tav>
                                        <p:tav tm="100000">
                                          <p:val>
                                            <p:strVal val="#ppt_y"/>
                                          </p:val>
                                        </p:tav>
                                      </p:tavLst>
                                    </p:anim>
                                  </p:childTnLst>
                                </p:cTn>
                              </p:par>
                              <p:par>
                                <p:cTn id="47" presetID="2" presetClass="entr" presetSubtype="4" fill="hold" grpId="1"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additive="base">
                                        <p:cTn id="49" dur="500" fill="hold"/>
                                        <p:tgtEl>
                                          <p:spTgt spid="16"/>
                                        </p:tgtEl>
                                        <p:attrNameLst>
                                          <p:attrName>ppt_x</p:attrName>
                                        </p:attrNameLst>
                                      </p:cBhvr>
                                      <p:tavLst>
                                        <p:tav tm="0">
                                          <p:val>
                                            <p:strVal val="#ppt_x"/>
                                          </p:val>
                                        </p:tav>
                                        <p:tav tm="100000">
                                          <p:val>
                                            <p:strVal val="#ppt_x"/>
                                          </p:val>
                                        </p:tav>
                                      </p:tavLst>
                                    </p:anim>
                                    <p:anim calcmode="lin" valueType="num">
                                      <p:cBhvr additive="base">
                                        <p:cTn id="5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bldLvl="0" animBg="1"/>
      <p:bldP spid="2" grpId="0" animBg="1"/>
      <p:bldP spid="2" grpId="1"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将数据集划分为训练集和测试集</a:t>
            </a:r>
          </a:p>
        </p:txBody>
      </p:sp>
      <p:sp>
        <p:nvSpPr>
          <p:cNvPr id="3" name="矩形 2"/>
          <p:cNvSpPr/>
          <p:nvPr/>
        </p:nvSpPr>
        <p:spPr>
          <a:xfrm>
            <a:off x="415636" y="1185085"/>
            <a:ext cx="6096000" cy="3139321"/>
          </a:xfrm>
          <a:prstGeom prst="rect">
            <a:avLst/>
          </a:prstGeom>
        </p:spPr>
        <p:txBody>
          <a:bodyPr>
            <a:spAutoFit/>
          </a:bodyPr>
          <a:lstStyle/>
          <a:p>
            <a:r>
              <a:rPr lang="en-US" altLang="zh-CN" dirty="0"/>
              <a:t>print('</a:t>
            </a:r>
            <a:r>
              <a:rPr lang="zh-CN" altLang="en-US" dirty="0"/>
              <a:t>原始数据集数据的形状为：</a:t>
            </a:r>
            <a:r>
              <a:rPr lang="en-US" altLang="zh-CN" dirty="0"/>
              <a:t>', </a:t>
            </a:r>
            <a:r>
              <a:rPr lang="en-US" altLang="zh-CN" dirty="0" err="1"/>
              <a:t>diabetes_data.shape</a:t>
            </a:r>
            <a:r>
              <a:rPr lang="en-US" altLang="zh-CN" dirty="0"/>
              <a:t>)</a:t>
            </a:r>
          </a:p>
          <a:p>
            <a:r>
              <a:rPr lang="en-US" altLang="zh-CN" dirty="0"/>
              <a:t>print('</a:t>
            </a:r>
            <a:r>
              <a:rPr lang="zh-CN" altLang="en-US" dirty="0"/>
              <a:t>原始数据集标签的形状为：</a:t>
            </a:r>
            <a:r>
              <a:rPr lang="en-US" altLang="zh-CN" dirty="0"/>
              <a:t>', </a:t>
            </a:r>
            <a:r>
              <a:rPr lang="en-US" altLang="zh-CN" dirty="0" err="1"/>
              <a:t>diabetes_target.shape</a:t>
            </a:r>
            <a:r>
              <a:rPr lang="en-US" altLang="zh-CN" dirty="0"/>
              <a:t>)</a:t>
            </a:r>
          </a:p>
          <a:p>
            <a:r>
              <a:rPr lang="en-US" altLang="zh-CN" dirty="0"/>
              <a:t>from </a:t>
            </a:r>
            <a:r>
              <a:rPr lang="en-US" altLang="zh-CN" dirty="0" err="1"/>
              <a:t>sklearn.model_selection</a:t>
            </a:r>
            <a:r>
              <a:rPr lang="en-US" altLang="zh-CN" dirty="0"/>
              <a:t> import </a:t>
            </a:r>
            <a:r>
              <a:rPr lang="en-US" altLang="zh-CN" dirty="0" err="1"/>
              <a:t>train_test_split</a:t>
            </a:r>
            <a:endParaRPr lang="en-US" altLang="zh-CN" dirty="0"/>
          </a:p>
          <a:p>
            <a:r>
              <a:rPr lang="en-US" altLang="zh-CN" dirty="0" err="1"/>
              <a:t>diabetes_data_train</a:t>
            </a:r>
            <a:r>
              <a:rPr lang="en-US" altLang="zh-CN" dirty="0"/>
              <a:t>, </a:t>
            </a:r>
            <a:r>
              <a:rPr lang="en-US" altLang="zh-CN" dirty="0" err="1"/>
              <a:t>diabetes_data_test</a:t>
            </a:r>
            <a:r>
              <a:rPr lang="en-US" altLang="zh-CN" dirty="0"/>
              <a:t>, \</a:t>
            </a:r>
          </a:p>
          <a:p>
            <a:r>
              <a:rPr lang="en-US" altLang="zh-CN" dirty="0" err="1"/>
              <a:t>diabetes_target_train</a:t>
            </a:r>
            <a:r>
              <a:rPr lang="en-US" altLang="zh-CN" dirty="0"/>
              <a:t>, </a:t>
            </a:r>
            <a:r>
              <a:rPr lang="en-US" altLang="zh-CN" dirty="0" err="1"/>
              <a:t>diabetes_target_test</a:t>
            </a:r>
            <a:r>
              <a:rPr lang="en-US" altLang="zh-CN" dirty="0"/>
              <a:t> = \</a:t>
            </a:r>
          </a:p>
          <a:p>
            <a:r>
              <a:rPr lang="en-US" altLang="zh-CN" dirty="0" err="1"/>
              <a:t>train_test_split</a:t>
            </a:r>
            <a:r>
              <a:rPr lang="en-US" altLang="zh-CN" dirty="0"/>
              <a:t>(</a:t>
            </a:r>
            <a:r>
              <a:rPr lang="en-US" altLang="zh-CN" dirty="0" err="1"/>
              <a:t>diabetes_data</a:t>
            </a:r>
            <a:r>
              <a:rPr lang="en-US" altLang="zh-CN" dirty="0"/>
              <a:t>, </a:t>
            </a:r>
            <a:r>
              <a:rPr lang="en-US" altLang="zh-CN" dirty="0" err="1"/>
              <a:t>diabetes_target</a:t>
            </a:r>
            <a:r>
              <a:rPr lang="en-US" altLang="zh-CN" dirty="0"/>
              <a:t>, \</a:t>
            </a:r>
          </a:p>
          <a:p>
            <a:r>
              <a:rPr lang="en-US" altLang="zh-CN" dirty="0"/>
              <a:t>                 </a:t>
            </a:r>
            <a:r>
              <a:rPr lang="en-US" altLang="zh-CN" dirty="0" err="1"/>
              <a:t>test_size</a:t>
            </a:r>
            <a:r>
              <a:rPr lang="en-US" altLang="zh-CN" dirty="0"/>
              <a:t>=0.2, </a:t>
            </a:r>
            <a:r>
              <a:rPr lang="en-US" altLang="zh-CN" dirty="0" err="1"/>
              <a:t>random_state</a:t>
            </a:r>
            <a:r>
              <a:rPr lang="en-US" altLang="zh-CN" dirty="0"/>
              <a:t>=42) </a:t>
            </a:r>
          </a:p>
          <a:p>
            <a:r>
              <a:rPr lang="en-US" altLang="zh-CN" dirty="0"/>
              <a:t>print('</a:t>
            </a:r>
            <a:r>
              <a:rPr lang="zh-CN" altLang="en-US" dirty="0"/>
              <a:t>训练集数据的形状为：</a:t>
            </a:r>
            <a:r>
              <a:rPr lang="en-US" altLang="zh-CN" dirty="0"/>
              <a:t>', </a:t>
            </a:r>
            <a:r>
              <a:rPr lang="en-US" altLang="zh-CN" dirty="0" err="1"/>
              <a:t>diabetes_data_train.shape</a:t>
            </a:r>
            <a:r>
              <a:rPr lang="en-US" altLang="zh-CN" dirty="0"/>
              <a:t>)</a:t>
            </a:r>
          </a:p>
          <a:p>
            <a:r>
              <a:rPr lang="en-US" altLang="zh-CN" dirty="0"/>
              <a:t>print('</a:t>
            </a:r>
            <a:r>
              <a:rPr lang="zh-CN" altLang="en-US" dirty="0"/>
              <a:t>训练集标签的形状为：</a:t>
            </a:r>
            <a:r>
              <a:rPr lang="en-US" altLang="zh-CN" dirty="0"/>
              <a:t>', </a:t>
            </a:r>
            <a:r>
              <a:rPr lang="en-US" altLang="zh-CN" dirty="0" err="1"/>
              <a:t>diabetes_target_train.shape</a:t>
            </a:r>
            <a:r>
              <a:rPr lang="en-US" altLang="zh-CN" dirty="0"/>
              <a:t>)</a:t>
            </a:r>
          </a:p>
          <a:p>
            <a:r>
              <a:rPr lang="en-US" altLang="zh-CN" dirty="0"/>
              <a:t>print('</a:t>
            </a:r>
            <a:r>
              <a:rPr lang="zh-CN" altLang="en-US" dirty="0"/>
              <a:t>测试集数据的形状为：</a:t>
            </a:r>
            <a:r>
              <a:rPr lang="en-US" altLang="zh-CN" dirty="0"/>
              <a:t>', </a:t>
            </a:r>
            <a:r>
              <a:rPr lang="en-US" altLang="zh-CN" dirty="0" err="1"/>
              <a:t>diabetes_data_test.shape</a:t>
            </a:r>
            <a:r>
              <a:rPr lang="en-US" altLang="zh-CN" dirty="0"/>
              <a:t>)</a:t>
            </a:r>
          </a:p>
          <a:p>
            <a:r>
              <a:rPr lang="en-US" altLang="zh-CN" dirty="0"/>
              <a:t>print('</a:t>
            </a:r>
            <a:r>
              <a:rPr lang="zh-CN" altLang="en-US" dirty="0"/>
              <a:t>测试集标签的形状为：</a:t>
            </a:r>
            <a:r>
              <a:rPr lang="en-US" altLang="zh-CN" dirty="0"/>
              <a:t>', </a:t>
            </a:r>
            <a:r>
              <a:rPr lang="en-US" altLang="zh-CN" dirty="0" err="1"/>
              <a:t>diabetes_target_test.shape</a:t>
            </a:r>
            <a:r>
              <a:rPr lang="en-US" altLang="zh-CN" dirty="0"/>
              <a:t>)</a:t>
            </a:r>
          </a:p>
        </p:txBody>
      </p:sp>
      <p:pic>
        <p:nvPicPr>
          <p:cNvPr id="4" name="图片 3"/>
          <p:cNvPicPr>
            <a:picLocks noChangeAspect="1"/>
          </p:cNvPicPr>
          <p:nvPr/>
        </p:nvPicPr>
        <p:blipFill>
          <a:blip r:embed="rId2"/>
          <a:stretch>
            <a:fillRect/>
          </a:stretch>
        </p:blipFill>
        <p:spPr>
          <a:xfrm>
            <a:off x="7061659" y="1838984"/>
            <a:ext cx="3960433" cy="1910979"/>
          </a:xfrm>
          <a:prstGeom prst="rect">
            <a:avLst/>
          </a:prstGeom>
        </p:spPr>
      </p:pic>
    </p:spTree>
    <p:extLst>
      <p:ext uri="{BB962C8B-B14F-4D97-AF65-F5344CB8AC3E}">
        <p14:creationId xmlns:p14="http://schemas.microsoft.com/office/powerpoint/2010/main" val="2631346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4" name="内容占位符 3"/>
          <p:cNvSpPr>
            <a:spLocks noGrp="1"/>
          </p:cNvSpPr>
          <p:nvPr>
            <p:ph idx="1"/>
          </p:nvPr>
        </p:nvSpPr>
        <p:spPr>
          <a:xfrm>
            <a:off x="414655" y="1099185"/>
            <a:ext cx="11107420" cy="5091430"/>
          </a:xfrm>
        </p:spPr>
        <p:txBody>
          <a:bodyPr/>
          <a:lstStyle/>
          <a:p>
            <a:pPr>
              <a:spcBef>
                <a:spcPts val="0"/>
              </a:spcBef>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为了帮助用户实现大量的特征处理相关操作，sklearn将相关的功能封装为转换器。</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spcBef>
                <a:spcPts val="0"/>
              </a:spcBef>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转换器主要包括3个方法：fit()、transform()和fit_transform()。转换器的3种方法及其说明如下表所示。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7" name="表格 6"/>
          <p:cNvGraphicFramePr/>
          <p:nvPr>
            <p:custDataLst>
              <p:tags r:id="rId1"/>
            </p:custDataLst>
            <p:extLst>
              <p:ext uri="{D42A27DB-BD31-4B8C-83A1-F6EECF244321}">
                <p14:modId xmlns:p14="http://schemas.microsoft.com/office/powerpoint/2010/main" val="796952206"/>
              </p:ext>
            </p:extLst>
          </p:nvPr>
        </p:nvGraphicFramePr>
        <p:xfrm>
          <a:off x="1153160" y="2346960"/>
          <a:ext cx="9719945" cy="3625215"/>
        </p:xfrm>
        <a:graphic>
          <a:graphicData uri="http://schemas.openxmlformats.org/drawingml/2006/table">
            <a:tbl>
              <a:tblPr firstRow="1" bandRow="1">
                <a:tableStyleId>{5C22544A-7EE6-4342-B048-85BDC9FD1C3A}</a:tableStyleId>
              </a:tblPr>
              <a:tblGrid>
                <a:gridCol w="1964055">
                  <a:extLst>
                    <a:ext uri="{9D8B030D-6E8A-4147-A177-3AD203B41FA5}">
                      <a16:colId xmlns:a16="http://schemas.microsoft.com/office/drawing/2014/main" val="20000"/>
                    </a:ext>
                  </a:extLst>
                </a:gridCol>
                <a:gridCol w="7755890">
                  <a:extLst>
                    <a:ext uri="{9D8B030D-6E8A-4147-A177-3AD203B41FA5}">
                      <a16:colId xmlns:a16="http://schemas.microsoft.com/office/drawing/2014/main" val="20001"/>
                    </a:ext>
                  </a:extLst>
                </a:gridCol>
              </a:tblGrid>
              <a:tr h="424815">
                <a:tc>
                  <a:txBody>
                    <a:bodyPr/>
                    <a:lstStyle/>
                    <a:p>
                      <a:pPr algn="ctr">
                        <a:buNone/>
                      </a:pPr>
                      <a:r>
                        <a:rPr lang="zh-CN" altLang="en-US" sz="1800"/>
                        <a:t>方法名称</a:t>
                      </a:r>
                    </a:p>
                  </a:txBody>
                  <a:tcPr/>
                </a:tc>
                <a:tc>
                  <a:txBody>
                    <a:bodyPr/>
                    <a:lstStyle/>
                    <a:p>
                      <a:pPr algn="ctr">
                        <a:buNone/>
                      </a:pPr>
                      <a:r>
                        <a:rPr lang="zh-CN" altLang="en-US" sz="1800" dirty="0"/>
                        <a:t>方法说明</a:t>
                      </a:r>
                    </a:p>
                  </a:txBody>
                  <a:tcPr/>
                </a:tc>
                <a:extLst>
                  <a:ext uri="{0D108BD9-81ED-4DB2-BD59-A6C34878D82A}">
                    <a16:rowId xmlns:a16="http://schemas.microsoft.com/office/drawing/2014/main" val="10000"/>
                  </a:ext>
                </a:extLst>
              </a:tr>
              <a:tr h="779780">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fit</a:t>
                      </a:r>
                      <a:r>
                        <a:rPr lang="en-US" sz="1800" b="0">
                          <a:latin typeface="Times New Roman" panose="02020603050405020304" pitchFamily="18" charset="0"/>
                          <a:cs typeface="Times New Roman" panose="02020603050405020304" pitchFamily="18" charset="0"/>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err="1">
                          <a:latin typeface="宋体" panose="02010600030101010101" pitchFamily="2" charset="-122"/>
                          <a:ea typeface="宋体" panose="02010600030101010101" pitchFamily="2" charset="-122"/>
                          <a:cs typeface="宋体" panose="02010600030101010101" pitchFamily="2" charset="-122"/>
                        </a:rPr>
                        <a:t>主要通过分析特征和目标值提取有价值的信息，</a:t>
                      </a:r>
                      <a:r>
                        <a:rPr lang="en-US" sz="1800" b="0" dirty="0" err="1">
                          <a:solidFill>
                            <a:srgbClr val="FF0000"/>
                          </a:solidFill>
                          <a:latin typeface="宋体" panose="02010600030101010101" pitchFamily="2" charset="-122"/>
                          <a:ea typeface="宋体" panose="02010600030101010101" pitchFamily="2" charset="-122"/>
                          <a:cs typeface="宋体" panose="02010600030101010101" pitchFamily="2" charset="-122"/>
                        </a:rPr>
                        <a:t>这些信息可以是统计量、权值系数等</a:t>
                      </a:r>
                      <a:endParaRPr lang="en-US" altLang="en-US" sz="1800" b="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178371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transform</a:t>
                      </a:r>
                      <a:r>
                        <a:rPr lang="en-US" sz="1800" b="0">
                          <a:latin typeface="Times New Roman" panose="02020603050405020304" pitchFamily="18" charset="0"/>
                          <a:cs typeface="Times New Roman" panose="02020603050405020304" pitchFamily="18" charset="0"/>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a:solidFill>
                            <a:srgbClr val="FF0000"/>
                          </a:solidFill>
                          <a:latin typeface="Times New Roman" panose="02020603050405020304" pitchFamily="18" charset="0"/>
                          <a:cs typeface="Times New Roman" panose="02020603050405020304" pitchFamily="18" charset="0"/>
                        </a:rPr>
                        <a:t>主要用</a:t>
                      </a: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于</a:t>
                      </a:r>
                      <a:r>
                        <a:rPr lang="en-US" sz="1800" b="0" dirty="0">
                          <a:solidFill>
                            <a:srgbClr val="FF0000"/>
                          </a:solidFill>
                          <a:latin typeface="Times New Roman" panose="02020603050405020304" pitchFamily="18" charset="0"/>
                          <a:cs typeface="Times New Roman" panose="02020603050405020304" pitchFamily="18" charset="0"/>
                        </a:rPr>
                        <a:t>对特征进行转换。</a:t>
                      </a:r>
                      <a:r>
                        <a:rPr lang="en-US" sz="1800" b="0" dirty="0">
                          <a:latin typeface="宋体" panose="02010600030101010101" pitchFamily="2" charset="-122"/>
                          <a:ea typeface="宋体" panose="02010600030101010101" pitchFamily="2" charset="-122"/>
                          <a:cs typeface="宋体" panose="02010600030101010101" pitchFamily="2" charset="-122"/>
                        </a:rPr>
                        <a:t>从</a:t>
                      </a:r>
                      <a:r>
                        <a:rPr lang="en-US" sz="1800" b="0" dirty="0">
                          <a:latin typeface="Times New Roman" panose="02020603050405020304" pitchFamily="18" charset="0"/>
                          <a:cs typeface="Times New Roman" panose="02020603050405020304" pitchFamily="18" charset="0"/>
                        </a:rPr>
                        <a:t>可利用信息的角度分为无信息转换和有信息转换。无信息转换是指不利用任何其他信息进行转换，如指数</a:t>
                      </a:r>
                      <a:r>
                        <a:rPr lang="en-US" sz="1800" b="0" dirty="0">
                          <a:latin typeface="宋体" panose="02010600030101010101" pitchFamily="2" charset="-122"/>
                          <a:ea typeface="宋体" panose="02010600030101010101" pitchFamily="2" charset="-122"/>
                          <a:cs typeface="宋体" panose="02010600030101010101" pitchFamily="2" charset="-122"/>
                        </a:rPr>
                        <a:t>函数</a:t>
                      </a:r>
                      <a:r>
                        <a:rPr lang="en-US" sz="1800" b="0" dirty="0">
                          <a:latin typeface="Times New Roman" panose="02020603050405020304" pitchFamily="18" charset="0"/>
                          <a:cs typeface="Times New Roman" panose="02020603050405020304" pitchFamily="18" charset="0"/>
                        </a:rPr>
                        <a:t>和对数函数转换等。有信息转换</a:t>
                      </a:r>
                      <a:r>
                        <a:rPr lang="en-US" sz="1800" b="0" dirty="0">
                          <a:latin typeface="宋体" panose="02010600030101010101" pitchFamily="2" charset="-122"/>
                          <a:ea typeface="宋体" panose="02010600030101010101" pitchFamily="2" charset="-122"/>
                          <a:cs typeface="宋体" panose="02010600030101010101" pitchFamily="2" charset="-122"/>
                        </a:rPr>
                        <a:t>根据</a:t>
                      </a:r>
                      <a:r>
                        <a:rPr lang="en-US" sz="1800" b="0" dirty="0">
                          <a:latin typeface="Times New Roman" panose="02020603050405020304" pitchFamily="18" charset="0"/>
                          <a:cs typeface="Times New Roman" panose="02020603050405020304" pitchFamily="18" charset="0"/>
                        </a:rPr>
                        <a:t>是否利用目标值向量又可分为无监督转换和有监督转换。无监督转换指只利用特征的统计信息的转换，如标准化和PCA降维等。有监督转换指既利用了特征信息又利用了目标值信息的转换，如通过模型选择特征和LDA降维等</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63690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fit_transform</a:t>
                      </a:r>
                      <a:r>
                        <a:rPr lang="en-US" sz="1800" b="0">
                          <a:latin typeface="Times New Roman" panose="02020603050405020304" pitchFamily="18" charset="0"/>
                          <a:cs typeface="Times New Roman" panose="02020603050405020304" pitchFamily="18" charset="0"/>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err="1">
                          <a:latin typeface="宋体" panose="02010600030101010101" pitchFamily="2" charset="-122"/>
                          <a:ea typeface="宋体" panose="02010600030101010101" pitchFamily="2" charset="-122"/>
                          <a:cs typeface="宋体" panose="02010600030101010101" pitchFamily="2" charset="-122"/>
                        </a:rPr>
                        <a:t>即</a:t>
                      </a:r>
                      <a:r>
                        <a:rPr lang="en-US" sz="1800" b="0" dirty="0" err="1">
                          <a:latin typeface="Times New Roman" panose="02020603050405020304" pitchFamily="18" charset="0"/>
                          <a:cs typeface="Times New Roman" panose="02020603050405020304" pitchFamily="18" charset="0"/>
                        </a:rPr>
                        <a:t>先调用fit</a:t>
                      </a:r>
                      <a:r>
                        <a:rPr lang="en-US" sz="1800" b="0" dirty="0">
                          <a:latin typeface="宋体" panose="02010600030101010101" pitchFamily="2" charset="-122"/>
                          <a:ea typeface="宋体" panose="02010600030101010101" pitchFamily="2" charset="-122"/>
                          <a:cs typeface="宋体" panose="02010600030101010101" pitchFamily="2" charset="-122"/>
                        </a:rPr>
                        <a:t>(</a:t>
                      </a:r>
                      <a:r>
                        <a:rPr lang="en-US" sz="1800" b="0" dirty="0">
                          <a:latin typeface="Times New Roman" panose="02020603050405020304" pitchFamily="18" charset="0"/>
                          <a:cs typeface="Times New Roman" panose="02020603050405020304" pitchFamily="18" charset="0"/>
                        </a:rPr>
                        <a:t>)</a:t>
                      </a:r>
                      <a:r>
                        <a:rPr lang="en-US" sz="1800" b="0" dirty="0" err="1">
                          <a:latin typeface="Times New Roman" panose="02020603050405020304" pitchFamily="18" charset="0"/>
                          <a:cs typeface="Times New Roman" panose="02020603050405020304" pitchFamily="18" charset="0"/>
                        </a:rPr>
                        <a:t>方法</a:t>
                      </a:r>
                      <a:r>
                        <a:rPr lang="en-US" sz="1800" b="0" dirty="0" err="1">
                          <a:latin typeface="宋体" panose="02010600030101010101" pitchFamily="2" charset="-122"/>
                          <a:ea typeface="宋体" panose="02010600030101010101" pitchFamily="2" charset="-122"/>
                          <a:cs typeface="宋体" panose="02010600030101010101" pitchFamily="2" charset="-122"/>
                        </a:rPr>
                        <a:t>，</a:t>
                      </a:r>
                      <a:r>
                        <a:rPr lang="en-US" sz="1800" b="0" dirty="0" err="1">
                          <a:latin typeface="Times New Roman" panose="02020603050405020304" pitchFamily="18" charset="0"/>
                          <a:cs typeface="Times New Roman" panose="02020603050405020304" pitchFamily="18" charset="0"/>
                        </a:rPr>
                        <a:t>然后调用transform</a:t>
                      </a:r>
                      <a:r>
                        <a:rPr lang="en-US" sz="1800" b="0" dirty="0">
                          <a:latin typeface="Times New Roman" panose="02020603050405020304" pitchFamily="18" charset="0"/>
                          <a:cs typeface="Times New Roman" panose="02020603050405020304" pitchFamily="18" charset="0"/>
                        </a:rPr>
                        <a:t>()</a:t>
                      </a:r>
                      <a:r>
                        <a:rPr lang="en-US" sz="1800" b="0" dirty="0" err="1">
                          <a:latin typeface="Times New Roman" panose="02020603050405020304" pitchFamily="18" charset="0"/>
                          <a:cs typeface="Times New Roman" panose="02020603050405020304" pitchFamily="18" charset="0"/>
                        </a:rPr>
                        <a:t>方法</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2" name="内容占位符 1"/>
          <p:cNvSpPr>
            <a:spLocks noGrp="1"/>
          </p:cNvSpPr>
          <p:nvPr>
            <p:ph idx="1"/>
          </p:nvPr>
        </p:nvSpPr>
        <p:spPr>
          <a:xfrm>
            <a:off x="542564" y="984047"/>
            <a:ext cx="11107601" cy="4339721"/>
          </a:xfrm>
        </p:spPr>
        <p:txBody>
          <a:bodyPr/>
          <a:lstStyle/>
          <a:p>
            <a:r>
              <a:rPr lang="zh-CN" altLang="en-US" dirty="0"/>
              <a:t>目前，使用sklearn转换器能够实现对传入的NumPy数组进行如下处理。</a:t>
            </a:r>
          </a:p>
          <a:p>
            <a:pPr marL="720090" latinLnBrk="0">
              <a:spcBef>
                <a:spcPts val="0"/>
              </a:spcBef>
              <a:buFont typeface="Arial" panose="020B0604020202020204" pitchFamily="34" charset="0"/>
              <a:buChar char="•"/>
            </a:pPr>
            <a:r>
              <a:rPr lang="zh-CN" altLang="en-US" dirty="0"/>
              <a:t>标准化处理。</a:t>
            </a:r>
          </a:p>
          <a:p>
            <a:pPr marL="720090" latinLnBrk="0">
              <a:spcBef>
                <a:spcPts val="0"/>
              </a:spcBef>
              <a:buFont typeface="Arial" panose="020B0604020202020204" pitchFamily="34" charset="0"/>
              <a:buChar char="•"/>
            </a:pPr>
            <a:r>
              <a:rPr lang="zh-CN" altLang="en-US" dirty="0"/>
              <a:t>归一化处理。</a:t>
            </a:r>
          </a:p>
          <a:p>
            <a:pPr marL="720090" latinLnBrk="0">
              <a:spcBef>
                <a:spcPts val="0"/>
              </a:spcBef>
              <a:buFont typeface="Arial" panose="020B0604020202020204" pitchFamily="34" charset="0"/>
              <a:buChar char="•"/>
            </a:pPr>
            <a:r>
              <a:rPr lang="zh-CN" altLang="en-US" dirty="0"/>
              <a:t>二值化处理。</a:t>
            </a:r>
          </a:p>
          <a:p>
            <a:pPr marL="720090" latinLnBrk="0">
              <a:spcBef>
                <a:spcPts val="0"/>
              </a:spcBef>
              <a:buFont typeface="Arial" panose="020B0604020202020204" pitchFamily="34" charset="0"/>
              <a:buChar char="•"/>
            </a:pPr>
            <a:r>
              <a:rPr lang="zh-CN" altLang="en-US" dirty="0"/>
              <a:t>PCA降维等操作。</a:t>
            </a:r>
          </a:p>
          <a:p>
            <a:r>
              <a:rPr lang="zh-CN" altLang="en-US" dirty="0"/>
              <a:t>基于pandas库介绍了标准化处理的原理、概念与方法。</a:t>
            </a:r>
          </a:p>
          <a:p>
            <a:r>
              <a:rPr lang="zh-CN" altLang="en-US" dirty="0"/>
              <a:t>但是在数据分析过程中，各类特征处理相关的操作都需要对训练集和测试集分开进行，需要将训练集的操作规则、权重系数等应用到测试集中。</a:t>
            </a:r>
          </a:p>
          <a:p>
            <a:r>
              <a:rPr lang="zh-CN" altLang="en-US" dirty="0">
                <a:solidFill>
                  <a:srgbClr val="FF0000"/>
                </a:solidFill>
              </a:rPr>
              <a:t>如果使用pandas，那么应用至测试集的过程相对烦琐</a:t>
            </a:r>
            <a:r>
              <a:rPr lang="en-US" altLang="zh-CN" dirty="0">
                <a:solidFill>
                  <a:srgbClr val="FF0000"/>
                </a:solidFill>
              </a:rPr>
              <a:t>(</a:t>
            </a:r>
            <a:r>
              <a:rPr lang="zh-CN" altLang="en-US" dirty="0">
                <a:solidFill>
                  <a:srgbClr val="FF0000"/>
                </a:solidFill>
              </a:rPr>
              <a:t>因为需要对测试集中每个样本重新计算</a:t>
            </a:r>
            <a:r>
              <a:rPr lang="en-US" altLang="zh-CN" dirty="0">
                <a:solidFill>
                  <a:srgbClr val="FF0000"/>
                </a:solidFill>
              </a:rPr>
              <a:t>)</a:t>
            </a:r>
            <a:r>
              <a:rPr lang="zh-CN" altLang="en-US" dirty="0">
                <a:solidFill>
                  <a:srgbClr val="FF0000"/>
                </a:solidFill>
              </a:rPr>
              <a:t>，使用sklearn转换器可以解决这一困扰。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 calcmode="lin" valueType="num">
                                      <p:cBhvr additive="base">
                                        <p:cTn id="25"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 calcmode="lin" valueType="num">
                                      <p:cBhvr additive="base">
                                        <p:cTn id="3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4" name="矩形 3"/>
          <p:cNvSpPr/>
          <p:nvPr/>
        </p:nvSpPr>
        <p:spPr>
          <a:xfrm>
            <a:off x="831272" y="924765"/>
            <a:ext cx="8179677" cy="5755422"/>
          </a:xfrm>
          <a:prstGeom prst="rect">
            <a:avLst/>
          </a:prstGeom>
        </p:spPr>
        <p:txBody>
          <a:bodyPr wrap="square">
            <a:spAutoFit/>
          </a:bodyPr>
          <a:lstStyle/>
          <a:p>
            <a:r>
              <a:rPr lang="en-US" altLang="zh-CN" sz="1600" dirty="0"/>
              <a:t>import </a:t>
            </a:r>
            <a:r>
              <a:rPr lang="en-US" altLang="zh-CN" sz="1600" dirty="0" err="1"/>
              <a:t>numpy</a:t>
            </a:r>
            <a:r>
              <a:rPr lang="en-US" altLang="zh-CN" sz="1600" dirty="0"/>
              <a:t> as np</a:t>
            </a:r>
          </a:p>
          <a:p>
            <a:r>
              <a:rPr lang="en-US" altLang="zh-CN" sz="1600" dirty="0"/>
              <a:t>from </a:t>
            </a:r>
            <a:r>
              <a:rPr lang="en-US" altLang="zh-CN" sz="1600" dirty="0" err="1"/>
              <a:t>sklearn.preprocessing</a:t>
            </a:r>
            <a:r>
              <a:rPr lang="en-US" altLang="zh-CN" sz="1600" dirty="0"/>
              <a:t> import </a:t>
            </a:r>
            <a:r>
              <a:rPr lang="en-US" altLang="zh-CN" sz="1600" dirty="0" err="1"/>
              <a:t>MinMaxScaler</a:t>
            </a:r>
            <a:endParaRPr lang="en-US" altLang="zh-CN" sz="1600" dirty="0"/>
          </a:p>
          <a:p>
            <a:r>
              <a:rPr lang="en-US" altLang="zh-CN" sz="1600" dirty="0"/>
              <a:t>Scaler = </a:t>
            </a:r>
            <a:r>
              <a:rPr lang="en-US" altLang="zh-CN" sz="1600" dirty="0" err="1"/>
              <a:t>MinMaxScaler</a:t>
            </a:r>
            <a:r>
              <a:rPr lang="en-US" altLang="zh-CN" sz="1600" dirty="0"/>
              <a:t>().fit(</a:t>
            </a:r>
            <a:r>
              <a:rPr lang="en-US" altLang="zh-CN" sz="1600" dirty="0" err="1"/>
              <a:t>diabetes_data_train</a:t>
            </a:r>
            <a:r>
              <a:rPr lang="en-US" altLang="zh-CN" sz="1600" dirty="0"/>
              <a:t>)  # </a:t>
            </a:r>
            <a:r>
              <a:rPr lang="zh-CN" altLang="en-US" sz="1600" dirty="0"/>
              <a:t>生成规则</a:t>
            </a:r>
          </a:p>
          <a:p>
            <a:r>
              <a:rPr lang="en-US" altLang="zh-CN" sz="1600" dirty="0"/>
              <a:t># </a:t>
            </a:r>
            <a:r>
              <a:rPr lang="zh-CN" altLang="en-US" sz="1600" dirty="0"/>
              <a:t>将规则应用于训练集</a:t>
            </a:r>
          </a:p>
          <a:p>
            <a:r>
              <a:rPr lang="en-US" altLang="zh-CN" sz="1600" dirty="0" err="1"/>
              <a:t>diabetes_trainScaler</a:t>
            </a:r>
            <a:r>
              <a:rPr lang="en-US" altLang="zh-CN" sz="1600" dirty="0"/>
              <a:t> = </a:t>
            </a:r>
            <a:r>
              <a:rPr lang="en-US" altLang="zh-CN" sz="1600" dirty="0" err="1"/>
              <a:t>Scaler.transform</a:t>
            </a:r>
            <a:r>
              <a:rPr lang="en-US" altLang="zh-CN" sz="1600" dirty="0"/>
              <a:t>(</a:t>
            </a:r>
            <a:r>
              <a:rPr lang="en-US" altLang="zh-CN" sz="1600" dirty="0" err="1"/>
              <a:t>diabetes_data_train</a:t>
            </a:r>
            <a:r>
              <a:rPr lang="en-US" altLang="zh-CN" sz="1600" dirty="0"/>
              <a:t>) </a:t>
            </a:r>
          </a:p>
          <a:p>
            <a:r>
              <a:rPr lang="en-US" altLang="zh-CN" sz="1600" dirty="0"/>
              <a:t># </a:t>
            </a:r>
            <a:r>
              <a:rPr lang="zh-CN" altLang="en-US" sz="1600" dirty="0"/>
              <a:t>将规则应用于测试集</a:t>
            </a:r>
          </a:p>
          <a:p>
            <a:r>
              <a:rPr lang="en-US" altLang="zh-CN" sz="1600" dirty="0" err="1"/>
              <a:t>diabetes_testScaler</a:t>
            </a:r>
            <a:r>
              <a:rPr lang="en-US" altLang="zh-CN" sz="1600" dirty="0"/>
              <a:t> = </a:t>
            </a:r>
            <a:r>
              <a:rPr lang="en-US" altLang="zh-CN" sz="1600" dirty="0" err="1"/>
              <a:t>Scaler.transform</a:t>
            </a:r>
            <a:r>
              <a:rPr lang="en-US" altLang="zh-CN" sz="1600" dirty="0"/>
              <a:t>(</a:t>
            </a:r>
            <a:r>
              <a:rPr lang="en-US" altLang="zh-CN" sz="1600" dirty="0" err="1"/>
              <a:t>diabetes_data_test</a:t>
            </a:r>
            <a:r>
              <a:rPr lang="en-US" altLang="zh-CN" sz="1600" dirty="0"/>
              <a:t>) </a:t>
            </a:r>
          </a:p>
          <a:p>
            <a:r>
              <a:rPr lang="en-US" altLang="zh-CN" sz="1600" dirty="0"/>
              <a:t>print('</a:t>
            </a:r>
            <a:r>
              <a:rPr lang="zh-CN" altLang="en-US" sz="1600" dirty="0"/>
              <a:t>离差标准化前训练集数据的最小值为：</a:t>
            </a:r>
            <a:r>
              <a:rPr lang="en-US" altLang="zh-CN" sz="1600" dirty="0"/>
              <a:t>', </a:t>
            </a:r>
          </a:p>
          <a:p>
            <a:r>
              <a:rPr lang="en-US" altLang="zh-CN" sz="1600" dirty="0"/>
              <a:t>      </a:t>
            </a:r>
            <a:r>
              <a:rPr lang="en-US" altLang="zh-CN" sz="1600" dirty="0" err="1"/>
              <a:t>np.min</a:t>
            </a:r>
            <a:r>
              <a:rPr lang="en-US" altLang="zh-CN" sz="1600" dirty="0"/>
              <a:t>(</a:t>
            </a:r>
            <a:r>
              <a:rPr lang="en-US" altLang="zh-CN" sz="1600" dirty="0" err="1"/>
              <a:t>diabetes_data_train</a:t>
            </a:r>
            <a:r>
              <a:rPr lang="en-US" altLang="zh-CN" sz="1600" dirty="0"/>
              <a:t>))</a:t>
            </a:r>
          </a:p>
          <a:p>
            <a:r>
              <a:rPr lang="en-US" altLang="zh-CN" sz="1600" dirty="0"/>
              <a:t>print('</a:t>
            </a:r>
            <a:r>
              <a:rPr lang="zh-CN" altLang="en-US" sz="1600" dirty="0"/>
              <a:t>离差标准化后训练集数据的最小值为：</a:t>
            </a:r>
            <a:r>
              <a:rPr lang="en-US" altLang="zh-CN" sz="1600" dirty="0"/>
              <a:t>', </a:t>
            </a:r>
          </a:p>
          <a:p>
            <a:r>
              <a:rPr lang="en-US" altLang="zh-CN" sz="1600" dirty="0"/>
              <a:t>      </a:t>
            </a:r>
            <a:r>
              <a:rPr lang="en-US" altLang="zh-CN" sz="1600" dirty="0" err="1"/>
              <a:t>np.min</a:t>
            </a:r>
            <a:r>
              <a:rPr lang="en-US" altLang="zh-CN" sz="1600" dirty="0"/>
              <a:t>(</a:t>
            </a:r>
            <a:r>
              <a:rPr lang="en-US" altLang="zh-CN" sz="1600" dirty="0" err="1"/>
              <a:t>diabetes_trainScaler</a:t>
            </a:r>
            <a:r>
              <a:rPr lang="en-US" altLang="zh-CN" sz="1600" dirty="0"/>
              <a:t>))</a:t>
            </a:r>
          </a:p>
          <a:p>
            <a:r>
              <a:rPr lang="en-US" altLang="zh-CN" sz="1600" dirty="0"/>
              <a:t>print('</a:t>
            </a:r>
            <a:r>
              <a:rPr lang="zh-CN" altLang="en-US" sz="1600" dirty="0"/>
              <a:t>离差标准化前训练集数据的最大值为：</a:t>
            </a:r>
            <a:r>
              <a:rPr lang="en-US" altLang="zh-CN" sz="1600" dirty="0"/>
              <a:t>', </a:t>
            </a:r>
          </a:p>
          <a:p>
            <a:r>
              <a:rPr lang="en-US" altLang="zh-CN" sz="1600" dirty="0"/>
              <a:t>      </a:t>
            </a:r>
            <a:r>
              <a:rPr lang="en-US" altLang="zh-CN" sz="1600" dirty="0" err="1"/>
              <a:t>np.max</a:t>
            </a:r>
            <a:r>
              <a:rPr lang="en-US" altLang="zh-CN" sz="1600" dirty="0"/>
              <a:t>(</a:t>
            </a:r>
            <a:r>
              <a:rPr lang="en-US" altLang="zh-CN" sz="1600" dirty="0" err="1"/>
              <a:t>diabetes_data_train</a:t>
            </a:r>
            <a:r>
              <a:rPr lang="en-US" altLang="zh-CN" sz="1600" dirty="0"/>
              <a:t>))</a:t>
            </a:r>
          </a:p>
          <a:p>
            <a:r>
              <a:rPr lang="en-US" altLang="zh-CN" sz="1600" dirty="0"/>
              <a:t>print('</a:t>
            </a:r>
            <a:r>
              <a:rPr lang="zh-CN" altLang="en-US" sz="1600" dirty="0"/>
              <a:t>离差标准化后训练集数据的最大值为：</a:t>
            </a:r>
            <a:r>
              <a:rPr lang="en-US" altLang="zh-CN" sz="1600" dirty="0"/>
              <a:t>', </a:t>
            </a:r>
          </a:p>
          <a:p>
            <a:r>
              <a:rPr lang="en-US" altLang="zh-CN" sz="1600" dirty="0"/>
              <a:t>      </a:t>
            </a:r>
            <a:r>
              <a:rPr lang="en-US" altLang="zh-CN" sz="1600" dirty="0" err="1"/>
              <a:t>np.max</a:t>
            </a:r>
            <a:r>
              <a:rPr lang="en-US" altLang="zh-CN" sz="1600" dirty="0"/>
              <a:t>(</a:t>
            </a:r>
            <a:r>
              <a:rPr lang="en-US" altLang="zh-CN" sz="1600" dirty="0" err="1"/>
              <a:t>diabetes_trainScaler</a:t>
            </a:r>
            <a:r>
              <a:rPr lang="en-US" altLang="zh-CN" sz="1600" dirty="0"/>
              <a:t>))</a:t>
            </a:r>
          </a:p>
          <a:p>
            <a:r>
              <a:rPr lang="en-US" altLang="zh-CN" sz="1600" dirty="0"/>
              <a:t>print('</a:t>
            </a:r>
            <a:r>
              <a:rPr lang="zh-CN" altLang="en-US" sz="1600" dirty="0"/>
              <a:t>离差标准化前测试集数据的最小值为：</a:t>
            </a:r>
            <a:r>
              <a:rPr lang="en-US" altLang="zh-CN" sz="1600" dirty="0"/>
              <a:t>', </a:t>
            </a:r>
          </a:p>
          <a:p>
            <a:r>
              <a:rPr lang="en-US" altLang="zh-CN" sz="1600" dirty="0"/>
              <a:t>      </a:t>
            </a:r>
            <a:r>
              <a:rPr lang="en-US" altLang="zh-CN" sz="1600" dirty="0" err="1"/>
              <a:t>np.min</a:t>
            </a:r>
            <a:r>
              <a:rPr lang="en-US" altLang="zh-CN" sz="1600" dirty="0"/>
              <a:t>(</a:t>
            </a:r>
            <a:r>
              <a:rPr lang="en-US" altLang="zh-CN" sz="1600" dirty="0" err="1"/>
              <a:t>diabetes_data_test</a:t>
            </a:r>
            <a:r>
              <a:rPr lang="en-US" altLang="zh-CN" sz="1600" dirty="0"/>
              <a:t>))</a:t>
            </a:r>
          </a:p>
          <a:p>
            <a:r>
              <a:rPr lang="en-US" altLang="zh-CN" sz="1600" dirty="0"/>
              <a:t>print('</a:t>
            </a:r>
            <a:r>
              <a:rPr lang="zh-CN" altLang="en-US" sz="1600" dirty="0"/>
              <a:t>离差标准化后测试集数据的最小值为：</a:t>
            </a:r>
            <a:r>
              <a:rPr lang="en-US" altLang="zh-CN" sz="1600" dirty="0"/>
              <a:t>', </a:t>
            </a:r>
          </a:p>
          <a:p>
            <a:r>
              <a:rPr lang="en-US" altLang="zh-CN" sz="1600" dirty="0"/>
              <a:t>      </a:t>
            </a:r>
            <a:r>
              <a:rPr lang="en-US" altLang="zh-CN" sz="1600" dirty="0" err="1"/>
              <a:t>np.min</a:t>
            </a:r>
            <a:r>
              <a:rPr lang="en-US" altLang="zh-CN" sz="1600" dirty="0"/>
              <a:t>(</a:t>
            </a:r>
            <a:r>
              <a:rPr lang="en-US" altLang="zh-CN" sz="1600" dirty="0" err="1"/>
              <a:t>diabetes_testScaler</a:t>
            </a:r>
            <a:r>
              <a:rPr lang="en-US" altLang="zh-CN" sz="1600" dirty="0"/>
              <a:t>))</a:t>
            </a:r>
          </a:p>
          <a:p>
            <a:r>
              <a:rPr lang="en-US" altLang="zh-CN" sz="1600" dirty="0"/>
              <a:t>print('</a:t>
            </a:r>
            <a:r>
              <a:rPr lang="zh-CN" altLang="en-US" sz="1600" dirty="0"/>
              <a:t>离差标准化前测试集数据的最大值为：</a:t>
            </a:r>
            <a:r>
              <a:rPr lang="en-US" altLang="zh-CN" sz="1600" dirty="0"/>
              <a:t>', </a:t>
            </a:r>
          </a:p>
          <a:p>
            <a:r>
              <a:rPr lang="en-US" altLang="zh-CN" sz="1600" dirty="0"/>
              <a:t>      </a:t>
            </a:r>
            <a:r>
              <a:rPr lang="en-US" altLang="zh-CN" sz="1600" dirty="0" err="1"/>
              <a:t>np.max</a:t>
            </a:r>
            <a:r>
              <a:rPr lang="en-US" altLang="zh-CN" sz="1600" dirty="0"/>
              <a:t>(</a:t>
            </a:r>
            <a:r>
              <a:rPr lang="en-US" altLang="zh-CN" sz="1600" dirty="0" err="1"/>
              <a:t>diabetes_data_test</a:t>
            </a:r>
            <a:r>
              <a:rPr lang="en-US" altLang="zh-CN" sz="1600" dirty="0"/>
              <a:t>))</a:t>
            </a:r>
          </a:p>
          <a:p>
            <a:r>
              <a:rPr lang="en-US" altLang="zh-CN" sz="1600" dirty="0"/>
              <a:t>print('</a:t>
            </a:r>
            <a:r>
              <a:rPr lang="zh-CN" altLang="en-US" sz="1600" dirty="0"/>
              <a:t>离差标准化后测试集数据的最大值为：</a:t>
            </a:r>
            <a:r>
              <a:rPr lang="en-US" altLang="zh-CN" sz="1600" dirty="0"/>
              <a:t>', </a:t>
            </a:r>
          </a:p>
          <a:p>
            <a:r>
              <a:rPr lang="en-US" altLang="zh-CN" sz="1600" dirty="0"/>
              <a:t>      </a:t>
            </a:r>
            <a:r>
              <a:rPr lang="en-US" altLang="zh-CN" sz="1600" dirty="0" err="1"/>
              <a:t>np.max</a:t>
            </a:r>
            <a:r>
              <a:rPr lang="en-US" altLang="zh-CN" sz="1600" dirty="0"/>
              <a:t>(</a:t>
            </a:r>
            <a:r>
              <a:rPr lang="en-US" altLang="zh-CN" sz="1600" dirty="0" err="1"/>
              <a:t>diabetes_testScaler</a:t>
            </a:r>
            <a:r>
              <a:rPr lang="en-US" altLang="zh-CN" sz="1600" dirty="0"/>
              <a:t>))</a:t>
            </a:r>
            <a:endParaRPr lang="zh-CN" altLang="en-US" sz="1600" dirty="0"/>
          </a:p>
        </p:txBody>
      </p:sp>
      <p:pic>
        <p:nvPicPr>
          <p:cNvPr id="6" name="图片 5"/>
          <p:cNvPicPr>
            <a:picLocks noChangeAspect="1"/>
          </p:cNvPicPr>
          <p:nvPr/>
        </p:nvPicPr>
        <p:blipFill>
          <a:blip r:embed="rId2"/>
          <a:stretch>
            <a:fillRect/>
          </a:stretch>
        </p:blipFill>
        <p:spPr>
          <a:xfrm>
            <a:off x="6468595" y="2012626"/>
            <a:ext cx="5078575" cy="2171447"/>
          </a:xfrm>
          <a:prstGeom prst="rect">
            <a:avLst/>
          </a:prstGeom>
        </p:spPr>
      </p:pic>
    </p:spTree>
    <p:extLst>
      <p:ext uri="{BB962C8B-B14F-4D97-AF65-F5344CB8AC3E}">
        <p14:creationId xmlns:p14="http://schemas.microsoft.com/office/powerpoint/2010/main" val="4111118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8" name="内容占位符 7"/>
          <p:cNvSpPr>
            <a:spLocks noGrp="1"/>
          </p:cNvSpPr>
          <p:nvPr>
            <p:ph idx="1"/>
          </p:nvPr>
        </p:nvSpPr>
        <p:spPr>
          <a:xfrm>
            <a:off x="414655" y="1099185"/>
            <a:ext cx="11107420" cy="509143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sklearn除了提供离差标准化函数MinMaxScaler外，还提供了一系列数据预处理函数，如下表所示。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p:nvPr>
            <p:custDataLst>
              <p:tags r:id="rId1"/>
            </p:custDataLst>
          </p:nvPr>
        </p:nvGraphicFramePr>
        <p:xfrm>
          <a:off x="3222625" y="1861820"/>
          <a:ext cx="5626100" cy="3180715"/>
        </p:xfrm>
        <a:graphic>
          <a:graphicData uri="http://schemas.openxmlformats.org/drawingml/2006/table">
            <a:tbl>
              <a:tblPr firstRow="1" bandRow="1">
                <a:tableStyleId>{5C22544A-7EE6-4342-B048-85BDC9FD1C3A}</a:tableStyleId>
              </a:tblPr>
              <a:tblGrid>
                <a:gridCol w="2271395">
                  <a:extLst>
                    <a:ext uri="{9D8B030D-6E8A-4147-A177-3AD203B41FA5}">
                      <a16:colId xmlns:a16="http://schemas.microsoft.com/office/drawing/2014/main" val="20000"/>
                    </a:ext>
                  </a:extLst>
                </a:gridCol>
                <a:gridCol w="3354705">
                  <a:extLst>
                    <a:ext uri="{9D8B030D-6E8A-4147-A177-3AD203B41FA5}">
                      <a16:colId xmlns:a16="http://schemas.microsoft.com/office/drawing/2014/main" val="20001"/>
                    </a:ext>
                  </a:extLst>
                </a:gridCol>
              </a:tblGrid>
              <a:tr h="547370">
                <a:tc>
                  <a:txBody>
                    <a:bodyPr/>
                    <a:lstStyle/>
                    <a:p>
                      <a:pPr algn="ctr">
                        <a:buNone/>
                      </a:pPr>
                      <a:r>
                        <a:rPr lang="zh-CN" altLang="en-US" sz="1800"/>
                        <a:t>函数名称</a:t>
                      </a:r>
                    </a:p>
                  </a:txBody>
                  <a:tcPr/>
                </a:tc>
                <a:tc>
                  <a:txBody>
                    <a:bodyPr/>
                    <a:lstStyle/>
                    <a:p>
                      <a:pPr algn="ctr">
                        <a:buNone/>
                      </a:pPr>
                      <a:r>
                        <a:rPr lang="zh-CN" altLang="en-US" sz="1800" dirty="0"/>
                        <a:t>函数说明</a:t>
                      </a:r>
                    </a:p>
                  </a:txBody>
                  <a:tcPr/>
                </a:tc>
                <a:extLst>
                  <a:ext uri="{0D108BD9-81ED-4DB2-BD59-A6C34878D82A}">
                    <a16:rowId xmlns:a16="http://schemas.microsoft.com/office/drawing/2014/main" val="10000"/>
                  </a:ext>
                </a:extLst>
              </a:tr>
              <a:tr h="570230">
                <a:tc>
                  <a:txBody>
                    <a:bodyPr/>
                    <a:lstStyle/>
                    <a:p>
                      <a:pPr indent="0">
                        <a:buNone/>
                      </a:pPr>
                      <a:r>
                        <a:rPr lang="en-US" sz="1800" b="0">
                          <a:latin typeface="Times New Roman" panose="02020603050405020304" pitchFamily="18" charset="0"/>
                          <a:cs typeface="Times New Roman" panose="02020603050405020304" pitchFamily="18" charset="0"/>
                        </a:rPr>
                        <a:t>StandardScaler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对特征进行标准差标准化</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516255">
                <a:tc>
                  <a:txBody>
                    <a:bodyPr/>
                    <a:lstStyle/>
                    <a:p>
                      <a:pPr indent="0">
                        <a:buNone/>
                      </a:pPr>
                      <a:r>
                        <a:rPr lang="en-US" sz="1800" b="0">
                          <a:latin typeface="Times New Roman" panose="02020603050405020304" pitchFamily="18" charset="0"/>
                          <a:cs typeface="Times New Roman" panose="02020603050405020304" pitchFamily="18" charset="0"/>
                        </a:rPr>
                        <a:t>Normalizer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对特征进行归一化</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545465">
                <a:tc>
                  <a:txBody>
                    <a:bodyPr/>
                    <a:lstStyle/>
                    <a:p>
                      <a:pPr indent="0">
                        <a:buNone/>
                      </a:pPr>
                      <a:r>
                        <a:rPr lang="en-US" sz="1800" b="0">
                          <a:latin typeface="Times New Roman" panose="02020603050405020304" pitchFamily="18" charset="0"/>
                          <a:cs typeface="Times New Roman" panose="02020603050405020304" pitchFamily="18" charset="0"/>
                        </a:rPr>
                        <a:t>Binarizer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对定量特征进行二值化处理</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508635">
                <a:tc>
                  <a:txBody>
                    <a:bodyPr/>
                    <a:lstStyle/>
                    <a:p>
                      <a:pPr indent="0">
                        <a:buNone/>
                      </a:pPr>
                      <a:r>
                        <a:rPr lang="en-US" sz="1800" b="0">
                          <a:latin typeface="Times New Roman" panose="02020603050405020304" pitchFamily="18" charset="0"/>
                          <a:cs typeface="Times New Roman" panose="02020603050405020304" pitchFamily="18" charset="0"/>
                        </a:rPr>
                        <a:t>OneHotEncoder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对定性特征进行独热编码处理</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492760">
                <a:tc>
                  <a:txBody>
                    <a:bodyPr/>
                    <a:lstStyle/>
                    <a:p>
                      <a:pPr indent="0">
                        <a:buNone/>
                      </a:pPr>
                      <a:r>
                        <a:rPr lang="en-US" sz="1800" b="0">
                          <a:latin typeface="Times New Roman" panose="02020603050405020304" pitchFamily="18" charset="0"/>
                          <a:cs typeface="Times New Roman" panose="02020603050405020304" pitchFamily="18" charset="0"/>
                        </a:rPr>
                        <a:t>FunctionTransformer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对特征进行自定义函数变换</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6" name="内容占位符 3"/>
          <p:cNvSpPr>
            <a:spLocks noGrp="1"/>
          </p:cNvSpPr>
          <p:nvPr/>
        </p:nvSpPr>
        <p:spPr>
          <a:xfrm>
            <a:off x="389890" y="1149985"/>
            <a:ext cx="11412220" cy="521652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en-US" altLang="zh-CN" kern="100" dirty="0">
                <a:effectLst/>
                <a:sym typeface="+mn-ea"/>
              </a:rPr>
              <a:t> </a:t>
            </a:r>
            <a:r>
              <a:rPr lang="zh-CN" altLang="zh-CN" kern="100" dirty="0">
                <a:effectLst/>
                <a:sym typeface="+mn-ea"/>
              </a:rPr>
              <a:t>sklearn除了提供基本的特征变换函数外，还提供了降维算法、特征选择算法，这些算法的使用也是通过转换器的方式进行的。</a:t>
            </a:r>
          </a:p>
          <a:p>
            <a:r>
              <a:rPr lang="zh-CN" altLang="zh-CN" kern="100" dirty="0">
                <a:solidFill>
                  <a:srgbClr val="FF0000"/>
                </a:solidFill>
                <a:effectLst/>
                <a:sym typeface="+mn-ea"/>
              </a:rPr>
              <a:t>sklearn的decomposition模块中提供了PCA类</a:t>
            </a:r>
            <a:r>
              <a:rPr lang="zh-CN" altLang="zh-CN" kern="100" dirty="0">
                <a:effectLst/>
                <a:sym typeface="+mn-ea"/>
              </a:rPr>
              <a:t>，可实现对数据集进行PCA降维，PCA类的基本使用格式如下。</a:t>
            </a:r>
          </a:p>
          <a:p>
            <a:endParaRPr lang="zh-CN" altLang="zh-CN" kern="100" dirty="0">
              <a:effectLst/>
              <a:sym typeface="+mn-ea"/>
            </a:endParaRPr>
          </a:p>
          <a:p>
            <a:endParaRPr lang="zh-CN" altLang="zh-CN" kern="100" dirty="0">
              <a:effectLst/>
              <a:sym typeface="+mn-ea"/>
            </a:endParaRPr>
          </a:p>
          <a:p>
            <a:pPr marL="0" indent="0">
              <a:buNone/>
            </a:pPr>
            <a:endParaRPr lang="zh-CN" altLang="en-US" dirty="0"/>
          </a:p>
        </p:txBody>
      </p:sp>
      <p:sp>
        <p:nvSpPr>
          <p:cNvPr id="7" name="TextBox 5"/>
          <p:cNvSpPr txBox="1">
            <a:spLocks noChangeArrowheads="1"/>
          </p:cNvSpPr>
          <p:nvPr/>
        </p:nvSpPr>
        <p:spPr bwMode="auto">
          <a:xfrm>
            <a:off x="956310" y="2983865"/>
            <a:ext cx="1027938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a:latin typeface="Times New Roman" panose="02020603050405020304" pitchFamily="18" charset="0"/>
                <a:cs typeface="Times New Roman" panose="02020603050405020304" pitchFamily="18" charset="0"/>
              </a:rPr>
              <a:t>class sklearn.decomposition.PCA(n_components=None, *, copy=True, whiten=False, svd_solver='auto', tol=0.0, iterated_power='auto', random_state=None)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8" name="内容占位符 7"/>
          <p:cNvSpPr>
            <a:spLocks noGrp="1"/>
          </p:cNvSpPr>
          <p:nvPr>
            <p:ph idx="1"/>
          </p:nvPr>
        </p:nvSpPr>
        <p:spPr>
          <a:xfrm>
            <a:off x="440690" y="887095"/>
            <a:ext cx="11107420" cy="509143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PCA类常用参数及其说明如下表所示。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p:nvPr>
            <p:custDataLst>
              <p:tags r:id="rId1"/>
            </p:custDataLst>
            <p:extLst>
              <p:ext uri="{D42A27DB-BD31-4B8C-83A1-F6EECF244321}">
                <p14:modId xmlns:p14="http://schemas.microsoft.com/office/powerpoint/2010/main" val="3791291036"/>
              </p:ext>
            </p:extLst>
          </p:nvPr>
        </p:nvGraphicFramePr>
        <p:xfrm>
          <a:off x="949325" y="1435100"/>
          <a:ext cx="10293350" cy="4907915"/>
        </p:xfrm>
        <a:graphic>
          <a:graphicData uri="http://schemas.openxmlformats.org/drawingml/2006/table">
            <a:tbl>
              <a:tblPr firstRow="1" bandRow="1">
                <a:tableStyleId>{5C22544A-7EE6-4342-B048-85BDC9FD1C3A}</a:tableStyleId>
              </a:tblPr>
              <a:tblGrid>
                <a:gridCol w="1476375">
                  <a:extLst>
                    <a:ext uri="{9D8B030D-6E8A-4147-A177-3AD203B41FA5}">
                      <a16:colId xmlns:a16="http://schemas.microsoft.com/office/drawing/2014/main" val="20000"/>
                    </a:ext>
                  </a:extLst>
                </a:gridCol>
                <a:gridCol w="8816975">
                  <a:extLst>
                    <a:ext uri="{9D8B030D-6E8A-4147-A177-3AD203B41FA5}">
                      <a16:colId xmlns:a16="http://schemas.microsoft.com/office/drawing/2014/main" val="20001"/>
                    </a:ext>
                  </a:extLst>
                </a:gridCol>
              </a:tblGrid>
              <a:tr h="481330">
                <a:tc>
                  <a:txBody>
                    <a:bodyPr/>
                    <a:lstStyle/>
                    <a:p>
                      <a:pPr algn="ctr">
                        <a:buNone/>
                      </a:pPr>
                      <a:r>
                        <a:rPr lang="zh-CN" altLang="en-US" sz="1800"/>
                        <a:t>参数名称</a:t>
                      </a:r>
                    </a:p>
                  </a:txBody>
                  <a:tcPr/>
                </a:tc>
                <a:tc>
                  <a:txBody>
                    <a:bodyPr/>
                    <a:lstStyle/>
                    <a:p>
                      <a:pPr algn="ctr">
                        <a:buNone/>
                      </a:pPr>
                      <a:r>
                        <a:rPr lang="zh-CN" altLang="en-US" sz="1800" dirty="0"/>
                        <a:t>参数说明</a:t>
                      </a:r>
                    </a:p>
                  </a:txBody>
                  <a:tcPr/>
                </a:tc>
                <a:extLst>
                  <a:ext uri="{0D108BD9-81ED-4DB2-BD59-A6C34878D82A}">
                    <a16:rowId xmlns:a16="http://schemas.microsoft.com/office/drawing/2014/main" val="10000"/>
                  </a:ext>
                </a:extLst>
              </a:tr>
              <a:tr h="1462405">
                <a:tc>
                  <a:txBody>
                    <a:bodyPr/>
                    <a:lstStyle/>
                    <a:p>
                      <a:pPr indent="0">
                        <a:buNone/>
                      </a:pPr>
                      <a:r>
                        <a:rPr lang="en-US" sz="1800" b="0" dirty="0" err="1">
                          <a:solidFill>
                            <a:srgbClr val="FF0000"/>
                          </a:solidFill>
                          <a:latin typeface="Times New Roman" panose="02020603050405020304" pitchFamily="18" charset="0"/>
                          <a:cs typeface="Times New Roman" panose="02020603050405020304" pitchFamily="18" charset="0"/>
                        </a:rPr>
                        <a:t>n_components</a:t>
                      </a:r>
                      <a:endParaRPr lang="en-US" altLang="en-US" sz="1800" b="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接收int、float、</a:t>
                      </a:r>
                      <a:r>
                        <a:rPr lang="en-US" sz="1800" b="0" dirty="0">
                          <a:solidFill>
                            <a:srgbClr val="FF0000"/>
                          </a:solidFill>
                          <a:latin typeface="Times New Roman" panose="02020603050405020304" pitchFamily="18" charset="0"/>
                          <a:cs typeface="Times New Roman" panose="02020603050405020304" pitchFamily="18" charset="0"/>
                        </a:rPr>
                        <a:t>'mle'</a:t>
                      </a: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。表示降维后要保留的特征纬度数目</a:t>
                      </a:r>
                      <a:r>
                        <a:rPr lang="en-US" sz="1800" b="0" dirty="0">
                          <a:latin typeface="宋体" panose="02010600030101010101" pitchFamily="2" charset="-122"/>
                          <a:ea typeface="宋体" panose="02010600030101010101" pitchFamily="2" charset="-122"/>
                          <a:cs typeface="宋体" panose="02010600030101010101" pitchFamily="2" charset="-122"/>
                        </a:rPr>
                        <a:t>。若未指定参数值，则表示所有特征均会被保留下来；若传入为int型参数值，则表示将原始数据降低到</a:t>
                      </a:r>
                      <a:r>
                        <a:rPr lang="en-US" sz="1800" b="0" i="1" dirty="0">
                          <a:latin typeface="宋体" panose="02010600030101010101" pitchFamily="2" charset="-122"/>
                          <a:ea typeface="宋体" panose="02010600030101010101" pitchFamily="2" charset="-122"/>
                          <a:cs typeface="宋体" panose="02010600030101010101" pitchFamily="2" charset="-122"/>
                        </a:rPr>
                        <a:t>n</a:t>
                      </a:r>
                      <a:r>
                        <a:rPr lang="en-US" sz="1800" b="0" dirty="0">
                          <a:latin typeface="宋体" panose="02010600030101010101" pitchFamily="2" charset="-122"/>
                          <a:ea typeface="宋体" panose="02010600030101010101" pitchFamily="2" charset="-122"/>
                          <a:cs typeface="宋体" panose="02010600030101010101" pitchFamily="2" charset="-122"/>
                        </a:rPr>
                        <a:t>个维度；若传入为float型参数值，则将根据样本特征方差来决定降维后的维度数；若赋值为“mle”</a:t>
                      </a:r>
                      <a:r>
                        <a:rPr lang="en-US" sz="1800" b="0" dirty="0">
                          <a:latin typeface="Times New Roman" panose="02020603050405020304" pitchFamily="18" charset="0"/>
                          <a:cs typeface="Times New Roman" panose="02020603050405020304" pitchFamily="18" charset="0"/>
                        </a:rPr>
                        <a:t>，</a:t>
                      </a:r>
                      <a:r>
                        <a:rPr lang="en-US" sz="1800" b="0" dirty="0">
                          <a:latin typeface="宋体" panose="02010600030101010101" pitchFamily="2" charset="-122"/>
                          <a:ea typeface="宋体" panose="02010600030101010101" pitchFamily="2" charset="-122"/>
                          <a:cs typeface="宋体" panose="02010600030101010101" pitchFamily="2" charset="-122"/>
                        </a:rPr>
                        <a:t>则将会使用MLE算法来根据特征的方差分布情况自动选择一定数量的主成分特征来降维。默认为None</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874395">
                <a:tc>
                  <a:txBody>
                    <a:bodyPr/>
                    <a:lstStyle/>
                    <a:p>
                      <a:pPr indent="0">
                        <a:buNone/>
                      </a:pPr>
                      <a:r>
                        <a:rPr lang="en-US" sz="1800" b="0">
                          <a:latin typeface="Times New Roman" panose="02020603050405020304" pitchFamily="18" charset="0"/>
                          <a:cs typeface="Times New Roman" panose="02020603050405020304" pitchFamily="18" charset="0"/>
                        </a:rPr>
                        <a:t>copy</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a:latin typeface="宋体" panose="02010600030101010101" pitchFamily="2" charset="-122"/>
                          <a:ea typeface="宋体" panose="02010600030101010101" pitchFamily="2" charset="-122"/>
                          <a:cs typeface="宋体" panose="02010600030101010101" pitchFamily="2" charset="-122"/>
                        </a:rPr>
                        <a:t>接收bool。表示是否在运行算法时将原始训练数据进行复制。若为True，则运行算法后原始训练数据的值不会有任何改变；若为False，则运行算法后原始训练数据的值将会发生改变。默认为True</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443865">
                <a:tc>
                  <a:txBody>
                    <a:bodyPr/>
                    <a:lstStyle/>
                    <a:p>
                      <a:pPr indent="0">
                        <a:buNone/>
                      </a:pPr>
                      <a:r>
                        <a:rPr lang="en-US" sz="1800" b="0">
                          <a:latin typeface="Times New Roman" panose="02020603050405020304" pitchFamily="18" charset="0"/>
                          <a:cs typeface="Times New Roman" panose="02020603050405020304" pitchFamily="18" charset="0"/>
                        </a:rPr>
                        <a:t>whiten</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接收bool。表示对降维后的特征进行标准化处理，使得具有相同的方差。</a:t>
                      </a:r>
                      <a:r>
                        <a:rPr lang="en-US" sz="1800" b="0">
                          <a:latin typeface="Times New Roman" panose="02020603050405020304" pitchFamily="18" charset="0"/>
                          <a:cs typeface="Times New Roman" panose="02020603050405020304" pitchFamily="18" charset="0"/>
                        </a:rPr>
                        <a:t>默认</a:t>
                      </a:r>
                      <a:r>
                        <a:rPr lang="en-US" sz="1800" b="0">
                          <a:latin typeface="宋体" panose="02010600030101010101" pitchFamily="2" charset="-122"/>
                          <a:ea typeface="宋体" panose="02010600030101010101" pitchFamily="2" charset="-122"/>
                          <a:cs typeface="宋体" panose="02010600030101010101" pitchFamily="2" charset="-122"/>
                        </a:rPr>
                        <a:t>为False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47040">
                <a:tc>
                  <a:txBody>
                    <a:bodyPr/>
                    <a:lstStyle/>
                    <a:p>
                      <a:pPr indent="0">
                        <a:buNone/>
                      </a:pPr>
                      <a:r>
                        <a:rPr lang="en-US" sz="1800" b="0">
                          <a:latin typeface="Times New Roman" panose="02020603050405020304" pitchFamily="18" charset="0"/>
                          <a:cs typeface="Times New Roman" panose="02020603050405020304" pitchFamily="18" charset="0"/>
                        </a:rPr>
                        <a:t>svd_solver</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a:latin typeface="宋体" panose="02010600030101010101" pitchFamily="2" charset="-122"/>
                          <a:ea typeface="宋体" panose="02010600030101010101" pitchFamily="2" charset="-122"/>
                          <a:cs typeface="宋体" panose="02010600030101010101" pitchFamily="2" charset="-122"/>
                        </a:rPr>
                        <a:t>接收str。表示使用的SVD算法，可选randomized、full、arpack、auto</a:t>
                      </a:r>
                      <a:r>
                        <a:rPr lang="en-US" sz="1800" b="0" dirty="0">
                          <a:latin typeface="Times New Roman" panose="02020603050405020304" pitchFamily="18" charset="0"/>
                          <a:cs typeface="Times New Roman" panose="02020603050405020304" pitchFamily="18" charset="0"/>
                        </a:rPr>
                        <a:t>。randomized一般适用于数据量大，数据维度多</a:t>
                      </a:r>
                      <a:r>
                        <a:rPr lang="en-US" sz="1800" b="0" dirty="0">
                          <a:latin typeface="宋体" panose="02010600030101010101" pitchFamily="2" charset="-122"/>
                          <a:ea typeface="宋体" panose="02010600030101010101" pitchFamily="2" charset="-122"/>
                          <a:cs typeface="宋体" panose="02010600030101010101" pitchFamily="2" charset="-122"/>
                        </a:rPr>
                        <a:t>，</a:t>
                      </a:r>
                      <a:r>
                        <a:rPr lang="en-US" sz="1800" b="0" dirty="0">
                          <a:latin typeface="Times New Roman" panose="02020603050405020304" pitchFamily="18" charset="0"/>
                          <a:cs typeface="Times New Roman" panose="02020603050405020304" pitchFamily="18" charset="0"/>
                        </a:rPr>
                        <a:t>同时主成分数目比例又较低的PCA降维。full是使用SciPy库实现</a:t>
                      </a:r>
                      <a:r>
                        <a:rPr lang="en-US" sz="1800" b="0" dirty="0">
                          <a:latin typeface="宋体" panose="02010600030101010101" pitchFamily="2" charset="-122"/>
                          <a:ea typeface="宋体" panose="02010600030101010101" pitchFamily="2" charset="-122"/>
                          <a:cs typeface="宋体" panose="02010600030101010101" pitchFamily="2" charset="-122"/>
                        </a:rPr>
                        <a:t>的</a:t>
                      </a:r>
                      <a:r>
                        <a:rPr lang="en-US" sz="1800" b="0" dirty="0">
                          <a:latin typeface="Times New Roman" panose="02020603050405020304" pitchFamily="18" charset="0"/>
                          <a:cs typeface="Times New Roman" panose="02020603050405020304" pitchFamily="18" charset="0"/>
                        </a:rPr>
                        <a:t>传统SVD</a:t>
                      </a:r>
                      <a:r>
                        <a:rPr lang="en-US" sz="1800" b="0" dirty="0">
                          <a:latin typeface="宋体" panose="02010600030101010101" pitchFamily="2" charset="-122"/>
                          <a:ea typeface="宋体" panose="02010600030101010101" pitchFamily="2" charset="-122"/>
                          <a:cs typeface="宋体" panose="02010600030101010101" pitchFamily="2" charset="-122"/>
                        </a:rPr>
                        <a:t>算法</a:t>
                      </a:r>
                      <a:r>
                        <a:rPr lang="en-US" sz="1800" b="0" dirty="0">
                          <a:latin typeface="Times New Roman" panose="02020603050405020304" pitchFamily="18" charset="0"/>
                          <a:cs typeface="Times New Roman" panose="02020603050405020304" pitchFamily="18" charset="0"/>
                        </a:rPr>
                        <a:t>。arpack和randomized的适用场景类似，区别</a:t>
                      </a:r>
                      <a:r>
                        <a:rPr lang="en-US" sz="1800" b="0" dirty="0">
                          <a:latin typeface="宋体" panose="02010600030101010101" pitchFamily="2" charset="-122"/>
                          <a:ea typeface="宋体" panose="02010600030101010101" pitchFamily="2" charset="-122"/>
                          <a:cs typeface="宋体" panose="02010600030101010101" pitchFamily="2" charset="-122"/>
                        </a:rPr>
                        <a:t>在于，</a:t>
                      </a:r>
                      <a:r>
                        <a:rPr lang="en-US" sz="1800" b="0" dirty="0">
                          <a:latin typeface="Times New Roman" panose="02020603050405020304" pitchFamily="18" charset="0"/>
                          <a:cs typeface="Times New Roman" panose="02020603050405020304" pitchFamily="18" charset="0"/>
                        </a:rPr>
                        <a:t>randomized使用的是</a:t>
                      </a:r>
                      <a:r>
                        <a:rPr lang="en-US" sz="1800" b="0" dirty="0">
                          <a:latin typeface="宋体" panose="02010600030101010101" pitchFamily="2" charset="-122"/>
                          <a:ea typeface="宋体" panose="02010600030101010101" pitchFamily="2" charset="-122"/>
                          <a:cs typeface="宋体" panose="02010600030101010101" pitchFamily="2" charset="-122"/>
                        </a:rPr>
                        <a:t>sklearn</a:t>
                      </a:r>
                      <a:r>
                        <a:rPr lang="en-US" sz="1800" b="0" dirty="0">
                          <a:latin typeface="Times New Roman" panose="02020603050405020304" pitchFamily="18" charset="0"/>
                          <a:cs typeface="Times New Roman" panose="02020603050405020304" pitchFamily="18" charset="0"/>
                        </a:rPr>
                        <a:t>自己的SVD实现，而arpack直接使用了SciPy库的sparse SVD实现。auto</a:t>
                      </a:r>
                      <a:r>
                        <a:rPr lang="en-US" sz="1800" b="0" dirty="0">
                          <a:latin typeface="宋体" panose="02010600030101010101" pitchFamily="2" charset="-122"/>
                          <a:ea typeface="宋体" panose="02010600030101010101" pitchFamily="2" charset="-122"/>
                          <a:cs typeface="宋体" panose="02010600030101010101" pitchFamily="2" charset="-122"/>
                        </a:rPr>
                        <a:t>则代表</a:t>
                      </a:r>
                      <a:r>
                        <a:rPr lang="en-US" sz="1800" b="0" dirty="0">
                          <a:latin typeface="Times New Roman" panose="02020603050405020304" pitchFamily="18" charset="0"/>
                          <a:cs typeface="Times New Roman" panose="02020603050405020304" pitchFamily="18" charset="0"/>
                        </a:rPr>
                        <a:t>PCA类会</a:t>
                      </a:r>
                      <a:r>
                        <a:rPr lang="en-US" sz="1800" b="0" dirty="0">
                          <a:latin typeface="宋体" panose="02010600030101010101" pitchFamily="2" charset="-122"/>
                          <a:ea typeface="宋体" panose="02010600030101010101" pitchFamily="2" charset="-122"/>
                          <a:cs typeface="宋体" panose="02010600030101010101" pitchFamily="2" charset="-122"/>
                        </a:rPr>
                        <a:t>自动</a:t>
                      </a:r>
                      <a:r>
                        <a:rPr lang="en-US" sz="1800" b="0" dirty="0">
                          <a:latin typeface="Times New Roman" panose="02020603050405020304" pitchFamily="18" charset="0"/>
                          <a:cs typeface="Times New Roman" panose="02020603050405020304" pitchFamily="18" charset="0"/>
                        </a:rPr>
                        <a:t>在</a:t>
                      </a:r>
                      <a:r>
                        <a:rPr lang="en-US" sz="1800" b="0" dirty="0">
                          <a:latin typeface="宋体" panose="02010600030101010101" pitchFamily="2" charset="-122"/>
                          <a:ea typeface="宋体" panose="02010600030101010101" pitchFamily="2" charset="-122"/>
                          <a:cs typeface="宋体" panose="02010600030101010101" pitchFamily="2" charset="-122"/>
                        </a:rPr>
                        <a:t>上述3</a:t>
                      </a:r>
                      <a:r>
                        <a:rPr lang="en-US" sz="1800" b="0" dirty="0">
                          <a:latin typeface="Times New Roman" panose="02020603050405020304" pitchFamily="18" charset="0"/>
                          <a:cs typeface="Times New Roman" panose="02020603050405020304" pitchFamily="18" charset="0"/>
                        </a:rPr>
                        <a:t>种算法</a:t>
                      </a:r>
                      <a:r>
                        <a:rPr lang="en-US" sz="1800" b="0" dirty="0">
                          <a:latin typeface="宋体" panose="02010600030101010101" pitchFamily="2" charset="-122"/>
                          <a:ea typeface="宋体" panose="02010600030101010101" pitchFamily="2" charset="-122"/>
                          <a:cs typeface="宋体" panose="02010600030101010101" pitchFamily="2" charset="-122"/>
                        </a:rPr>
                        <a:t>中</a:t>
                      </a:r>
                      <a:r>
                        <a:rPr lang="en-US" sz="1800" b="0" dirty="0">
                          <a:latin typeface="Times New Roman" panose="02020603050405020304" pitchFamily="18" charset="0"/>
                          <a:cs typeface="Times New Roman" panose="02020603050405020304" pitchFamily="18" charset="0"/>
                        </a:rPr>
                        <a:t>去权衡，选择一个合适的SVD算法来降维</a:t>
                      </a:r>
                      <a:r>
                        <a:rPr lang="en-US" sz="1800" b="0" dirty="0">
                          <a:latin typeface="宋体" panose="02010600030101010101" pitchFamily="2" charset="-122"/>
                          <a:ea typeface="宋体" panose="02010600030101010101" pitchFamily="2" charset="-122"/>
                          <a:cs typeface="宋体" panose="02010600030101010101" pitchFamily="2" charset="-122"/>
                        </a:rPr>
                        <a:t>。默认为auto</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3" name="矩形 2"/>
          <p:cNvSpPr/>
          <p:nvPr/>
        </p:nvSpPr>
        <p:spPr>
          <a:xfrm>
            <a:off x="637309" y="1360714"/>
            <a:ext cx="6096000" cy="3970318"/>
          </a:xfrm>
          <a:prstGeom prst="rect">
            <a:avLst/>
          </a:prstGeom>
        </p:spPr>
        <p:txBody>
          <a:bodyPr>
            <a:spAutoFit/>
          </a:bodyPr>
          <a:lstStyle/>
          <a:p>
            <a:r>
              <a:rPr lang="en-US" altLang="zh-CN" dirty="0"/>
              <a:t>from </a:t>
            </a:r>
            <a:r>
              <a:rPr lang="en-US" altLang="zh-CN" dirty="0" err="1"/>
              <a:t>sklearn.decomposition</a:t>
            </a:r>
            <a:r>
              <a:rPr lang="en-US" altLang="zh-CN" dirty="0"/>
              <a:t> import PCA</a:t>
            </a:r>
          </a:p>
          <a:p>
            <a:r>
              <a:rPr lang="en-US" altLang="zh-CN" dirty="0" err="1"/>
              <a:t>pca_model</a:t>
            </a:r>
            <a:r>
              <a:rPr lang="en-US" altLang="zh-CN" dirty="0"/>
              <a:t> = PCA(</a:t>
            </a:r>
            <a:r>
              <a:rPr lang="en-US" altLang="zh-CN" dirty="0" err="1"/>
              <a:t>n_components</a:t>
            </a:r>
            <a:r>
              <a:rPr lang="en-US" altLang="zh-CN" dirty="0"/>
              <a:t>=8).fit(</a:t>
            </a:r>
            <a:r>
              <a:rPr lang="en-US" altLang="zh-CN" dirty="0" err="1"/>
              <a:t>diabetes_trainScaler</a:t>
            </a:r>
            <a:r>
              <a:rPr lang="en-US" altLang="zh-CN" dirty="0"/>
              <a:t>) </a:t>
            </a:r>
          </a:p>
          <a:p>
            <a:r>
              <a:rPr lang="en-US" altLang="zh-CN" dirty="0"/>
              <a:t># </a:t>
            </a:r>
            <a:r>
              <a:rPr lang="zh-CN" altLang="en-US" dirty="0"/>
              <a:t>将规则应用于训练集</a:t>
            </a:r>
          </a:p>
          <a:p>
            <a:r>
              <a:rPr lang="en-US" altLang="zh-CN" dirty="0" err="1"/>
              <a:t>diabetes_trainPca</a:t>
            </a:r>
            <a:r>
              <a:rPr lang="en-US" altLang="zh-CN" dirty="0"/>
              <a:t> = </a:t>
            </a:r>
            <a:r>
              <a:rPr lang="en-US" altLang="zh-CN" dirty="0" err="1"/>
              <a:t>pca_model.transform</a:t>
            </a:r>
            <a:r>
              <a:rPr lang="en-US" altLang="zh-CN" dirty="0"/>
              <a:t>(</a:t>
            </a:r>
            <a:r>
              <a:rPr lang="en-US" altLang="zh-CN" dirty="0" err="1"/>
              <a:t>diabetes_trainScaler</a:t>
            </a:r>
            <a:r>
              <a:rPr lang="en-US" altLang="zh-CN" dirty="0"/>
              <a:t>) </a:t>
            </a:r>
          </a:p>
          <a:p>
            <a:r>
              <a:rPr lang="en-US" altLang="zh-CN" dirty="0"/>
              <a:t># </a:t>
            </a:r>
            <a:r>
              <a:rPr lang="zh-CN" altLang="en-US" dirty="0"/>
              <a:t>将规则应用于测试集</a:t>
            </a:r>
          </a:p>
          <a:p>
            <a:r>
              <a:rPr lang="en-US" altLang="zh-CN" dirty="0" err="1"/>
              <a:t>diabetes_testPca</a:t>
            </a:r>
            <a:r>
              <a:rPr lang="en-US" altLang="zh-CN" dirty="0"/>
              <a:t> = </a:t>
            </a:r>
            <a:r>
              <a:rPr lang="en-US" altLang="zh-CN" dirty="0" err="1"/>
              <a:t>pca_model.transform</a:t>
            </a:r>
            <a:r>
              <a:rPr lang="en-US" altLang="zh-CN" dirty="0"/>
              <a:t>(</a:t>
            </a:r>
            <a:r>
              <a:rPr lang="en-US" altLang="zh-CN" dirty="0" err="1"/>
              <a:t>diabetes_testScaler</a:t>
            </a:r>
            <a:r>
              <a:rPr lang="en-US" altLang="zh-CN" dirty="0"/>
              <a:t>) </a:t>
            </a:r>
          </a:p>
          <a:p>
            <a:r>
              <a:rPr lang="en-US" altLang="zh-CN" dirty="0"/>
              <a:t>print('PCA</a:t>
            </a:r>
            <a:r>
              <a:rPr lang="zh-CN" altLang="en-US" dirty="0"/>
              <a:t>降维前训练集数据的形状为：</a:t>
            </a:r>
            <a:r>
              <a:rPr lang="en-US" altLang="zh-CN" dirty="0"/>
              <a:t>', </a:t>
            </a:r>
            <a:r>
              <a:rPr lang="en-US" altLang="zh-CN" dirty="0" err="1"/>
              <a:t>diabetes_trainScaler.shape</a:t>
            </a:r>
            <a:r>
              <a:rPr lang="en-US" altLang="zh-CN" dirty="0"/>
              <a:t>)</a:t>
            </a:r>
          </a:p>
          <a:p>
            <a:r>
              <a:rPr lang="en-US" altLang="zh-CN" dirty="0"/>
              <a:t>print('PCA</a:t>
            </a:r>
            <a:r>
              <a:rPr lang="zh-CN" altLang="en-US" dirty="0"/>
              <a:t>降维后训练集数据的形状为：</a:t>
            </a:r>
            <a:r>
              <a:rPr lang="en-US" altLang="zh-CN" dirty="0"/>
              <a:t>', </a:t>
            </a:r>
            <a:r>
              <a:rPr lang="en-US" altLang="zh-CN" dirty="0" err="1"/>
              <a:t>diabetes_trainPca.shape</a:t>
            </a:r>
            <a:r>
              <a:rPr lang="en-US" altLang="zh-CN" dirty="0"/>
              <a:t>)</a:t>
            </a:r>
          </a:p>
          <a:p>
            <a:r>
              <a:rPr lang="en-US" altLang="zh-CN" dirty="0"/>
              <a:t>print('PCA</a:t>
            </a:r>
            <a:r>
              <a:rPr lang="zh-CN" altLang="en-US" dirty="0"/>
              <a:t>降维前测试集数据的形状为：</a:t>
            </a:r>
            <a:r>
              <a:rPr lang="en-US" altLang="zh-CN" dirty="0"/>
              <a:t>', </a:t>
            </a:r>
            <a:r>
              <a:rPr lang="en-US" altLang="zh-CN" dirty="0" err="1"/>
              <a:t>diabetes_testScaler.shape</a:t>
            </a:r>
            <a:r>
              <a:rPr lang="en-US" altLang="zh-CN" dirty="0"/>
              <a:t>)</a:t>
            </a:r>
          </a:p>
          <a:p>
            <a:r>
              <a:rPr lang="en-US" altLang="zh-CN" dirty="0"/>
              <a:t>print('PCA</a:t>
            </a:r>
            <a:r>
              <a:rPr lang="zh-CN" altLang="en-US" dirty="0"/>
              <a:t>降维后测试集数据的形状为：</a:t>
            </a:r>
            <a:r>
              <a:rPr lang="en-US" altLang="zh-CN" dirty="0"/>
              <a:t>', </a:t>
            </a:r>
            <a:r>
              <a:rPr lang="en-US" altLang="zh-CN" dirty="0" err="1"/>
              <a:t>diabetes_testPca.shape</a:t>
            </a:r>
            <a:r>
              <a:rPr lang="en-US" altLang="zh-CN" dirty="0"/>
              <a:t>)</a:t>
            </a:r>
            <a:endParaRPr lang="zh-CN" altLang="en-US" dirty="0"/>
          </a:p>
        </p:txBody>
      </p:sp>
      <p:pic>
        <p:nvPicPr>
          <p:cNvPr id="6" name="图片 5"/>
          <p:cNvPicPr>
            <a:picLocks noChangeAspect="1"/>
          </p:cNvPicPr>
          <p:nvPr/>
        </p:nvPicPr>
        <p:blipFill>
          <a:blip r:embed="rId2"/>
          <a:stretch>
            <a:fillRect/>
          </a:stretch>
        </p:blipFill>
        <p:spPr>
          <a:xfrm>
            <a:off x="6821675" y="2218949"/>
            <a:ext cx="5124153" cy="1567959"/>
          </a:xfrm>
          <a:prstGeom prst="rect">
            <a:avLst/>
          </a:prstGeom>
        </p:spPr>
      </p:pic>
    </p:spTree>
    <p:extLst>
      <p:ext uri="{BB962C8B-B14F-4D97-AF65-F5344CB8AC3E}">
        <p14:creationId xmlns:p14="http://schemas.microsoft.com/office/powerpoint/2010/main" val="21939812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2800" dirty="0">
                <a:latin typeface="Times New Roman" panose="02020603050405020304" pitchFamily="18" charset="0"/>
              </a:rPr>
              <a:t>目录</a:t>
            </a:r>
          </a:p>
        </p:txBody>
      </p:sp>
      <p:cxnSp>
        <p:nvCxnSpPr>
          <p:cNvPr id="11" name="直接连接符 6"/>
          <p:cNvCxnSpPr/>
          <p:nvPr/>
        </p:nvCxnSpPr>
        <p:spPr>
          <a:xfrm>
            <a:off x="3264947" y="1348062"/>
            <a:ext cx="5910" cy="4354238"/>
          </a:xfrm>
          <a:prstGeom prst="line">
            <a:avLst/>
          </a:prstGeom>
        </p:spPr>
        <p:style>
          <a:lnRef idx="2">
            <a:schemeClr val="dk1"/>
          </a:lnRef>
          <a:fillRef idx="0">
            <a:schemeClr val="dk1"/>
          </a:fillRef>
          <a:effectRef idx="1">
            <a:schemeClr val="dk1"/>
          </a:effectRef>
          <a:fontRef idx="minor">
            <a:schemeClr val="tx1"/>
          </a:fontRef>
        </p:style>
      </p:cxnSp>
      <p:sp>
        <p:nvSpPr>
          <p:cNvPr id="12" name="Line 2"/>
          <p:cNvSpPr>
            <a:spLocks noChangeShapeType="1"/>
          </p:cNvSpPr>
          <p:nvPr/>
        </p:nvSpPr>
        <p:spPr bwMode="auto">
          <a:xfrm>
            <a:off x="2649786" y="2947315"/>
            <a:ext cx="6604980" cy="0"/>
          </a:xfrm>
          <a:prstGeom prst="line">
            <a:avLst/>
          </a:prstGeom>
        </p:spPr>
        <p:style>
          <a:lnRef idx="2">
            <a:schemeClr val="dk1"/>
          </a:lnRef>
          <a:fillRef idx="0">
            <a:schemeClr val="dk1"/>
          </a:fillRef>
          <a:effectRef idx="1">
            <a:schemeClr val="dk1"/>
          </a:effectRef>
          <a:fontRef idx="minor">
            <a:schemeClr val="tx1"/>
          </a:fontRef>
        </p:style>
        <p:txBody>
          <a:bodyPr/>
          <a:lstStyle/>
          <a:p>
            <a:pPr algn="ctr">
              <a:defRPr/>
            </a:pPr>
            <a:endParaRPr lang="zh-CN" altLang="en-US" sz="2000" b="1" kern="0">
              <a:solidFill>
                <a:sysClr val="windowText" lastClr="000000"/>
              </a:solidFill>
              <a:latin typeface="Times New Roman" panose="02020603050405020304" pitchFamily="18" charset="0"/>
              <a:ea typeface="宋体" panose="02010600030101010101" pitchFamily="2" charset="-122"/>
            </a:endParaRPr>
          </a:p>
        </p:txBody>
      </p:sp>
      <p:sp>
        <p:nvSpPr>
          <p:cNvPr id="17" name="Oval 15"/>
          <p:cNvSpPr>
            <a:spLocks noChangeArrowheads="1"/>
          </p:cNvSpPr>
          <p:nvPr/>
        </p:nvSpPr>
        <p:spPr bwMode="auto">
          <a:xfrm>
            <a:off x="2904947" y="165174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zh-CN" altLang="zh-CN" sz="2400" b="1" dirty="0">
                <a:solidFill>
                  <a:schemeClr val="bg1"/>
                </a:solidFill>
                <a:latin typeface="Times New Roman" panose="02020603050405020304" pitchFamily="18" charset="0"/>
              </a:rPr>
              <a:t>1</a:t>
            </a:r>
            <a:endParaRPr lang="en-US" altLang="zh-CN" sz="2400" b="1" dirty="0">
              <a:solidFill>
                <a:schemeClr val="bg1"/>
              </a:solidFill>
              <a:latin typeface="Times New Roman" panose="02020603050405020304" pitchFamily="18" charset="0"/>
            </a:endParaRPr>
          </a:p>
        </p:txBody>
      </p:sp>
      <p:sp>
        <p:nvSpPr>
          <p:cNvPr id="24" name="AutoShape 17"/>
          <p:cNvSpPr>
            <a:spLocks noChangeArrowheads="1"/>
          </p:cNvSpPr>
          <p:nvPr/>
        </p:nvSpPr>
        <p:spPr bwMode="auto">
          <a:xfrm>
            <a:off x="4000531" y="2608672"/>
            <a:ext cx="4859850" cy="684000"/>
          </a:xfrm>
          <a:prstGeom prst="actionButtonBlank">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构建并评价聚类模型</a:t>
            </a:r>
          </a:p>
        </p:txBody>
      </p:sp>
      <p:sp>
        <p:nvSpPr>
          <p:cNvPr id="25" name="AutoShape 17"/>
          <p:cNvSpPr>
            <a:spLocks noChangeArrowheads="1"/>
          </p:cNvSpPr>
          <p:nvPr/>
        </p:nvSpPr>
        <p:spPr bwMode="auto">
          <a:xfrm>
            <a:off x="4000531" y="157974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solidFill>
                  <a:schemeClr val="bg1"/>
                </a:solidFill>
                <a:latin typeface="Times New Roman" panose="02020603050405020304" pitchFamily="18" charset="0"/>
                <a:ea typeface="宋体" panose="02010600030101010101" pitchFamily="2" charset="-122"/>
              </a:rPr>
              <a:t>使用</a:t>
            </a:r>
            <a:r>
              <a:rPr lang="en-US" altLang="zh-CN" sz="2400" b="1" dirty="0">
                <a:solidFill>
                  <a:schemeClr val="bg1"/>
                </a:solidFill>
                <a:latin typeface="Times New Roman" panose="02020603050405020304" pitchFamily="18" charset="0"/>
                <a:ea typeface="宋体" panose="02010600030101010101" pitchFamily="2" charset="-122"/>
              </a:rPr>
              <a:t>sklearn</a:t>
            </a:r>
            <a:r>
              <a:rPr lang="zh-CN" altLang="en-US" sz="2400" b="1" dirty="0">
                <a:solidFill>
                  <a:schemeClr val="bg1"/>
                </a:solidFill>
                <a:latin typeface="Times New Roman" panose="02020603050405020304" pitchFamily="18" charset="0"/>
                <a:ea typeface="宋体" panose="02010600030101010101" pitchFamily="2" charset="-122"/>
              </a:rPr>
              <a:t>转换器处理数据</a:t>
            </a:r>
          </a:p>
        </p:txBody>
      </p:sp>
      <p:sp>
        <p:nvSpPr>
          <p:cNvPr id="26" name="Oval 15"/>
          <p:cNvSpPr>
            <a:spLocks noChangeArrowheads="1"/>
          </p:cNvSpPr>
          <p:nvPr/>
        </p:nvSpPr>
        <p:spPr bwMode="auto">
          <a:xfrm>
            <a:off x="2928857" y="2626672"/>
            <a:ext cx="684000" cy="648000"/>
          </a:xfrm>
          <a:prstGeom prst="ellipse">
            <a:avLst/>
          </a:prstGeom>
          <a:solidFill>
            <a:srgbClr val="FB9708"/>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2</a:t>
            </a:r>
          </a:p>
        </p:txBody>
      </p:sp>
      <p:sp>
        <p:nvSpPr>
          <p:cNvPr id="27" name="AutoShape 17"/>
          <p:cNvSpPr>
            <a:spLocks noChangeArrowheads="1"/>
          </p:cNvSpPr>
          <p:nvPr/>
        </p:nvSpPr>
        <p:spPr bwMode="auto">
          <a:xfrm>
            <a:off x="4012450" y="3660873"/>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构建并评价分类模型</a:t>
            </a:r>
          </a:p>
        </p:txBody>
      </p:sp>
      <p:sp>
        <p:nvSpPr>
          <p:cNvPr id="30" name="Oval 15"/>
          <p:cNvSpPr>
            <a:spLocks noChangeArrowheads="1"/>
          </p:cNvSpPr>
          <p:nvPr/>
        </p:nvSpPr>
        <p:spPr bwMode="auto">
          <a:xfrm>
            <a:off x="2928857" y="3678873"/>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3</a:t>
            </a:r>
          </a:p>
        </p:txBody>
      </p:sp>
      <p:sp>
        <p:nvSpPr>
          <p:cNvPr id="31" name="AutoShape 17"/>
          <p:cNvSpPr>
            <a:spLocks noChangeArrowheads="1"/>
          </p:cNvSpPr>
          <p:nvPr/>
        </p:nvSpPr>
        <p:spPr bwMode="auto">
          <a:xfrm>
            <a:off x="4012450" y="4715497"/>
            <a:ext cx="4859850" cy="684000"/>
          </a:xfrm>
          <a:prstGeom prst="actionButtonBlank">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p>
            <a:pPr algn="ctr">
              <a:defRPr/>
            </a:pPr>
            <a:r>
              <a:rPr lang="zh-CN" altLang="en-US" sz="2400" b="1" dirty="0">
                <a:latin typeface="Times New Roman" panose="02020603050405020304" pitchFamily="18" charset="0"/>
                <a:ea typeface="宋体" panose="02010600030101010101" pitchFamily="2" charset="-122"/>
              </a:rPr>
              <a:t>构建并评价回归模型</a:t>
            </a:r>
          </a:p>
        </p:txBody>
      </p:sp>
      <p:sp>
        <p:nvSpPr>
          <p:cNvPr id="32" name="Oval 15"/>
          <p:cNvSpPr>
            <a:spLocks noChangeArrowheads="1"/>
          </p:cNvSpPr>
          <p:nvPr/>
        </p:nvSpPr>
        <p:spPr bwMode="auto">
          <a:xfrm>
            <a:off x="2904947" y="4733497"/>
            <a:ext cx="684000" cy="648000"/>
          </a:xfrm>
          <a:prstGeom prst="ellipse">
            <a:avLst/>
          </a:prstGeom>
          <a:solidFill>
            <a:srgbClr val="064BB2"/>
          </a:solidFill>
          <a:ln>
            <a:solidFill>
              <a:schemeClr val="bg1"/>
            </a:solidFill>
          </a:ln>
          <a:scene3d>
            <a:camera prst="orthographicFront">
              <a:rot lat="0" lon="0" rev="0"/>
            </a:camera>
            <a:lightRig rig="threePt" dir="t">
              <a:rot lat="0" lon="0" rev="1200000"/>
            </a:lightRig>
          </a:scene3d>
        </p:spPr>
        <p:style>
          <a:lnRef idx="0">
            <a:schemeClr val="dk1"/>
          </a:lnRef>
          <a:fillRef idx="3">
            <a:schemeClr val="dk1"/>
          </a:fillRef>
          <a:effectRef idx="3">
            <a:schemeClr val="dk1"/>
          </a:effectRef>
          <a:fontRef idx="minor">
            <a:schemeClr val="lt1"/>
          </a:fontRef>
        </p:style>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eaLnBrk="1" hangingPunct="1">
              <a:defRPr/>
            </a:pPr>
            <a:r>
              <a:rPr lang="en-US" altLang="zh-CN" sz="2400" b="1" dirty="0">
                <a:solidFill>
                  <a:schemeClr val="bg1"/>
                </a:solidFill>
                <a:latin typeface="Times New Roman" panose="02020603050405020304" pitchFamily="18" charset="0"/>
              </a:rPr>
              <a:t>4</a:t>
            </a:r>
          </a:p>
        </p:txBody>
      </p:sp>
    </p:spTree>
  </p:cSld>
  <p:clrMapOvr>
    <a:masterClrMapping/>
  </p:clrMapOvr>
  <mc:AlternateContent xmlns:mc="http://schemas.openxmlformats.org/markup-compatibility/2006" xmlns:p14="http://schemas.microsoft.com/office/powerpoint/2010/main">
    <mc:Choice Requires="p14">
      <p:transition spd="slow">
        <p:wipe/>
      </p:transition>
    </mc:Choice>
    <mc:Fallback xmlns="">
      <p:transition spd="slow">
        <p:wip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使用sklearn估计器构建聚类模型</a:t>
            </a:r>
          </a:p>
        </p:txBody>
      </p:sp>
      <p:sp>
        <p:nvSpPr>
          <p:cNvPr id="8" name="内容占位符 7"/>
          <p:cNvSpPr>
            <a:spLocks noGrp="1"/>
          </p:cNvSpPr>
          <p:nvPr>
            <p:ph idx="1"/>
          </p:nvPr>
        </p:nvSpPr>
        <p:spPr>
          <a:xfrm>
            <a:off x="440690" y="887095"/>
            <a:ext cx="11107420" cy="509143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聚类的输入是一组</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未被标记的样本</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，聚类根据数据自身的距离或相似度将它们划分为若干组，</a:t>
            </a:r>
            <a:r>
              <a:rPr lang="zh-CN" altLang="zh-CN" sz="1800"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划分的原则是组内（内部）距离最小化，而组间（外部）距离最大化</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，如图所示。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2" name="对象 -2147482624"/>
          <p:cNvGraphicFramePr>
            <a:graphicFrameLocks noChangeAspect="1"/>
          </p:cNvGraphicFramePr>
          <p:nvPr/>
        </p:nvGraphicFramePr>
        <p:xfrm>
          <a:off x="1823720" y="2106930"/>
          <a:ext cx="7833995" cy="3961765"/>
        </p:xfrm>
        <a:graphic>
          <a:graphicData uri="http://schemas.openxmlformats.org/presentationml/2006/ole">
            <mc:AlternateContent xmlns:mc="http://schemas.openxmlformats.org/markup-compatibility/2006">
              <mc:Choice xmlns:v="urn:schemas-microsoft-com:vml" Requires="v">
                <p:oleObj r:id="rId2" imgW="3696335" imgH="1861185" progId="Visio.Drawing.15">
                  <p:embed/>
                </p:oleObj>
              </mc:Choice>
              <mc:Fallback>
                <p:oleObj r:id="rId2" imgW="3696335" imgH="1861185" progId="Visio.Drawing.15">
                  <p:embed/>
                  <p:pic>
                    <p:nvPicPr>
                      <p:cNvPr id="2" name="对象 -2147482624"/>
                      <p:cNvPicPr/>
                      <p:nvPr/>
                    </p:nvPicPr>
                    <p:blipFill>
                      <a:blip r:embed="rId3"/>
                      <a:stretch>
                        <a:fillRect/>
                      </a:stretch>
                    </p:blipFill>
                    <p:spPr>
                      <a:xfrm>
                        <a:off x="1823720" y="2106930"/>
                        <a:ext cx="7833995" cy="3961765"/>
                      </a:xfrm>
                      <a:prstGeom prst="rect">
                        <a:avLst/>
                      </a:prstGeom>
                      <a:noFill/>
                      <a:ln w="38100">
                        <a:no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sp>
        <p:nvSpPr>
          <p:cNvPr id="8" name="内容占位符 7"/>
          <p:cNvSpPr>
            <a:spLocks noGrp="1"/>
          </p:cNvSpPr>
          <p:nvPr>
            <p:ph idx="1"/>
          </p:nvPr>
        </p:nvSpPr>
        <p:spPr>
          <a:xfrm>
            <a:off x="440690" y="1003300"/>
            <a:ext cx="11107420" cy="509143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常用的聚类算法及其类别如下表所示。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p:nvPr>
            <p:custDataLst>
              <p:tags r:id="rId1"/>
            </p:custDataLst>
            <p:extLst>
              <p:ext uri="{D42A27DB-BD31-4B8C-83A1-F6EECF244321}">
                <p14:modId xmlns:p14="http://schemas.microsoft.com/office/powerpoint/2010/main" val="1529922626"/>
              </p:ext>
            </p:extLst>
          </p:nvPr>
        </p:nvGraphicFramePr>
        <p:xfrm>
          <a:off x="1208134" y="1625964"/>
          <a:ext cx="9572625" cy="3605530"/>
        </p:xfrm>
        <a:graphic>
          <a:graphicData uri="http://schemas.openxmlformats.org/drawingml/2006/table">
            <a:tbl>
              <a:tblPr firstRow="1" bandRow="1">
                <a:tableStyleId>{5C22544A-7EE6-4342-B048-85BDC9FD1C3A}</a:tableStyleId>
              </a:tblPr>
              <a:tblGrid>
                <a:gridCol w="2120900">
                  <a:extLst>
                    <a:ext uri="{9D8B030D-6E8A-4147-A177-3AD203B41FA5}">
                      <a16:colId xmlns:a16="http://schemas.microsoft.com/office/drawing/2014/main" val="20000"/>
                    </a:ext>
                  </a:extLst>
                </a:gridCol>
                <a:gridCol w="7451725">
                  <a:extLst>
                    <a:ext uri="{9D8B030D-6E8A-4147-A177-3AD203B41FA5}">
                      <a16:colId xmlns:a16="http://schemas.microsoft.com/office/drawing/2014/main" val="20001"/>
                    </a:ext>
                  </a:extLst>
                </a:gridCol>
              </a:tblGrid>
              <a:tr h="481330">
                <a:tc>
                  <a:txBody>
                    <a:bodyPr/>
                    <a:lstStyle/>
                    <a:p>
                      <a:pPr algn="ctr">
                        <a:buNone/>
                      </a:pPr>
                      <a:r>
                        <a:rPr lang="zh-CN" altLang="en-US" sz="1800"/>
                        <a:t>算法类别</a:t>
                      </a:r>
                    </a:p>
                  </a:txBody>
                  <a:tcPr/>
                </a:tc>
                <a:tc>
                  <a:txBody>
                    <a:bodyPr/>
                    <a:lstStyle/>
                    <a:p>
                      <a:pPr algn="ctr">
                        <a:buNone/>
                      </a:pPr>
                      <a:r>
                        <a:rPr lang="zh-CN" altLang="en-US" sz="1800" dirty="0"/>
                        <a:t>包括的主要算法</a:t>
                      </a:r>
                    </a:p>
                  </a:txBody>
                  <a:tcPr/>
                </a:tc>
                <a:extLst>
                  <a:ext uri="{0D108BD9-81ED-4DB2-BD59-A6C34878D82A}">
                    <a16:rowId xmlns:a16="http://schemas.microsoft.com/office/drawing/2014/main" val="10000"/>
                  </a:ext>
                </a:extLst>
              </a:tr>
              <a:tr h="777875">
                <a:tc>
                  <a:txBody>
                    <a:bodyPr/>
                    <a:lstStyle/>
                    <a:p>
                      <a:pPr indent="0">
                        <a:buNone/>
                      </a:pPr>
                      <a:r>
                        <a:rPr lang="en-US" sz="1800" b="0">
                          <a:latin typeface="Times New Roman" panose="02020603050405020304" pitchFamily="18" charset="0"/>
                          <a:cs typeface="Times New Roman" panose="02020603050405020304" pitchFamily="18" charset="0"/>
                        </a:rPr>
                        <a:t>划分（分裂）方法</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err="1">
                          <a:solidFill>
                            <a:srgbClr val="FF0000"/>
                          </a:solidFill>
                          <a:latin typeface="Times New Roman" panose="02020603050405020304" pitchFamily="18" charset="0"/>
                          <a:cs typeface="Times New Roman" panose="02020603050405020304" pitchFamily="18" charset="0"/>
                        </a:rPr>
                        <a:t>K-Means算法（K-平均</a:t>
                      </a:r>
                      <a:r>
                        <a:rPr lang="en-US" sz="1800" b="0" dirty="0">
                          <a:solidFill>
                            <a:srgbClr val="FF0000"/>
                          </a:solidFill>
                          <a:latin typeface="Times New Roman" panose="02020603050405020304" pitchFamily="18" charset="0"/>
                          <a:cs typeface="Times New Roman" panose="02020603050405020304" pitchFamily="18" charset="0"/>
                        </a:rPr>
                        <a:t>）</a:t>
                      </a: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sz="1800" b="0" dirty="0" err="1">
                          <a:solidFill>
                            <a:srgbClr val="FF0000"/>
                          </a:solidFill>
                          <a:latin typeface="Times New Roman" panose="02020603050405020304" pitchFamily="18" charset="0"/>
                          <a:cs typeface="Times New Roman" panose="02020603050405020304" pitchFamily="18" charset="0"/>
                        </a:rPr>
                        <a:t>K-MEDOIDS算法（K-中心点</a:t>
                      </a:r>
                      <a:r>
                        <a:rPr lang="en-US" sz="1800" b="0" dirty="0" err="1">
                          <a:latin typeface="Times New Roman" panose="02020603050405020304" pitchFamily="18" charset="0"/>
                          <a:cs typeface="Times New Roman" panose="02020603050405020304" pitchFamily="18" charset="0"/>
                        </a:rPr>
                        <a:t>）</a:t>
                      </a:r>
                      <a:r>
                        <a:rPr lang="en-US" sz="1800" b="0" dirty="0" err="1">
                          <a:latin typeface="宋体" panose="02010600030101010101" pitchFamily="2" charset="-122"/>
                          <a:ea typeface="宋体" panose="02010600030101010101" pitchFamily="2" charset="-122"/>
                          <a:cs typeface="宋体" panose="02010600030101010101" pitchFamily="2" charset="-122"/>
                        </a:rPr>
                        <a:t>和</a:t>
                      </a:r>
                      <a:r>
                        <a:rPr lang="en-US" sz="1800" b="0" dirty="0" err="1">
                          <a:latin typeface="Times New Roman" panose="02020603050405020304" pitchFamily="18" charset="0"/>
                          <a:cs typeface="Times New Roman" panose="02020603050405020304" pitchFamily="18" charset="0"/>
                        </a:rPr>
                        <a:t>CLARANS算法（基于选择的算法</a:t>
                      </a:r>
                      <a:r>
                        <a:rPr lang="en-US" sz="1800" b="0" dirty="0">
                          <a:latin typeface="Times New Roman" panose="02020603050405020304" pitchFamily="18" charset="0"/>
                          <a:cs typeface="Times New Roman" panose="02020603050405020304" pitchFamily="18" charset="0"/>
                        </a:rPr>
                        <a:t>）</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732155">
                <a:tc>
                  <a:txBody>
                    <a:bodyPr/>
                    <a:lstStyle/>
                    <a:p>
                      <a:pPr indent="0">
                        <a:buNone/>
                      </a:pPr>
                      <a:r>
                        <a:rPr lang="en-US" sz="1800" b="0">
                          <a:latin typeface="Times New Roman" panose="02020603050405020304" pitchFamily="18" charset="0"/>
                          <a:cs typeface="Times New Roman" panose="02020603050405020304" pitchFamily="18" charset="0"/>
                        </a:rPr>
                        <a:t>层次分析方法</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BIRCH算法（平衡迭代规约和聚类）</a:t>
                      </a:r>
                      <a:r>
                        <a:rPr lang="en-US" sz="1800" b="0">
                          <a:latin typeface="宋体" panose="02010600030101010101" pitchFamily="2" charset="-122"/>
                          <a:ea typeface="宋体" panose="02010600030101010101" pitchFamily="2" charset="-122"/>
                          <a:cs typeface="宋体" panose="02010600030101010101" pitchFamily="2" charset="-122"/>
                        </a:rPr>
                        <a:t>、</a:t>
                      </a:r>
                      <a:r>
                        <a:rPr lang="en-US" sz="1800" b="0">
                          <a:latin typeface="Times New Roman" panose="02020603050405020304" pitchFamily="18" charset="0"/>
                          <a:cs typeface="Times New Roman" panose="02020603050405020304" pitchFamily="18" charset="0"/>
                        </a:rPr>
                        <a:t>CURE算法（代表点聚类）</a:t>
                      </a:r>
                      <a:r>
                        <a:rPr lang="en-US" sz="1800" b="0">
                          <a:latin typeface="宋体" panose="02010600030101010101" pitchFamily="2" charset="-122"/>
                          <a:ea typeface="宋体" panose="02010600030101010101" pitchFamily="2" charset="-122"/>
                          <a:cs typeface="宋体" panose="02010600030101010101" pitchFamily="2" charset="-122"/>
                        </a:rPr>
                        <a:t>和</a:t>
                      </a:r>
                      <a:r>
                        <a:rPr lang="en-US" sz="1800" b="0">
                          <a:latin typeface="Times New Roman" panose="02020603050405020304" pitchFamily="18" charset="0"/>
                          <a:cs typeface="Times New Roman" panose="02020603050405020304" pitchFamily="18" charset="0"/>
                        </a:rPr>
                        <a:t>CHAMELEON算法（动态模型）</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19785">
                <a:tc>
                  <a:txBody>
                    <a:bodyPr/>
                    <a:lstStyle/>
                    <a:p>
                      <a:pPr indent="0">
                        <a:buNone/>
                      </a:pPr>
                      <a:r>
                        <a:rPr lang="en-US" sz="1800" b="0">
                          <a:latin typeface="Times New Roman" panose="02020603050405020304" pitchFamily="18" charset="0"/>
                          <a:cs typeface="Times New Roman" panose="02020603050405020304" pitchFamily="18" charset="0"/>
                        </a:rPr>
                        <a:t>基于密度的方法</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err="1">
                          <a:solidFill>
                            <a:srgbClr val="FF0000"/>
                          </a:solidFill>
                          <a:latin typeface="Times New Roman" panose="02020603050405020304" pitchFamily="18" charset="0"/>
                          <a:cs typeface="Times New Roman" panose="02020603050405020304" pitchFamily="18" charset="0"/>
                        </a:rPr>
                        <a:t>DBSCAN算法（基于高密度连接区域</a:t>
                      </a:r>
                      <a:r>
                        <a:rPr lang="en-US" sz="1800" b="0" dirty="0">
                          <a:solidFill>
                            <a:srgbClr val="FF0000"/>
                          </a:solidFill>
                          <a:latin typeface="Times New Roman" panose="02020603050405020304" pitchFamily="18" charset="0"/>
                          <a:cs typeface="Times New Roman" panose="02020603050405020304" pitchFamily="18" charset="0"/>
                        </a:rPr>
                        <a:t>）</a:t>
                      </a: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a:t>
                      </a:r>
                      <a:r>
                        <a:rPr lang="en-US" sz="1800" b="0" dirty="0" err="1">
                          <a:latin typeface="Times New Roman" panose="02020603050405020304" pitchFamily="18" charset="0"/>
                          <a:cs typeface="Times New Roman" panose="02020603050405020304" pitchFamily="18" charset="0"/>
                        </a:rPr>
                        <a:t>DENCLUE算法（密度分布函数）</a:t>
                      </a:r>
                      <a:r>
                        <a:rPr lang="en-US" sz="1800" b="0" dirty="0" err="1">
                          <a:latin typeface="宋体" panose="02010600030101010101" pitchFamily="2" charset="-122"/>
                          <a:ea typeface="宋体" panose="02010600030101010101" pitchFamily="2" charset="-122"/>
                          <a:cs typeface="宋体" panose="02010600030101010101" pitchFamily="2" charset="-122"/>
                        </a:rPr>
                        <a:t>和</a:t>
                      </a:r>
                      <a:r>
                        <a:rPr lang="en-US" sz="1800" b="0" dirty="0" err="1">
                          <a:latin typeface="Times New Roman" panose="02020603050405020304" pitchFamily="18" charset="0"/>
                          <a:cs typeface="Times New Roman" panose="02020603050405020304" pitchFamily="18" charset="0"/>
                        </a:rPr>
                        <a:t>OPTICS算法（对象排序识别</a:t>
                      </a:r>
                      <a:r>
                        <a:rPr lang="en-US" sz="1800" b="0" dirty="0">
                          <a:latin typeface="Times New Roman" panose="02020603050405020304" pitchFamily="18" charset="0"/>
                          <a:cs typeface="Times New Roman" panose="02020603050405020304" pitchFamily="18" charset="0"/>
                        </a:rPr>
                        <a:t>）</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794385">
                <a:tc>
                  <a:txBody>
                    <a:bodyPr/>
                    <a:lstStyle/>
                    <a:p>
                      <a:pPr indent="0">
                        <a:buNone/>
                      </a:pPr>
                      <a:r>
                        <a:rPr lang="en-US" sz="1800" b="0">
                          <a:latin typeface="Times New Roman" panose="02020603050405020304" pitchFamily="18" charset="0"/>
                          <a:cs typeface="Times New Roman" panose="02020603050405020304" pitchFamily="18" charset="0"/>
                        </a:rPr>
                        <a:t>基于网格的方法</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err="1">
                          <a:latin typeface="Times New Roman" panose="02020603050405020304" pitchFamily="18" charset="0"/>
                          <a:cs typeface="Times New Roman" panose="02020603050405020304" pitchFamily="18" charset="0"/>
                        </a:rPr>
                        <a:t>STING算法（统计信息网络</a:t>
                      </a:r>
                      <a:r>
                        <a:rPr lang="en-US" sz="1800" b="0" dirty="0">
                          <a:latin typeface="Times New Roman" panose="02020603050405020304" pitchFamily="18" charset="0"/>
                          <a:cs typeface="Times New Roman" panose="02020603050405020304" pitchFamily="18" charset="0"/>
                        </a:rPr>
                        <a:t>）</a:t>
                      </a:r>
                      <a:r>
                        <a:rPr lang="en-US" sz="1800" b="0" dirty="0">
                          <a:latin typeface="宋体" panose="02010600030101010101" pitchFamily="2" charset="-122"/>
                          <a:ea typeface="宋体" panose="02010600030101010101" pitchFamily="2" charset="-122"/>
                          <a:cs typeface="宋体" panose="02010600030101010101" pitchFamily="2" charset="-122"/>
                        </a:rPr>
                        <a:t>、</a:t>
                      </a:r>
                      <a:r>
                        <a:rPr lang="en-US" sz="1800" b="0" dirty="0" err="1">
                          <a:latin typeface="Times New Roman" panose="02020603050405020304" pitchFamily="18" charset="0"/>
                          <a:cs typeface="Times New Roman" panose="02020603050405020304" pitchFamily="18" charset="0"/>
                        </a:rPr>
                        <a:t>CLIOUE算法（聚类高维空间）</a:t>
                      </a:r>
                      <a:r>
                        <a:rPr lang="en-US" sz="1800" b="0" dirty="0" err="1">
                          <a:latin typeface="宋体" panose="02010600030101010101" pitchFamily="2" charset="-122"/>
                          <a:ea typeface="宋体" panose="02010600030101010101" pitchFamily="2" charset="-122"/>
                          <a:cs typeface="宋体" panose="02010600030101010101" pitchFamily="2" charset="-122"/>
                        </a:rPr>
                        <a:t>和</a:t>
                      </a:r>
                      <a:r>
                        <a:rPr lang="en-US" sz="1800" b="0" dirty="0" err="1">
                          <a:latin typeface="Times New Roman" panose="02020603050405020304" pitchFamily="18" charset="0"/>
                          <a:cs typeface="Times New Roman" panose="02020603050405020304" pitchFamily="18" charset="0"/>
                        </a:rPr>
                        <a:t>WAVE-CLUSTER算法（小波变换</a:t>
                      </a:r>
                      <a:r>
                        <a:rPr lang="en-US" sz="1800" b="0" dirty="0">
                          <a:latin typeface="Times New Roman" panose="02020603050405020304" pitchFamily="18" charset="0"/>
                          <a:cs typeface="Times New Roman" panose="02020603050405020304" pitchFamily="18" charset="0"/>
                        </a:rPr>
                        <a:t>）</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sp>
        <p:nvSpPr>
          <p:cNvPr id="8" name="内容占位符 7"/>
          <p:cNvSpPr>
            <a:spLocks noGrp="1"/>
          </p:cNvSpPr>
          <p:nvPr>
            <p:ph idx="1"/>
          </p:nvPr>
        </p:nvSpPr>
        <p:spPr>
          <a:xfrm>
            <a:off x="440690" y="1043940"/>
            <a:ext cx="11107420" cy="5050790"/>
          </a:xfrm>
        </p:spPr>
        <p:txBody>
          <a:bodyPr/>
          <a:lstStyle/>
          <a:p>
            <a:pPr marL="363855" indent="0" latinLnBrk="0">
              <a:spcBef>
                <a:spcPts val="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sklearn常用的聚类算法模块cluster提供的聚类算法及其适用范围如下表所示。</a:t>
            </a:r>
          </a:p>
          <a:p>
            <a:pPr marL="0" indent="0">
              <a:buNone/>
            </a:pPr>
            <a:endPar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p:txBody>
      </p:sp>
      <p:graphicFrame>
        <p:nvGraphicFramePr>
          <p:cNvPr id="4" name="表格 3"/>
          <p:cNvGraphicFramePr/>
          <p:nvPr>
            <p:custDataLst>
              <p:tags r:id="rId1"/>
            </p:custDataLst>
          </p:nvPr>
        </p:nvGraphicFramePr>
        <p:xfrm>
          <a:off x="807449" y="1745979"/>
          <a:ext cx="10576560" cy="3605530"/>
        </p:xfrm>
        <a:graphic>
          <a:graphicData uri="http://schemas.openxmlformats.org/drawingml/2006/table">
            <a:tbl>
              <a:tblPr firstRow="1" bandRow="1">
                <a:tableStyleId>{5C22544A-7EE6-4342-B048-85BDC9FD1C3A}</a:tableStyleId>
              </a:tblPr>
              <a:tblGrid>
                <a:gridCol w="2814955">
                  <a:extLst>
                    <a:ext uri="{9D8B030D-6E8A-4147-A177-3AD203B41FA5}">
                      <a16:colId xmlns:a16="http://schemas.microsoft.com/office/drawing/2014/main" val="20000"/>
                    </a:ext>
                  </a:extLst>
                </a:gridCol>
                <a:gridCol w="2464435">
                  <a:extLst>
                    <a:ext uri="{9D8B030D-6E8A-4147-A177-3AD203B41FA5}">
                      <a16:colId xmlns:a16="http://schemas.microsoft.com/office/drawing/2014/main" val="20001"/>
                    </a:ext>
                  </a:extLst>
                </a:gridCol>
                <a:gridCol w="2618105">
                  <a:extLst>
                    <a:ext uri="{9D8B030D-6E8A-4147-A177-3AD203B41FA5}">
                      <a16:colId xmlns:a16="http://schemas.microsoft.com/office/drawing/2014/main" val="20002"/>
                    </a:ext>
                  </a:extLst>
                </a:gridCol>
                <a:gridCol w="2679065">
                  <a:extLst>
                    <a:ext uri="{9D8B030D-6E8A-4147-A177-3AD203B41FA5}">
                      <a16:colId xmlns:a16="http://schemas.microsoft.com/office/drawing/2014/main" val="20003"/>
                    </a:ext>
                  </a:extLst>
                </a:gridCol>
              </a:tblGrid>
              <a:tr h="481330">
                <a:tc>
                  <a:txBody>
                    <a:bodyPr/>
                    <a:lstStyle/>
                    <a:p>
                      <a:pPr algn="ctr">
                        <a:buNone/>
                      </a:pPr>
                      <a:r>
                        <a:rPr lang="zh-CN" altLang="en-US" sz="1800"/>
                        <a:t>算法名称</a:t>
                      </a:r>
                    </a:p>
                  </a:txBody>
                  <a:tcPr/>
                </a:tc>
                <a:tc>
                  <a:txBody>
                    <a:bodyPr/>
                    <a:lstStyle/>
                    <a:p>
                      <a:pPr algn="ctr">
                        <a:buNone/>
                      </a:pPr>
                      <a:r>
                        <a:rPr lang="zh-CN" altLang="en-US" sz="1800" dirty="0"/>
                        <a:t>参数</a:t>
                      </a:r>
                    </a:p>
                  </a:txBody>
                  <a:tcPr/>
                </a:tc>
                <a:tc>
                  <a:txBody>
                    <a:bodyPr/>
                    <a:lstStyle/>
                    <a:p>
                      <a:pPr algn="ctr">
                        <a:buNone/>
                      </a:pPr>
                      <a:r>
                        <a:rPr lang="zh-CN" altLang="en-US" sz="1800" dirty="0"/>
                        <a:t>适用范围</a:t>
                      </a:r>
                    </a:p>
                  </a:txBody>
                  <a:tcPr/>
                </a:tc>
                <a:tc>
                  <a:txBody>
                    <a:bodyPr/>
                    <a:lstStyle/>
                    <a:p>
                      <a:pPr algn="ctr">
                        <a:buNone/>
                      </a:pPr>
                      <a:r>
                        <a:rPr lang="zh-CN" altLang="en-US" sz="1800" dirty="0"/>
                        <a:t>距离度量</a:t>
                      </a:r>
                    </a:p>
                  </a:txBody>
                  <a:tcPr/>
                </a:tc>
                <a:extLst>
                  <a:ext uri="{0D108BD9-81ED-4DB2-BD59-A6C34878D82A}">
                    <a16:rowId xmlns:a16="http://schemas.microsoft.com/office/drawing/2014/main" val="10000"/>
                  </a:ext>
                </a:extLst>
              </a:tr>
              <a:tr h="77787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K-Means</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簇数</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可用于样本数目很大、聚类数目中等的场景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点之间的距离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732155">
                <a:tc>
                  <a:txBody>
                    <a:bodyPr/>
                    <a:lstStyle/>
                    <a:p>
                      <a:pPr indent="0">
                        <a:buNone/>
                      </a:pPr>
                      <a:r>
                        <a:rPr lang="en-US" sz="1800" b="0">
                          <a:latin typeface="Times New Roman" panose="02020603050405020304" pitchFamily="18" charset="0"/>
                          <a:cs typeface="Times New Roman" panose="02020603050405020304" pitchFamily="18" charset="0"/>
                        </a:rPr>
                        <a:t>Spectral clustering</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簇数</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可用于样本数目中等、聚类数目较小的场景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图距离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819785">
                <a:tc>
                  <a:txBody>
                    <a:bodyPr/>
                    <a:lstStyle/>
                    <a:p>
                      <a:pPr indent="0">
                        <a:buNone/>
                      </a:pPr>
                      <a:r>
                        <a:rPr lang="en-US" sz="1800" b="0">
                          <a:latin typeface="Times New Roman" panose="02020603050405020304" pitchFamily="18" charset="0"/>
                          <a:cs typeface="Times New Roman" panose="02020603050405020304" pitchFamily="18" charset="0"/>
                        </a:rPr>
                        <a:t>Ward hierarchical clustering</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簇数</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可用于样本数目较大、聚类数目较大的场景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点之间的距离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794385">
                <a:tc>
                  <a:txBody>
                    <a:bodyPr/>
                    <a:lstStyle/>
                    <a:p>
                      <a:pPr indent="0">
                        <a:buNone/>
                      </a:pPr>
                      <a:r>
                        <a:rPr lang="en-US" sz="1800" b="0">
                          <a:latin typeface="Times New Roman" panose="02020603050405020304" pitchFamily="18" charset="0"/>
                          <a:cs typeface="Times New Roman" panose="02020603050405020304" pitchFamily="18" charset="0"/>
                        </a:rPr>
                        <a:t>Agglomerative clustering</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簇数、链接类型、距离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可用于样本数目较大、聚类数目较大的场景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任意成对点线图间的距离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sp>
        <p:nvSpPr>
          <p:cNvPr id="7" name="内容占位符 6"/>
          <p:cNvSpPr>
            <a:spLocks noGrp="1"/>
          </p:cNvSpPr>
          <p:nvPr>
            <p:ph idx="1"/>
          </p:nvPr>
        </p:nvSpPr>
        <p:spPr>
          <a:xfrm>
            <a:off x="423545" y="1068070"/>
            <a:ext cx="11107420" cy="4985385"/>
          </a:xfrm>
        </p:spPr>
        <p:txBody>
          <a:bodyPr/>
          <a:lstStyle/>
          <a:p>
            <a:pPr marL="363855" indent="0" latinLnBrk="0">
              <a:spcBef>
                <a:spcPts val="0"/>
              </a:spcBef>
              <a:buNone/>
            </a:pPr>
            <a:r>
              <a:rPr lang="zh-CN" altLang="zh-CN" kern="100" dirty="0">
                <a:effectLst/>
                <a:sym typeface="+mn-ea"/>
              </a:rPr>
              <a:t>聚类算法模块cluster提供的聚类算法及其适用范围</a:t>
            </a:r>
            <a:r>
              <a:rPr lang="zh-CN" altLang="en-US"/>
              <a:t>续表。</a:t>
            </a:r>
          </a:p>
          <a:p>
            <a:pPr marL="0" indent="0">
              <a:buNone/>
            </a:pPr>
            <a:endParaRPr lang="zh-CN" altLang="en-US"/>
          </a:p>
          <a:p>
            <a:pPr marL="0" indent="0">
              <a:buNone/>
            </a:pPr>
            <a:endParaRPr lang="zh-CN" altLang="en-US"/>
          </a:p>
          <a:p>
            <a:pPr marL="0" indent="0">
              <a:buNone/>
            </a:pPr>
            <a:endParaRPr lang="zh-CN" altLang="en-US"/>
          </a:p>
        </p:txBody>
      </p:sp>
      <p:graphicFrame>
        <p:nvGraphicFramePr>
          <p:cNvPr id="11" name="表格 10"/>
          <p:cNvGraphicFramePr/>
          <p:nvPr>
            <p:custDataLst>
              <p:tags r:id="rId1"/>
            </p:custDataLst>
          </p:nvPr>
        </p:nvGraphicFramePr>
        <p:xfrm>
          <a:off x="1421494" y="1742804"/>
          <a:ext cx="9349105" cy="1991360"/>
        </p:xfrm>
        <a:graphic>
          <a:graphicData uri="http://schemas.openxmlformats.org/drawingml/2006/table">
            <a:tbl>
              <a:tblPr firstRow="1" bandRow="1">
                <a:tableStyleId>{5C22544A-7EE6-4342-B048-85BDC9FD1C3A}</a:tableStyleId>
              </a:tblPr>
              <a:tblGrid>
                <a:gridCol w="1242695">
                  <a:extLst>
                    <a:ext uri="{9D8B030D-6E8A-4147-A177-3AD203B41FA5}">
                      <a16:colId xmlns:a16="http://schemas.microsoft.com/office/drawing/2014/main" val="20000"/>
                    </a:ext>
                  </a:extLst>
                </a:gridCol>
                <a:gridCol w="3367405">
                  <a:extLst>
                    <a:ext uri="{9D8B030D-6E8A-4147-A177-3AD203B41FA5}">
                      <a16:colId xmlns:a16="http://schemas.microsoft.com/office/drawing/2014/main" val="20001"/>
                    </a:ext>
                  </a:extLst>
                </a:gridCol>
                <a:gridCol w="2475865">
                  <a:extLst>
                    <a:ext uri="{9D8B030D-6E8A-4147-A177-3AD203B41FA5}">
                      <a16:colId xmlns:a16="http://schemas.microsoft.com/office/drawing/2014/main" val="20002"/>
                    </a:ext>
                  </a:extLst>
                </a:gridCol>
                <a:gridCol w="2263140">
                  <a:extLst>
                    <a:ext uri="{9D8B030D-6E8A-4147-A177-3AD203B41FA5}">
                      <a16:colId xmlns:a16="http://schemas.microsoft.com/office/drawing/2014/main" val="20003"/>
                    </a:ext>
                  </a:extLst>
                </a:gridCol>
              </a:tblGrid>
              <a:tr h="481330">
                <a:tc>
                  <a:txBody>
                    <a:bodyPr/>
                    <a:lstStyle/>
                    <a:p>
                      <a:pPr algn="ctr">
                        <a:buNone/>
                      </a:pPr>
                      <a:r>
                        <a:rPr lang="zh-CN" altLang="en-US" sz="1800"/>
                        <a:t>算法名称</a:t>
                      </a:r>
                    </a:p>
                  </a:txBody>
                  <a:tcPr/>
                </a:tc>
                <a:tc>
                  <a:txBody>
                    <a:bodyPr/>
                    <a:lstStyle/>
                    <a:p>
                      <a:pPr algn="ctr">
                        <a:buNone/>
                      </a:pPr>
                      <a:r>
                        <a:rPr lang="zh-CN" altLang="en-US" sz="1800" dirty="0"/>
                        <a:t>参数</a:t>
                      </a:r>
                    </a:p>
                  </a:txBody>
                  <a:tcPr/>
                </a:tc>
                <a:tc>
                  <a:txBody>
                    <a:bodyPr/>
                    <a:lstStyle/>
                    <a:p>
                      <a:pPr algn="ctr">
                        <a:buNone/>
                      </a:pPr>
                      <a:r>
                        <a:rPr lang="zh-CN" altLang="en-US" sz="1800" dirty="0"/>
                        <a:t>适用范围</a:t>
                      </a:r>
                    </a:p>
                  </a:txBody>
                  <a:tcPr/>
                </a:tc>
                <a:tc>
                  <a:txBody>
                    <a:bodyPr/>
                    <a:lstStyle/>
                    <a:p>
                      <a:pPr algn="ctr">
                        <a:buNone/>
                      </a:pPr>
                      <a:r>
                        <a:rPr lang="zh-CN" altLang="en-US" sz="1800" dirty="0"/>
                        <a:t>距离度量</a:t>
                      </a:r>
                    </a:p>
                  </a:txBody>
                  <a:tcPr/>
                </a:tc>
                <a:extLst>
                  <a:ext uri="{0D108BD9-81ED-4DB2-BD59-A6C34878D82A}">
                    <a16:rowId xmlns:a16="http://schemas.microsoft.com/office/drawing/2014/main" val="10000"/>
                  </a:ext>
                </a:extLst>
              </a:tr>
              <a:tr h="777875">
                <a:tc>
                  <a:txBody>
                    <a:bodyPr/>
                    <a:lstStyle/>
                    <a:p>
                      <a:pPr indent="0">
                        <a:buNone/>
                      </a:pPr>
                      <a:r>
                        <a:rPr lang="en-US" sz="1800" b="0">
                          <a:latin typeface="Times New Roman" panose="02020603050405020304" pitchFamily="18" charset="0"/>
                          <a:cs typeface="Times New Roman" panose="02020603050405020304" pitchFamily="18" charset="0"/>
                        </a:rPr>
                        <a:t>DBSCAN</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半径大小、最低成员数目</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可用于样本数目很大、聚类数目中等的场景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最近的点之间的距离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732155">
                <a:tc>
                  <a:txBody>
                    <a:bodyPr/>
                    <a:lstStyle/>
                    <a:p>
                      <a:pPr indent="0">
                        <a:buNone/>
                      </a:pPr>
                      <a:r>
                        <a:rPr lang="en-US" sz="1800" b="0">
                          <a:latin typeface="Times New Roman" panose="02020603050405020304" pitchFamily="18" charset="0"/>
                          <a:cs typeface="Times New Roman" panose="02020603050405020304" pitchFamily="18" charset="0"/>
                        </a:rPr>
                        <a:t>Birch</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分支因子、阈值、可选全局集群</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可用于样本数目很大、聚类数目较大的场景</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点之间的欧式距离</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sp>
        <p:nvSpPr>
          <p:cNvPr id="7" name="内容占位符 6"/>
          <p:cNvSpPr>
            <a:spLocks noGrp="1"/>
          </p:cNvSpPr>
          <p:nvPr>
            <p:ph idx="1"/>
          </p:nvPr>
        </p:nvSpPr>
        <p:spPr>
          <a:xfrm>
            <a:off x="423545" y="1068070"/>
            <a:ext cx="11107420" cy="4985385"/>
          </a:xfrm>
        </p:spPr>
        <p:txBody>
          <a:bodyPr/>
          <a:lstStyle/>
          <a:p>
            <a:pPr marL="0" indent="0">
              <a:buNone/>
            </a:pPr>
            <a:endParaRPr lang="zh-CN" altLang="en-US"/>
          </a:p>
          <a:p>
            <a:pPr marL="0" indent="0">
              <a:buNone/>
            </a:pPr>
            <a:endParaRPr lang="zh-CN" altLang="en-US"/>
          </a:p>
          <a:p>
            <a:pPr marL="0" indent="0">
              <a:buNone/>
            </a:pPr>
            <a:endParaRPr lang="zh-CN" altLang="en-US"/>
          </a:p>
        </p:txBody>
      </p:sp>
      <p:graphicFrame>
        <p:nvGraphicFramePr>
          <p:cNvPr id="4" name="表格 3"/>
          <p:cNvGraphicFramePr/>
          <p:nvPr>
            <p:custDataLst>
              <p:tags r:id="rId1"/>
            </p:custDataLst>
            <p:extLst>
              <p:ext uri="{D42A27DB-BD31-4B8C-83A1-F6EECF244321}">
                <p14:modId xmlns:p14="http://schemas.microsoft.com/office/powerpoint/2010/main" val="1110181260"/>
              </p:ext>
            </p:extLst>
          </p:nvPr>
        </p:nvGraphicFramePr>
        <p:xfrm>
          <a:off x="1172210" y="2168525"/>
          <a:ext cx="9848215" cy="1891665"/>
        </p:xfrm>
        <a:graphic>
          <a:graphicData uri="http://schemas.openxmlformats.org/drawingml/2006/table">
            <a:tbl>
              <a:tblPr firstRow="1" bandRow="1">
                <a:tableStyleId>{5C22544A-7EE6-4342-B048-85BDC9FD1C3A}</a:tableStyleId>
              </a:tblPr>
              <a:tblGrid>
                <a:gridCol w="1341120">
                  <a:extLst>
                    <a:ext uri="{9D8B030D-6E8A-4147-A177-3AD203B41FA5}">
                      <a16:colId xmlns:a16="http://schemas.microsoft.com/office/drawing/2014/main" val="20000"/>
                    </a:ext>
                  </a:extLst>
                </a:gridCol>
                <a:gridCol w="8507095">
                  <a:extLst>
                    <a:ext uri="{9D8B030D-6E8A-4147-A177-3AD203B41FA5}">
                      <a16:colId xmlns:a16="http://schemas.microsoft.com/office/drawing/2014/main" val="20001"/>
                    </a:ext>
                  </a:extLst>
                </a:gridCol>
              </a:tblGrid>
              <a:tr h="459105">
                <a:tc>
                  <a:txBody>
                    <a:bodyPr/>
                    <a:lstStyle/>
                    <a:p>
                      <a:pPr algn="ctr">
                        <a:buNone/>
                      </a:pPr>
                      <a:r>
                        <a:rPr lang="zh-CN" altLang="en-US" sz="1800" dirty="0"/>
                        <a:t>方法名称</a:t>
                      </a:r>
                    </a:p>
                  </a:txBody>
                  <a:tcPr/>
                </a:tc>
                <a:tc>
                  <a:txBody>
                    <a:bodyPr/>
                    <a:lstStyle/>
                    <a:p>
                      <a:pPr algn="ctr">
                        <a:buNone/>
                      </a:pPr>
                      <a:r>
                        <a:rPr lang="zh-CN" altLang="en-US" sz="1800" dirty="0"/>
                        <a:t>方法说明</a:t>
                      </a:r>
                    </a:p>
                  </a:txBody>
                  <a:tcPr/>
                </a:tc>
                <a:extLst>
                  <a:ext uri="{0D108BD9-81ED-4DB2-BD59-A6C34878D82A}">
                    <a16:rowId xmlns:a16="http://schemas.microsoft.com/office/drawing/2014/main" val="10000"/>
                  </a:ext>
                </a:extLst>
              </a:tr>
              <a:tr h="77152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fit</a:t>
                      </a:r>
                      <a:r>
                        <a:rPr lang="en-US" sz="1800" b="0">
                          <a:latin typeface="Times New Roman" panose="02020603050405020304" pitchFamily="18" charset="0"/>
                          <a:cs typeface="Times New Roman" panose="02020603050405020304" pitchFamily="18" charset="0"/>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fit</a:t>
                      </a:r>
                      <a:r>
                        <a:rPr lang="en-US" sz="1800" b="0" dirty="0">
                          <a:solidFill>
                            <a:srgbClr val="FF0000"/>
                          </a:solidFill>
                          <a:latin typeface="Times New Roman" panose="02020603050405020304" pitchFamily="18" charset="0"/>
                          <a:cs typeface="Times New Roman" panose="02020603050405020304" pitchFamily="18" charset="0"/>
                        </a:rPr>
                        <a:t>()</a:t>
                      </a:r>
                      <a:r>
                        <a:rPr lang="en-US" sz="1800" b="0" dirty="0" err="1">
                          <a:solidFill>
                            <a:srgbClr val="FF0000"/>
                          </a:solidFill>
                          <a:latin typeface="宋体" panose="02010600030101010101" pitchFamily="2" charset="-122"/>
                          <a:ea typeface="宋体" panose="02010600030101010101" pitchFamily="2" charset="-122"/>
                          <a:cs typeface="宋体" panose="02010600030101010101" pitchFamily="2" charset="-122"/>
                        </a:rPr>
                        <a:t>方法主要用于训练算法</a:t>
                      </a:r>
                      <a:r>
                        <a:rPr lang="en-US" sz="1800" b="0" dirty="0" err="1">
                          <a:latin typeface="宋体" panose="02010600030101010101" pitchFamily="2" charset="-122"/>
                          <a:ea typeface="宋体" panose="02010600030101010101" pitchFamily="2" charset="-122"/>
                          <a:cs typeface="宋体" panose="02010600030101010101" pitchFamily="2" charset="-122"/>
                        </a:rPr>
                        <a:t>。该方法可接收用于有监督学习的训练集及其标签两个参数，也可以接收用于无监督学习的数据</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66103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predict</a:t>
                      </a:r>
                      <a:r>
                        <a:rPr lang="en-US" sz="1800" b="0">
                          <a:latin typeface="Times New Roman" panose="02020603050405020304" pitchFamily="18" charset="0"/>
                          <a:cs typeface="Times New Roman" panose="02020603050405020304" pitchFamily="18" charset="0"/>
                        </a:rPr>
                        <a:t>()</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predict</a:t>
                      </a:r>
                      <a:r>
                        <a:rPr lang="en-US" sz="1800" b="0" dirty="0">
                          <a:solidFill>
                            <a:srgbClr val="FF0000"/>
                          </a:solidFill>
                          <a:latin typeface="Times New Roman" panose="02020603050405020304" pitchFamily="18" charset="0"/>
                          <a:cs typeface="Times New Roman" panose="02020603050405020304" pitchFamily="18" charset="0"/>
                        </a:rPr>
                        <a:t>()</a:t>
                      </a:r>
                      <a:r>
                        <a:rPr lang="en-US" sz="1800" b="0" dirty="0" err="1">
                          <a:solidFill>
                            <a:srgbClr val="FF0000"/>
                          </a:solidFill>
                          <a:latin typeface="宋体" panose="02010600030101010101" pitchFamily="2" charset="-122"/>
                          <a:ea typeface="宋体" panose="02010600030101010101" pitchFamily="2" charset="-122"/>
                          <a:cs typeface="宋体" panose="02010600030101010101" pitchFamily="2" charset="-122"/>
                        </a:rPr>
                        <a:t>方法用于预测有监督学习的测试集标签</a:t>
                      </a:r>
                      <a:r>
                        <a:rPr lang="en-US" sz="1800" b="0" dirty="0" err="1">
                          <a:latin typeface="宋体" panose="02010600030101010101" pitchFamily="2" charset="-122"/>
                          <a:ea typeface="宋体" panose="02010600030101010101" pitchFamily="2" charset="-122"/>
                          <a:cs typeface="宋体" panose="02010600030101010101" pitchFamily="2" charset="-122"/>
                        </a:rPr>
                        <a:t>，亦可以用于划分传入数据的类别</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bl>
          </a:graphicData>
        </a:graphic>
      </p:graphicFrame>
      <p:sp>
        <p:nvSpPr>
          <p:cNvPr id="2" name="内容占位符 1"/>
          <p:cNvSpPr>
            <a:spLocks noGrp="1"/>
          </p:cNvSpPr>
          <p:nvPr/>
        </p:nvSpPr>
        <p:spPr>
          <a:xfrm>
            <a:off x="422910" y="1068070"/>
            <a:ext cx="11107420" cy="515429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zh-CN">
                <a:sym typeface="+mn-ea"/>
              </a:rPr>
              <a:t>聚类算法实现需要使用sklearn估计器（estimator）。</a:t>
            </a:r>
          </a:p>
          <a:p>
            <a:r>
              <a:rPr lang="zh-CN">
                <a:sym typeface="+mn-ea"/>
              </a:rPr>
              <a:t>sklearn估计器拥有fit()和predict()两个方法，其说明如下</a:t>
            </a:r>
            <a:r>
              <a:rPr lang="zh-CN" altLang="en-US">
                <a:sym typeface="+mn-ea"/>
              </a:rPr>
              <a:t>表所示。</a:t>
            </a:r>
            <a:endParaRPr lang="zh-CN" altLang="en-US"/>
          </a:p>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6" name="内容占位符 3"/>
          <p:cNvSpPr>
            <a:spLocks noGrp="1"/>
          </p:cNvSpPr>
          <p:nvPr/>
        </p:nvSpPr>
        <p:spPr>
          <a:xfrm>
            <a:off x="389890" y="1149985"/>
            <a:ext cx="11412220" cy="5216525"/>
          </a:xfrm>
          <a:prstGeom prst="rect">
            <a:avLst/>
          </a:prstGeom>
          <a:noFill/>
          <a:ln>
            <a:noFill/>
          </a:ln>
        </p:spPr>
        <p:txBody>
          <a:bodyPr vert="horz" wrap="square" lIns="91440" tIns="45720" rIns="91440" bIns="45720" numCol="1" anchor="t" anchorCtr="0" compatLnSpc="1">
            <a:noAutofit/>
          </a:bodyPr>
          <a:lstStyle>
            <a:lvl1pPr marL="362585" indent="-362585" algn="l" rtl="0" eaLnBrk="1" fontAlgn="base" hangingPunct="1">
              <a:lnSpc>
                <a:spcPct val="150000"/>
              </a:lnSpc>
              <a:spcBef>
                <a:spcPct val="20000"/>
              </a:spcBef>
              <a:spcAft>
                <a:spcPct val="0"/>
              </a:spcAft>
              <a:buClr>
                <a:srgbClr val="032089"/>
              </a:buClr>
              <a:buFont typeface="Wingdings" panose="05000000000000000000" pitchFamily="2" charset="2"/>
              <a:buChar char="Ø"/>
              <a:defRPr sz="1800" b="0" baseline="0">
                <a:solidFill>
                  <a:schemeClr val="tx1"/>
                </a:solidFill>
                <a:latin typeface="Times New Roman" panose="02020603050405020304" pitchFamily="18" charset="0"/>
                <a:ea typeface="宋体" panose="02010600030101010101" pitchFamily="2" charset="-122"/>
                <a:cs typeface="Times New Roman" panose="02020603050405020304" pitchFamily="18" charset="0"/>
              </a:defRPr>
            </a:lvl1pPr>
            <a:lvl2pPr marL="786130" indent="-301625" algn="l" rtl="0" eaLnBrk="1" fontAlgn="base" hangingPunct="1">
              <a:lnSpc>
                <a:spcPct val="130000"/>
              </a:lnSpc>
              <a:spcBef>
                <a:spcPct val="20000"/>
              </a:spcBef>
              <a:spcAft>
                <a:spcPct val="0"/>
              </a:spcAft>
              <a:buClr>
                <a:srgbClr val="032089"/>
              </a:buClr>
              <a:buFont typeface="Wingdings" panose="05000000000000000000" pitchFamily="2" charset="2"/>
              <a:buChar char="l"/>
              <a:defRPr sz="2330" b="0">
                <a:solidFill>
                  <a:schemeClr val="tx1"/>
                </a:solidFill>
                <a:latin typeface="微软雅黑" panose="020B0503020204020204" charset="-122"/>
                <a:ea typeface="微软雅黑" panose="020B0503020204020204" charset="-122"/>
              </a:defRPr>
            </a:lvl2pPr>
            <a:lvl3pPr marL="120840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3pPr>
            <a:lvl4pPr marL="1692275"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4pPr>
            <a:lvl5pPr marL="2176780" indent="-241300" algn="l" rtl="0" eaLnBrk="1" fontAlgn="base" hangingPunct="1">
              <a:spcBef>
                <a:spcPct val="20000"/>
              </a:spcBef>
              <a:spcAft>
                <a:spcPct val="0"/>
              </a:spcAft>
              <a:buFont typeface="Arial" panose="020B0604020202020204" pitchFamily="34" charset="0"/>
              <a:buChar char="»"/>
              <a:defRPr sz="1905" b="0">
                <a:solidFill>
                  <a:schemeClr val="tx1"/>
                </a:solidFill>
                <a:latin typeface="微软雅黑" panose="020B0503020204020204" charset="-122"/>
                <a:ea typeface="微软雅黑" panose="020B0503020204020204" charset="-122"/>
              </a:defRPr>
            </a:lvl5pPr>
            <a:lvl6pPr marL="266065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6pPr>
            <a:lvl7pPr marL="314452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7pPr>
            <a:lvl8pPr marL="362839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8pPr>
            <a:lvl9pPr marL="4112260" indent="-241935" algn="l" rtl="0" eaLnBrk="1" fontAlgn="base" hangingPunct="1">
              <a:spcBef>
                <a:spcPct val="20000"/>
              </a:spcBef>
              <a:spcAft>
                <a:spcPct val="0"/>
              </a:spcAft>
              <a:buFont typeface="Arial" panose="020B0604020202020204" pitchFamily="34" charset="0"/>
              <a:buChar char="»"/>
              <a:defRPr sz="2115">
                <a:solidFill>
                  <a:schemeClr val="tx1"/>
                </a:solidFill>
                <a:latin typeface="+mn-lt"/>
                <a:ea typeface="+mn-ea"/>
              </a:defRPr>
            </a:lvl9pPr>
          </a:lstStyle>
          <a:p>
            <a:r>
              <a:rPr lang="en-US" altLang="zh-CN" kern="100" dirty="0">
                <a:effectLst/>
                <a:sym typeface="+mn-ea"/>
              </a:rPr>
              <a:t> </a:t>
            </a:r>
            <a:r>
              <a:rPr lang="zh-CN" altLang="zh-CN" kern="100" dirty="0">
                <a:effectLst/>
                <a:sym typeface="+mn-ea"/>
              </a:rPr>
              <a:t>使用customer数据集，通过sklearn估计器构建K-Means聚类模型，对客户群体进行划分。</a:t>
            </a:r>
          </a:p>
          <a:p>
            <a:r>
              <a:rPr lang="zh-CN" altLang="zh-CN" kern="100" dirty="0">
                <a:effectLst/>
                <a:sym typeface="+mn-ea"/>
              </a:rPr>
              <a:t>并使用sklearn的manifold模块中的</a:t>
            </a:r>
            <a:r>
              <a:rPr lang="zh-CN" altLang="zh-CN" kern="100" dirty="0">
                <a:solidFill>
                  <a:srgbClr val="FF0000"/>
                </a:solidFill>
                <a:effectLst/>
                <a:sym typeface="+mn-ea"/>
              </a:rPr>
              <a:t>TSNE类可实现多维数据的可视化展现功能</a:t>
            </a:r>
            <a:r>
              <a:rPr lang="zh-CN" altLang="zh-CN" kern="100" dirty="0">
                <a:effectLst/>
                <a:sym typeface="+mn-ea"/>
              </a:rPr>
              <a:t>，查看聚类效果，TSNE类的基本使用格式如下。</a:t>
            </a:r>
            <a:endParaRPr lang="zh-CN" altLang="en-US" dirty="0"/>
          </a:p>
        </p:txBody>
      </p:sp>
      <p:sp>
        <p:nvSpPr>
          <p:cNvPr id="7" name="TextBox 5"/>
          <p:cNvSpPr txBox="1">
            <a:spLocks noChangeArrowheads="1"/>
          </p:cNvSpPr>
          <p:nvPr/>
        </p:nvSpPr>
        <p:spPr bwMode="auto">
          <a:xfrm>
            <a:off x="389890" y="2623820"/>
            <a:ext cx="11412220" cy="1445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58775">
              <a:spcBef>
                <a:spcPct val="20000"/>
              </a:spcBef>
              <a:buClr>
                <a:srgbClr val="000066"/>
              </a:buClr>
              <a:buFont typeface="Wingdings" panose="05000000000000000000" pitchFamily="2" charset="2"/>
              <a:buChar char="n"/>
              <a:defRPr kumimoji="1" sz="21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kumimoji="1" sz="29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kumimoji="1" sz="25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kumimoji="1" sz="2100">
                <a:solidFill>
                  <a:schemeClr val="tx1"/>
                </a:solidFill>
                <a:latin typeface="Calibri" panose="020F0502020204030204" pitchFamily="34" charset="0"/>
                <a:ea typeface="宋体" panose="02010600030101010101" pitchFamily="2" charset="-122"/>
              </a:defRPr>
            </a:lvl9pPr>
          </a:lstStyle>
          <a:p>
            <a:pPr>
              <a:spcBef>
                <a:spcPct val="0"/>
              </a:spcBef>
              <a:buClrTx/>
              <a:buNone/>
            </a:pPr>
            <a:r>
              <a:rPr kumimoji="0" lang="en-US" altLang="zh-CN" sz="2200" i="1" dirty="0">
                <a:latin typeface="Times New Roman" panose="02020603050405020304" pitchFamily="18" charset="0"/>
                <a:cs typeface="Times New Roman" panose="02020603050405020304" pitchFamily="18" charset="0"/>
              </a:rPr>
              <a:t>class sklearn.manifold.TSNE(n_components=2, *, perplexity=30.0, early_exaggeration=12.0, learning_rate=200.0, n_iter=1000, n_iter_without_progress=300, min_grad_norm=1e-07, metric='euclidean', init='random', verbose=0, random_state=None, method='barnes_hut', angle=0.5, n_jobs=None, square_distances='legacy')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 calcmode="lin" valueType="num">
                                      <p:cBhvr additive="base">
                                        <p:cTn id="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使用sklearn转换器进行数据预处理与降维</a:t>
            </a:r>
          </a:p>
        </p:txBody>
      </p:sp>
      <p:sp>
        <p:nvSpPr>
          <p:cNvPr id="2" name="内容占位符 1"/>
          <p:cNvSpPr>
            <a:spLocks noGrp="1"/>
          </p:cNvSpPr>
          <p:nvPr>
            <p:ph idx="1"/>
          </p:nvPr>
        </p:nvSpPr>
        <p:spPr>
          <a:xfrm>
            <a:off x="423545" y="1106805"/>
            <a:ext cx="11107420" cy="4946650"/>
          </a:xfrm>
        </p:spPr>
        <p:txBody>
          <a:bodyPr/>
          <a:lstStyle/>
          <a:p>
            <a:pPr marL="363855" indent="0" latinLnBrk="0">
              <a:spcBef>
                <a:spcPts val="0"/>
              </a:spcBef>
              <a:buNone/>
            </a:pPr>
            <a:r>
              <a:rPr lang="zh-CN" altLang="en-US"/>
              <a:t>TSNE类常用参数及其说明如下表所示。</a:t>
            </a:r>
          </a:p>
          <a:p>
            <a:pPr marL="0" indent="0">
              <a:buNone/>
            </a:pPr>
            <a:endParaRPr lang="zh-CN" altLang="en-US"/>
          </a:p>
          <a:p>
            <a:pPr marL="0" indent="0">
              <a:buNone/>
            </a:pPr>
            <a:endParaRPr lang="zh-CN" altLang="en-US"/>
          </a:p>
          <a:p>
            <a:pPr marL="0" indent="0">
              <a:buNone/>
            </a:pPr>
            <a:endParaRPr lang="zh-CN" altLang="en-US"/>
          </a:p>
        </p:txBody>
      </p:sp>
      <p:graphicFrame>
        <p:nvGraphicFramePr>
          <p:cNvPr id="4" name="表格 3"/>
          <p:cNvGraphicFramePr/>
          <p:nvPr>
            <p:custDataLst>
              <p:tags r:id="rId1"/>
            </p:custDataLst>
            <p:extLst>
              <p:ext uri="{D42A27DB-BD31-4B8C-83A1-F6EECF244321}">
                <p14:modId xmlns:p14="http://schemas.microsoft.com/office/powerpoint/2010/main" val="1036495058"/>
              </p:ext>
            </p:extLst>
          </p:nvPr>
        </p:nvGraphicFramePr>
        <p:xfrm>
          <a:off x="1186180" y="1771015"/>
          <a:ext cx="9819640" cy="4067810"/>
        </p:xfrm>
        <a:graphic>
          <a:graphicData uri="http://schemas.openxmlformats.org/drawingml/2006/table">
            <a:tbl>
              <a:tblPr firstRow="1" bandRow="1">
                <a:tableStyleId>{5C22544A-7EE6-4342-B048-85BDC9FD1C3A}</a:tableStyleId>
              </a:tblPr>
              <a:tblGrid>
                <a:gridCol w="1920875">
                  <a:extLst>
                    <a:ext uri="{9D8B030D-6E8A-4147-A177-3AD203B41FA5}">
                      <a16:colId xmlns:a16="http://schemas.microsoft.com/office/drawing/2014/main" val="20000"/>
                    </a:ext>
                  </a:extLst>
                </a:gridCol>
                <a:gridCol w="7898765">
                  <a:extLst>
                    <a:ext uri="{9D8B030D-6E8A-4147-A177-3AD203B41FA5}">
                      <a16:colId xmlns:a16="http://schemas.microsoft.com/office/drawing/2014/main" val="20001"/>
                    </a:ext>
                  </a:extLst>
                </a:gridCol>
              </a:tblGrid>
              <a:tr h="434975">
                <a:tc>
                  <a:txBody>
                    <a:bodyPr/>
                    <a:lstStyle/>
                    <a:p>
                      <a:pPr algn="ctr">
                        <a:buNone/>
                      </a:pPr>
                      <a:r>
                        <a:rPr lang="zh-CN" altLang="en-US" sz="1800" dirty="0"/>
                        <a:t>参数名称</a:t>
                      </a:r>
                    </a:p>
                  </a:txBody>
                  <a:tcPr/>
                </a:tc>
                <a:tc>
                  <a:txBody>
                    <a:bodyPr/>
                    <a:lstStyle/>
                    <a:p>
                      <a:pPr algn="ctr">
                        <a:buNone/>
                      </a:pPr>
                      <a:r>
                        <a:rPr lang="zh-CN" altLang="en-US" sz="1800" dirty="0"/>
                        <a:t>参数说明</a:t>
                      </a:r>
                    </a:p>
                  </a:txBody>
                  <a:tcPr/>
                </a:tc>
                <a:extLst>
                  <a:ext uri="{0D108BD9-81ED-4DB2-BD59-A6C34878D82A}">
                    <a16:rowId xmlns:a16="http://schemas.microsoft.com/office/drawing/2014/main" val="10000"/>
                  </a:ext>
                </a:extLst>
              </a:tr>
              <a:tr h="435610">
                <a:tc>
                  <a:txBody>
                    <a:bodyPr/>
                    <a:lstStyle/>
                    <a:p>
                      <a:pPr indent="0">
                        <a:buNone/>
                      </a:pPr>
                      <a:r>
                        <a:rPr lang="en-US" sz="1800" b="0" dirty="0" err="1">
                          <a:solidFill>
                            <a:srgbClr val="FF0000"/>
                          </a:solidFill>
                          <a:latin typeface="Times New Roman" panose="02020603050405020304" pitchFamily="18" charset="0"/>
                          <a:cs typeface="Times New Roman" panose="02020603050405020304" pitchFamily="18" charset="0"/>
                        </a:rPr>
                        <a:t>n_components</a:t>
                      </a:r>
                      <a:endParaRPr lang="en-US" altLang="en-US" sz="1800" b="0"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rPr>
                        <a:t>接收int。表示要嵌入空间中的纬度。默认为2</a:t>
                      </a:r>
                      <a:endParaRPr lang="en-US" altLang="en-US" sz="1800" b="0" dirty="0">
                        <a:solidFill>
                          <a:srgbClr val="FF0000"/>
                        </a:solidFill>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434975">
                <a:tc>
                  <a:txBody>
                    <a:bodyPr/>
                    <a:lstStyle/>
                    <a:p>
                      <a:pPr indent="0">
                        <a:buNone/>
                      </a:pPr>
                      <a:r>
                        <a:rPr lang="en-US" sz="1800" b="0">
                          <a:latin typeface="Times New Roman" panose="02020603050405020304" pitchFamily="18" charset="0"/>
                          <a:cs typeface="Times New Roman" panose="02020603050405020304" pitchFamily="18" charset="0"/>
                        </a:rPr>
                        <a:t>perplexity</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接收float。表示在优化过程中邻近点数量。默认为3</a:t>
                      </a:r>
                      <a:r>
                        <a:rPr lang="en-US" sz="1800" b="0">
                          <a:latin typeface="Times New Roman" panose="02020603050405020304" pitchFamily="18" charset="0"/>
                          <a:cs typeface="Times New Roman" panose="02020603050405020304" pitchFamily="18" charset="0"/>
                        </a:rPr>
                        <a:t>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495935">
                <a:tc>
                  <a:txBody>
                    <a:bodyPr/>
                    <a:lstStyle/>
                    <a:p>
                      <a:pPr indent="0">
                        <a:buNone/>
                      </a:pPr>
                      <a:r>
                        <a:rPr lang="en-US" sz="1800" b="0">
                          <a:latin typeface="Times New Roman" panose="02020603050405020304" pitchFamily="18" charset="0"/>
                          <a:cs typeface="Times New Roman" panose="02020603050405020304" pitchFamily="18" charset="0"/>
                        </a:rPr>
                        <a:t>early_exaggeration</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接收float。表示嵌入空间中簇的紧密程度及簇之间的空间大小。默认为1</a:t>
                      </a:r>
                      <a:r>
                        <a:rPr lang="en-US" sz="1800" b="0">
                          <a:latin typeface="Times New Roman" panose="02020603050405020304" pitchFamily="18" charset="0"/>
                          <a:cs typeface="Times New Roman" panose="02020603050405020304" pitchFamily="18" charset="0"/>
                        </a:rPr>
                        <a:t>2</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425450">
                <a:tc>
                  <a:txBody>
                    <a:bodyPr/>
                    <a:lstStyle/>
                    <a:p>
                      <a:pPr indent="0">
                        <a:buNone/>
                      </a:pPr>
                      <a:r>
                        <a:rPr lang="en-US" sz="1800" b="0">
                          <a:latin typeface="Times New Roman" panose="02020603050405020304" pitchFamily="18" charset="0"/>
                          <a:cs typeface="Times New Roman" panose="02020603050405020304" pitchFamily="18" charset="0"/>
                        </a:rPr>
                        <a:t>learning_rate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接收float。表示梯度下降的速率。默认为2</a:t>
                      </a:r>
                      <a:r>
                        <a:rPr lang="en-US" sz="1800" b="0">
                          <a:latin typeface="Times New Roman" panose="02020603050405020304" pitchFamily="18" charset="0"/>
                          <a:cs typeface="Times New Roman" panose="02020603050405020304" pitchFamily="18" charset="0"/>
                        </a:rPr>
                        <a:t>00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626745">
                <a:tc>
                  <a:txBody>
                    <a:bodyPr/>
                    <a:lstStyle/>
                    <a:p>
                      <a:pPr indent="0">
                        <a:buNone/>
                      </a:pPr>
                      <a:r>
                        <a:rPr lang="en-US" sz="1800" b="0">
                          <a:latin typeface="Times New Roman" panose="02020603050405020304" pitchFamily="18" charset="0"/>
                          <a:cs typeface="Times New Roman" panose="02020603050405020304" pitchFamily="18" charset="0"/>
                        </a:rPr>
                        <a:t>metric</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接收str、</a:t>
                      </a:r>
                      <a:r>
                        <a:rPr lang="en-US" sz="1800" b="0">
                          <a:latin typeface="Times New Roman" panose="02020603050405020304" pitchFamily="18" charset="0"/>
                          <a:cs typeface="Times New Roman" panose="02020603050405020304" pitchFamily="18" charset="0"/>
                        </a:rPr>
                        <a:t>callable</a:t>
                      </a:r>
                      <a:r>
                        <a:rPr lang="en-US" sz="1800" b="0">
                          <a:latin typeface="宋体" panose="02010600030101010101" pitchFamily="2" charset="-122"/>
                          <a:ea typeface="宋体" panose="02010600030101010101" pitchFamily="2" charset="-122"/>
                          <a:cs typeface="宋体" panose="02010600030101010101" pitchFamily="2" charset="-122"/>
                        </a:rPr>
                        <a:t>对象。表示用于计算特征数组中实例之间的距离时使用的度量方式。默认为</a:t>
                      </a:r>
                      <a:r>
                        <a:rPr lang="en-US" sz="1800" b="0">
                          <a:latin typeface="Times New Roman" panose="02020603050405020304" pitchFamily="18" charset="0"/>
                          <a:cs typeface="Times New Roman" panose="02020603050405020304" pitchFamily="18" charset="0"/>
                        </a:rPr>
                        <a:t>euclidean</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405130">
                <a:tc>
                  <a:txBody>
                    <a:bodyPr/>
                    <a:lstStyle/>
                    <a:p>
                      <a:pPr indent="0">
                        <a:buNone/>
                      </a:pPr>
                      <a:r>
                        <a:rPr lang="en-US" sz="1800" b="0">
                          <a:latin typeface="Times New Roman" panose="02020603050405020304" pitchFamily="18" charset="0"/>
                          <a:cs typeface="Times New Roman" panose="02020603050405020304" pitchFamily="18" charset="0"/>
                        </a:rPr>
                        <a:t>init</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接收str、</a:t>
                      </a:r>
                      <a:r>
                        <a:rPr lang="en-US" sz="1800" b="0">
                          <a:latin typeface="Times New Roman" panose="02020603050405020304" pitchFamily="18" charset="0"/>
                          <a:cs typeface="Times New Roman" panose="02020603050405020304" pitchFamily="18" charset="0"/>
                        </a:rPr>
                        <a:t>ndarray</a:t>
                      </a:r>
                      <a:r>
                        <a:rPr lang="en-US" sz="1800" b="0">
                          <a:latin typeface="宋体" panose="02010600030101010101" pitchFamily="2" charset="-122"/>
                          <a:ea typeface="宋体" panose="02010600030101010101" pitchFamily="2" charset="-122"/>
                          <a:cs typeface="宋体" panose="02010600030101010101" pitchFamily="2" charset="-122"/>
                        </a:rPr>
                        <a:t>对象。表示嵌入的初始化方式。默认为</a:t>
                      </a:r>
                      <a:r>
                        <a:rPr lang="en-US" sz="1800" b="0">
                          <a:latin typeface="Times New Roman" panose="02020603050405020304" pitchFamily="18" charset="0"/>
                          <a:cs typeface="Times New Roman" panose="02020603050405020304" pitchFamily="18" charset="0"/>
                        </a:rPr>
                        <a:t>random</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415290">
                <a:tc>
                  <a:txBody>
                    <a:bodyPr/>
                    <a:lstStyle/>
                    <a:p>
                      <a:pPr indent="0">
                        <a:buNone/>
                      </a:pPr>
                      <a:r>
                        <a:rPr lang="en-US" sz="1800" b="0">
                          <a:latin typeface="Times New Roman" panose="02020603050405020304" pitchFamily="18" charset="0"/>
                          <a:cs typeface="Times New Roman" panose="02020603050405020304" pitchFamily="18" charset="0"/>
                        </a:rPr>
                        <a:t>random_state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接收int。表示所确定的随机数生成器。默认为</a:t>
                      </a:r>
                      <a:r>
                        <a:rPr lang="en-US" sz="1800" b="0">
                          <a:latin typeface="Times New Roman" panose="02020603050405020304" pitchFamily="18" charset="0"/>
                          <a:cs typeface="Times New Roman" panose="02020603050405020304" pitchFamily="18" charset="0"/>
                        </a:rPr>
                        <a:t>None</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393700">
                <a:tc>
                  <a:txBody>
                    <a:bodyPr/>
                    <a:lstStyle/>
                    <a:p>
                      <a:pPr indent="0">
                        <a:buNone/>
                      </a:pPr>
                      <a:r>
                        <a:rPr lang="en-US" sz="1800" b="0">
                          <a:latin typeface="Times New Roman" panose="02020603050405020304" pitchFamily="18" charset="0"/>
                          <a:cs typeface="Times New Roman" panose="02020603050405020304" pitchFamily="18" charset="0"/>
                        </a:rPr>
                        <a:t>method</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dirty="0" err="1">
                          <a:latin typeface="宋体" panose="02010600030101010101" pitchFamily="2" charset="-122"/>
                          <a:ea typeface="宋体" panose="02010600030101010101" pitchFamily="2" charset="-122"/>
                          <a:cs typeface="宋体" panose="02010600030101010101" pitchFamily="2" charset="-122"/>
                        </a:rPr>
                        <a:t>接收str。表示在进行梯度计算时所选用的优化方法。默认为</a:t>
                      </a:r>
                      <a:r>
                        <a:rPr lang="en-US" sz="1800" b="0" dirty="0" err="1">
                          <a:latin typeface="Times New Roman" panose="02020603050405020304" pitchFamily="18" charset="0"/>
                          <a:cs typeface="Times New Roman" panose="02020603050405020304" pitchFamily="18" charset="0"/>
                        </a:rPr>
                        <a:t>barnes_hut</a:t>
                      </a:r>
                      <a:endParaRPr lang="en-US" altLang="en-US" sz="18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sp>
        <p:nvSpPr>
          <p:cNvPr id="3" name="矩形 2"/>
          <p:cNvSpPr/>
          <p:nvPr/>
        </p:nvSpPr>
        <p:spPr>
          <a:xfrm>
            <a:off x="6400800" y="1444531"/>
            <a:ext cx="6096000" cy="3416320"/>
          </a:xfrm>
          <a:prstGeom prst="rect">
            <a:avLst/>
          </a:prstGeom>
        </p:spPr>
        <p:txBody>
          <a:bodyPr>
            <a:spAutoFit/>
          </a:bodyPr>
          <a:lstStyle/>
          <a:p>
            <a:r>
              <a:rPr lang="en-US" altLang="zh-CN" dirty="0"/>
              <a:t># </a:t>
            </a:r>
            <a:r>
              <a:rPr lang="zh-CN" altLang="en-US" dirty="0"/>
              <a:t>提取不同标签的数据</a:t>
            </a:r>
          </a:p>
          <a:p>
            <a:r>
              <a:rPr lang="en-US" altLang="zh-CN" dirty="0"/>
              <a:t>df1 = </a:t>
            </a:r>
            <a:r>
              <a:rPr lang="en-US" altLang="zh-CN" dirty="0" err="1"/>
              <a:t>df</a:t>
            </a:r>
            <a:r>
              <a:rPr lang="en-US" altLang="zh-CN" dirty="0"/>
              <a:t>[</a:t>
            </a:r>
            <a:r>
              <a:rPr lang="en-US" altLang="zh-CN" dirty="0" err="1"/>
              <a:t>df</a:t>
            </a:r>
            <a:r>
              <a:rPr lang="en-US" altLang="zh-CN" dirty="0"/>
              <a:t>['labels'] == 0]</a:t>
            </a:r>
          </a:p>
          <a:p>
            <a:r>
              <a:rPr lang="en-US" altLang="zh-CN" dirty="0"/>
              <a:t>df2 = </a:t>
            </a:r>
            <a:r>
              <a:rPr lang="en-US" altLang="zh-CN" dirty="0" err="1"/>
              <a:t>df</a:t>
            </a:r>
            <a:r>
              <a:rPr lang="en-US" altLang="zh-CN" dirty="0"/>
              <a:t>[</a:t>
            </a:r>
            <a:r>
              <a:rPr lang="en-US" altLang="zh-CN" dirty="0" err="1"/>
              <a:t>df</a:t>
            </a:r>
            <a:r>
              <a:rPr lang="en-US" altLang="zh-CN" dirty="0"/>
              <a:t>['labels'] == 1] </a:t>
            </a:r>
          </a:p>
          <a:p>
            <a:r>
              <a:rPr lang="en-US" altLang="zh-CN" dirty="0"/>
              <a:t>df3 = </a:t>
            </a:r>
            <a:r>
              <a:rPr lang="en-US" altLang="zh-CN" dirty="0" err="1"/>
              <a:t>df</a:t>
            </a:r>
            <a:r>
              <a:rPr lang="en-US" altLang="zh-CN" dirty="0"/>
              <a:t>[</a:t>
            </a:r>
            <a:r>
              <a:rPr lang="en-US" altLang="zh-CN" dirty="0" err="1"/>
              <a:t>df</a:t>
            </a:r>
            <a:r>
              <a:rPr lang="en-US" altLang="zh-CN" dirty="0"/>
              <a:t>['labels'] == 2]</a:t>
            </a:r>
          </a:p>
          <a:p>
            <a:r>
              <a:rPr lang="en-US" altLang="zh-CN" dirty="0"/>
              <a:t>df4 = </a:t>
            </a:r>
            <a:r>
              <a:rPr lang="en-US" altLang="zh-CN" dirty="0" err="1"/>
              <a:t>df</a:t>
            </a:r>
            <a:r>
              <a:rPr lang="en-US" altLang="zh-CN" dirty="0"/>
              <a:t>[</a:t>
            </a:r>
            <a:r>
              <a:rPr lang="en-US" altLang="zh-CN" dirty="0" err="1"/>
              <a:t>df</a:t>
            </a:r>
            <a:r>
              <a:rPr lang="en-US" altLang="zh-CN" dirty="0"/>
              <a:t>['labels'] == 3]</a:t>
            </a:r>
          </a:p>
          <a:p>
            <a:r>
              <a:rPr lang="en-US" altLang="zh-CN" dirty="0"/>
              <a:t># </a:t>
            </a:r>
            <a:r>
              <a:rPr lang="zh-CN" altLang="en-US" dirty="0"/>
              <a:t>绘制图形</a:t>
            </a:r>
          </a:p>
          <a:p>
            <a:r>
              <a:rPr lang="en-US" altLang="zh-CN" dirty="0"/>
              <a:t>fig = </a:t>
            </a:r>
            <a:r>
              <a:rPr lang="en-US" altLang="zh-CN" dirty="0" err="1"/>
              <a:t>plt.figure</a:t>
            </a:r>
            <a:r>
              <a:rPr lang="en-US" altLang="zh-CN" dirty="0"/>
              <a:t>(</a:t>
            </a:r>
            <a:r>
              <a:rPr lang="en-US" altLang="zh-CN" dirty="0" err="1"/>
              <a:t>figsize</a:t>
            </a:r>
            <a:r>
              <a:rPr lang="en-US" altLang="zh-CN" dirty="0"/>
              <a:t>=(9, 6))  # </a:t>
            </a:r>
            <a:r>
              <a:rPr lang="zh-CN" altLang="en-US" dirty="0"/>
              <a:t>设定空白画布，并制定大小</a:t>
            </a:r>
          </a:p>
          <a:p>
            <a:r>
              <a:rPr lang="en-US" altLang="zh-CN" dirty="0"/>
              <a:t># </a:t>
            </a:r>
            <a:r>
              <a:rPr lang="zh-CN" altLang="en-US" dirty="0"/>
              <a:t>用不同的颜色表示不同数据</a:t>
            </a:r>
          </a:p>
          <a:p>
            <a:r>
              <a:rPr lang="en-US" altLang="zh-CN" dirty="0" err="1"/>
              <a:t>plt.plot</a:t>
            </a:r>
            <a:r>
              <a:rPr lang="en-US" altLang="zh-CN" dirty="0"/>
              <a:t>(df1[0], df1[1], '</a:t>
            </a:r>
            <a:r>
              <a:rPr lang="en-US" altLang="zh-CN" dirty="0" err="1"/>
              <a:t>bo</a:t>
            </a:r>
            <a:r>
              <a:rPr lang="en-US" altLang="zh-CN" dirty="0"/>
              <a:t>', df2[0], df2[1], 'r*', </a:t>
            </a:r>
          </a:p>
          <a:p>
            <a:r>
              <a:rPr lang="en-US" altLang="zh-CN" dirty="0"/>
              <a:t>         df3[0], df3[1], '</a:t>
            </a:r>
            <a:r>
              <a:rPr lang="en-US" altLang="zh-CN" dirty="0" err="1"/>
              <a:t>gD</a:t>
            </a:r>
            <a:r>
              <a:rPr lang="en-US" altLang="zh-CN" dirty="0"/>
              <a:t>', df4[0], df4[1], '</a:t>
            </a:r>
            <a:r>
              <a:rPr lang="en-US" altLang="zh-CN" dirty="0" err="1"/>
              <a:t>kD</a:t>
            </a:r>
            <a:r>
              <a:rPr lang="en-US" altLang="zh-CN" dirty="0"/>
              <a:t>')</a:t>
            </a:r>
          </a:p>
          <a:p>
            <a:r>
              <a:rPr lang="en-US" altLang="zh-CN" dirty="0" err="1"/>
              <a:t>plt.savefig</a:t>
            </a:r>
            <a:r>
              <a:rPr lang="en-US" altLang="zh-CN" dirty="0"/>
              <a:t>('../</a:t>
            </a:r>
            <a:r>
              <a:rPr lang="en-US" altLang="zh-CN" dirty="0" err="1"/>
              <a:t>tmp</a:t>
            </a:r>
            <a:r>
              <a:rPr lang="en-US" altLang="zh-CN" dirty="0"/>
              <a:t>/</a:t>
            </a:r>
            <a:r>
              <a:rPr lang="zh-CN" altLang="en-US" dirty="0"/>
              <a:t>聚类结果</a:t>
            </a:r>
            <a:r>
              <a:rPr lang="en-US" altLang="zh-CN" dirty="0"/>
              <a:t>.jpg', dpi=1080) </a:t>
            </a:r>
          </a:p>
          <a:p>
            <a:r>
              <a:rPr lang="en-US" altLang="zh-CN" dirty="0" err="1"/>
              <a:t>plt.show</a:t>
            </a:r>
            <a:r>
              <a:rPr lang="en-US" altLang="zh-CN" dirty="0"/>
              <a:t>()  # </a:t>
            </a:r>
            <a:r>
              <a:rPr lang="zh-CN" altLang="en-US" dirty="0"/>
              <a:t>显示图片</a:t>
            </a:r>
          </a:p>
        </p:txBody>
      </p:sp>
      <p:sp>
        <p:nvSpPr>
          <p:cNvPr id="4" name="矩形 3"/>
          <p:cNvSpPr/>
          <p:nvPr/>
        </p:nvSpPr>
        <p:spPr>
          <a:xfrm>
            <a:off x="387928" y="1120707"/>
            <a:ext cx="6096000" cy="4801314"/>
          </a:xfrm>
          <a:prstGeom prst="rect">
            <a:avLst/>
          </a:prstGeom>
        </p:spPr>
        <p:txBody>
          <a:bodyPr>
            <a:spAutoFit/>
          </a:bodyPr>
          <a:lstStyle/>
          <a:p>
            <a:r>
              <a:rPr lang="en-US" altLang="zh-CN" dirty="0"/>
              <a:t>import pandas as </a:t>
            </a:r>
            <a:r>
              <a:rPr lang="en-US" altLang="zh-CN" dirty="0" err="1"/>
              <a:t>pd</a:t>
            </a:r>
            <a:endParaRPr lang="en-US" altLang="zh-CN" dirty="0"/>
          </a:p>
          <a:p>
            <a:r>
              <a:rPr lang="en-US" altLang="zh-CN" dirty="0"/>
              <a:t>from </a:t>
            </a:r>
            <a:r>
              <a:rPr lang="en-US" altLang="zh-CN" dirty="0" err="1"/>
              <a:t>sklearn.manifold</a:t>
            </a:r>
            <a:r>
              <a:rPr lang="en-US" altLang="zh-CN" dirty="0"/>
              <a:t> import TSNE</a:t>
            </a:r>
          </a:p>
          <a:p>
            <a:r>
              <a:rPr lang="en-US" altLang="zh-CN" dirty="0"/>
              <a:t>import </a:t>
            </a:r>
            <a:r>
              <a:rPr lang="en-US" altLang="zh-CN" dirty="0" err="1"/>
              <a:t>matplotlib.pyplot</a:t>
            </a:r>
            <a:r>
              <a:rPr lang="en-US" altLang="zh-CN" dirty="0"/>
              <a:t> as </a:t>
            </a:r>
            <a:r>
              <a:rPr lang="en-US" altLang="zh-CN" dirty="0" err="1"/>
              <a:t>plt</a:t>
            </a:r>
            <a:endParaRPr lang="en-US" altLang="zh-CN" dirty="0"/>
          </a:p>
          <a:p>
            <a:r>
              <a:rPr lang="en-US" altLang="zh-CN" dirty="0"/>
              <a:t># </a:t>
            </a:r>
            <a:r>
              <a:rPr lang="zh-CN" altLang="en-US" dirty="0"/>
              <a:t>读取数据集</a:t>
            </a:r>
          </a:p>
          <a:p>
            <a:r>
              <a:rPr lang="en-US" altLang="zh-CN" dirty="0"/>
              <a:t>customer = </a:t>
            </a:r>
            <a:r>
              <a:rPr lang="en-US" altLang="zh-CN" dirty="0" err="1"/>
              <a:t>pd.read_csv</a:t>
            </a:r>
            <a:r>
              <a:rPr lang="en-US" altLang="zh-CN" dirty="0"/>
              <a:t>('../data/customer.csv', encoding='</a:t>
            </a:r>
            <a:r>
              <a:rPr lang="en-US" altLang="zh-CN" dirty="0" err="1"/>
              <a:t>gbk</a:t>
            </a:r>
            <a:r>
              <a:rPr lang="en-US" altLang="zh-CN" dirty="0"/>
              <a:t>')</a:t>
            </a:r>
          </a:p>
          <a:p>
            <a:r>
              <a:rPr lang="en-US" altLang="zh-CN" dirty="0" err="1"/>
              <a:t>customer_data</a:t>
            </a:r>
            <a:r>
              <a:rPr lang="en-US" altLang="zh-CN" dirty="0"/>
              <a:t> = </a:t>
            </a:r>
            <a:r>
              <a:rPr lang="en-US" altLang="zh-CN" dirty="0" err="1"/>
              <a:t>customer.iloc</a:t>
            </a:r>
            <a:r>
              <a:rPr lang="en-US" altLang="zh-CN" dirty="0"/>
              <a:t>[:, :-1]</a:t>
            </a:r>
          </a:p>
          <a:p>
            <a:r>
              <a:rPr lang="en-US" altLang="zh-CN" dirty="0" err="1"/>
              <a:t>customer_target</a:t>
            </a:r>
            <a:r>
              <a:rPr lang="en-US" altLang="zh-CN" dirty="0"/>
              <a:t> = </a:t>
            </a:r>
            <a:r>
              <a:rPr lang="en-US" altLang="zh-CN" dirty="0" err="1"/>
              <a:t>customer.iloc</a:t>
            </a:r>
            <a:r>
              <a:rPr lang="en-US" altLang="zh-CN" dirty="0"/>
              <a:t>[:, -1]</a:t>
            </a:r>
          </a:p>
          <a:p>
            <a:r>
              <a:rPr lang="en-US" altLang="zh-CN" dirty="0"/>
              <a:t># </a:t>
            </a:r>
            <a:r>
              <a:rPr lang="en-US" altLang="zh-CN" dirty="0" err="1"/>
              <a:t>Kmeans</a:t>
            </a:r>
            <a:r>
              <a:rPr lang="zh-CN" altLang="en-US" dirty="0"/>
              <a:t>聚类</a:t>
            </a:r>
          </a:p>
          <a:p>
            <a:r>
              <a:rPr lang="en-US" altLang="zh-CN" dirty="0"/>
              <a:t>from </a:t>
            </a:r>
            <a:r>
              <a:rPr lang="en-US" altLang="zh-CN" dirty="0" err="1"/>
              <a:t>sklearn.cluster</a:t>
            </a:r>
            <a:r>
              <a:rPr lang="en-US" altLang="zh-CN" dirty="0"/>
              <a:t> import </a:t>
            </a:r>
            <a:r>
              <a:rPr lang="en-US" altLang="zh-CN" dirty="0" err="1"/>
              <a:t>KMeans</a:t>
            </a:r>
            <a:endParaRPr lang="en-US" altLang="zh-CN" dirty="0"/>
          </a:p>
          <a:p>
            <a:r>
              <a:rPr lang="en-US" altLang="zh-CN" dirty="0" err="1"/>
              <a:t>kmeans</a:t>
            </a:r>
            <a:r>
              <a:rPr lang="en-US" altLang="zh-CN" dirty="0"/>
              <a:t> = </a:t>
            </a:r>
            <a:r>
              <a:rPr lang="en-US" altLang="zh-CN" dirty="0" err="1"/>
              <a:t>KMeans</a:t>
            </a:r>
            <a:r>
              <a:rPr lang="en-US" altLang="zh-CN" dirty="0"/>
              <a:t>(</a:t>
            </a:r>
            <a:r>
              <a:rPr lang="en-US" altLang="zh-CN" dirty="0" err="1"/>
              <a:t>n_clusters</a:t>
            </a:r>
            <a:r>
              <a:rPr lang="en-US" altLang="zh-CN" dirty="0"/>
              <a:t>=4, </a:t>
            </a:r>
          </a:p>
          <a:p>
            <a:r>
              <a:rPr lang="en-US" altLang="zh-CN" dirty="0"/>
              <a:t>                </a:t>
            </a:r>
            <a:r>
              <a:rPr lang="en-US" altLang="zh-CN" dirty="0" err="1"/>
              <a:t>random_state</a:t>
            </a:r>
            <a:r>
              <a:rPr lang="en-US" altLang="zh-CN" dirty="0"/>
              <a:t>=6).fit(</a:t>
            </a:r>
            <a:r>
              <a:rPr lang="en-US" altLang="zh-CN" dirty="0" err="1"/>
              <a:t>customer_data</a:t>
            </a:r>
            <a:r>
              <a:rPr lang="en-US" altLang="zh-CN" dirty="0"/>
              <a:t>)</a:t>
            </a:r>
          </a:p>
          <a:p>
            <a:r>
              <a:rPr lang="en-US" altLang="zh-CN" dirty="0"/>
              <a:t># </a:t>
            </a:r>
            <a:r>
              <a:rPr lang="zh-CN" altLang="en-US" dirty="0"/>
              <a:t>使用</a:t>
            </a:r>
            <a:r>
              <a:rPr lang="en-US" altLang="zh-CN" dirty="0"/>
              <a:t>TSNE</a:t>
            </a:r>
            <a:r>
              <a:rPr lang="zh-CN" altLang="en-US" dirty="0"/>
              <a:t>进行数据降维，降成两维</a:t>
            </a:r>
          </a:p>
          <a:p>
            <a:r>
              <a:rPr lang="en-US" altLang="zh-CN" dirty="0" err="1"/>
              <a:t>tsne</a:t>
            </a:r>
            <a:r>
              <a:rPr lang="en-US" altLang="zh-CN" dirty="0"/>
              <a:t> = TSNE(</a:t>
            </a:r>
            <a:r>
              <a:rPr lang="en-US" altLang="zh-CN" dirty="0" err="1"/>
              <a:t>n_components</a:t>
            </a:r>
            <a:r>
              <a:rPr lang="en-US" altLang="zh-CN" dirty="0"/>
              <a:t>=2, </a:t>
            </a:r>
            <a:r>
              <a:rPr lang="en-US" altLang="zh-CN" dirty="0" err="1"/>
              <a:t>init</a:t>
            </a:r>
            <a:r>
              <a:rPr lang="en-US" altLang="zh-CN" dirty="0"/>
              <a:t>='random',</a:t>
            </a:r>
          </a:p>
          <a:p>
            <a:r>
              <a:rPr lang="en-US" altLang="zh-CN" dirty="0"/>
              <a:t>            </a:t>
            </a:r>
            <a:r>
              <a:rPr lang="en-US" altLang="zh-CN" dirty="0" err="1"/>
              <a:t>random_state</a:t>
            </a:r>
            <a:r>
              <a:rPr lang="en-US" altLang="zh-CN" dirty="0"/>
              <a:t>=2). fit(</a:t>
            </a:r>
            <a:r>
              <a:rPr lang="en-US" altLang="zh-CN" dirty="0" err="1"/>
              <a:t>customer_data</a:t>
            </a:r>
            <a:r>
              <a:rPr lang="en-US" altLang="zh-CN" dirty="0"/>
              <a:t>)</a:t>
            </a:r>
          </a:p>
          <a:p>
            <a:r>
              <a:rPr lang="en-US" altLang="zh-CN" dirty="0" err="1"/>
              <a:t>df</a:t>
            </a:r>
            <a:r>
              <a:rPr lang="en-US" altLang="zh-CN" dirty="0"/>
              <a:t> = </a:t>
            </a:r>
            <a:r>
              <a:rPr lang="en-US" altLang="zh-CN" dirty="0" err="1"/>
              <a:t>pd.DataFrame</a:t>
            </a:r>
            <a:r>
              <a:rPr lang="en-US" altLang="zh-CN" dirty="0"/>
              <a:t>(</a:t>
            </a:r>
            <a:r>
              <a:rPr lang="en-US" altLang="zh-CN" dirty="0" err="1"/>
              <a:t>tsne.embedding</a:t>
            </a:r>
            <a:r>
              <a:rPr lang="en-US" altLang="zh-CN" dirty="0"/>
              <a:t>_)  # </a:t>
            </a:r>
            <a:r>
              <a:rPr lang="zh-CN" altLang="en-US" dirty="0"/>
              <a:t>将原始数据转换为</a:t>
            </a:r>
            <a:r>
              <a:rPr lang="en-US" altLang="zh-CN" dirty="0" err="1"/>
              <a:t>DataFrame</a:t>
            </a:r>
            <a:endParaRPr lang="en-US" altLang="zh-CN" dirty="0"/>
          </a:p>
          <a:p>
            <a:r>
              <a:rPr lang="en-US" altLang="zh-CN" dirty="0" err="1"/>
              <a:t>df</a:t>
            </a:r>
            <a:r>
              <a:rPr lang="en-US" altLang="zh-CN" dirty="0"/>
              <a:t>['labels'] = </a:t>
            </a:r>
            <a:r>
              <a:rPr lang="en-US" altLang="zh-CN" dirty="0" err="1"/>
              <a:t>kmeans.labels</a:t>
            </a:r>
            <a:r>
              <a:rPr lang="en-US" altLang="zh-CN" dirty="0"/>
              <a:t>_  # </a:t>
            </a:r>
            <a:r>
              <a:rPr lang="zh-CN" altLang="en-US" dirty="0"/>
              <a:t>将聚类结果存储进</a:t>
            </a:r>
            <a:r>
              <a:rPr lang="en-US" altLang="zh-CN" dirty="0" err="1"/>
              <a:t>df</a:t>
            </a:r>
            <a:r>
              <a:rPr lang="zh-CN" altLang="en-US" dirty="0"/>
              <a:t>数据表</a:t>
            </a:r>
          </a:p>
        </p:txBody>
      </p:sp>
    </p:spTree>
    <p:extLst>
      <p:ext uri="{BB962C8B-B14F-4D97-AF65-F5344CB8AC3E}">
        <p14:creationId xmlns:p14="http://schemas.microsoft.com/office/powerpoint/2010/main" val="7837886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使用sklearn</a:t>
            </a:r>
            <a:r>
              <a:rPr lang="zh-CN" altLang="en-US" dirty="0">
                <a:sym typeface="+mn-ea"/>
              </a:rPr>
              <a:t>估计器构建聚类模型</a:t>
            </a:r>
            <a:endParaRPr lang="zh-CN" altLang="en-US" dirty="0"/>
          </a:p>
        </p:txBody>
      </p:sp>
      <p:pic>
        <p:nvPicPr>
          <p:cNvPr id="6" name="图片 5"/>
          <p:cNvPicPr>
            <a:picLocks noChangeAspect="1"/>
          </p:cNvPicPr>
          <p:nvPr/>
        </p:nvPicPr>
        <p:blipFill>
          <a:blip r:embed="rId2"/>
          <a:stretch>
            <a:fillRect/>
          </a:stretch>
        </p:blipFill>
        <p:spPr>
          <a:xfrm>
            <a:off x="1980652" y="1244473"/>
            <a:ext cx="7380952" cy="4904762"/>
          </a:xfrm>
          <a:prstGeom prst="rect">
            <a:avLst/>
          </a:prstGeom>
        </p:spPr>
      </p:pic>
    </p:spTree>
    <p:extLst>
      <p:ext uri="{BB962C8B-B14F-4D97-AF65-F5344CB8AC3E}">
        <p14:creationId xmlns:p14="http://schemas.microsoft.com/office/powerpoint/2010/main" val="12365649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评价聚类模型</a:t>
            </a:r>
          </a:p>
        </p:txBody>
      </p:sp>
      <p:sp>
        <p:nvSpPr>
          <p:cNvPr id="6" name="内容占位符 5"/>
          <p:cNvSpPr>
            <a:spLocks noGrp="1"/>
          </p:cNvSpPr>
          <p:nvPr>
            <p:ph idx="1"/>
          </p:nvPr>
        </p:nvSpPr>
        <p:spPr>
          <a:xfrm>
            <a:off x="423545" y="965835"/>
            <a:ext cx="11107420" cy="5087620"/>
          </a:xfrm>
        </p:spPr>
        <p:txBody>
          <a:bodyPr/>
          <a:lstStyle/>
          <a:p>
            <a:r>
              <a:rPr lang="zh-CN" altLang="en-US" dirty="0"/>
              <a:t>聚类评价的标准是组内的对象相互之间是相似的（相关的），而不同组中的对象是不同的（不相关的），即组内的相似性越大，组间差别越大，聚类效果就越好。</a:t>
            </a:r>
          </a:p>
          <a:p>
            <a:r>
              <a:rPr lang="zh-CN" altLang="en-US" dirty="0"/>
              <a:t>sklearn的metrics模块提供的聚类模型评价指标如下表所示。</a:t>
            </a:r>
          </a:p>
        </p:txBody>
      </p:sp>
      <p:graphicFrame>
        <p:nvGraphicFramePr>
          <p:cNvPr id="7" name="表格 6"/>
          <p:cNvGraphicFramePr/>
          <p:nvPr>
            <p:custDataLst>
              <p:tags r:id="rId1"/>
            </p:custDataLst>
          </p:nvPr>
        </p:nvGraphicFramePr>
        <p:xfrm>
          <a:off x="883920" y="2487930"/>
          <a:ext cx="8281035" cy="3424555"/>
        </p:xfrm>
        <a:graphic>
          <a:graphicData uri="http://schemas.openxmlformats.org/drawingml/2006/table">
            <a:tbl>
              <a:tblPr firstRow="1" bandRow="1">
                <a:tableStyleId>{5C22544A-7EE6-4342-B048-85BDC9FD1C3A}</a:tableStyleId>
              </a:tblPr>
              <a:tblGrid>
                <a:gridCol w="3020695">
                  <a:extLst>
                    <a:ext uri="{9D8B030D-6E8A-4147-A177-3AD203B41FA5}">
                      <a16:colId xmlns:a16="http://schemas.microsoft.com/office/drawing/2014/main" val="20000"/>
                    </a:ext>
                  </a:extLst>
                </a:gridCol>
                <a:gridCol w="946785">
                  <a:extLst>
                    <a:ext uri="{9D8B030D-6E8A-4147-A177-3AD203B41FA5}">
                      <a16:colId xmlns:a16="http://schemas.microsoft.com/office/drawing/2014/main" val="20001"/>
                    </a:ext>
                  </a:extLst>
                </a:gridCol>
                <a:gridCol w="1541780">
                  <a:extLst>
                    <a:ext uri="{9D8B030D-6E8A-4147-A177-3AD203B41FA5}">
                      <a16:colId xmlns:a16="http://schemas.microsoft.com/office/drawing/2014/main" val="20002"/>
                    </a:ext>
                  </a:extLst>
                </a:gridCol>
                <a:gridCol w="2771775">
                  <a:extLst>
                    <a:ext uri="{9D8B030D-6E8A-4147-A177-3AD203B41FA5}">
                      <a16:colId xmlns:a16="http://schemas.microsoft.com/office/drawing/2014/main" val="20003"/>
                    </a:ext>
                  </a:extLst>
                </a:gridCol>
              </a:tblGrid>
              <a:tr h="449580">
                <a:tc>
                  <a:txBody>
                    <a:bodyPr/>
                    <a:lstStyle/>
                    <a:p>
                      <a:pPr algn="ctr">
                        <a:buNone/>
                      </a:pPr>
                      <a:r>
                        <a:rPr lang="zh-CN" altLang="en-US" sz="1800"/>
                        <a:t>评价指标名称</a:t>
                      </a:r>
                    </a:p>
                  </a:txBody>
                  <a:tcPr/>
                </a:tc>
                <a:tc>
                  <a:txBody>
                    <a:bodyPr/>
                    <a:lstStyle/>
                    <a:p>
                      <a:pPr algn="ctr">
                        <a:buNone/>
                      </a:pPr>
                      <a:r>
                        <a:rPr lang="zh-CN" altLang="en-US" sz="1800" dirty="0"/>
                        <a:t>真实值</a:t>
                      </a:r>
                    </a:p>
                  </a:txBody>
                  <a:tcPr/>
                </a:tc>
                <a:tc>
                  <a:txBody>
                    <a:bodyPr/>
                    <a:lstStyle/>
                    <a:p>
                      <a:pPr algn="ctr">
                        <a:buNone/>
                      </a:pPr>
                      <a:r>
                        <a:rPr lang="zh-CN" altLang="en-US" sz="1800" dirty="0"/>
                        <a:t>最佳值</a:t>
                      </a:r>
                    </a:p>
                  </a:txBody>
                  <a:tcPr/>
                </a:tc>
                <a:tc>
                  <a:txBody>
                    <a:bodyPr/>
                    <a:lstStyle/>
                    <a:p>
                      <a:pPr algn="ctr">
                        <a:buNone/>
                      </a:pPr>
                      <a:r>
                        <a:rPr lang="en-US" altLang="zh-CN" sz="1800" dirty="0"/>
                        <a:t>sklearn</a:t>
                      </a:r>
                      <a:r>
                        <a:rPr lang="zh-CN" altLang="en-US" sz="1800" dirty="0"/>
                        <a:t>函数</a:t>
                      </a:r>
                    </a:p>
                  </a:txBody>
                  <a:tcPr/>
                </a:tc>
                <a:extLst>
                  <a:ext uri="{0D108BD9-81ED-4DB2-BD59-A6C34878D82A}">
                    <a16:rowId xmlns:a16="http://schemas.microsoft.com/office/drawing/2014/main" val="10000"/>
                  </a:ext>
                </a:extLst>
              </a:tr>
              <a:tr h="535940">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ARI评价法（兰德系数）</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1.0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adjusted_rand_score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455930">
                <a:tc>
                  <a:txBody>
                    <a:bodyPr/>
                    <a:lstStyle/>
                    <a:p>
                      <a:pPr indent="0">
                        <a:buNone/>
                      </a:pPr>
                      <a:r>
                        <a:rPr lang="en-US" sz="1800" b="0">
                          <a:latin typeface="Times New Roman" panose="02020603050405020304" pitchFamily="18" charset="0"/>
                          <a:cs typeface="Times New Roman" panose="02020603050405020304" pitchFamily="18" charset="0"/>
                        </a:rPr>
                        <a:t>AMI</a:t>
                      </a:r>
                      <a:r>
                        <a:rPr lang="en-US" sz="1800" b="0">
                          <a:latin typeface="宋体" panose="02010600030101010101" pitchFamily="2" charset="-122"/>
                          <a:ea typeface="宋体" panose="02010600030101010101" pitchFamily="2" charset="-122"/>
                          <a:cs typeface="宋体" panose="02010600030101010101" pitchFamily="2" charset="-122"/>
                        </a:rPr>
                        <a:t>评价法（互信息）</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1.</a:t>
                      </a:r>
                      <a:r>
                        <a:rPr lang="en-US" sz="1800" b="0">
                          <a:latin typeface="Times New Roman" panose="02020603050405020304" pitchFamily="18" charset="0"/>
                          <a:cs typeface="Times New Roman" panose="02020603050405020304" pitchFamily="18" charset="0"/>
                        </a:rPr>
                        <a:t>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adjusted_mutual_info_score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480695">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V-measure评分</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1.0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completeness_score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71170">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FMI评价法</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1.0</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fowlkes_mallows_score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81330">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轮廓系数评价法</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不需要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畸变程度最大</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Times New Roman" panose="02020603050405020304" pitchFamily="18" charset="0"/>
                          <a:cs typeface="Times New Roman" panose="02020603050405020304" pitchFamily="18" charset="0"/>
                        </a:rPr>
                        <a:t>silhouette_score</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r h="549910">
                <a:tc>
                  <a:txBody>
                    <a:bodyPr/>
                    <a:lstStyle/>
                    <a:p>
                      <a:pPr indent="0">
                        <a:buNone/>
                      </a:pPr>
                      <a:r>
                        <a:rPr lang="en-US" sz="1800" b="0">
                          <a:latin typeface="Times New Roman" panose="02020603050405020304" pitchFamily="18" charset="0"/>
                          <a:cs typeface="Times New Roman" panose="02020603050405020304" pitchFamily="18" charset="0"/>
                        </a:rPr>
                        <a:t>Calinski-Harabasz</a:t>
                      </a:r>
                      <a:r>
                        <a:rPr lang="en-US" sz="1800" b="0">
                          <a:latin typeface="宋体" panose="02010600030101010101" pitchFamily="2" charset="-122"/>
                          <a:ea typeface="宋体" panose="02010600030101010101" pitchFamily="2" charset="-122"/>
                          <a:cs typeface="宋体" panose="02010600030101010101" pitchFamily="2" charset="-122"/>
                        </a:rPr>
                        <a:t>指数评价法</a:t>
                      </a:r>
                      <a:endParaRPr lang="en-US" altLang="en-US" sz="1800" b="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不需要</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a:latin typeface="宋体" panose="02010600030101010101" pitchFamily="2" charset="-122"/>
                          <a:ea typeface="宋体" panose="02010600030101010101" pitchFamily="2" charset="-122"/>
                          <a:cs typeface="宋体" panose="02010600030101010101" pitchFamily="2" charset="-122"/>
                        </a:rPr>
                        <a:t>相较最大</a:t>
                      </a:r>
                      <a:endParaRPr lang="en-US" altLang="en-US" sz="1800" b="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tc>
                <a:tc>
                  <a:txBody>
                    <a:bodyPr/>
                    <a:lstStyle/>
                    <a:p>
                      <a:pPr indent="0">
                        <a:buNone/>
                      </a:pPr>
                      <a:r>
                        <a:rPr lang="en-US" sz="1800" b="0" dirty="0" err="1">
                          <a:latin typeface="Times New Roman" panose="02020603050405020304" pitchFamily="18" charset="0"/>
                          <a:cs typeface="Times New Roman" panose="02020603050405020304" pitchFamily="18" charset="0"/>
                        </a:rPr>
                        <a:t>calinski_harabaz_score</a:t>
                      </a:r>
                      <a:endParaRPr lang="en-US" altLang="en-US" sz="1800" b="0" dirty="0">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6"/>
                  </a:ext>
                </a:extLst>
              </a:tr>
            </a:tbl>
          </a:graphicData>
        </a:graphic>
      </p:graphicFrame>
      <p:sp>
        <p:nvSpPr>
          <p:cNvPr id="16" name="文本框 15"/>
          <p:cNvSpPr txBox="1"/>
          <p:nvPr/>
        </p:nvSpPr>
        <p:spPr>
          <a:xfrm flipH="1">
            <a:off x="9552305" y="1710055"/>
            <a:ext cx="2505075" cy="2306955"/>
          </a:xfrm>
          <a:prstGeom prst="rect">
            <a:avLst/>
          </a:prstGeom>
          <a:solidFill>
            <a:schemeClr val="bg1">
              <a:lumMod val="85000"/>
            </a:schemeClr>
          </a:solidFill>
        </p:spPr>
        <p:txBody>
          <a:bodyPr wrap="square" rtlCol="0">
            <a:spAutoFit/>
          </a:bodyPr>
          <a:lstStyle/>
          <a:p>
            <a:r>
              <a:rPr lang="zh-CN" altLang="en-US" dirty="0">
                <a:sym typeface="+mn-ea"/>
              </a:rPr>
              <a:t>需要真实值的配合才能够评价聚类算法的优劣，评价的效果更具有说服力，并且在实际运行的过程中，在有真实值做参考的情况下，聚类方法的评价可以等同于分类算法的评价。</a:t>
            </a:r>
          </a:p>
        </p:txBody>
      </p:sp>
      <p:sp>
        <p:nvSpPr>
          <p:cNvPr id="10" name="文本框 9"/>
          <p:cNvSpPr txBox="1"/>
          <p:nvPr/>
        </p:nvSpPr>
        <p:spPr>
          <a:xfrm>
            <a:off x="665824" y="2932430"/>
            <a:ext cx="8734715" cy="1949925"/>
          </a:xfrm>
          <a:prstGeom prst="rect">
            <a:avLst/>
          </a:prstGeom>
          <a:noFill/>
          <a:ln w="25400" cmpd="sng">
            <a:solidFill>
              <a:srgbClr val="FF0000"/>
            </a:solidFill>
            <a:prstDash val="sysDash"/>
          </a:ln>
        </p:spPr>
        <p:txBody>
          <a:bodyPr wrap="square" rtlCol="0">
            <a:noAutofit/>
          </a:bodyPr>
          <a:lstStyle/>
          <a:p>
            <a:endParaRPr lang="zh-CN" altLang="en-US"/>
          </a:p>
        </p:txBody>
      </p:sp>
      <p:cxnSp>
        <p:nvCxnSpPr>
          <p:cNvPr id="11" name="曲线连接符 10"/>
          <p:cNvCxnSpPr>
            <a:cxnSpLocks/>
            <a:stCxn id="10" idx="3"/>
            <a:endCxn id="16" idx="2"/>
          </p:cNvCxnSpPr>
          <p:nvPr/>
        </p:nvCxnSpPr>
        <p:spPr>
          <a:xfrm>
            <a:off x="9400539" y="3907393"/>
            <a:ext cx="1404303" cy="109617"/>
          </a:xfrm>
          <a:prstGeom prst="curvedConnector4">
            <a:avLst>
              <a:gd name="adj1" fmla="val 5404"/>
              <a:gd name="adj2" fmla="val 308544"/>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flipH="1">
            <a:off x="10069830" y="5382260"/>
            <a:ext cx="1604010" cy="645160"/>
          </a:xfrm>
          <a:prstGeom prst="rect">
            <a:avLst/>
          </a:prstGeom>
          <a:solidFill>
            <a:schemeClr val="bg1">
              <a:lumMod val="85000"/>
            </a:schemeClr>
          </a:solidFill>
        </p:spPr>
        <p:txBody>
          <a:bodyPr wrap="square" rtlCol="0">
            <a:spAutoFit/>
          </a:bodyPr>
          <a:lstStyle/>
          <a:p>
            <a:r>
              <a:rPr lang="zh-CN" altLang="en-US" dirty="0">
                <a:sym typeface="+mn-ea"/>
              </a:rPr>
              <a:t>不需要真实值的配合</a:t>
            </a:r>
            <a:endParaRPr lang="zh-CN" altLang="en-US"/>
          </a:p>
        </p:txBody>
      </p:sp>
      <p:sp>
        <p:nvSpPr>
          <p:cNvPr id="13" name="文本框 12"/>
          <p:cNvSpPr txBox="1"/>
          <p:nvPr/>
        </p:nvSpPr>
        <p:spPr>
          <a:xfrm>
            <a:off x="883920" y="4997290"/>
            <a:ext cx="8281035" cy="915195"/>
          </a:xfrm>
          <a:prstGeom prst="rect">
            <a:avLst/>
          </a:prstGeom>
          <a:noFill/>
          <a:ln w="25400" cmpd="sng">
            <a:solidFill>
              <a:srgbClr val="FF0000"/>
            </a:solidFill>
            <a:prstDash val="sysDash"/>
          </a:ln>
        </p:spPr>
        <p:txBody>
          <a:bodyPr wrap="square" rtlCol="0">
            <a:noAutofit/>
          </a:bodyPr>
          <a:lstStyle/>
          <a:p>
            <a:endParaRPr lang="zh-CN" altLang="en-US"/>
          </a:p>
        </p:txBody>
      </p:sp>
      <p:cxnSp>
        <p:nvCxnSpPr>
          <p:cNvPr id="14" name="曲线连接符 13"/>
          <p:cNvCxnSpPr>
            <a:cxnSpLocks/>
            <a:stCxn id="13" idx="2"/>
            <a:endCxn id="12" idx="2"/>
          </p:cNvCxnSpPr>
          <p:nvPr/>
        </p:nvCxnSpPr>
        <p:spPr>
          <a:xfrm rot="16200000" flipH="1">
            <a:off x="7890669" y="3046253"/>
            <a:ext cx="114935" cy="5847397"/>
          </a:xfrm>
          <a:prstGeom prst="curvedConnector3">
            <a:avLst>
              <a:gd name="adj1" fmla="val 298895"/>
            </a:avLst>
          </a:prstGeom>
          <a:ln>
            <a:solidFill>
              <a:schemeClr val="accent3">
                <a:lumMod val="7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1" nodeType="clickEffect">
                                  <p:stCondLst>
                                    <p:cond delay="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24" dur="500" fill="hold"/>
                                        <p:tgtEl>
                                          <p:spTgt spid="10"/>
                                        </p:tgtEl>
                                        <p:attrNameLst>
                                          <p:attrName>ppt_x</p:attrName>
                                        </p:attrNameLst>
                                      </p:cBhvr>
                                      <p:tavLst>
                                        <p:tav tm="0">
                                          <p:val>
                                            <p:strVal val="#ppt_x"/>
                                          </p:val>
                                        </p:tav>
                                        <p:tav tm="100000">
                                          <p:val>
                                            <p:strVal val="#ppt_x"/>
                                          </p:val>
                                        </p:tav>
                                      </p:tavLst>
                                    </p:anim>
                                    <p:anim calcmode="lin" valueType="num">
                                      <p:cBhvr additive="base">
                                        <p:cTn id="2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par>
                                <p:cTn id="32" presetID="2" presetClass="entr" presetSubtype="4" fill="hold" grpId="1" nodeType="with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additive="base">
                                        <p:cTn id="34" dur="500" fill="hold"/>
                                        <p:tgtEl>
                                          <p:spTgt spid="16"/>
                                        </p:tgtEl>
                                        <p:attrNameLst>
                                          <p:attrName>ppt_x</p:attrName>
                                        </p:attrNameLst>
                                      </p:cBhvr>
                                      <p:tavLst>
                                        <p:tav tm="0">
                                          <p:val>
                                            <p:strVal val="#ppt_x"/>
                                          </p:val>
                                        </p:tav>
                                        <p:tav tm="100000">
                                          <p:val>
                                            <p:strVal val="#ppt_x"/>
                                          </p:val>
                                        </p:tav>
                                      </p:tavLst>
                                    </p:anim>
                                    <p:anim calcmode="lin" valueType="num">
                                      <p:cBhvr additive="base">
                                        <p:cTn id="3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1" nodeType="click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ppt_x</p:attrName>
                                        </p:attrNameLst>
                                      </p:cBhvr>
                                      <p:tavLst>
                                        <p:tav tm="0">
                                          <p:val>
                                            <p:strVal val="#ppt_x"/>
                                          </p:val>
                                        </p:tav>
                                        <p:tav tm="100000">
                                          <p:val>
                                            <p:strVal val="#ppt_x"/>
                                          </p:val>
                                        </p:tav>
                                      </p:tavLst>
                                    </p:anim>
                                    <p:anim calcmode="lin" valueType="num">
                                      <p:cBhvr additive="base">
                                        <p:cTn id="47" dur="500" fill="hold"/>
                                        <p:tgtEl>
                                          <p:spTgt spid="14"/>
                                        </p:tgtEl>
                                        <p:attrNameLst>
                                          <p:attrName>ppt_y</p:attrName>
                                        </p:attrNameLst>
                                      </p:cBhvr>
                                      <p:tavLst>
                                        <p:tav tm="0">
                                          <p:val>
                                            <p:strVal val="1+#ppt_h/2"/>
                                          </p:val>
                                        </p:tav>
                                        <p:tav tm="100000">
                                          <p:val>
                                            <p:strVal val="#ppt_y"/>
                                          </p:val>
                                        </p:tav>
                                      </p:tavLst>
                                    </p:anim>
                                  </p:childTnLst>
                                </p:cTn>
                              </p:par>
                              <p:par>
                                <p:cTn id="48" presetID="2" presetClass="entr" presetSubtype="4" fill="hold" grpId="1" nodeType="withEffect">
                                  <p:stCondLst>
                                    <p:cond delay="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ppt_x</p:attrName>
                                        </p:attrNameLst>
                                      </p:cBhvr>
                                      <p:tavLst>
                                        <p:tav tm="0">
                                          <p:val>
                                            <p:strVal val="#ppt_x"/>
                                          </p:val>
                                        </p:tav>
                                        <p:tav tm="100000">
                                          <p:val>
                                            <p:strVal val="#ppt_x"/>
                                          </p:val>
                                        </p:tav>
                                      </p:tavLst>
                                    </p:anim>
                                    <p:anim calcmode="lin" valueType="num">
                                      <p:cBhvr additive="base">
                                        <p:cTn id="5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bldLvl="0" animBg="1"/>
      <p:bldP spid="10" grpId="0" animBg="1"/>
      <p:bldP spid="10" grpId="1" bldLvl="0" animBg="1"/>
      <p:bldP spid="12" grpId="0" animBg="1"/>
      <p:bldP spid="12" grpId="1" bldLvl="0" animBg="1"/>
      <p:bldP spid="13" grpId="0" animBg="1"/>
      <p:bldP spid="13" grpId="1"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评价聚类模型</a:t>
            </a:r>
          </a:p>
        </p:txBody>
      </p:sp>
      <p:sp>
        <p:nvSpPr>
          <p:cNvPr id="4" name="矩形 3"/>
          <p:cNvSpPr/>
          <p:nvPr/>
        </p:nvSpPr>
        <p:spPr>
          <a:xfrm>
            <a:off x="591127" y="1351248"/>
            <a:ext cx="6096000" cy="2585323"/>
          </a:xfrm>
          <a:prstGeom prst="rect">
            <a:avLst/>
          </a:prstGeom>
        </p:spPr>
        <p:txBody>
          <a:bodyPr>
            <a:spAutoFit/>
          </a:bodyPr>
          <a:lstStyle/>
          <a:p>
            <a:r>
              <a:rPr lang="en-US" altLang="zh-CN" dirty="0"/>
              <a:t>from </a:t>
            </a:r>
            <a:r>
              <a:rPr lang="en-US" altLang="zh-CN" dirty="0" err="1"/>
              <a:t>sklearn.metrics</a:t>
            </a:r>
            <a:r>
              <a:rPr lang="en-US" altLang="zh-CN" dirty="0"/>
              <a:t> import </a:t>
            </a:r>
            <a:r>
              <a:rPr lang="en-US" altLang="zh-CN" dirty="0" err="1"/>
              <a:t>fowlkes_mallows_score</a:t>
            </a:r>
            <a:endParaRPr lang="en-US" altLang="zh-CN" dirty="0"/>
          </a:p>
          <a:p>
            <a:r>
              <a:rPr lang="en-US" altLang="zh-CN" dirty="0"/>
              <a:t>for </a:t>
            </a:r>
            <a:r>
              <a:rPr lang="en-US" altLang="zh-CN" dirty="0" err="1"/>
              <a:t>i</a:t>
            </a:r>
            <a:r>
              <a:rPr lang="en-US" altLang="zh-CN" dirty="0"/>
              <a:t> in range(1, 7):</a:t>
            </a:r>
          </a:p>
          <a:p>
            <a:r>
              <a:rPr lang="en-US" altLang="zh-CN" dirty="0"/>
              <a:t>    # </a:t>
            </a:r>
            <a:r>
              <a:rPr lang="zh-CN" altLang="en-US" dirty="0"/>
              <a:t>构建并训练模型</a:t>
            </a:r>
          </a:p>
          <a:p>
            <a:r>
              <a:rPr lang="zh-CN" altLang="en-US" dirty="0"/>
              <a:t>    </a:t>
            </a:r>
            <a:r>
              <a:rPr lang="en-US" altLang="zh-CN" dirty="0" err="1"/>
              <a:t>kmeans</a:t>
            </a:r>
            <a:r>
              <a:rPr lang="en-US" altLang="zh-CN" dirty="0"/>
              <a:t> = </a:t>
            </a:r>
            <a:r>
              <a:rPr lang="en-US" altLang="zh-CN" dirty="0" err="1"/>
              <a:t>KMeans</a:t>
            </a:r>
            <a:r>
              <a:rPr lang="en-US" altLang="zh-CN" dirty="0"/>
              <a:t>(</a:t>
            </a:r>
            <a:r>
              <a:rPr lang="en-US" altLang="zh-CN" dirty="0" err="1"/>
              <a:t>n_clusters</a:t>
            </a:r>
            <a:r>
              <a:rPr lang="en-US" altLang="zh-CN" dirty="0"/>
              <a:t>=</a:t>
            </a:r>
            <a:r>
              <a:rPr lang="en-US" altLang="zh-CN" dirty="0" err="1"/>
              <a:t>i</a:t>
            </a:r>
            <a:r>
              <a:rPr lang="en-US" altLang="zh-CN" dirty="0"/>
              <a:t>,</a:t>
            </a:r>
          </a:p>
          <a:p>
            <a:r>
              <a:rPr lang="en-US" altLang="zh-CN" dirty="0"/>
              <a:t>                  </a:t>
            </a:r>
            <a:r>
              <a:rPr lang="en-US" altLang="zh-CN" dirty="0" err="1"/>
              <a:t>random_state</a:t>
            </a:r>
            <a:r>
              <a:rPr lang="en-US" altLang="zh-CN" dirty="0"/>
              <a:t>=6).fit(</a:t>
            </a:r>
            <a:r>
              <a:rPr lang="en-US" altLang="zh-CN" dirty="0" err="1"/>
              <a:t>customer_data</a:t>
            </a:r>
            <a:r>
              <a:rPr lang="en-US" altLang="zh-CN" dirty="0"/>
              <a:t>)</a:t>
            </a:r>
          </a:p>
          <a:p>
            <a:r>
              <a:rPr lang="en-US" altLang="zh-CN" dirty="0"/>
              <a:t>    score = </a:t>
            </a:r>
            <a:r>
              <a:rPr lang="en-US" altLang="zh-CN" dirty="0" err="1"/>
              <a:t>fowlkes_mallows_score</a:t>
            </a:r>
            <a:r>
              <a:rPr lang="en-US" altLang="zh-CN" dirty="0"/>
              <a:t>(</a:t>
            </a:r>
            <a:r>
              <a:rPr lang="en-US" altLang="zh-CN" dirty="0" err="1"/>
              <a:t>customer_target</a:t>
            </a:r>
            <a:r>
              <a:rPr lang="en-US" altLang="zh-CN" dirty="0"/>
              <a:t>, </a:t>
            </a:r>
            <a:r>
              <a:rPr lang="en-US" altLang="zh-CN" dirty="0" err="1"/>
              <a:t>kmeans.labels</a:t>
            </a:r>
            <a:r>
              <a:rPr lang="en-US" altLang="zh-CN" dirty="0"/>
              <a:t>_)</a:t>
            </a:r>
          </a:p>
          <a:p>
            <a:r>
              <a:rPr lang="en-US" altLang="zh-CN" dirty="0"/>
              <a:t>    print('customer</a:t>
            </a:r>
            <a:r>
              <a:rPr lang="zh-CN" altLang="en-US" dirty="0"/>
              <a:t>数据聚</a:t>
            </a:r>
            <a:r>
              <a:rPr lang="en-US" altLang="zh-CN" dirty="0"/>
              <a:t>%d</a:t>
            </a:r>
            <a:r>
              <a:rPr lang="zh-CN" altLang="en-US" dirty="0"/>
              <a:t>类</a:t>
            </a:r>
            <a:r>
              <a:rPr lang="en-US" altLang="zh-CN" dirty="0"/>
              <a:t>FMI</a:t>
            </a:r>
            <a:r>
              <a:rPr lang="zh-CN" altLang="en-US" dirty="0"/>
              <a:t>评价分值为：</a:t>
            </a:r>
            <a:r>
              <a:rPr lang="en-US" altLang="zh-CN" dirty="0"/>
              <a:t>%f' % (</a:t>
            </a:r>
            <a:r>
              <a:rPr lang="en-US" altLang="zh-CN" dirty="0" err="1"/>
              <a:t>i</a:t>
            </a:r>
            <a:r>
              <a:rPr lang="en-US" altLang="zh-CN" dirty="0"/>
              <a:t>, score))</a:t>
            </a:r>
            <a:endParaRPr lang="zh-CN" altLang="en-US" dirty="0"/>
          </a:p>
        </p:txBody>
      </p:sp>
      <p:grpSp>
        <p:nvGrpSpPr>
          <p:cNvPr id="10" name="组合 9"/>
          <p:cNvGrpSpPr/>
          <p:nvPr/>
        </p:nvGrpSpPr>
        <p:grpSpPr>
          <a:xfrm>
            <a:off x="7350645" y="1728684"/>
            <a:ext cx="3877032" cy="1716480"/>
            <a:chOff x="7576059" y="1700975"/>
            <a:chExt cx="3523809" cy="1480387"/>
          </a:xfrm>
        </p:grpSpPr>
        <p:pic>
          <p:nvPicPr>
            <p:cNvPr id="3" name="图片 2"/>
            <p:cNvPicPr>
              <a:picLocks noChangeAspect="1"/>
            </p:cNvPicPr>
            <p:nvPr/>
          </p:nvPicPr>
          <p:blipFill>
            <a:blip r:embed="rId2"/>
            <a:stretch>
              <a:fillRect/>
            </a:stretch>
          </p:blipFill>
          <p:spPr>
            <a:xfrm>
              <a:off x="7576059" y="1700975"/>
              <a:ext cx="3523809" cy="666667"/>
            </a:xfrm>
            <a:prstGeom prst="rect">
              <a:avLst/>
            </a:prstGeom>
          </p:spPr>
        </p:pic>
        <p:pic>
          <p:nvPicPr>
            <p:cNvPr id="7" name="图片 6"/>
            <p:cNvPicPr>
              <a:picLocks noChangeAspect="1"/>
            </p:cNvPicPr>
            <p:nvPr/>
          </p:nvPicPr>
          <p:blipFill>
            <a:blip r:embed="rId3"/>
            <a:stretch>
              <a:fillRect/>
            </a:stretch>
          </p:blipFill>
          <p:spPr>
            <a:xfrm>
              <a:off x="7576059" y="2367642"/>
              <a:ext cx="3523809" cy="227776"/>
            </a:xfrm>
            <a:prstGeom prst="rect">
              <a:avLst/>
            </a:prstGeom>
          </p:spPr>
        </p:pic>
        <p:pic>
          <p:nvPicPr>
            <p:cNvPr id="8" name="图片 7"/>
            <p:cNvPicPr>
              <a:picLocks noChangeAspect="1"/>
            </p:cNvPicPr>
            <p:nvPr/>
          </p:nvPicPr>
          <p:blipFill>
            <a:blip r:embed="rId4"/>
            <a:stretch>
              <a:fillRect/>
            </a:stretch>
          </p:blipFill>
          <p:spPr>
            <a:xfrm>
              <a:off x="7576059" y="2595417"/>
              <a:ext cx="3523809" cy="267855"/>
            </a:xfrm>
            <a:prstGeom prst="rect">
              <a:avLst/>
            </a:prstGeom>
          </p:spPr>
        </p:pic>
        <p:pic>
          <p:nvPicPr>
            <p:cNvPr id="9" name="图片 8"/>
            <p:cNvPicPr>
              <a:picLocks noChangeAspect="1"/>
            </p:cNvPicPr>
            <p:nvPr/>
          </p:nvPicPr>
          <p:blipFill>
            <a:blip r:embed="rId5"/>
            <a:stretch>
              <a:fillRect/>
            </a:stretch>
          </p:blipFill>
          <p:spPr>
            <a:xfrm>
              <a:off x="7576059" y="2863272"/>
              <a:ext cx="3523809" cy="318090"/>
            </a:xfrm>
            <a:prstGeom prst="rect">
              <a:avLst/>
            </a:prstGeom>
          </p:spPr>
        </p:pic>
      </p:grpSp>
    </p:spTree>
    <p:extLst>
      <p:ext uri="{BB962C8B-B14F-4D97-AF65-F5344CB8AC3E}">
        <p14:creationId xmlns:p14="http://schemas.microsoft.com/office/powerpoint/2010/main" val="7810726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评价聚类模型</a:t>
            </a:r>
          </a:p>
        </p:txBody>
      </p:sp>
      <p:sp>
        <p:nvSpPr>
          <p:cNvPr id="2" name="矩形 1"/>
          <p:cNvSpPr/>
          <p:nvPr/>
        </p:nvSpPr>
        <p:spPr>
          <a:xfrm>
            <a:off x="322542" y="1194414"/>
            <a:ext cx="6096000" cy="3693319"/>
          </a:xfrm>
          <a:prstGeom prst="rect">
            <a:avLst/>
          </a:prstGeom>
        </p:spPr>
        <p:txBody>
          <a:bodyPr>
            <a:spAutoFit/>
          </a:bodyPr>
          <a:lstStyle/>
          <a:p>
            <a:r>
              <a:rPr lang="en-US" altLang="zh-CN" dirty="0"/>
              <a:t>from </a:t>
            </a:r>
            <a:r>
              <a:rPr lang="en-US" altLang="zh-CN" dirty="0" err="1"/>
              <a:t>sklearn.metrics</a:t>
            </a:r>
            <a:r>
              <a:rPr lang="en-US" altLang="zh-CN" dirty="0"/>
              <a:t> import </a:t>
            </a:r>
            <a:r>
              <a:rPr lang="en-US" altLang="zh-CN" dirty="0" err="1"/>
              <a:t>silhouette_score</a:t>
            </a:r>
            <a:endParaRPr lang="en-US" altLang="zh-CN" dirty="0"/>
          </a:p>
          <a:p>
            <a:r>
              <a:rPr lang="en-US" altLang="zh-CN" dirty="0" err="1"/>
              <a:t>silhouettteScore</a:t>
            </a:r>
            <a:r>
              <a:rPr lang="en-US" altLang="zh-CN" dirty="0"/>
              <a:t> = []</a:t>
            </a:r>
          </a:p>
          <a:p>
            <a:r>
              <a:rPr lang="en-US" altLang="zh-CN" dirty="0"/>
              <a:t>for </a:t>
            </a:r>
            <a:r>
              <a:rPr lang="en-US" altLang="zh-CN" dirty="0" err="1"/>
              <a:t>i</a:t>
            </a:r>
            <a:r>
              <a:rPr lang="en-US" altLang="zh-CN" dirty="0"/>
              <a:t> in range(2, 10):</a:t>
            </a:r>
          </a:p>
          <a:p>
            <a:r>
              <a:rPr lang="en-US" altLang="zh-CN" dirty="0"/>
              <a:t>    # </a:t>
            </a:r>
            <a:r>
              <a:rPr lang="zh-CN" altLang="en-US" dirty="0"/>
              <a:t>构建并训练模型</a:t>
            </a:r>
          </a:p>
          <a:p>
            <a:r>
              <a:rPr lang="zh-CN" altLang="en-US" dirty="0"/>
              <a:t>    </a:t>
            </a:r>
            <a:r>
              <a:rPr lang="en-US" altLang="zh-CN" dirty="0" err="1"/>
              <a:t>kmeans</a:t>
            </a:r>
            <a:r>
              <a:rPr lang="en-US" altLang="zh-CN" dirty="0"/>
              <a:t> = </a:t>
            </a:r>
            <a:r>
              <a:rPr lang="en-US" altLang="zh-CN" dirty="0" err="1"/>
              <a:t>KMeans</a:t>
            </a:r>
            <a:r>
              <a:rPr lang="en-US" altLang="zh-CN" dirty="0"/>
              <a:t>(</a:t>
            </a:r>
            <a:r>
              <a:rPr lang="en-US" altLang="zh-CN" dirty="0" err="1"/>
              <a:t>n_clusters</a:t>
            </a:r>
            <a:r>
              <a:rPr lang="en-US" altLang="zh-CN" dirty="0"/>
              <a:t>=</a:t>
            </a:r>
            <a:r>
              <a:rPr lang="en-US" altLang="zh-CN" dirty="0" err="1"/>
              <a:t>i</a:t>
            </a:r>
            <a:r>
              <a:rPr lang="en-US" altLang="zh-CN" dirty="0"/>
              <a:t>,</a:t>
            </a:r>
          </a:p>
          <a:p>
            <a:r>
              <a:rPr lang="en-US" altLang="zh-CN" dirty="0"/>
              <a:t>                    </a:t>
            </a:r>
            <a:r>
              <a:rPr lang="en-US" altLang="zh-CN" dirty="0" err="1"/>
              <a:t>random_state</a:t>
            </a:r>
            <a:r>
              <a:rPr lang="en-US" altLang="zh-CN" dirty="0"/>
              <a:t>=6).fit(</a:t>
            </a:r>
            <a:r>
              <a:rPr lang="en-US" altLang="zh-CN" dirty="0" err="1"/>
              <a:t>customer_data</a:t>
            </a:r>
            <a:r>
              <a:rPr lang="en-US" altLang="zh-CN" dirty="0"/>
              <a:t>)</a:t>
            </a:r>
          </a:p>
          <a:p>
            <a:r>
              <a:rPr lang="en-US" altLang="zh-CN" dirty="0"/>
              <a:t>    score = </a:t>
            </a:r>
            <a:r>
              <a:rPr lang="en-US" altLang="zh-CN" dirty="0" err="1"/>
              <a:t>silhouette_score</a:t>
            </a:r>
            <a:r>
              <a:rPr lang="en-US" altLang="zh-CN" dirty="0"/>
              <a:t>(</a:t>
            </a:r>
            <a:r>
              <a:rPr lang="en-US" altLang="zh-CN" dirty="0" err="1"/>
              <a:t>customer_data</a:t>
            </a:r>
            <a:r>
              <a:rPr lang="en-US" altLang="zh-CN" dirty="0"/>
              <a:t>, </a:t>
            </a:r>
            <a:r>
              <a:rPr lang="en-US" altLang="zh-CN" dirty="0" err="1"/>
              <a:t>kmeans.labels</a:t>
            </a:r>
            <a:r>
              <a:rPr lang="en-US" altLang="zh-CN" dirty="0"/>
              <a:t>_)</a:t>
            </a:r>
          </a:p>
          <a:p>
            <a:r>
              <a:rPr lang="en-US" altLang="zh-CN" dirty="0"/>
              <a:t>    </a:t>
            </a:r>
            <a:r>
              <a:rPr lang="en-US" altLang="zh-CN" dirty="0" err="1"/>
              <a:t>silhouettteScore.append</a:t>
            </a:r>
            <a:r>
              <a:rPr lang="en-US" altLang="zh-CN" dirty="0"/>
              <a:t>(score)</a:t>
            </a:r>
          </a:p>
          <a:p>
            <a:r>
              <a:rPr lang="en-US" altLang="zh-CN" dirty="0" err="1"/>
              <a:t>plt.figure</a:t>
            </a:r>
            <a:r>
              <a:rPr lang="en-US" altLang="zh-CN" dirty="0"/>
              <a:t>(</a:t>
            </a:r>
            <a:r>
              <a:rPr lang="en-US" altLang="zh-CN" dirty="0" err="1"/>
              <a:t>figsize</a:t>
            </a:r>
            <a:r>
              <a:rPr lang="en-US" altLang="zh-CN" dirty="0"/>
              <a:t>=(10, 6))</a:t>
            </a:r>
          </a:p>
          <a:p>
            <a:r>
              <a:rPr lang="en-US" altLang="zh-CN" dirty="0" err="1"/>
              <a:t>plt.plot</a:t>
            </a:r>
            <a:r>
              <a:rPr lang="en-US" altLang="zh-CN" dirty="0"/>
              <a:t>(range(2, 10), </a:t>
            </a:r>
            <a:r>
              <a:rPr lang="en-US" altLang="zh-CN" dirty="0" err="1"/>
              <a:t>silhouettteScore</a:t>
            </a:r>
            <a:r>
              <a:rPr lang="en-US" altLang="zh-CN" dirty="0"/>
              <a:t>,</a:t>
            </a:r>
          </a:p>
          <a:p>
            <a:r>
              <a:rPr lang="en-US" altLang="zh-CN" dirty="0"/>
              <a:t>linewidth=1.5, </a:t>
            </a:r>
            <a:r>
              <a:rPr lang="en-US" altLang="zh-CN" dirty="0" err="1"/>
              <a:t>linestyle</a:t>
            </a:r>
            <a:r>
              <a:rPr lang="en-US" altLang="zh-CN" dirty="0"/>
              <a:t>='-')</a:t>
            </a:r>
          </a:p>
          <a:p>
            <a:r>
              <a:rPr lang="en-US" altLang="zh-CN" dirty="0" err="1"/>
              <a:t>plt.savefig</a:t>
            </a:r>
            <a:r>
              <a:rPr lang="en-US" altLang="zh-CN" dirty="0"/>
              <a:t>('../</a:t>
            </a:r>
            <a:r>
              <a:rPr lang="en-US" altLang="zh-CN" dirty="0" err="1"/>
              <a:t>tmp</a:t>
            </a:r>
            <a:r>
              <a:rPr lang="en-US" altLang="zh-CN" dirty="0"/>
              <a:t>/</a:t>
            </a:r>
            <a:r>
              <a:rPr lang="zh-CN" altLang="en-US" dirty="0"/>
              <a:t>轮廓系数</a:t>
            </a:r>
            <a:r>
              <a:rPr lang="en-US" altLang="zh-CN" dirty="0"/>
              <a:t>.jpg', dpi=1080)</a:t>
            </a:r>
          </a:p>
          <a:p>
            <a:r>
              <a:rPr lang="en-US" altLang="zh-CN" dirty="0" err="1"/>
              <a:t>plt.show</a:t>
            </a:r>
            <a:r>
              <a:rPr lang="en-US" altLang="zh-CN" dirty="0"/>
              <a:t>()</a:t>
            </a:r>
            <a:endParaRPr lang="zh-CN" altLang="en-US" dirty="0"/>
          </a:p>
        </p:txBody>
      </p:sp>
      <p:pic>
        <p:nvPicPr>
          <p:cNvPr id="6" name="图片 5"/>
          <p:cNvPicPr>
            <a:picLocks noChangeAspect="1"/>
          </p:cNvPicPr>
          <p:nvPr/>
        </p:nvPicPr>
        <p:blipFill>
          <a:blip r:embed="rId2"/>
          <a:stretch>
            <a:fillRect/>
          </a:stretch>
        </p:blipFill>
        <p:spPr>
          <a:xfrm>
            <a:off x="6159924" y="1390057"/>
            <a:ext cx="5417157" cy="3302031"/>
          </a:xfrm>
          <a:prstGeom prst="rect">
            <a:avLst/>
          </a:prstGeom>
        </p:spPr>
      </p:pic>
    </p:spTree>
    <p:extLst>
      <p:ext uri="{BB962C8B-B14F-4D97-AF65-F5344CB8AC3E}">
        <p14:creationId xmlns:p14="http://schemas.microsoft.com/office/powerpoint/2010/main" val="9363913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评价聚类模型</a:t>
            </a:r>
          </a:p>
        </p:txBody>
      </p:sp>
      <p:sp>
        <p:nvSpPr>
          <p:cNvPr id="3" name="矩形 2"/>
          <p:cNvSpPr/>
          <p:nvPr/>
        </p:nvSpPr>
        <p:spPr>
          <a:xfrm>
            <a:off x="914400" y="1609867"/>
            <a:ext cx="6096000" cy="2585323"/>
          </a:xfrm>
          <a:prstGeom prst="rect">
            <a:avLst/>
          </a:prstGeom>
        </p:spPr>
        <p:txBody>
          <a:bodyPr>
            <a:spAutoFit/>
          </a:bodyPr>
          <a:lstStyle/>
          <a:p>
            <a:r>
              <a:rPr lang="en-US" altLang="zh-CN" dirty="0"/>
              <a:t>from </a:t>
            </a:r>
            <a:r>
              <a:rPr lang="en-US" altLang="zh-CN" dirty="0" err="1"/>
              <a:t>sklearn.metrics</a:t>
            </a:r>
            <a:r>
              <a:rPr lang="en-US" altLang="zh-CN" dirty="0"/>
              <a:t> import </a:t>
            </a:r>
            <a:r>
              <a:rPr lang="en-US" altLang="zh-CN" dirty="0" err="1"/>
              <a:t>calinski_harabasz_score</a:t>
            </a:r>
            <a:endParaRPr lang="en-US" altLang="zh-CN" dirty="0"/>
          </a:p>
          <a:p>
            <a:r>
              <a:rPr lang="en-US" altLang="zh-CN" dirty="0"/>
              <a:t>for </a:t>
            </a:r>
            <a:r>
              <a:rPr lang="en-US" altLang="zh-CN" dirty="0" err="1"/>
              <a:t>i</a:t>
            </a:r>
            <a:r>
              <a:rPr lang="en-US" altLang="zh-CN" dirty="0"/>
              <a:t> in range(2, 5):</a:t>
            </a:r>
          </a:p>
          <a:p>
            <a:r>
              <a:rPr lang="en-US" altLang="zh-CN" dirty="0"/>
              <a:t>    # </a:t>
            </a:r>
            <a:r>
              <a:rPr lang="zh-CN" altLang="en-US" dirty="0"/>
              <a:t>构建并训练模型</a:t>
            </a:r>
          </a:p>
          <a:p>
            <a:r>
              <a:rPr lang="zh-CN" altLang="en-US" dirty="0"/>
              <a:t>    </a:t>
            </a:r>
            <a:r>
              <a:rPr lang="en-US" altLang="zh-CN" dirty="0" err="1"/>
              <a:t>kmeans</a:t>
            </a:r>
            <a:r>
              <a:rPr lang="en-US" altLang="zh-CN" dirty="0"/>
              <a:t> = </a:t>
            </a:r>
            <a:r>
              <a:rPr lang="en-US" altLang="zh-CN" dirty="0" err="1"/>
              <a:t>KMeans</a:t>
            </a:r>
            <a:r>
              <a:rPr lang="en-US" altLang="zh-CN" dirty="0"/>
              <a:t>(</a:t>
            </a:r>
            <a:r>
              <a:rPr lang="en-US" altLang="zh-CN" dirty="0" err="1"/>
              <a:t>n_clusters</a:t>
            </a:r>
            <a:r>
              <a:rPr lang="en-US" altLang="zh-CN" dirty="0"/>
              <a:t>=</a:t>
            </a:r>
            <a:r>
              <a:rPr lang="en-US" altLang="zh-CN" dirty="0" err="1"/>
              <a:t>i</a:t>
            </a:r>
            <a:r>
              <a:rPr lang="en-US" altLang="zh-CN" dirty="0"/>
              <a:t>,</a:t>
            </a:r>
          </a:p>
          <a:p>
            <a:r>
              <a:rPr lang="en-US" altLang="zh-CN" dirty="0"/>
              <a:t>                    </a:t>
            </a:r>
            <a:r>
              <a:rPr lang="en-US" altLang="zh-CN" dirty="0" err="1"/>
              <a:t>random_state</a:t>
            </a:r>
            <a:r>
              <a:rPr lang="en-US" altLang="zh-CN" dirty="0"/>
              <a:t>=2).fit(</a:t>
            </a:r>
            <a:r>
              <a:rPr lang="en-US" altLang="zh-CN" dirty="0" err="1"/>
              <a:t>customer_data</a:t>
            </a:r>
            <a:r>
              <a:rPr lang="en-US" altLang="zh-CN" dirty="0"/>
              <a:t>)</a:t>
            </a:r>
          </a:p>
          <a:p>
            <a:r>
              <a:rPr lang="en-US" altLang="zh-CN" dirty="0"/>
              <a:t>    score = </a:t>
            </a:r>
            <a:r>
              <a:rPr lang="en-US" altLang="zh-CN" dirty="0" err="1"/>
              <a:t>calinski_harabasz_score</a:t>
            </a:r>
            <a:r>
              <a:rPr lang="en-US" altLang="zh-CN" dirty="0"/>
              <a:t>(</a:t>
            </a:r>
            <a:r>
              <a:rPr lang="en-US" altLang="zh-CN" dirty="0" err="1"/>
              <a:t>customer_data</a:t>
            </a:r>
            <a:r>
              <a:rPr lang="en-US" altLang="zh-CN" dirty="0"/>
              <a:t>, </a:t>
            </a:r>
            <a:r>
              <a:rPr lang="en-US" altLang="zh-CN" dirty="0" err="1"/>
              <a:t>kmeans.labels</a:t>
            </a:r>
            <a:r>
              <a:rPr lang="en-US" altLang="zh-CN" dirty="0"/>
              <a:t>_)</a:t>
            </a:r>
          </a:p>
          <a:p>
            <a:r>
              <a:rPr lang="en-US" altLang="zh-CN" dirty="0"/>
              <a:t>    print('customer</a:t>
            </a:r>
            <a:r>
              <a:rPr lang="zh-CN" altLang="en-US" dirty="0"/>
              <a:t>数据聚</a:t>
            </a:r>
            <a:r>
              <a:rPr lang="en-US" altLang="zh-CN" dirty="0"/>
              <a:t>%d</a:t>
            </a:r>
            <a:r>
              <a:rPr lang="zh-CN" altLang="en-US" dirty="0"/>
              <a:t>类</a:t>
            </a:r>
            <a:r>
              <a:rPr lang="en-US" altLang="zh-CN" dirty="0" err="1"/>
              <a:t>calinski_harabaz</a:t>
            </a:r>
            <a:r>
              <a:rPr lang="zh-CN" altLang="en-US" dirty="0"/>
              <a:t>指数为：</a:t>
            </a:r>
            <a:r>
              <a:rPr lang="en-US" altLang="zh-CN" dirty="0"/>
              <a:t>%f' % (</a:t>
            </a:r>
            <a:r>
              <a:rPr lang="en-US" altLang="zh-CN" dirty="0" err="1"/>
              <a:t>i</a:t>
            </a:r>
            <a:r>
              <a:rPr lang="en-US" altLang="zh-CN" dirty="0"/>
              <a:t>, score))</a:t>
            </a:r>
            <a:endParaRPr lang="zh-CN" altLang="en-US" dirty="0"/>
          </a:p>
        </p:txBody>
      </p:sp>
      <p:grpSp>
        <p:nvGrpSpPr>
          <p:cNvPr id="8" name="组合 7"/>
          <p:cNvGrpSpPr/>
          <p:nvPr/>
        </p:nvGrpSpPr>
        <p:grpSpPr>
          <a:xfrm>
            <a:off x="7109515" y="2146907"/>
            <a:ext cx="4602193" cy="1187419"/>
            <a:chOff x="7257298" y="1491127"/>
            <a:chExt cx="4142858" cy="854908"/>
          </a:xfrm>
        </p:grpSpPr>
        <p:pic>
          <p:nvPicPr>
            <p:cNvPr id="4" name="图片 3"/>
            <p:cNvPicPr>
              <a:picLocks noChangeAspect="1"/>
            </p:cNvPicPr>
            <p:nvPr/>
          </p:nvPicPr>
          <p:blipFill>
            <a:blip r:embed="rId2"/>
            <a:stretch>
              <a:fillRect/>
            </a:stretch>
          </p:blipFill>
          <p:spPr>
            <a:xfrm>
              <a:off x="7257298" y="1491127"/>
              <a:ext cx="4142857" cy="495238"/>
            </a:xfrm>
            <a:prstGeom prst="rect">
              <a:avLst/>
            </a:prstGeom>
          </p:spPr>
        </p:pic>
        <p:pic>
          <p:nvPicPr>
            <p:cNvPr id="7" name="图片 6"/>
            <p:cNvPicPr>
              <a:picLocks noChangeAspect="1"/>
            </p:cNvPicPr>
            <p:nvPr/>
          </p:nvPicPr>
          <p:blipFill>
            <a:blip r:embed="rId3"/>
            <a:stretch>
              <a:fillRect/>
            </a:stretch>
          </p:blipFill>
          <p:spPr>
            <a:xfrm>
              <a:off x="7257298" y="1986364"/>
              <a:ext cx="4142858" cy="359671"/>
            </a:xfrm>
            <a:prstGeom prst="rect">
              <a:avLst/>
            </a:prstGeom>
          </p:spPr>
        </p:pic>
      </p:grpSp>
    </p:spTree>
    <p:extLst>
      <p:ext uri="{BB962C8B-B14F-4D97-AF65-F5344CB8AC3E}">
        <p14:creationId xmlns:p14="http://schemas.microsoft.com/office/powerpoint/2010/main" val="3715084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评价聚类模型</a:t>
            </a:r>
          </a:p>
        </p:txBody>
      </p:sp>
      <p:sp>
        <p:nvSpPr>
          <p:cNvPr id="6" name="内容占位符 5"/>
          <p:cNvSpPr>
            <a:spLocks noGrp="1"/>
          </p:cNvSpPr>
          <p:nvPr>
            <p:ph idx="1"/>
          </p:nvPr>
        </p:nvSpPr>
        <p:spPr>
          <a:xfrm>
            <a:off x="423545" y="1176020"/>
            <a:ext cx="11107420" cy="4877435"/>
          </a:xfrm>
        </p:spPr>
        <p:txBody>
          <a:bodyPr/>
          <a:lstStyle/>
          <a:p>
            <a:r>
              <a:rPr lang="zh-CN" altLang="en-US" dirty="0"/>
              <a:t>除了轮廓系数评价法以外的评价方法，在不考虑业务场景的情况下都是得分越高，其效果越好，最高分值为1。</a:t>
            </a:r>
          </a:p>
          <a:p>
            <a:r>
              <a:rPr lang="zh-CN" altLang="en-US" dirty="0"/>
              <a:t>而轮廓系数评价法则需要判断不同类别数目情况下的轮廓系数的走势，寻找最优的聚类数目。</a:t>
            </a:r>
          </a:p>
          <a:p>
            <a:r>
              <a:rPr lang="zh-CN" altLang="en-US" dirty="0"/>
              <a:t>综合以上聚类评价方法，在真实值作为参考的情况下，几种方法均可以很好地评估聚类模型。</a:t>
            </a:r>
          </a:p>
          <a:p>
            <a:r>
              <a:rPr lang="zh-CN" altLang="en-US" dirty="0"/>
              <a:t>在没有真实值作为参考的时候，轮廓系数评价法和Calinski-Harabasz指数评价法可以结合使用。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3" name="Rectangle 2"/>
          <p:cNvSpPr>
            <a:spLocks noChangeArrowheads="1"/>
          </p:cNvSpPr>
          <p:nvPr/>
        </p:nvSpPr>
        <p:spPr bwMode="gray">
          <a:xfrm>
            <a:off x="1524003" y="-318796"/>
            <a:ext cx="184731" cy="238848"/>
          </a:xfrm>
          <a:prstGeom prst="rect">
            <a:avLst/>
          </a:prstGeom>
          <a:noFill/>
          <a:ln>
            <a:noFill/>
          </a:ln>
          <a:effectLst>
            <a:outerShdw dist="107763" dir="2700000" algn="ctr" rotWithShape="0">
              <a:srgbClr val="B2B2B2">
                <a:alpha val="5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nchor="ctr">
            <a:spAutoFit/>
          </a:bodyPr>
          <a:lstStyle>
            <a:lvl1pPr eaLnBrk="0" hangingPunct="0">
              <a:defRPr sz="900">
                <a:solidFill>
                  <a:srgbClr val="000000"/>
                </a:solidFill>
                <a:latin typeface="Arial" panose="020B0604020202020204" pitchFamily="34" charset="0"/>
                <a:ea typeface="宋体" panose="02010600030101010101" pitchFamily="2" charset="-122"/>
              </a:defRPr>
            </a:lvl1pPr>
            <a:lvl2pPr marL="742950" indent="-285750" eaLnBrk="0" hangingPunct="0">
              <a:defRPr sz="900">
                <a:solidFill>
                  <a:srgbClr val="000000"/>
                </a:solidFill>
                <a:latin typeface="Arial" panose="020B0604020202020204" pitchFamily="34" charset="0"/>
                <a:ea typeface="宋体" panose="02010600030101010101" pitchFamily="2" charset="-122"/>
              </a:defRPr>
            </a:lvl2pPr>
            <a:lvl3pPr marL="1143000" indent="-228600" eaLnBrk="0" hangingPunct="0">
              <a:defRPr sz="900">
                <a:solidFill>
                  <a:srgbClr val="000000"/>
                </a:solidFill>
                <a:latin typeface="Arial" panose="020B0604020202020204" pitchFamily="34" charset="0"/>
                <a:ea typeface="宋体" panose="02010600030101010101" pitchFamily="2" charset="-122"/>
              </a:defRPr>
            </a:lvl3pPr>
            <a:lvl4pPr marL="1600200" indent="-228600" eaLnBrk="0" hangingPunct="0">
              <a:defRPr sz="900">
                <a:solidFill>
                  <a:srgbClr val="000000"/>
                </a:solidFill>
                <a:latin typeface="Arial" panose="020B0604020202020204" pitchFamily="34" charset="0"/>
                <a:ea typeface="宋体" panose="02010600030101010101" pitchFamily="2" charset="-122"/>
              </a:defRPr>
            </a:lvl4pPr>
            <a:lvl5pPr marL="2057400" indent="-228600" eaLnBrk="0" hangingPunct="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eaLnBrk="1" hangingPunct="1"/>
            <a:endParaRPr lang="zh-CN" altLang="en-US" sz="950"/>
          </a:p>
        </p:txBody>
      </p:sp>
      <p:sp>
        <p:nvSpPr>
          <p:cNvPr id="10246" name="Rectangle 6"/>
          <p:cNvSpPr>
            <a:spLocks noChangeArrowheads="1"/>
          </p:cNvSpPr>
          <p:nvPr/>
        </p:nvSpPr>
        <p:spPr bwMode="auto">
          <a:xfrm>
            <a:off x="1524003" y="-392117"/>
            <a:ext cx="184731" cy="385490"/>
          </a:xfrm>
          <a:prstGeom prst="rect">
            <a:avLst/>
          </a:prstGeom>
          <a:noFill/>
          <a:ln w="9525">
            <a:noFill/>
            <a:miter lim="800000"/>
          </a:ln>
          <a:effectLst>
            <a:prstShdw prst="shdw17" dist="17961" dir="2700000">
              <a:schemeClr val="accent1">
                <a:gamma/>
                <a:shade val="60000"/>
                <a:invGamma/>
              </a:schemeClr>
            </a:prstShdw>
          </a:effectLst>
        </p:spPr>
        <p:txBody>
          <a:bodyPr wrap="none" anchor="ctr">
            <a:spAutoFit/>
          </a:bodyPr>
          <a:lstStyle/>
          <a:p>
            <a:pPr>
              <a:defRPr/>
            </a:pPr>
            <a:endParaRPr lang="zh-CN" altLang="en-US" sz="1905">
              <a:solidFill>
                <a:srgbClr val="000000"/>
              </a:solidFill>
              <a:latin typeface="Arial" panose="020B0604020202020204" pitchFamily="34" charset="0"/>
            </a:endParaRPr>
          </a:p>
        </p:txBody>
      </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204bd931-5090-4578-966a-6a9d0916ecdf}"/>
  <p:tag name="TABLE_ENDDRAG_ORIGIN_RECT" val="732*171"/>
  <p:tag name="TABLE_ENDDRAG_RECT" val="121*184*732*171"/>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58*313"/>
  <p:tag name="TABLE_ENDDRAG_RECT" val="100*159*758*313"/>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65*285"/>
  <p:tag name="TABLE_ENDDRAG_RECT" val="90*184*765*285"/>
</p:tagLst>
</file>

<file path=ppt/tags/tag4.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442*250"/>
  <p:tag name="TABLE_ENDDRAG_RECT" val="253*146*443*250"/>
</p:tagLst>
</file>

<file path=ppt/tags/tag5.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810*400"/>
  <p:tag name="TABLE_ENDDRAG_RECT" val="82*109*810*400"/>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58*313"/>
  <p:tag name="TABLE_ENDDRAG_RECT" val="100*159*758*313"/>
</p:tagLst>
</file>

<file path=ppt/tags/tag7.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58*313"/>
  <p:tag name="TABLE_ENDDRAG_RECT" val="100*159*758*313"/>
</p:tagLst>
</file>

<file path=ppt/tags/tag8.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58*313"/>
  <p:tag name="TABLE_ENDDRAG_RECT" val="100*159*758*313"/>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c69bcb38-5352-4020-b718-18e538aa627e}"/>
  <p:tag name="TABLE_ENDDRAG_ORIGIN_RECT" val="775*148"/>
  <p:tag name="TABLE_ENDDRAG_RECT" val="142*169*775*148"/>
</p:tagLst>
</file>

<file path=ppt/tags/tag10.xml><?xml version="1.0" encoding="utf-8"?>
<p:tagLst xmlns:a="http://schemas.openxmlformats.org/drawingml/2006/main" xmlns:r="http://schemas.openxmlformats.org/officeDocument/2006/relationships" xmlns:p="http://schemas.openxmlformats.org/presentationml/2006/main">
  <p:tag name="KSO_WM_UNIT_TABLE_BEAUTIFY" val="smartTable{c69bcb38-5352-4020-b718-18e538aa627e}"/>
  <p:tag name="TABLE_ENDDRAG_ORIGIN_RECT" val="773*353"/>
  <p:tag name="TABLE_ENDDRAG_RECT" val="134*133*773*353"/>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009a4882-d659-4813-8c47-ef2d6831bcb0}"/>
  <p:tag name="TABLE_ENDDRAG_ORIGIN_RECT" val="758*313"/>
  <p:tag name="TABLE_ENDDRAG_RECT" val="100*159*758*313"/>
</p:tagLst>
</file>

<file path=ppt/theme/theme1.xml><?xml version="1.0" encoding="utf-8"?>
<a:theme xmlns:a="http://schemas.openxmlformats.org/drawingml/2006/main" name="PPT模板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TotalTime>
  <Words>4544</Words>
  <Application>Microsoft Macintosh PowerPoint</Application>
  <PresentationFormat>宽屏</PresentationFormat>
  <Paragraphs>459</Paragraphs>
  <Slides>44</Slides>
  <Notes>4</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4" baseType="lpstr">
      <vt:lpstr>等线</vt:lpstr>
      <vt:lpstr>宋体</vt:lpstr>
      <vt:lpstr>微软雅黑</vt:lpstr>
      <vt:lpstr>Arial</vt:lpstr>
      <vt:lpstr>Calibri</vt:lpstr>
      <vt:lpstr>Helvetica Neue Light</vt:lpstr>
      <vt:lpstr>Times New Roman</vt:lpstr>
      <vt:lpstr>Wingdings</vt:lpstr>
      <vt:lpstr>PPT模板主题</vt:lpstr>
      <vt:lpstr>Visio.Drawing.15</vt:lpstr>
      <vt:lpstr>scikit-learn机器学习基础（1）</vt:lpstr>
      <vt:lpstr>机器学习简介</vt:lpstr>
      <vt:lpstr>机器学习简介</vt:lpstr>
      <vt:lpstr>机器学习简介</vt:lpstr>
      <vt:lpstr>Python机器学习库scikit-learn</vt:lpstr>
      <vt:lpstr>Python机器学习库scikit-learn</vt:lpstr>
      <vt:lpstr>Python机器学习库scikit-learn</vt:lpstr>
      <vt:lpstr>Python机器学习库scikit-learn</vt:lpstr>
      <vt:lpstr>Python机器学习库scikit-learn</vt:lpstr>
      <vt:lpstr>Python机器学习库scikit-learn</vt:lpstr>
      <vt:lpstr>目录</vt:lpstr>
      <vt:lpstr>加载datasets模块中的数据集</vt:lpstr>
      <vt:lpstr>加载datasets模块中的数据集</vt:lpstr>
      <vt:lpstr>加载datasets模块中的数据集</vt:lpstr>
      <vt:lpstr>加载datasets模块中的数据集</vt:lpstr>
      <vt:lpstr>将数据集划分为训练集和测试集</vt:lpstr>
      <vt:lpstr>将数据集划分为训练集和测试集</vt:lpstr>
      <vt:lpstr>将数据集划分为训练集和测试集</vt:lpstr>
      <vt:lpstr>将数据集划分为训练集和测试集</vt:lpstr>
      <vt:lpstr>将数据集划分为训练集和测试集</vt:lpstr>
      <vt:lpstr>将数据集划分为训练集和测试集</vt:lpstr>
      <vt:lpstr>使用sklearn转换器进行数据预处理与降维</vt:lpstr>
      <vt:lpstr>使用sklearn转换器进行数据预处理与降维</vt:lpstr>
      <vt:lpstr>使用sklearn转换器进行数据预处理与降维</vt:lpstr>
      <vt:lpstr>使用sklearn转换器进行数据预处理与降维</vt:lpstr>
      <vt:lpstr>使用sklearn转换器进行数据预处理与降维</vt:lpstr>
      <vt:lpstr>使用sklearn转换器进行数据预处理与降维</vt:lpstr>
      <vt:lpstr>使用sklearn转换器进行数据预处理与降维</vt:lpstr>
      <vt:lpstr>目录</vt:lpstr>
      <vt:lpstr>使用sklearn估计器构建聚类模型</vt:lpstr>
      <vt:lpstr>使用sklearn估计器构建聚类模型</vt:lpstr>
      <vt:lpstr>使用sklearn估计器构建聚类模型</vt:lpstr>
      <vt:lpstr>使用sklearn估计器构建聚类模型</vt:lpstr>
      <vt:lpstr>使用sklearn估计器构建聚类模型</vt:lpstr>
      <vt:lpstr>使用sklearn转换器进行数据预处理与降维</vt:lpstr>
      <vt:lpstr>使用sklearn转换器进行数据预处理与降维</vt:lpstr>
      <vt:lpstr>使用sklearn估计器构建聚类模型</vt:lpstr>
      <vt:lpstr>使用sklearn估计器构建聚类模型</vt:lpstr>
      <vt:lpstr>评价聚类模型</vt:lpstr>
      <vt:lpstr>评价聚类模型</vt:lpstr>
      <vt:lpstr>评价聚类模型</vt:lpstr>
      <vt:lpstr>评价聚类模型</vt:lpstr>
      <vt:lpstr>评价聚类模型</vt:lpstr>
      <vt:lpstr>PowerPoint 演示文稿</vt:lpstr>
    </vt:vector>
  </TitlesOfParts>
  <Company>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Roc Ren</dc:creator>
  <cp:lastModifiedBy>Microsoft Office User</cp:lastModifiedBy>
  <cp:revision>443</cp:revision>
  <dcterms:created xsi:type="dcterms:W3CDTF">2017-01-10T15:44:00Z</dcterms:created>
  <dcterms:modified xsi:type="dcterms:W3CDTF">2025-11-10T06:57:57Z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E7D95455AF8A455B88A53E6262D8B369</vt:lpwstr>
  </property>
  <property fmtid="{D5CDD505-2E9C-101B-9397-08002B2CF9AE}" pid="3" name="KSOProductBuildVer">
    <vt:lpwstr>2052-11.1.0.10667</vt:lpwstr>
  </property>
</Properties>
</file>